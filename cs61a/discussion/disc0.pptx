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17"/>
  </p:notesMasterIdLst>
  <p:handoutMasterIdLst>
    <p:handoutMasterId r:id="rId18"/>
  </p:handoutMasterIdLst>
  <p:sldIdLst>
    <p:sldId id="256" r:id="rId2"/>
    <p:sldId id="257" r:id="rId3"/>
    <p:sldId id="269" r:id="rId4"/>
    <p:sldId id="258" r:id="rId5"/>
    <p:sldId id="259" r:id="rId6"/>
    <p:sldId id="260" r:id="rId7"/>
    <p:sldId id="265" r:id="rId8"/>
    <p:sldId id="270" r:id="rId9"/>
    <p:sldId id="261" r:id="rId10"/>
    <p:sldId id="262" r:id="rId11"/>
    <p:sldId id="264" r:id="rId12"/>
    <p:sldId id="266" r:id="rId13"/>
    <p:sldId id="267" r:id="rId14"/>
    <p:sldId id="271" r:id="rId15"/>
    <p:sldId id="268"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688"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interSettings" Target="printerSettings/printerSettings1.bin"/><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B6839B5-3258-C844-93B4-072815A83C68}" type="datetimeFigureOut">
              <a:rPr lang="en-US" smtClean="0"/>
              <a:t>9/5/14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DF6AA21-195E-3D49-98A5-BEE967211B88}" type="slidenum">
              <a:rPr lang="en-US" smtClean="0"/>
              <a:t>‹#›</a:t>
            </a:fld>
            <a:endParaRPr lang="en-US"/>
          </a:p>
        </p:txBody>
      </p:sp>
    </p:spTree>
    <p:extLst>
      <p:ext uri="{BB962C8B-B14F-4D97-AF65-F5344CB8AC3E}">
        <p14:creationId xmlns:p14="http://schemas.microsoft.com/office/powerpoint/2010/main" val="126643138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DCB199-F3D2-704F-9D22-F3F0013D2893}" type="datetimeFigureOut">
              <a:rPr lang="en-US" smtClean="0"/>
              <a:t>9/5/14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EB7CF7-6C73-9D4C-ABB0-F83228E3FB3E}" type="slidenum">
              <a:rPr lang="en-US" smtClean="0"/>
              <a:t>‹#›</a:t>
            </a:fld>
            <a:endParaRPr lang="en-US"/>
          </a:p>
        </p:txBody>
      </p:sp>
    </p:spTree>
    <p:extLst>
      <p:ext uri="{BB962C8B-B14F-4D97-AF65-F5344CB8AC3E}">
        <p14:creationId xmlns:p14="http://schemas.microsoft.com/office/powerpoint/2010/main" val="332496778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EEB7CF7-6C73-9D4C-ABB0-F83228E3FB3E}" type="slidenum">
              <a:rPr lang="en-US" smtClean="0"/>
              <a:t>2</a:t>
            </a:fld>
            <a:endParaRPr lang="en-US"/>
          </a:p>
        </p:txBody>
      </p:sp>
    </p:spTree>
    <p:extLst>
      <p:ext uri="{BB962C8B-B14F-4D97-AF65-F5344CB8AC3E}">
        <p14:creationId xmlns:p14="http://schemas.microsoft.com/office/powerpoint/2010/main" val="4114860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EEB7CF7-6C73-9D4C-ABB0-F83228E3FB3E}" type="slidenum">
              <a:rPr lang="en-US" smtClean="0"/>
              <a:t>3</a:t>
            </a:fld>
            <a:endParaRPr lang="en-US"/>
          </a:p>
        </p:txBody>
      </p:sp>
    </p:spTree>
    <p:extLst>
      <p:ext uri="{BB962C8B-B14F-4D97-AF65-F5344CB8AC3E}">
        <p14:creationId xmlns:p14="http://schemas.microsoft.com/office/powerpoint/2010/main" val="4114860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Sorting is a computation: set of instructions to process data. In CS, you'll analyze how computation works, figure out what are the fastest ways to compute, most maintainable way to compute, and so forth. As you can see, I gave two different instructions to similar datasets. Which one works better? We could experiment and</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also estimate</a:t>
            </a:r>
            <a:r>
              <a:rPr lang="en-US" sz="1200" kern="1200" baseline="0" dirty="0" smtClean="0">
                <a:solidFill>
                  <a:schemeClr val="tx1"/>
                </a:solidFill>
                <a:latin typeface="+mn-lt"/>
                <a:ea typeface="+mn-ea"/>
                <a:cs typeface="+mn-cs"/>
              </a:rPr>
              <a:t> it</a:t>
            </a:r>
            <a:r>
              <a:rPr lang="en-US" sz="1200" kern="1200" dirty="0" smtClean="0">
                <a:solidFill>
                  <a:schemeClr val="tx1"/>
                </a:solidFill>
                <a:latin typeface="+mn-lt"/>
                <a:ea typeface="+mn-ea"/>
                <a:cs typeface="+mn-cs"/>
              </a:rPr>
              <a:t> mathematically. (Orders of growth)</a:t>
            </a:r>
          </a:p>
        </p:txBody>
      </p:sp>
      <p:sp>
        <p:nvSpPr>
          <p:cNvPr id="4" name="Slide Number Placeholder 3"/>
          <p:cNvSpPr>
            <a:spLocks noGrp="1"/>
          </p:cNvSpPr>
          <p:nvPr>
            <p:ph type="sldNum" sz="quarter" idx="10"/>
          </p:nvPr>
        </p:nvSpPr>
        <p:spPr/>
        <p:txBody>
          <a:bodyPr/>
          <a:lstStyle/>
          <a:p>
            <a:fld id="{DEEB7CF7-6C73-9D4C-ABB0-F83228E3FB3E}" type="slidenum">
              <a:rPr lang="en-US" smtClean="0"/>
              <a:t>6</a:t>
            </a:fld>
            <a:endParaRPr lang="en-US"/>
          </a:p>
        </p:txBody>
      </p:sp>
    </p:spTree>
    <p:extLst>
      <p:ext uri="{BB962C8B-B14F-4D97-AF65-F5344CB8AC3E}">
        <p14:creationId xmlns:p14="http://schemas.microsoft.com/office/powerpoint/2010/main" val="3415391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may actually</a:t>
            </a:r>
            <a:r>
              <a:rPr lang="en-US" baseline="0" dirty="0" smtClean="0"/>
              <a:t> </a:t>
            </a:r>
            <a:r>
              <a:rPr lang="en-US" dirty="0" smtClean="0"/>
              <a:t>save time by dedicating yourself</a:t>
            </a:r>
            <a:r>
              <a:rPr lang="en-US" baseline="0" dirty="0" smtClean="0"/>
              <a:t> to doing one thing at a time instead of mashing all your tasks together.</a:t>
            </a:r>
            <a:endParaRPr lang="en-US" dirty="0"/>
          </a:p>
        </p:txBody>
      </p:sp>
      <p:sp>
        <p:nvSpPr>
          <p:cNvPr id="4" name="Slide Number Placeholder 3"/>
          <p:cNvSpPr>
            <a:spLocks noGrp="1"/>
          </p:cNvSpPr>
          <p:nvPr>
            <p:ph type="sldNum" sz="quarter" idx="10"/>
          </p:nvPr>
        </p:nvSpPr>
        <p:spPr/>
        <p:txBody>
          <a:bodyPr/>
          <a:lstStyle/>
          <a:p>
            <a:fld id="{DEEB7CF7-6C73-9D4C-ABB0-F83228E3FB3E}" type="slidenum">
              <a:rPr lang="en-US" smtClean="0"/>
              <a:t>9</a:t>
            </a:fld>
            <a:endParaRPr lang="en-US"/>
          </a:p>
        </p:txBody>
      </p:sp>
    </p:spTree>
    <p:extLst>
      <p:ext uri="{BB962C8B-B14F-4D97-AF65-F5344CB8AC3E}">
        <p14:creationId xmlns:p14="http://schemas.microsoft.com/office/powerpoint/2010/main" val="2718517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x-none"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BEAD6BA5-8076-CF4D-80F1-AC3D40560DFF}" type="datetime4">
              <a:rPr lang="en-US" smtClean="0"/>
              <a:t>September 5, 2014</a:t>
            </a:fld>
            <a:endParaRPr lang="en-US" dirty="0"/>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dirty="0"/>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8B37D5FE-740C-46F5-801A-FA5477D9711F}" type="slidenum">
              <a:rPr lang="en-US" smtClean="0"/>
              <a:pPr/>
              <a:t>‹#›</a:t>
            </a:fld>
            <a:endParaRPr lang="en-US" dirty="0"/>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Content Placeholder 2"/>
          <p:cNvSpPr>
            <a:spLocks noGrp="1"/>
          </p:cNvSpPr>
          <p:nvPr>
            <p:ph idx="1"/>
          </p:nvPr>
        </p:nvSpPr>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4" name="Date Placeholder 3"/>
          <p:cNvSpPr>
            <a:spLocks noGrp="1"/>
          </p:cNvSpPr>
          <p:nvPr>
            <p:ph type="dt" sz="half" idx="10"/>
          </p:nvPr>
        </p:nvSpPr>
        <p:spPr/>
        <p:txBody>
          <a:bodyPr/>
          <a:lstStyle/>
          <a:p>
            <a:fld id="{507B4191-A47C-B243-902B-70BBE80EE2F8}" type="datetime4">
              <a:rPr lang="en-US" smtClean="0"/>
              <a:t>September 5, 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x-none"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smtClean="0"/>
              <a:t>Click to edit Master text styles</a:t>
            </a:r>
          </a:p>
        </p:txBody>
      </p:sp>
      <p:sp>
        <p:nvSpPr>
          <p:cNvPr id="4" name="Date Placeholder 3"/>
          <p:cNvSpPr>
            <a:spLocks noGrp="1"/>
          </p:cNvSpPr>
          <p:nvPr>
            <p:ph type="dt" sz="half" idx="10"/>
          </p:nvPr>
        </p:nvSpPr>
        <p:spPr/>
        <p:txBody>
          <a:bodyPr/>
          <a:lstStyle/>
          <a:p>
            <a:fld id="{57160F06-03E3-DF44-A8F7-391FBAB6A5E1}" type="datetime4">
              <a:rPr lang="en-US" smtClean="0"/>
              <a:t>September 5, 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5" name="Date Placeholder 4"/>
          <p:cNvSpPr>
            <a:spLocks noGrp="1"/>
          </p:cNvSpPr>
          <p:nvPr>
            <p:ph type="dt" sz="half" idx="10"/>
          </p:nvPr>
        </p:nvSpPr>
        <p:spPr/>
        <p:txBody>
          <a:bodyPr/>
          <a:lstStyle/>
          <a:p>
            <a:fld id="{FDA721D8-62A7-8E4C-849D-CEBFEAB2E8C1}" type="datetime4">
              <a:rPr lang="en-US" smtClean="0"/>
              <a:t>September 5, 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37D5FE-740C-46F5-801A-FA5477D9711F}"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7" name="Date Placeholder 6"/>
          <p:cNvSpPr>
            <a:spLocks noGrp="1"/>
          </p:cNvSpPr>
          <p:nvPr>
            <p:ph type="dt" sz="half" idx="10"/>
          </p:nvPr>
        </p:nvSpPr>
        <p:spPr/>
        <p:txBody>
          <a:bodyPr/>
          <a:lstStyle/>
          <a:p>
            <a:fld id="{416360D7-7327-DA45-92D6-777BE2003263}" type="datetime4">
              <a:rPr lang="en-US" smtClean="0"/>
              <a:t>September 5, 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Date Placeholder 2"/>
          <p:cNvSpPr>
            <a:spLocks noGrp="1"/>
          </p:cNvSpPr>
          <p:nvPr>
            <p:ph type="dt" sz="half" idx="10"/>
          </p:nvPr>
        </p:nvSpPr>
        <p:spPr/>
        <p:txBody>
          <a:bodyPr/>
          <a:lstStyle/>
          <a:p>
            <a:fld id="{EDF41819-7160-714D-B542-D8166822A986}" type="datetime4">
              <a:rPr lang="en-US" smtClean="0"/>
              <a:t>September 5, 2014</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9F91E0-599E-3E44-9C70-144197758314}" type="datetime4">
              <a:rPr lang="en-US" smtClean="0"/>
              <a:t>September 5, 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8DA0F384-617D-744B-AE96-DFEA0EA3F376}" type="datetime4">
              <a:rPr lang="en-US" smtClean="0"/>
              <a:t>September 5, 2014</a:t>
            </a:fld>
            <a:endParaRPr lang="en-US"/>
          </a:p>
        </p:txBody>
      </p:sp>
      <p:sp>
        <p:nvSpPr>
          <p:cNvPr id="7" name="Slide Number Placeholder 6"/>
          <p:cNvSpPr>
            <a:spLocks noGrp="1"/>
          </p:cNvSpPr>
          <p:nvPr>
            <p:ph type="sldNum" sz="quarter" idx="12"/>
          </p:nvPr>
        </p:nvSpPr>
        <p:spPr/>
        <p:txBody>
          <a:bodyPr/>
          <a:lstStyle/>
          <a:p>
            <a:fld id="{8B37D5FE-740C-46F5-801A-FA5477D9711F}"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x-none"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x-none"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smtClean="0"/>
              <a:t>Drag picture to placeholder or click icon to add</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smtClean="0"/>
              <a:t>Click to edit Master text styles</a:t>
            </a:r>
          </a:p>
        </p:txBody>
      </p:sp>
      <p:sp>
        <p:nvSpPr>
          <p:cNvPr id="5" name="Date Placeholder 4"/>
          <p:cNvSpPr>
            <a:spLocks noGrp="1"/>
          </p:cNvSpPr>
          <p:nvPr>
            <p:ph type="dt" sz="half" idx="10"/>
          </p:nvPr>
        </p:nvSpPr>
        <p:spPr/>
        <p:txBody>
          <a:bodyPr/>
          <a:lstStyle/>
          <a:p>
            <a:fld id="{16D3EF94-A208-8846-B12C-54C31B73A306}" type="datetime4">
              <a:rPr lang="en-US" smtClean="0"/>
              <a:t>September 5, 2014</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dirty="0"/>
          </a:p>
        </p:txBody>
      </p:sp>
      <p:sp>
        <p:nvSpPr>
          <p:cNvPr id="7" name="Slide Number Placeholder 6"/>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Date Placeholder 3"/>
          <p:cNvSpPr>
            <a:spLocks noGrp="1"/>
          </p:cNvSpPr>
          <p:nvPr>
            <p:ph type="dt" sz="half" idx="10"/>
          </p:nvPr>
        </p:nvSpPr>
        <p:spPr/>
        <p:txBody>
          <a:bodyPr/>
          <a:lstStyle/>
          <a:p>
            <a:fld id="{98063597-B675-6348-B82B-68A23B6BADF3}" type="datetime4">
              <a:rPr lang="en-US" smtClean="0"/>
              <a:t>September 5, 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x-none"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a:p>
        </p:txBody>
      </p:sp>
      <p:sp>
        <p:nvSpPr>
          <p:cNvPr id="4" name="Date Placeholder 3"/>
          <p:cNvSpPr>
            <a:spLocks noGrp="1"/>
          </p:cNvSpPr>
          <p:nvPr>
            <p:ph type="dt" sz="half" idx="10"/>
          </p:nvPr>
        </p:nvSpPr>
        <p:spPr/>
        <p:txBody>
          <a:bodyPr/>
          <a:lstStyle/>
          <a:p>
            <a:fld id="{B2E253D7-F7CF-9C48-BD9D-2A36063AAE72}" type="datetime4">
              <a:rPr lang="en-US" smtClean="0"/>
              <a:t>September 5, 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7D5FE-740C-46F5-801A-FA5477D9711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x-none"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x-none" smtClean="0"/>
              <a:t>Click to edit Master text styles</a:t>
            </a:r>
          </a:p>
          <a:p>
            <a:pPr lvl="1"/>
            <a:r>
              <a:rPr lang="x-none" smtClean="0"/>
              <a:t>Second level</a:t>
            </a:r>
          </a:p>
          <a:p>
            <a:pPr lvl="2"/>
            <a:r>
              <a:rPr lang="x-none" smtClean="0"/>
              <a:t>Third level</a:t>
            </a:r>
          </a:p>
          <a:p>
            <a:pPr lvl="3"/>
            <a:r>
              <a:rPr lang="x-none" smtClean="0"/>
              <a:t>Fourth level</a:t>
            </a:r>
          </a:p>
          <a:p>
            <a:pPr lvl="4"/>
            <a:r>
              <a:rPr lang="x-none"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492E1A4B-E303-9549-A29A-05246B4D25A6}" type="datetime4">
              <a:rPr lang="en-US" smtClean="0"/>
              <a:t>September 5, 2014</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8B37D5FE-740C-46F5-801A-FA5477D9711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dickson.tsai@berkeley.ed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en.wikipedia.org/wiki/Computa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file://localhost/Users/dicksontsai/Downloads/discussion00_sol.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ipython.com/notebook" TargetMode="External"/><Relationship Id="rId4" Type="http://schemas.openxmlformats.org/officeDocument/2006/relationships/hyperlink" Target="http://pythontutor.com" TargetMode="External"/><Relationship Id="rId5" Type="http://schemas.openxmlformats.org/officeDocument/2006/relationships/hyperlink" Target="http://google.com" TargetMode="External"/><Relationship Id="rId6" Type="http://schemas.openxmlformats.org/officeDocument/2006/relationships/hyperlink" Target="http://stackoverflow.com" TargetMode="External"/><Relationship Id="rId7" Type="http://schemas.openxmlformats.org/officeDocument/2006/relationships/hyperlink" Target="http://duckie.me" TargetMode="External"/><Relationship Id="rId1" Type="http://schemas.openxmlformats.org/officeDocument/2006/relationships/slideLayout" Target="../slideLayouts/slideLayout2.xml"/><Relationship Id="rId2" Type="http://schemas.openxmlformats.org/officeDocument/2006/relationships/hyperlink" Target="http://composingprogram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composingprogram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33365" y="2446066"/>
            <a:ext cx="3313355" cy="1964570"/>
          </a:xfrm>
        </p:spPr>
        <p:txBody>
          <a:bodyPr>
            <a:normAutofit/>
          </a:bodyPr>
          <a:lstStyle/>
          <a:p>
            <a:r>
              <a:rPr lang="en-US" dirty="0" smtClean="0"/>
              <a:t>Welcome to CS61A Disc. 29/47 :D</a:t>
            </a:r>
            <a:endParaRPr lang="en-US" dirty="0"/>
          </a:p>
        </p:txBody>
      </p:sp>
      <p:sp>
        <p:nvSpPr>
          <p:cNvPr id="3" name="Subtitle 2"/>
          <p:cNvSpPr>
            <a:spLocks noGrp="1"/>
          </p:cNvSpPr>
          <p:nvPr>
            <p:ph type="subTitle" idx="1"/>
          </p:nvPr>
        </p:nvSpPr>
        <p:spPr/>
        <p:txBody>
          <a:bodyPr>
            <a:normAutofit lnSpcReduction="10000"/>
          </a:bodyPr>
          <a:lstStyle/>
          <a:p>
            <a:r>
              <a:rPr lang="en-US" dirty="0" smtClean="0"/>
              <a:t>Dickson Tsai</a:t>
            </a:r>
          </a:p>
          <a:p>
            <a:r>
              <a:rPr lang="en-US" dirty="0" smtClean="0">
                <a:hlinkClick r:id="rId2"/>
              </a:rPr>
              <a:t>dickson.tsai+cs61a@</a:t>
            </a:r>
            <a:r>
              <a:rPr lang="en-US" dirty="0" smtClean="0">
                <a:hlinkClick r:id="rId2"/>
              </a:rPr>
              <a:t>berkeley.edu</a:t>
            </a:r>
            <a:endParaRPr lang="en-US" dirty="0" smtClean="0"/>
          </a:p>
          <a:p>
            <a:r>
              <a:rPr lang="en-US" dirty="0" smtClean="0"/>
              <a:t>OH: </a:t>
            </a:r>
            <a:r>
              <a:rPr lang="en-US" dirty="0" err="1" smtClean="0"/>
              <a:t>Tu</a:t>
            </a:r>
            <a:r>
              <a:rPr lang="en-US" dirty="0" smtClean="0"/>
              <a:t>, </a:t>
            </a:r>
            <a:r>
              <a:rPr lang="en-US" dirty="0" err="1" smtClean="0"/>
              <a:t>Th</a:t>
            </a:r>
            <a:r>
              <a:rPr lang="en-US" dirty="0" smtClean="0"/>
              <a:t> 4-5pm 411 Soda</a:t>
            </a:r>
            <a:endParaRPr lang="en-US" dirty="0"/>
          </a:p>
        </p:txBody>
      </p:sp>
      <p:sp>
        <p:nvSpPr>
          <p:cNvPr id="4" name="Subtitle 2"/>
          <p:cNvSpPr txBox="1">
            <a:spLocks/>
          </p:cNvSpPr>
          <p:nvPr/>
        </p:nvSpPr>
        <p:spPr>
          <a:xfrm>
            <a:off x="-282198" y="4425662"/>
            <a:ext cx="4781690" cy="1413029"/>
          </a:xfrm>
          <a:prstGeom prst="rect">
            <a:avLst/>
          </a:prstGeom>
        </p:spPr>
        <p:txBody>
          <a:bodyPr vert="horz" lIns="91440" tIns="45720" rIns="91440" bIns="45720" rtlCol="0">
            <a:normAutofit/>
          </a:bodyPr>
          <a:lstStyle>
            <a:lvl1pPr marL="0" indent="0" algn="l" defTabSz="914400" rtl="0" eaLnBrk="1" latinLnBrk="0" hangingPunct="1">
              <a:spcBef>
                <a:spcPct val="20000"/>
              </a:spcBef>
              <a:buClr>
                <a:schemeClr val="accent1"/>
              </a:buClr>
              <a:buSzPct val="76000"/>
              <a:buFont typeface="Wingdings 2" pitchFamily="18" charset="2"/>
              <a:buNone/>
              <a:defRPr sz="1800" kern="1200">
                <a:solidFill>
                  <a:srgbClr val="424242"/>
                </a:solidFill>
                <a:latin typeface="+mn-lt"/>
                <a:ea typeface="+mn-ea"/>
                <a:cs typeface="+mn-cs"/>
              </a:defRPr>
            </a:lvl1pPr>
            <a:lvl2pPr marL="457200" indent="0" algn="ctr" defTabSz="914400" rtl="0" eaLnBrk="1" latinLnBrk="0" hangingPunct="1">
              <a:spcBef>
                <a:spcPct val="20000"/>
              </a:spcBef>
              <a:buClr>
                <a:schemeClr val="accent1"/>
              </a:buClr>
              <a:buSzPct val="76000"/>
              <a:buFont typeface="Wingdings 2" pitchFamily="18"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SzPct val="76000"/>
              <a:buFont typeface="Wingdings 2" pitchFamily="18"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SzPct val="76000"/>
              <a:buFont typeface="Wingdings 2" pitchFamily="18"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SzPct val="76000"/>
              <a:buFont typeface="Wingdings 2" pitchFamily="18" charset="2"/>
              <a:buNone/>
              <a:defRPr sz="16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1"/>
              </a:buClr>
              <a:buSzPct val="76000"/>
              <a:buFont typeface="Wingdings 2" pitchFamily="18" charset="2"/>
              <a:buNone/>
              <a:defRPr sz="1400" kern="1200">
                <a:solidFill>
                  <a:schemeClr val="tx1">
                    <a:tint val="75000"/>
                  </a:schemeClr>
                </a:solidFill>
                <a:latin typeface="+mn-lt"/>
                <a:ea typeface="+mn-ea"/>
                <a:cs typeface="+mn-cs"/>
              </a:defRPr>
            </a:lvl9pPr>
          </a:lstStyle>
          <a:p>
            <a:pPr marL="285750" indent="-285750">
              <a:buFont typeface="Arial"/>
              <a:buChar char="•"/>
            </a:pPr>
            <a:r>
              <a:rPr lang="en-US" dirty="0"/>
              <a:t>Previous stop: None </a:t>
            </a:r>
            <a:r>
              <a:rPr lang="en-US" b="1" dirty="0"/>
              <a:t>&gt;&gt;&gt;</a:t>
            </a:r>
          </a:p>
          <a:p>
            <a:pPr marL="285750" indent="-285750">
              <a:buFont typeface="Arial"/>
              <a:buChar char="•"/>
            </a:pPr>
            <a:r>
              <a:rPr lang="en-US" b="1" dirty="0"/>
              <a:t>Today: Working effectively in CS &gt;&gt;&gt;</a:t>
            </a:r>
          </a:p>
          <a:p>
            <a:pPr marL="285750" indent="-285750">
              <a:buFont typeface="Arial"/>
              <a:buChar char="•"/>
            </a:pPr>
            <a:r>
              <a:rPr lang="en-US" dirty="0"/>
              <a:t>Next stop: Statements/</a:t>
            </a:r>
            <a:r>
              <a:rPr lang="en-US" dirty="0" smtClean="0"/>
              <a:t>Expressions/Functions</a:t>
            </a:r>
            <a:endParaRPr lang="en-US" dirty="0"/>
          </a:p>
          <a:p>
            <a:pPr marL="285750" indent="-285750">
              <a:buFont typeface="Arial"/>
              <a:buChar char="•"/>
            </a:pPr>
            <a:endParaRPr lang="en-US" dirty="0"/>
          </a:p>
        </p:txBody>
      </p:sp>
      <p:sp>
        <p:nvSpPr>
          <p:cNvPr id="5" name="Slide Number Placeholder 4"/>
          <p:cNvSpPr>
            <a:spLocks noGrp="1"/>
          </p:cNvSpPr>
          <p:nvPr>
            <p:ph type="sldNum" sz="quarter" idx="12"/>
          </p:nvPr>
        </p:nvSpPr>
        <p:spPr/>
        <p:txBody>
          <a:bodyPr/>
          <a:lstStyle/>
          <a:p>
            <a:fld id="{8B37D5FE-740C-46F5-801A-FA5477D9711F}" type="slidenum">
              <a:rPr lang="en-US" smtClean="0"/>
              <a:pPr/>
              <a:t>1</a:t>
            </a:fld>
            <a:endParaRPr lang="en-US" dirty="0"/>
          </a:p>
        </p:txBody>
      </p:sp>
    </p:spTree>
    <p:extLst>
      <p:ext uri="{BB962C8B-B14F-4D97-AF65-F5344CB8AC3E}">
        <p14:creationId xmlns:p14="http://schemas.microsoft.com/office/powerpoint/2010/main" val="124144669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p:tgtEl>
                                          <p:spTgt spid="4">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p:tgtEl>
                                          <p:spTgt spid="4">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p:tgtEl>
                                          <p:spTgt spid="4">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smtClean="0"/>
              <a:t>Anuncios</a:t>
            </a:r>
            <a:endParaRPr lang="en-US" dirty="0"/>
          </a:p>
        </p:txBody>
      </p:sp>
      <p:sp>
        <p:nvSpPr>
          <p:cNvPr id="3" name="Content Placeholder 2"/>
          <p:cNvSpPr>
            <a:spLocks noGrp="1"/>
          </p:cNvSpPr>
          <p:nvPr>
            <p:ph idx="1"/>
          </p:nvPr>
        </p:nvSpPr>
        <p:spPr/>
        <p:txBody>
          <a:bodyPr>
            <a:normAutofit/>
          </a:bodyPr>
          <a:lstStyle/>
          <a:p>
            <a:r>
              <a:rPr lang="en-US" dirty="0" smtClean="0">
                <a:latin typeface="Avenir Book"/>
                <a:cs typeface="Avenir Book"/>
              </a:rPr>
              <a:t>Lecture tomorrow 2pm Wheeler and 7pm Pimentel</a:t>
            </a:r>
          </a:p>
          <a:p>
            <a:r>
              <a:rPr lang="en-US" dirty="0" smtClean="0">
                <a:solidFill>
                  <a:srgbClr val="4A6300"/>
                </a:solidFill>
                <a:latin typeface="Avenir Book"/>
                <a:cs typeface="Avenir Book"/>
              </a:rPr>
              <a:t>Optional </a:t>
            </a:r>
            <a:r>
              <a:rPr lang="en-US" strike="sngStrike" dirty="0" smtClean="0">
                <a:solidFill>
                  <a:srgbClr val="4A6300"/>
                </a:solidFill>
                <a:latin typeface="Avenir Book"/>
                <a:cs typeface="Avenir Book"/>
              </a:rPr>
              <a:t>section homework</a:t>
            </a:r>
            <a:r>
              <a:rPr lang="en-US" dirty="0" smtClean="0">
                <a:solidFill>
                  <a:srgbClr val="4A6300"/>
                </a:solidFill>
                <a:latin typeface="Avenir Book"/>
                <a:cs typeface="Avenir Book"/>
              </a:rPr>
              <a:t> </a:t>
            </a:r>
            <a:r>
              <a:rPr lang="en-US" dirty="0" smtClean="0">
                <a:solidFill>
                  <a:srgbClr val="4A6300"/>
                </a:solidFill>
                <a:latin typeface="Avenir Book"/>
                <a:cs typeface="Avenir Book"/>
              </a:rPr>
              <a:t>practice problems </a:t>
            </a:r>
            <a:r>
              <a:rPr lang="en-US" strike="sngStrike" dirty="0" smtClean="0">
                <a:solidFill>
                  <a:srgbClr val="4A6300"/>
                </a:solidFill>
                <a:latin typeface="Avenir Book"/>
                <a:cs typeface="Avenir Book"/>
              </a:rPr>
              <a:t>for </a:t>
            </a:r>
            <a:r>
              <a:rPr lang="en-US" strike="sngStrike" dirty="0" smtClean="0">
                <a:solidFill>
                  <a:srgbClr val="4A6300"/>
                </a:solidFill>
                <a:latin typeface="Avenir Book"/>
                <a:cs typeface="Avenir Book"/>
              </a:rPr>
              <a:t>participation points (stay tuned next week! A cool system will be introduced in lecture!)</a:t>
            </a:r>
          </a:p>
          <a:p>
            <a:r>
              <a:rPr lang="en-US" dirty="0" smtClean="0">
                <a:solidFill>
                  <a:srgbClr val="4A6300"/>
                </a:solidFill>
                <a:latin typeface="Avenir Book"/>
                <a:cs typeface="Avenir Book"/>
              </a:rPr>
              <a:t>Join the Piazza if you haven’t already!</a:t>
            </a:r>
          </a:p>
          <a:p>
            <a:endParaRPr lang="en-US" dirty="0">
              <a:solidFill>
                <a:srgbClr val="4A6300"/>
              </a:solidFill>
              <a:latin typeface="Avenir Book"/>
              <a:cs typeface="Avenir Book"/>
            </a:endParaRPr>
          </a:p>
        </p:txBody>
      </p:sp>
      <p:sp>
        <p:nvSpPr>
          <p:cNvPr id="5" name="Slide Number Placeholder 4"/>
          <p:cNvSpPr>
            <a:spLocks noGrp="1"/>
          </p:cNvSpPr>
          <p:nvPr>
            <p:ph type="sldNum" sz="quarter" idx="12"/>
          </p:nvPr>
        </p:nvSpPr>
        <p:spPr/>
        <p:txBody>
          <a:bodyPr/>
          <a:lstStyle/>
          <a:p>
            <a:fld id="{8B37D5FE-740C-46F5-801A-FA5477D9711F}" type="slidenum">
              <a:rPr lang="en-US" smtClean="0"/>
              <a:pPr/>
              <a:t>2</a:t>
            </a:fld>
            <a:endParaRPr lang="en-US"/>
          </a:p>
        </p:txBody>
      </p:sp>
    </p:spTree>
    <p:extLst>
      <p:ext uri="{BB962C8B-B14F-4D97-AF65-F5344CB8AC3E}">
        <p14:creationId xmlns:p14="http://schemas.microsoft.com/office/powerpoint/2010/main" val="112782275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Meet and Greet</a:t>
            </a:r>
            <a:endParaRPr lang="en-US" dirty="0"/>
          </a:p>
        </p:txBody>
      </p:sp>
      <p:sp>
        <p:nvSpPr>
          <p:cNvPr id="3" name="Content Placeholder 2"/>
          <p:cNvSpPr>
            <a:spLocks noGrp="1"/>
          </p:cNvSpPr>
          <p:nvPr>
            <p:ph idx="1"/>
          </p:nvPr>
        </p:nvSpPr>
        <p:spPr/>
        <p:txBody>
          <a:bodyPr>
            <a:normAutofit/>
          </a:bodyPr>
          <a:lstStyle/>
          <a:p>
            <a:r>
              <a:rPr lang="en-US" dirty="0" smtClean="0">
                <a:latin typeface="Avenir Book"/>
                <a:cs typeface="Avenir Book"/>
              </a:rPr>
              <a:t>For how many weeks did you travel?</a:t>
            </a:r>
          </a:p>
          <a:p>
            <a:r>
              <a:rPr lang="en-US" dirty="0" smtClean="0">
                <a:latin typeface="Avenir Book"/>
                <a:cs typeface="Avenir Book"/>
              </a:rPr>
              <a:t>How many mass events did you attend? (e.g. sporting events/concerts/conferences)?</a:t>
            </a:r>
          </a:p>
          <a:p>
            <a:r>
              <a:rPr lang="en-US" dirty="0" smtClean="0">
                <a:latin typeface="Avenir Book"/>
                <a:cs typeface="Avenir Book"/>
              </a:rPr>
              <a:t>How many books/movies did you complete?</a:t>
            </a:r>
          </a:p>
          <a:p>
            <a:r>
              <a:rPr lang="en-US" dirty="0" smtClean="0">
                <a:solidFill>
                  <a:srgbClr val="0000FF"/>
                </a:solidFill>
                <a:latin typeface="Avenir Book"/>
                <a:cs typeface="Avenir Book"/>
              </a:rPr>
              <a:t>Sum that total up and write it down.</a:t>
            </a:r>
          </a:p>
          <a:p>
            <a:r>
              <a:rPr lang="en-US" dirty="0" smtClean="0">
                <a:solidFill>
                  <a:srgbClr val="4A6300"/>
                </a:solidFill>
                <a:latin typeface="Avenir Book"/>
                <a:cs typeface="Avenir Book"/>
              </a:rPr>
              <a:t>Feel free to share your experiences with your neighbors! </a:t>
            </a:r>
            <a:endParaRPr lang="en-US" dirty="0">
              <a:solidFill>
                <a:srgbClr val="4A6300"/>
              </a:solidFill>
              <a:latin typeface="Avenir Book"/>
              <a:cs typeface="Avenir Book"/>
            </a:endParaRPr>
          </a:p>
        </p:txBody>
      </p:sp>
      <p:sp>
        <p:nvSpPr>
          <p:cNvPr id="5" name="Slide Number Placeholder 4"/>
          <p:cNvSpPr>
            <a:spLocks noGrp="1"/>
          </p:cNvSpPr>
          <p:nvPr>
            <p:ph type="sldNum" sz="quarter" idx="12"/>
          </p:nvPr>
        </p:nvSpPr>
        <p:spPr/>
        <p:txBody>
          <a:bodyPr/>
          <a:lstStyle/>
          <a:p>
            <a:fld id="{8B37D5FE-740C-46F5-801A-FA5477D9711F}" type="slidenum">
              <a:rPr lang="en-US" smtClean="0"/>
              <a:pPr/>
              <a:t>3</a:t>
            </a:fld>
            <a:endParaRPr lang="en-US"/>
          </a:p>
        </p:txBody>
      </p:sp>
    </p:spTree>
    <p:extLst>
      <p:ext uri="{BB962C8B-B14F-4D97-AF65-F5344CB8AC3E}">
        <p14:creationId xmlns:p14="http://schemas.microsoft.com/office/powerpoint/2010/main" val="44953331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It’s a Race!</a:t>
            </a:r>
            <a:endParaRPr lang="en-US" dirty="0"/>
          </a:p>
        </p:txBody>
      </p:sp>
      <p:sp>
        <p:nvSpPr>
          <p:cNvPr id="3" name="Content Placeholder 2"/>
          <p:cNvSpPr>
            <a:spLocks noGrp="1"/>
          </p:cNvSpPr>
          <p:nvPr>
            <p:ph idx="1"/>
          </p:nvPr>
        </p:nvSpPr>
        <p:spPr/>
        <p:txBody>
          <a:bodyPr>
            <a:normAutofit lnSpcReduction="10000"/>
          </a:bodyPr>
          <a:lstStyle/>
          <a:p>
            <a:r>
              <a:rPr lang="en-US" dirty="0" smtClean="0">
                <a:latin typeface="Avenir Book"/>
                <a:cs typeface="Avenir Book"/>
              </a:rPr>
              <a:t>Right half:</a:t>
            </a:r>
          </a:p>
          <a:p>
            <a:pPr lvl="1"/>
            <a:r>
              <a:rPr lang="en-US" dirty="0" smtClean="0">
                <a:latin typeface="Avenir Book"/>
                <a:cs typeface="Avenir Book"/>
              </a:rPr>
              <a:t>Drift to the side of the line you think you belong. Then fine tune.</a:t>
            </a:r>
          </a:p>
          <a:p>
            <a:r>
              <a:rPr lang="en-US" dirty="0" smtClean="0">
                <a:latin typeface="Avenir Book"/>
                <a:cs typeface="Avenir Book"/>
              </a:rPr>
              <a:t>Left half:</a:t>
            </a:r>
          </a:p>
          <a:p>
            <a:pPr lvl="1"/>
            <a:r>
              <a:rPr lang="en-US" dirty="0" smtClean="0">
                <a:latin typeface="Avenir Book"/>
                <a:cs typeface="Avenir Book"/>
              </a:rPr>
              <a:t>Form groups of 2. Sort yourselves in those small groups. Then, keep combining 2 sorted groups into one big group.</a:t>
            </a:r>
          </a:p>
          <a:p>
            <a:r>
              <a:rPr lang="en-US" dirty="0" smtClean="0">
                <a:latin typeface="Avenir Book"/>
                <a:cs typeface="Avenir Book"/>
              </a:rPr>
              <a:t>Both halves:</a:t>
            </a:r>
          </a:p>
          <a:p>
            <a:pPr lvl="1"/>
            <a:r>
              <a:rPr lang="en-US" dirty="0" smtClean="0">
                <a:latin typeface="Avenir Book"/>
                <a:cs typeface="Avenir Book"/>
              </a:rPr>
              <a:t>Tell me where the max begins.</a:t>
            </a:r>
            <a:endParaRPr lang="en-US" dirty="0">
              <a:latin typeface="Avenir Book"/>
              <a:cs typeface="Avenir Book"/>
            </a:endParaRPr>
          </a:p>
        </p:txBody>
      </p:sp>
      <p:sp>
        <p:nvSpPr>
          <p:cNvPr id="5" name="Slide Number Placeholder 4"/>
          <p:cNvSpPr>
            <a:spLocks noGrp="1"/>
          </p:cNvSpPr>
          <p:nvPr>
            <p:ph type="sldNum" sz="quarter" idx="12"/>
          </p:nvPr>
        </p:nvSpPr>
        <p:spPr/>
        <p:txBody>
          <a:bodyPr/>
          <a:lstStyle/>
          <a:p>
            <a:fld id="{8B37D5FE-740C-46F5-801A-FA5477D9711F}" type="slidenum">
              <a:rPr lang="en-US" smtClean="0"/>
              <a:pPr/>
              <a:t>4</a:t>
            </a:fld>
            <a:endParaRPr lang="en-US"/>
          </a:p>
        </p:txBody>
      </p:sp>
    </p:spTree>
    <p:extLst>
      <p:ext uri="{BB962C8B-B14F-4D97-AF65-F5344CB8AC3E}">
        <p14:creationId xmlns:p14="http://schemas.microsoft.com/office/powerpoint/2010/main" val="142877006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My Summer</a:t>
            </a:r>
            <a:endParaRPr lang="en-US" dirty="0"/>
          </a:p>
        </p:txBody>
      </p:sp>
      <p:sp>
        <p:nvSpPr>
          <p:cNvPr id="3" name="Content Placeholder 2"/>
          <p:cNvSpPr>
            <a:spLocks noGrp="1"/>
          </p:cNvSpPr>
          <p:nvPr>
            <p:ph idx="1"/>
          </p:nvPr>
        </p:nvSpPr>
        <p:spPr/>
        <p:txBody>
          <a:bodyPr>
            <a:normAutofit/>
          </a:bodyPr>
          <a:lstStyle/>
          <a:p>
            <a:r>
              <a:rPr lang="en-US" dirty="0" smtClean="0">
                <a:latin typeface="Avenir Book"/>
                <a:cs typeface="Avenir Book"/>
              </a:rPr>
              <a:t>Did not travel </a:t>
            </a:r>
            <a:r>
              <a:rPr lang="en-US" dirty="0" smtClean="0">
                <a:latin typeface="Avenir Book"/>
                <a:cs typeface="Avenir Book"/>
                <a:sym typeface="Wingdings"/>
              </a:rPr>
              <a:t> Taught CS61A</a:t>
            </a:r>
            <a:endParaRPr lang="en-US" dirty="0" smtClean="0">
              <a:latin typeface="Avenir Book"/>
              <a:cs typeface="Avenir Book"/>
            </a:endParaRPr>
          </a:p>
          <a:p>
            <a:r>
              <a:rPr lang="en-US" dirty="0" smtClean="0">
                <a:latin typeface="Avenir Book"/>
                <a:cs typeface="Avenir Book"/>
              </a:rPr>
              <a:t>Went to </a:t>
            </a:r>
            <a:r>
              <a:rPr lang="en-US" dirty="0" err="1" smtClean="0">
                <a:latin typeface="Avenir Book"/>
                <a:cs typeface="Avenir Book"/>
              </a:rPr>
              <a:t>ForwardJS</a:t>
            </a:r>
            <a:r>
              <a:rPr lang="en-US" dirty="0" smtClean="0">
                <a:latin typeface="Avenir Book"/>
                <a:cs typeface="Avenir Book"/>
              </a:rPr>
              <a:t>: a </a:t>
            </a:r>
            <a:r>
              <a:rPr lang="en-US" dirty="0" err="1" smtClean="0">
                <a:latin typeface="Avenir Book"/>
                <a:cs typeface="Avenir Book"/>
              </a:rPr>
              <a:t>Javascript</a:t>
            </a:r>
            <a:r>
              <a:rPr lang="en-US" dirty="0" smtClean="0">
                <a:latin typeface="Avenir Book"/>
                <a:cs typeface="Avenir Book"/>
              </a:rPr>
              <a:t> conference</a:t>
            </a:r>
          </a:p>
          <a:p>
            <a:r>
              <a:rPr lang="en-US" dirty="0" smtClean="0">
                <a:latin typeface="Avenir Book"/>
                <a:cs typeface="Avenir Book"/>
              </a:rPr>
              <a:t>Books I read over summer:</a:t>
            </a:r>
          </a:p>
          <a:p>
            <a:pPr lvl="1"/>
            <a:r>
              <a:rPr lang="en-US" dirty="0" smtClean="0">
                <a:latin typeface="Avenir Book"/>
                <a:cs typeface="Avenir Book"/>
              </a:rPr>
              <a:t>What Every Body is Saying (body language)</a:t>
            </a:r>
          </a:p>
          <a:p>
            <a:pPr lvl="1"/>
            <a:r>
              <a:rPr lang="en-US" dirty="0" smtClean="0">
                <a:latin typeface="Avenir Book"/>
                <a:cs typeface="Avenir Book"/>
              </a:rPr>
              <a:t>Everything is Obvious *Once you know the answer</a:t>
            </a:r>
          </a:p>
          <a:p>
            <a:pPr lvl="1"/>
            <a:r>
              <a:rPr lang="en-US" dirty="0" smtClean="0">
                <a:latin typeface="Avenir Book"/>
                <a:cs typeface="Avenir Book"/>
              </a:rPr>
              <a:t>The First 20 Hours – How to learn anything fast</a:t>
            </a:r>
          </a:p>
          <a:p>
            <a:pPr lvl="1"/>
            <a:r>
              <a:rPr lang="en-US" dirty="0" smtClean="0">
                <a:latin typeface="Avenir Book"/>
                <a:cs typeface="Avenir Book"/>
              </a:rPr>
              <a:t>The Art of Learning</a:t>
            </a:r>
          </a:p>
          <a:p>
            <a:pPr lvl="1"/>
            <a:endParaRPr lang="en-US" dirty="0" smtClean="0">
              <a:latin typeface="Avenir Book"/>
              <a:cs typeface="Avenir Book"/>
            </a:endParaRPr>
          </a:p>
        </p:txBody>
      </p:sp>
      <p:sp>
        <p:nvSpPr>
          <p:cNvPr id="5" name="Slide Number Placeholder 4"/>
          <p:cNvSpPr>
            <a:spLocks noGrp="1"/>
          </p:cNvSpPr>
          <p:nvPr>
            <p:ph type="sldNum" sz="quarter" idx="12"/>
          </p:nvPr>
        </p:nvSpPr>
        <p:spPr/>
        <p:txBody>
          <a:bodyPr/>
          <a:lstStyle/>
          <a:p>
            <a:fld id="{8B37D5FE-740C-46F5-801A-FA5477D9711F}" type="slidenum">
              <a:rPr lang="en-US" smtClean="0"/>
              <a:pPr/>
              <a:t>5</a:t>
            </a:fld>
            <a:endParaRPr lang="en-US"/>
          </a:p>
        </p:txBody>
      </p:sp>
    </p:spTree>
    <p:extLst>
      <p:ext uri="{BB962C8B-B14F-4D97-AF65-F5344CB8AC3E}">
        <p14:creationId xmlns:p14="http://schemas.microsoft.com/office/powerpoint/2010/main" val="14761850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3">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
                                            <p:txEl>
                                              <p:pRg st="5" end="5"/>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p:tgtEl>
                                          <p:spTgt spid="3">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venir Book"/>
                <a:cs typeface="Avenir Book"/>
              </a:rPr>
              <a:t>What did I just do???</a:t>
            </a:r>
            <a:endParaRPr lang="en-US" dirty="0">
              <a:latin typeface="Avenir Book"/>
              <a:cs typeface="Avenir Book"/>
            </a:endParaRPr>
          </a:p>
        </p:txBody>
      </p:sp>
      <p:sp>
        <p:nvSpPr>
          <p:cNvPr id="3" name="Content Placeholder 2"/>
          <p:cNvSpPr>
            <a:spLocks noGrp="1"/>
          </p:cNvSpPr>
          <p:nvPr>
            <p:ph idx="1"/>
          </p:nvPr>
        </p:nvSpPr>
        <p:spPr>
          <a:xfrm>
            <a:off x="1043492" y="2323652"/>
            <a:ext cx="6777317" cy="3995351"/>
          </a:xfrm>
        </p:spPr>
        <p:txBody>
          <a:bodyPr>
            <a:normAutofit/>
          </a:bodyPr>
          <a:lstStyle/>
          <a:p>
            <a:r>
              <a:rPr lang="en-US" dirty="0" smtClean="0">
                <a:latin typeface="Avenir Book"/>
                <a:cs typeface="Avenir Book"/>
              </a:rPr>
              <a:t>Sorting is a </a:t>
            </a:r>
            <a:r>
              <a:rPr lang="en-US" i="1" u="sng" dirty="0" smtClean="0">
                <a:latin typeface="Avenir Book"/>
                <a:cs typeface="Avenir Book"/>
              </a:rPr>
              <a:t>computation</a:t>
            </a:r>
            <a:r>
              <a:rPr lang="en-US" b="1" i="1" dirty="0" smtClean="0">
                <a:latin typeface="Avenir Book"/>
                <a:cs typeface="Avenir Book"/>
              </a:rPr>
              <a:t> </a:t>
            </a:r>
            <a:r>
              <a:rPr lang="en-US" dirty="0" smtClean="0">
                <a:latin typeface="Avenir Book"/>
                <a:cs typeface="Avenir Book"/>
              </a:rPr>
              <a:t>– a “deliberate process” (set of instructions) that “transforms” inputs to outputs (processes data). [Some parts from </a:t>
            </a:r>
            <a:r>
              <a:rPr lang="en-US" sz="1800" dirty="0" smtClean="0">
                <a:latin typeface="Avenir Book"/>
                <a:cs typeface="Avenir Book"/>
                <a:hlinkClick r:id="rId3"/>
              </a:rPr>
              <a:t>Wikipedia Computation</a:t>
            </a:r>
            <a:r>
              <a:rPr lang="en-US" dirty="0" smtClean="0">
                <a:latin typeface="Avenir Book"/>
                <a:cs typeface="Avenir Book"/>
              </a:rPr>
              <a:t>]</a:t>
            </a:r>
          </a:p>
          <a:p>
            <a:r>
              <a:rPr lang="en-US" dirty="0" smtClean="0">
                <a:latin typeface="Avenir Book"/>
                <a:cs typeface="Avenir Book"/>
              </a:rPr>
              <a:t>In CS, we will study techniques to do computation more powerfully. </a:t>
            </a:r>
          </a:p>
          <a:p>
            <a:r>
              <a:rPr lang="en-US" dirty="0" smtClean="0">
                <a:latin typeface="Avenir Book"/>
                <a:cs typeface="Avenir Book"/>
              </a:rPr>
              <a:t>In CS61A, we will see how </a:t>
            </a:r>
            <a:r>
              <a:rPr lang="en-US" i="1" u="sng" dirty="0" smtClean="0">
                <a:latin typeface="Avenir Book"/>
                <a:cs typeface="Avenir Book"/>
              </a:rPr>
              <a:t>abstraction</a:t>
            </a:r>
            <a:r>
              <a:rPr lang="en-US" dirty="0" smtClean="0">
                <a:latin typeface="Avenir Book"/>
                <a:cs typeface="Avenir Book"/>
              </a:rPr>
              <a:t> makes complex computation more manageable.</a:t>
            </a:r>
          </a:p>
          <a:p>
            <a:pPr lvl="1"/>
            <a:r>
              <a:rPr lang="en-US" dirty="0" smtClean="0">
                <a:latin typeface="Avenir Book"/>
                <a:cs typeface="Avenir Book"/>
              </a:rPr>
              <a:t>E.g. Dining hall food’s just there. Don’t worry about where it comes from.</a:t>
            </a:r>
          </a:p>
        </p:txBody>
      </p:sp>
      <p:sp>
        <p:nvSpPr>
          <p:cNvPr id="5" name="Slide Number Placeholder 4"/>
          <p:cNvSpPr>
            <a:spLocks noGrp="1"/>
          </p:cNvSpPr>
          <p:nvPr>
            <p:ph type="sldNum" sz="quarter" idx="12"/>
          </p:nvPr>
        </p:nvSpPr>
        <p:spPr/>
        <p:txBody>
          <a:bodyPr/>
          <a:lstStyle/>
          <a:p>
            <a:fld id="{8B37D5FE-740C-46F5-801A-FA5477D9711F}" type="slidenum">
              <a:rPr lang="en-US" smtClean="0"/>
              <a:pPr/>
              <a:t>6</a:t>
            </a:fld>
            <a:endParaRPr lang="en-US"/>
          </a:p>
        </p:txBody>
      </p:sp>
    </p:spTree>
    <p:extLst>
      <p:ext uri="{BB962C8B-B14F-4D97-AF65-F5344CB8AC3E}">
        <p14:creationId xmlns:p14="http://schemas.microsoft.com/office/powerpoint/2010/main" val="386767447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Computer Program</a:t>
            </a:r>
            <a:endParaRPr lang="en-US" dirty="0"/>
          </a:p>
        </p:txBody>
      </p:sp>
      <p:sp>
        <p:nvSpPr>
          <p:cNvPr id="3" name="Content Placeholder 2"/>
          <p:cNvSpPr>
            <a:spLocks noGrp="1"/>
          </p:cNvSpPr>
          <p:nvPr>
            <p:ph idx="1"/>
          </p:nvPr>
        </p:nvSpPr>
        <p:spPr>
          <a:xfrm>
            <a:off x="6910859" y="4153804"/>
            <a:ext cx="2672115" cy="498732"/>
          </a:xfrm>
        </p:spPr>
        <p:txBody>
          <a:bodyPr/>
          <a:lstStyle/>
          <a:p>
            <a:pPr marL="68580" indent="0">
              <a:buNone/>
            </a:pPr>
            <a:r>
              <a:rPr lang="en-US" dirty="0" smtClean="0"/>
              <a:t>Input Data</a:t>
            </a:r>
            <a:endParaRPr lang="en-US" dirty="0"/>
          </a:p>
        </p:txBody>
      </p:sp>
      <p:sp>
        <p:nvSpPr>
          <p:cNvPr id="4" name="Content Placeholder 2"/>
          <p:cNvSpPr txBox="1">
            <a:spLocks/>
          </p:cNvSpPr>
          <p:nvPr/>
        </p:nvSpPr>
        <p:spPr>
          <a:xfrm>
            <a:off x="490397" y="4153804"/>
            <a:ext cx="2672115" cy="498732"/>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US" dirty="0" smtClean="0"/>
              <a:t>Output Data</a:t>
            </a:r>
            <a:endParaRPr lang="en-US" dirty="0"/>
          </a:p>
        </p:txBody>
      </p:sp>
      <p:sp>
        <p:nvSpPr>
          <p:cNvPr id="5" name="Left Arrow Callout 4"/>
          <p:cNvSpPr/>
          <p:nvPr/>
        </p:nvSpPr>
        <p:spPr>
          <a:xfrm>
            <a:off x="2751032" y="4002055"/>
            <a:ext cx="822960" cy="822960"/>
          </a:xfrm>
          <a:prstGeom prst="leftArrowCallout">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Left Arrow Callout 5"/>
          <p:cNvSpPr/>
          <p:nvPr/>
        </p:nvSpPr>
        <p:spPr>
          <a:xfrm>
            <a:off x="5847771" y="3910615"/>
            <a:ext cx="914400" cy="914400"/>
          </a:xfrm>
          <a:prstGeom prst="leftArrow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Down Arrow Callout 7"/>
          <p:cNvSpPr/>
          <p:nvPr/>
        </p:nvSpPr>
        <p:spPr>
          <a:xfrm>
            <a:off x="4421101" y="3279740"/>
            <a:ext cx="752529" cy="630875"/>
          </a:xfrm>
          <a:prstGeom prst="downArrow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Content Placeholder 2"/>
          <p:cNvSpPr txBox="1">
            <a:spLocks/>
          </p:cNvSpPr>
          <p:nvPr/>
        </p:nvSpPr>
        <p:spPr>
          <a:xfrm>
            <a:off x="3837572" y="2591324"/>
            <a:ext cx="2672115" cy="498732"/>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US" dirty="0" smtClean="0"/>
              <a:t>Instructions</a:t>
            </a:r>
            <a:endParaRPr lang="en-US" dirty="0"/>
          </a:p>
        </p:txBody>
      </p:sp>
      <p:sp>
        <p:nvSpPr>
          <p:cNvPr id="10" name="Content Placeholder 2"/>
          <p:cNvSpPr txBox="1">
            <a:spLocks/>
          </p:cNvSpPr>
          <p:nvPr/>
        </p:nvSpPr>
        <p:spPr>
          <a:xfrm>
            <a:off x="3837572" y="3994117"/>
            <a:ext cx="2672115" cy="1148893"/>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US" dirty="0" smtClean="0"/>
              <a:t>Interpreter/</a:t>
            </a:r>
          </a:p>
          <a:p>
            <a:pPr marL="68580" indent="0">
              <a:buFont typeface="Wingdings 2" pitchFamily="18" charset="2"/>
              <a:buNone/>
            </a:pPr>
            <a:r>
              <a:rPr lang="en-US" dirty="0" smtClean="0"/>
              <a:t>Memory</a:t>
            </a:r>
          </a:p>
        </p:txBody>
      </p:sp>
      <p:sp>
        <p:nvSpPr>
          <p:cNvPr id="7" name="Slide Number Placeholder 6"/>
          <p:cNvSpPr>
            <a:spLocks noGrp="1"/>
          </p:cNvSpPr>
          <p:nvPr>
            <p:ph type="sldNum" sz="quarter" idx="12"/>
          </p:nvPr>
        </p:nvSpPr>
        <p:spPr/>
        <p:txBody>
          <a:bodyPr/>
          <a:lstStyle/>
          <a:p>
            <a:fld id="{8B37D5FE-740C-46F5-801A-FA5477D9711F}" type="slidenum">
              <a:rPr lang="en-US" smtClean="0"/>
              <a:pPr/>
              <a:t>7</a:t>
            </a:fld>
            <a:endParaRPr lang="en-US"/>
          </a:p>
        </p:txBody>
      </p:sp>
    </p:spTree>
    <p:extLst>
      <p:ext uri="{BB962C8B-B14F-4D97-AF65-F5344CB8AC3E}">
        <p14:creationId xmlns:p14="http://schemas.microsoft.com/office/powerpoint/2010/main" val="1387207298"/>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Computer Program</a:t>
            </a:r>
            <a:endParaRPr lang="en-US" dirty="0"/>
          </a:p>
        </p:txBody>
      </p:sp>
      <p:sp>
        <p:nvSpPr>
          <p:cNvPr id="3" name="Content Placeholder 2"/>
          <p:cNvSpPr>
            <a:spLocks noGrp="1"/>
          </p:cNvSpPr>
          <p:nvPr>
            <p:ph idx="1"/>
          </p:nvPr>
        </p:nvSpPr>
        <p:spPr>
          <a:xfrm>
            <a:off x="6910859" y="3910615"/>
            <a:ext cx="2672115" cy="914400"/>
          </a:xfrm>
        </p:spPr>
        <p:txBody>
          <a:bodyPr>
            <a:normAutofit/>
          </a:bodyPr>
          <a:lstStyle/>
          <a:p>
            <a:pPr marL="68580" indent="0">
              <a:buNone/>
            </a:pPr>
            <a:r>
              <a:rPr lang="en-US" dirty="0" smtClean="0"/>
              <a:t>Student</a:t>
            </a:r>
          </a:p>
          <a:p>
            <a:pPr marL="68580" indent="0">
              <a:buNone/>
            </a:pPr>
            <a:r>
              <a:rPr lang="en-US" dirty="0" smtClean="0"/>
              <a:t>Numbers</a:t>
            </a:r>
            <a:endParaRPr lang="en-US" dirty="0"/>
          </a:p>
        </p:txBody>
      </p:sp>
      <p:sp>
        <p:nvSpPr>
          <p:cNvPr id="4" name="Content Placeholder 2"/>
          <p:cNvSpPr txBox="1">
            <a:spLocks/>
          </p:cNvSpPr>
          <p:nvPr/>
        </p:nvSpPr>
        <p:spPr>
          <a:xfrm>
            <a:off x="302261" y="4002055"/>
            <a:ext cx="2672115" cy="822959"/>
          </a:xfrm>
          <a:prstGeom prst="rect">
            <a:avLst/>
          </a:prstGeom>
        </p:spPr>
        <p:txBody>
          <a:bodyPr vert="horz" lIns="91440" tIns="45720" rIns="91440" bIns="45720" rtlCol="0">
            <a:normAutofit fontScale="92500" lnSpcReduction="10000"/>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lgn="ctr">
              <a:buFont typeface="Wingdings 2" pitchFamily="18" charset="2"/>
              <a:buNone/>
            </a:pPr>
            <a:r>
              <a:rPr lang="en-US" dirty="0" smtClean="0"/>
              <a:t>Students lined</a:t>
            </a:r>
          </a:p>
          <a:p>
            <a:pPr marL="68580" indent="0" algn="ctr">
              <a:buFont typeface="Wingdings 2" pitchFamily="18" charset="2"/>
              <a:buNone/>
            </a:pPr>
            <a:r>
              <a:rPr lang="en-US" dirty="0" smtClean="0"/>
              <a:t>up</a:t>
            </a:r>
            <a:endParaRPr lang="en-US" dirty="0"/>
          </a:p>
        </p:txBody>
      </p:sp>
      <p:sp>
        <p:nvSpPr>
          <p:cNvPr id="5" name="Left Arrow Callout 4"/>
          <p:cNvSpPr/>
          <p:nvPr/>
        </p:nvSpPr>
        <p:spPr>
          <a:xfrm>
            <a:off x="2751032" y="4002055"/>
            <a:ext cx="822960" cy="822960"/>
          </a:xfrm>
          <a:prstGeom prst="leftArrowCallout">
            <a:avLst/>
          </a:prstGeom>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Left Arrow Callout 5"/>
          <p:cNvSpPr/>
          <p:nvPr/>
        </p:nvSpPr>
        <p:spPr>
          <a:xfrm>
            <a:off x="5847771" y="3910615"/>
            <a:ext cx="914400" cy="914400"/>
          </a:xfrm>
          <a:prstGeom prst="leftArrow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Down Arrow Callout 7"/>
          <p:cNvSpPr/>
          <p:nvPr/>
        </p:nvSpPr>
        <p:spPr>
          <a:xfrm>
            <a:off x="4421101" y="3279740"/>
            <a:ext cx="752529" cy="630875"/>
          </a:xfrm>
          <a:prstGeom prst="downArrow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Content Placeholder 2"/>
          <p:cNvSpPr txBox="1">
            <a:spLocks/>
          </p:cNvSpPr>
          <p:nvPr/>
        </p:nvSpPr>
        <p:spPr>
          <a:xfrm>
            <a:off x="3276634" y="2591324"/>
            <a:ext cx="3233054" cy="498732"/>
          </a:xfrm>
          <a:prstGeom prst="rect">
            <a:avLst/>
          </a:prstGeom>
        </p:spPr>
        <p:txBody>
          <a:bodyPr vert="horz" lIns="91440" tIns="45720" rIns="91440" bIns="45720" rtlCol="0">
            <a:normAutofit fontScale="62500" lnSpcReduction="20000"/>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buFont typeface="Wingdings 2" pitchFamily="18" charset="2"/>
              <a:buNone/>
            </a:pPr>
            <a:r>
              <a:rPr lang="en-US" dirty="0" smtClean="0"/>
              <a:t>“Sort yourselves in small groups, then in larger groups!”</a:t>
            </a:r>
            <a:endParaRPr lang="en-US" dirty="0"/>
          </a:p>
        </p:txBody>
      </p:sp>
      <p:sp>
        <p:nvSpPr>
          <p:cNvPr id="10" name="Content Placeholder 2"/>
          <p:cNvSpPr txBox="1">
            <a:spLocks/>
          </p:cNvSpPr>
          <p:nvPr/>
        </p:nvSpPr>
        <p:spPr>
          <a:xfrm>
            <a:off x="3479925" y="4002055"/>
            <a:ext cx="2672115" cy="1148893"/>
          </a:xfrm>
          <a:prstGeom prst="rect">
            <a:avLst/>
          </a:prstGeom>
        </p:spPr>
        <p:txBody>
          <a:bodyPr vert="horz" lIns="91440" tIns="45720" rIns="91440" bIns="45720" rtlCol="0">
            <a:normAutofit/>
          </a:bodyPr>
          <a:lst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a:lstStyle>
          <a:p>
            <a:pPr marL="68580" indent="0" algn="ctr">
              <a:buFont typeface="Wingdings 2" pitchFamily="18" charset="2"/>
              <a:buNone/>
            </a:pPr>
            <a:r>
              <a:rPr lang="en-US" dirty="0" smtClean="0"/>
              <a:t>Student</a:t>
            </a:r>
          </a:p>
          <a:p>
            <a:pPr marL="68580" indent="0" algn="ctr">
              <a:buFont typeface="Wingdings 2" pitchFamily="18" charset="2"/>
              <a:buNone/>
            </a:pPr>
            <a:r>
              <a:rPr lang="en-US" dirty="0" smtClean="0"/>
              <a:t>Brains</a:t>
            </a:r>
          </a:p>
        </p:txBody>
      </p:sp>
      <p:sp>
        <p:nvSpPr>
          <p:cNvPr id="7" name="Slide Number Placeholder 6"/>
          <p:cNvSpPr>
            <a:spLocks noGrp="1"/>
          </p:cNvSpPr>
          <p:nvPr>
            <p:ph type="sldNum" sz="quarter" idx="12"/>
          </p:nvPr>
        </p:nvSpPr>
        <p:spPr/>
        <p:txBody>
          <a:bodyPr/>
          <a:lstStyle/>
          <a:p>
            <a:fld id="{8B37D5FE-740C-46F5-801A-FA5477D9711F}" type="slidenum">
              <a:rPr lang="en-US" smtClean="0"/>
              <a:pPr/>
              <a:t>8</a:t>
            </a:fld>
            <a:endParaRPr lang="en-US"/>
          </a:p>
        </p:txBody>
      </p:sp>
    </p:spTree>
    <p:extLst>
      <p:ext uri="{BB962C8B-B14F-4D97-AF65-F5344CB8AC3E}">
        <p14:creationId xmlns:p14="http://schemas.microsoft.com/office/powerpoint/2010/main" val="2878296509"/>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Lost on the Moon</a:t>
            </a:r>
            <a:endParaRPr lang="en-US" dirty="0"/>
          </a:p>
        </p:txBody>
      </p:sp>
      <p:sp>
        <p:nvSpPr>
          <p:cNvPr id="3" name="Content Placeholder 2"/>
          <p:cNvSpPr>
            <a:spLocks noGrp="1"/>
          </p:cNvSpPr>
          <p:nvPr>
            <p:ph idx="1"/>
          </p:nvPr>
        </p:nvSpPr>
        <p:spPr/>
        <p:txBody>
          <a:bodyPr/>
          <a:lstStyle/>
          <a:p>
            <a:r>
              <a:rPr lang="en-US" dirty="0" smtClean="0"/>
              <a:t>Put ALL electronic devices/distractions away. </a:t>
            </a:r>
            <a:r>
              <a:rPr lang="en-US" i="1" u="sng" dirty="0" smtClean="0"/>
              <a:t>Humans are bad at multitasking.</a:t>
            </a:r>
          </a:p>
          <a:p>
            <a:r>
              <a:rPr lang="en-US" dirty="0" smtClean="0"/>
              <a:t>Take 10 minutes to complete this activity alone.</a:t>
            </a:r>
          </a:p>
          <a:p>
            <a:r>
              <a:rPr lang="en-US" dirty="0" smtClean="0"/>
              <a:t>Now take a 2 minute break.</a:t>
            </a:r>
          </a:p>
          <a:p>
            <a:r>
              <a:rPr lang="en-US" dirty="0" smtClean="0"/>
              <a:t>Form groups of 3. Talk over your answers. The more debate the better. </a:t>
            </a:r>
            <a:endParaRPr lang="en-US" dirty="0"/>
          </a:p>
        </p:txBody>
      </p:sp>
      <p:sp>
        <p:nvSpPr>
          <p:cNvPr id="5" name="Slide Number Placeholder 4"/>
          <p:cNvSpPr>
            <a:spLocks noGrp="1"/>
          </p:cNvSpPr>
          <p:nvPr>
            <p:ph type="sldNum" sz="quarter" idx="12"/>
          </p:nvPr>
        </p:nvSpPr>
        <p:spPr>
          <a:xfrm>
            <a:off x="4649096" y="224491"/>
            <a:ext cx="1332156" cy="365125"/>
          </a:xfrm>
        </p:spPr>
        <p:txBody>
          <a:bodyPr/>
          <a:lstStyle/>
          <a:p>
            <a:fld id="{8B37D5FE-740C-46F5-801A-FA5477D9711F}" type="slidenum">
              <a:rPr lang="en-US" smtClean="0"/>
              <a:pPr/>
              <a:t>9</a:t>
            </a:fld>
            <a:endParaRPr lang="en-US"/>
          </a:p>
        </p:txBody>
      </p:sp>
    </p:spTree>
    <p:extLst>
      <p:ext uri="{BB962C8B-B14F-4D97-AF65-F5344CB8AC3E}">
        <p14:creationId xmlns:p14="http://schemas.microsoft.com/office/powerpoint/2010/main" val="188000265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Lost on the Moon </a:t>
            </a:r>
            <a:r>
              <a:rPr lang="en-US" i="1" dirty="0" smtClean="0">
                <a:solidFill>
                  <a:srgbClr val="FF0000"/>
                </a:solidFill>
              </a:rPr>
              <a:t>(Solutions)</a:t>
            </a:r>
            <a:endParaRPr lang="en-US" i="1" dirty="0">
              <a:solidFill>
                <a:srgbClr val="FF0000"/>
              </a:solidFill>
            </a:endParaRPr>
          </a:p>
        </p:txBody>
      </p:sp>
      <p:sp>
        <p:nvSpPr>
          <p:cNvPr id="3" name="Content Placeholder 2"/>
          <p:cNvSpPr>
            <a:spLocks noGrp="1"/>
          </p:cNvSpPr>
          <p:nvPr>
            <p:ph idx="1"/>
          </p:nvPr>
        </p:nvSpPr>
        <p:spPr/>
        <p:txBody>
          <a:bodyPr/>
          <a:lstStyle/>
          <a:p>
            <a:r>
              <a:rPr lang="en-US" dirty="0" smtClean="0"/>
              <a:t>Evaluate your thought process. Don’t focus so much on the solutions.</a:t>
            </a:r>
          </a:p>
          <a:p>
            <a:pPr lvl="1"/>
            <a:r>
              <a:rPr lang="en-US" dirty="0" smtClean="0"/>
              <a:t>If your answer is right, see what allowed you to get it right.</a:t>
            </a:r>
            <a:endParaRPr lang="en-US" dirty="0" smtClean="0">
              <a:hlinkClick r:id="rId2" action="ppaction://hlinkfile"/>
            </a:endParaRPr>
          </a:p>
          <a:p>
            <a:pPr lvl="1"/>
            <a:r>
              <a:rPr lang="en-US" dirty="0" smtClean="0"/>
              <a:t>If you answer is wrong, what parts of your approach should you change for next </a:t>
            </a:r>
            <a:r>
              <a:rPr lang="en-US" smtClean="0"/>
              <a:t>time?</a:t>
            </a:r>
            <a:endParaRPr lang="en-US" dirty="0" smtClean="0">
              <a:hlinkClick r:id="rId2" action="ppaction://hlinkfile"/>
            </a:endParaRPr>
          </a:p>
        </p:txBody>
      </p:sp>
      <p:sp>
        <p:nvSpPr>
          <p:cNvPr id="5" name="Slide Number Placeholder 4"/>
          <p:cNvSpPr>
            <a:spLocks noGrp="1"/>
          </p:cNvSpPr>
          <p:nvPr>
            <p:ph type="sldNum" sz="quarter" idx="12"/>
          </p:nvPr>
        </p:nvSpPr>
        <p:spPr/>
        <p:txBody>
          <a:bodyPr/>
          <a:lstStyle/>
          <a:p>
            <a:fld id="{8B37D5FE-740C-46F5-801A-FA5477D9711F}" type="slidenum">
              <a:rPr lang="en-US" smtClean="0"/>
              <a:pPr/>
              <a:t>10</a:t>
            </a:fld>
            <a:endParaRPr lang="en-US"/>
          </a:p>
        </p:txBody>
      </p:sp>
    </p:spTree>
    <p:extLst>
      <p:ext uri="{BB962C8B-B14F-4D97-AF65-F5344CB8AC3E}">
        <p14:creationId xmlns:p14="http://schemas.microsoft.com/office/powerpoint/2010/main" val="270435818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venir Book"/>
                <a:cs typeface="Avenir Book"/>
              </a:rPr>
              <a:t>This worksheet seemed random???</a:t>
            </a:r>
            <a:endParaRPr lang="en-US" i="1" dirty="0">
              <a:solidFill>
                <a:srgbClr val="FF0000"/>
              </a:solidFill>
              <a:latin typeface="Avenir Book"/>
              <a:cs typeface="Avenir Book"/>
            </a:endParaRPr>
          </a:p>
        </p:txBody>
      </p:sp>
      <p:sp>
        <p:nvSpPr>
          <p:cNvPr id="3" name="Content Placeholder 2"/>
          <p:cNvSpPr>
            <a:spLocks noGrp="1"/>
          </p:cNvSpPr>
          <p:nvPr>
            <p:ph idx="1"/>
          </p:nvPr>
        </p:nvSpPr>
        <p:spPr/>
        <p:txBody>
          <a:bodyPr>
            <a:normAutofit/>
          </a:bodyPr>
          <a:lstStyle/>
          <a:p>
            <a:r>
              <a:rPr lang="en-US" dirty="0" smtClean="0">
                <a:latin typeface="Avenir Book"/>
                <a:cs typeface="Avenir Book"/>
              </a:rPr>
              <a:t>Show of hands: how many people’s group score was better than the individual score?</a:t>
            </a:r>
          </a:p>
          <a:p>
            <a:r>
              <a:rPr lang="en-US" dirty="0" smtClean="0">
                <a:latin typeface="Avenir Book"/>
                <a:cs typeface="Avenir Book"/>
              </a:rPr>
              <a:t>Personal anecdote: chess over the summer.</a:t>
            </a:r>
          </a:p>
          <a:p>
            <a:r>
              <a:rPr lang="en-US" dirty="0" smtClean="0">
                <a:latin typeface="Avenir Book"/>
                <a:cs typeface="Avenir Book"/>
              </a:rPr>
              <a:t>Groups are powerful!</a:t>
            </a:r>
          </a:p>
          <a:p>
            <a:r>
              <a:rPr lang="en-US" dirty="0" smtClean="0">
                <a:latin typeface="Avenir Book"/>
                <a:cs typeface="Avenir Book"/>
              </a:rPr>
              <a:t>CS application: It’s better to have clusters of computers rather than one super-expensive computer. </a:t>
            </a:r>
            <a:endParaRPr lang="en-US" dirty="0">
              <a:latin typeface="Avenir Book"/>
              <a:cs typeface="Avenir Book"/>
            </a:endParaRPr>
          </a:p>
        </p:txBody>
      </p:sp>
      <p:sp>
        <p:nvSpPr>
          <p:cNvPr id="5" name="Slide Number Placeholder 4"/>
          <p:cNvSpPr>
            <a:spLocks noGrp="1"/>
          </p:cNvSpPr>
          <p:nvPr>
            <p:ph type="sldNum" sz="quarter" idx="12"/>
          </p:nvPr>
        </p:nvSpPr>
        <p:spPr/>
        <p:txBody>
          <a:bodyPr/>
          <a:lstStyle/>
          <a:p>
            <a:fld id="{8B37D5FE-740C-46F5-801A-FA5477D9711F}" type="slidenum">
              <a:rPr lang="en-US" smtClean="0"/>
              <a:pPr/>
              <a:t>11</a:t>
            </a:fld>
            <a:endParaRPr lang="en-US"/>
          </a:p>
        </p:txBody>
      </p:sp>
    </p:spTree>
    <p:extLst>
      <p:ext uri="{BB962C8B-B14F-4D97-AF65-F5344CB8AC3E}">
        <p14:creationId xmlns:p14="http://schemas.microsoft.com/office/powerpoint/2010/main" val="276454393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Tools</a:t>
            </a:r>
            <a:endParaRPr lang="en-US" i="1" dirty="0">
              <a:solidFill>
                <a:srgbClr val="FF0000"/>
              </a:solidFill>
            </a:endParaRPr>
          </a:p>
        </p:txBody>
      </p:sp>
      <p:sp>
        <p:nvSpPr>
          <p:cNvPr id="3" name="Content Placeholder 2"/>
          <p:cNvSpPr>
            <a:spLocks noGrp="1"/>
          </p:cNvSpPr>
          <p:nvPr>
            <p:ph idx="1"/>
          </p:nvPr>
        </p:nvSpPr>
        <p:spPr/>
        <p:txBody>
          <a:bodyPr>
            <a:normAutofit/>
          </a:bodyPr>
          <a:lstStyle/>
          <a:p>
            <a:r>
              <a:rPr lang="en-US" dirty="0" smtClean="0">
                <a:latin typeface="Avenir Book"/>
                <a:cs typeface="Avenir Book"/>
                <a:hlinkClick r:id="rId2"/>
              </a:rPr>
              <a:t>Composing Programs </a:t>
            </a:r>
            <a:r>
              <a:rPr lang="en-US" dirty="0" smtClean="0">
                <a:latin typeface="Avenir Book"/>
                <a:cs typeface="Avenir Book"/>
              </a:rPr>
              <a:t>– your online textbook</a:t>
            </a:r>
            <a:endParaRPr lang="en-US" dirty="0" smtClean="0">
              <a:latin typeface="Avenir Book"/>
              <a:cs typeface="Avenir Book"/>
              <a:hlinkClick r:id="rId3"/>
            </a:endParaRPr>
          </a:p>
          <a:p>
            <a:r>
              <a:rPr lang="en-US" dirty="0" smtClean="0">
                <a:latin typeface="Avenir Book"/>
                <a:cs typeface="Avenir Book"/>
                <a:hlinkClick r:id="rId3"/>
              </a:rPr>
              <a:t>Ipython </a:t>
            </a:r>
            <a:r>
              <a:rPr lang="en-US" dirty="0" smtClean="0">
                <a:latin typeface="Avenir Book"/>
                <a:cs typeface="Avenir Book"/>
                <a:hlinkClick r:id="rId3"/>
              </a:rPr>
              <a:t>Notebook</a:t>
            </a:r>
            <a:r>
              <a:rPr lang="en-US" dirty="0" smtClean="0">
                <a:latin typeface="Avenir Book"/>
                <a:cs typeface="Avenir Book"/>
              </a:rPr>
              <a:t> – Take notes w/ Python!</a:t>
            </a:r>
            <a:endParaRPr lang="en-US" dirty="0" smtClean="0">
              <a:latin typeface="Avenir Book"/>
              <a:cs typeface="Avenir Book"/>
            </a:endParaRPr>
          </a:p>
          <a:p>
            <a:r>
              <a:rPr lang="en-US" dirty="0" smtClean="0">
                <a:latin typeface="Avenir Book"/>
                <a:cs typeface="Avenir Book"/>
                <a:hlinkClick r:id="rId4"/>
              </a:rPr>
              <a:t>PythonTutor</a:t>
            </a:r>
            <a:r>
              <a:rPr lang="en-US" dirty="0" smtClean="0">
                <a:latin typeface="Avenir Book"/>
                <a:cs typeface="Avenir Book"/>
              </a:rPr>
              <a:t> – Environment diagrams</a:t>
            </a:r>
            <a:endParaRPr lang="en-US" dirty="0" smtClean="0">
              <a:latin typeface="Avenir Book"/>
              <a:cs typeface="Avenir Book"/>
            </a:endParaRPr>
          </a:p>
          <a:p>
            <a:r>
              <a:rPr lang="en-US" dirty="0" smtClean="0">
                <a:latin typeface="Avenir Book"/>
                <a:cs typeface="Avenir Book"/>
                <a:hlinkClick r:id="rId5"/>
              </a:rPr>
              <a:t>Google </a:t>
            </a:r>
            <a:r>
              <a:rPr lang="en-US" dirty="0" smtClean="0">
                <a:latin typeface="Avenir Book"/>
                <a:cs typeface="Avenir Book"/>
              </a:rPr>
              <a:t>+ </a:t>
            </a:r>
            <a:r>
              <a:rPr lang="en-US" dirty="0" smtClean="0">
                <a:latin typeface="Avenir Book"/>
                <a:cs typeface="Avenir Book"/>
                <a:hlinkClick r:id="rId6"/>
              </a:rPr>
              <a:t>StackOverflow</a:t>
            </a:r>
            <a:r>
              <a:rPr lang="en-US" dirty="0" smtClean="0">
                <a:latin typeface="Avenir Book"/>
                <a:cs typeface="Avenir Book"/>
              </a:rPr>
              <a:t> – </a:t>
            </a:r>
            <a:r>
              <a:rPr lang="en-US" dirty="0" err="1" smtClean="0">
                <a:latin typeface="Avenir Book"/>
                <a:cs typeface="Avenir Book"/>
              </a:rPr>
              <a:t>google</a:t>
            </a:r>
            <a:r>
              <a:rPr lang="en-US" dirty="0" smtClean="0">
                <a:latin typeface="Avenir Book"/>
                <a:cs typeface="Avenir Book"/>
              </a:rPr>
              <a:t> all your problems. </a:t>
            </a:r>
            <a:r>
              <a:rPr lang="en-US" dirty="0" err="1" smtClean="0">
                <a:latin typeface="Avenir Book"/>
                <a:cs typeface="Avenir Book"/>
              </a:rPr>
              <a:t>Stackoverflow</a:t>
            </a:r>
            <a:r>
              <a:rPr lang="en-US" dirty="0" smtClean="0">
                <a:latin typeface="Avenir Book"/>
                <a:cs typeface="Avenir Book"/>
              </a:rPr>
              <a:t> usually has good answers to your question</a:t>
            </a:r>
          </a:p>
          <a:p>
            <a:r>
              <a:rPr lang="en-US" dirty="0" err="1" smtClean="0">
                <a:latin typeface="Avenir Book"/>
                <a:cs typeface="Avenir Book"/>
                <a:hlinkClick r:id="rId7"/>
              </a:rPr>
              <a:t>duckie.me</a:t>
            </a:r>
            <a:endParaRPr lang="en-US" dirty="0" smtClean="0">
              <a:latin typeface="Avenir Book"/>
              <a:cs typeface="Avenir Book"/>
            </a:endParaRPr>
          </a:p>
          <a:p>
            <a:r>
              <a:rPr lang="en-US" dirty="0">
                <a:latin typeface="Avenir Book"/>
                <a:cs typeface="Avenir Book"/>
              </a:rPr>
              <a:t>p</a:t>
            </a:r>
            <a:r>
              <a:rPr lang="en-US" dirty="0" smtClean="0">
                <a:latin typeface="Avenir Book"/>
                <a:cs typeface="Avenir Book"/>
              </a:rPr>
              <a:t>ydoc3 – on the command line</a:t>
            </a:r>
          </a:p>
        </p:txBody>
      </p:sp>
      <p:sp>
        <p:nvSpPr>
          <p:cNvPr id="5" name="Slide Number Placeholder 4"/>
          <p:cNvSpPr>
            <a:spLocks noGrp="1"/>
          </p:cNvSpPr>
          <p:nvPr>
            <p:ph type="sldNum" sz="quarter" idx="12"/>
          </p:nvPr>
        </p:nvSpPr>
        <p:spPr/>
        <p:txBody>
          <a:bodyPr/>
          <a:lstStyle/>
          <a:p>
            <a:fld id="{8B37D5FE-740C-46F5-801A-FA5477D9711F}" type="slidenum">
              <a:rPr lang="en-US" smtClean="0"/>
              <a:pPr/>
              <a:t>12</a:t>
            </a:fld>
            <a:endParaRPr lang="en-US"/>
          </a:p>
        </p:txBody>
      </p:sp>
    </p:spTree>
    <p:extLst>
      <p:ext uri="{BB962C8B-B14F-4D97-AF65-F5344CB8AC3E}">
        <p14:creationId xmlns:p14="http://schemas.microsoft.com/office/powerpoint/2010/main" val="60597039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745426"/>
            <a:ext cx="7024744" cy="916645"/>
          </a:xfrm>
        </p:spPr>
        <p:txBody>
          <a:bodyPr>
            <a:normAutofit/>
          </a:bodyPr>
          <a:lstStyle/>
          <a:p>
            <a:r>
              <a:rPr lang="en-US" dirty="0" smtClean="0"/>
              <a:t>Mastering CS</a:t>
            </a:r>
            <a:endParaRPr lang="en-US" i="1" dirty="0">
              <a:solidFill>
                <a:srgbClr val="FF0000"/>
              </a:solidFill>
            </a:endParaRPr>
          </a:p>
        </p:txBody>
      </p:sp>
      <p:sp>
        <p:nvSpPr>
          <p:cNvPr id="3" name="Content Placeholder 2"/>
          <p:cNvSpPr>
            <a:spLocks noGrp="1"/>
          </p:cNvSpPr>
          <p:nvPr>
            <p:ph idx="1"/>
          </p:nvPr>
        </p:nvSpPr>
        <p:spPr>
          <a:xfrm>
            <a:off x="344909" y="1662071"/>
            <a:ext cx="8434585" cy="5195929"/>
          </a:xfrm>
        </p:spPr>
        <p:txBody>
          <a:bodyPr>
            <a:normAutofit fontScale="92500"/>
          </a:bodyPr>
          <a:lstStyle/>
          <a:p>
            <a:r>
              <a:rPr lang="en-US" dirty="0" smtClean="0">
                <a:latin typeface="Avenir Book"/>
                <a:cs typeface="Avenir Book"/>
              </a:rPr>
              <a:t>There are millions of people learning CS right now! How do you make yourself stand out?</a:t>
            </a:r>
          </a:p>
          <a:p>
            <a:r>
              <a:rPr lang="en-US" dirty="0" smtClean="0">
                <a:latin typeface="Avenir Book"/>
                <a:cs typeface="Avenir Book"/>
              </a:rPr>
              <a:t>My observations:</a:t>
            </a:r>
          </a:p>
          <a:p>
            <a:pPr lvl="1"/>
            <a:r>
              <a:rPr lang="en-US" dirty="0" smtClean="0">
                <a:latin typeface="Avenir Book"/>
                <a:cs typeface="Avenir Book"/>
              </a:rPr>
              <a:t>All start with the same resources: documentation/what’s online.</a:t>
            </a:r>
          </a:p>
          <a:p>
            <a:pPr lvl="1"/>
            <a:r>
              <a:rPr lang="en-US" dirty="0" smtClean="0">
                <a:latin typeface="Avenir Book"/>
                <a:cs typeface="Avenir Book"/>
              </a:rPr>
              <a:t>What matters: </a:t>
            </a:r>
            <a:r>
              <a:rPr lang="en-US" u="sng" dirty="0" smtClean="0">
                <a:latin typeface="Avenir Book"/>
                <a:cs typeface="Avenir Book"/>
              </a:rPr>
              <a:t>how you combine them</a:t>
            </a:r>
            <a:r>
              <a:rPr lang="en-US" dirty="0" smtClean="0">
                <a:latin typeface="Avenir Book"/>
                <a:cs typeface="Avenir Book"/>
              </a:rPr>
              <a:t> to make powerful stuff.</a:t>
            </a:r>
          </a:p>
          <a:p>
            <a:r>
              <a:rPr lang="en-US" dirty="0" err="1" smtClean="0">
                <a:latin typeface="Avenir Book"/>
                <a:cs typeface="Avenir Book"/>
              </a:rPr>
              <a:t>Actionables</a:t>
            </a:r>
            <a:endParaRPr lang="en-US" dirty="0" smtClean="0">
              <a:latin typeface="Avenir Book"/>
              <a:cs typeface="Avenir Book"/>
            </a:endParaRPr>
          </a:p>
          <a:p>
            <a:pPr lvl="1"/>
            <a:r>
              <a:rPr lang="en-US" dirty="0" smtClean="0">
                <a:latin typeface="Avenir Book"/>
                <a:cs typeface="Avenir Book"/>
              </a:rPr>
              <a:t>You must know the basics inside-out. Don’t try anything challenging until you have an intuition for the basics. </a:t>
            </a:r>
            <a:r>
              <a:rPr lang="en-US" i="1" u="sng" dirty="0" smtClean="0">
                <a:latin typeface="Avenir Book"/>
                <a:cs typeface="Avenir Book"/>
              </a:rPr>
              <a:t>Practice</a:t>
            </a:r>
            <a:r>
              <a:rPr lang="en-US" dirty="0" smtClean="0">
                <a:latin typeface="Avenir Book"/>
                <a:cs typeface="Avenir Book"/>
              </a:rPr>
              <a:t>!</a:t>
            </a:r>
          </a:p>
          <a:p>
            <a:pPr lvl="1"/>
            <a:r>
              <a:rPr lang="en-US" dirty="0" smtClean="0">
                <a:latin typeface="Avenir Book"/>
                <a:cs typeface="Avenir Book"/>
              </a:rPr>
              <a:t>Then, </a:t>
            </a:r>
            <a:r>
              <a:rPr lang="en-US" i="1" u="sng" dirty="0" smtClean="0">
                <a:latin typeface="Avenir Book"/>
                <a:cs typeface="Avenir Book"/>
              </a:rPr>
              <a:t>practice</a:t>
            </a:r>
            <a:r>
              <a:rPr lang="en-US" dirty="0" smtClean="0">
                <a:latin typeface="Avenir Book"/>
                <a:cs typeface="Avenir Book"/>
              </a:rPr>
              <a:t> putting pieces together! Be creative! Solving hard problems is a nice side effect.</a:t>
            </a:r>
          </a:p>
          <a:p>
            <a:pPr lvl="2"/>
            <a:r>
              <a:rPr lang="en-US" dirty="0" smtClean="0">
                <a:latin typeface="Avenir Book"/>
                <a:cs typeface="Avenir Book"/>
              </a:rPr>
              <a:t>E.g. functions that return functions???? List + trees, </a:t>
            </a:r>
            <a:r>
              <a:rPr lang="en-US" dirty="0" err="1" smtClean="0">
                <a:latin typeface="Avenir Book"/>
                <a:cs typeface="Avenir Book"/>
              </a:rPr>
              <a:t>func</a:t>
            </a:r>
            <a:r>
              <a:rPr lang="en-US" dirty="0" smtClean="0">
                <a:latin typeface="Avenir Book"/>
                <a:cs typeface="Avenir Book"/>
              </a:rPr>
              <a:t> + </a:t>
            </a:r>
            <a:r>
              <a:rPr lang="en-US" dirty="0" err="1" smtClean="0">
                <a:latin typeface="Avenir Book"/>
                <a:cs typeface="Avenir Book"/>
              </a:rPr>
              <a:t>dicts</a:t>
            </a:r>
            <a:r>
              <a:rPr lang="en-US" dirty="0" smtClean="0">
                <a:latin typeface="Avenir Book"/>
                <a:cs typeface="Avenir Book"/>
              </a:rPr>
              <a:t> </a:t>
            </a:r>
          </a:p>
          <a:p>
            <a:pPr lvl="2"/>
            <a:r>
              <a:rPr lang="en-US" dirty="0" smtClean="0">
                <a:latin typeface="Avenir Book"/>
                <a:cs typeface="Avenir Book"/>
              </a:rPr>
              <a:t> Don’t feel bad about mistakes or bugs, especially in discussion. They will happen, and you’ll be stronger for them. </a:t>
            </a:r>
            <a:r>
              <a:rPr lang="en-US" dirty="0" smtClean="0">
                <a:latin typeface="Avenir Book"/>
                <a:cs typeface="Avenir Book"/>
                <a:sym typeface="Wingdings"/>
              </a:rPr>
              <a:t> </a:t>
            </a:r>
          </a:p>
          <a:p>
            <a:pPr lvl="2"/>
            <a:r>
              <a:rPr lang="en-US" dirty="0" smtClean="0">
                <a:latin typeface="Avenir Book"/>
                <a:cs typeface="Avenir Book"/>
                <a:sym typeface="Wingdings"/>
              </a:rPr>
              <a:t>(Hint: Google your bugs.)</a:t>
            </a:r>
            <a:endParaRPr lang="en-US" dirty="0" smtClean="0">
              <a:latin typeface="Avenir Book"/>
              <a:cs typeface="Avenir Book"/>
            </a:endParaRPr>
          </a:p>
        </p:txBody>
      </p:sp>
      <p:sp>
        <p:nvSpPr>
          <p:cNvPr id="5" name="Slide Number Placeholder 4"/>
          <p:cNvSpPr>
            <a:spLocks noGrp="1"/>
          </p:cNvSpPr>
          <p:nvPr>
            <p:ph type="sldNum" sz="quarter" idx="12"/>
          </p:nvPr>
        </p:nvSpPr>
        <p:spPr/>
        <p:txBody>
          <a:bodyPr/>
          <a:lstStyle/>
          <a:p>
            <a:fld id="{8B37D5FE-740C-46F5-801A-FA5477D9711F}" type="slidenum">
              <a:rPr lang="en-US" smtClean="0"/>
              <a:pPr/>
              <a:t>13</a:t>
            </a:fld>
            <a:endParaRPr lang="en-US"/>
          </a:p>
        </p:txBody>
      </p:sp>
    </p:spTree>
    <p:extLst>
      <p:ext uri="{BB962C8B-B14F-4D97-AF65-F5344CB8AC3E}">
        <p14:creationId xmlns:p14="http://schemas.microsoft.com/office/powerpoint/2010/main" val="182256626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p:tgtEl>
                                          <p:spTgt spid="3">
                                            <p:txEl>
                                              <p:pRg st="6" end="6"/>
                                            </p:txEl>
                                          </p:spTgt>
                                        </p:tgtEl>
                                        <p:attrNameLst>
                                          <p:attrName>ppt_y</p:attrName>
                                        </p:attrNameLst>
                                      </p:cBhvr>
                                      <p:tavLst>
                                        <p:tav tm="0">
                                          <p:val>
                                            <p:strVal val="#ppt_y+#ppt_h*1.125000"/>
                                          </p:val>
                                        </p:tav>
                                        <p:tav tm="100000">
                                          <p:val>
                                            <p:strVal val="#ppt_y"/>
                                          </p:val>
                                        </p:tav>
                                      </p:tavLst>
                                    </p:anim>
                                    <p:animEffect transition="in" filter="wipe(up)">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p:tgtEl>
                                          <p:spTgt spid="3">
                                            <p:txEl>
                                              <p:pRg st="7" end="7"/>
                                            </p:txEl>
                                          </p:spTgt>
                                        </p:tgtEl>
                                        <p:attrNameLst>
                                          <p:attrName>ppt_y</p:attrName>
                                        </p:attrNameLst>
                                      </p:cBhvr>
                                      <p:tavLst>
                                        <p:tav tm="0">
                                          <p:val>
                                            <p:strVal val="#ppt_y+#ppt_h*1.125000"/>
                                          </p:val>
                                        </p:tav>
                                        <p:tav tm="100000">
                                          <p:val>
                                            <p:strVal val="#ppt_y"/>
                                          </p:val>
                                        </p:tav>
                                      </p:tavLst>
                                    </p:anim>
                                    <p:animEffect transition="in" filter="wipe(up)">
                                      <p:cBhvr>
                                        <p:cTn id="48" dur="500"/>
                                        <p:tgtEl>
                                          <p:spTgt spid="3">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p:tgtEl>
                                          <p:spTgt spid="3">
                                            <p:txEl>
                                              <p:pRg st="8" end="8"/>
                                            </p:txEl>
                                          </p:spTgt>
                                        </p:tgtEl>
                                        <p:attrNameLst>
                                          <p:attrName>ppt_y</p:attrName>
                                        </p:attrNameLst>
                                      </p:cBhvr>
                                      <p:tavLst>
                                        <p:tav tm="0">
                                          <p:val>
                                            <p:strVal val="#ppt_y+#ppt_h*1.125000"/>
                                          </p:val>
                                        </p:tav>
                                        <p:tav tm="100000">
                                          <p:val>
                                            <p:strVal val="#ppt_y"/>
                                          </p:val>
                                        </p:tav>
                                      </p:tavLst>
                                    </p:anim>
                                    <p:animEffect transition="in" filter="wipe(up)">
                                      <p:cBhvr>
                                        <p:cTn id="54" dur="500"/>
                                        <p:tgtEl>
                                          <p:spTgt spid="3">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4" fill="hold" grpId="0"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 calcmode="lin" valueType="num">
                                      <p:cBhvr additive="base">
                                        <p:cTn id="59" dur="500"/>
                                        <p:tgtEl>
                                          <p:spTgt spid="3">
                                            <p:txEl>
                                              <p:pRg st="9" end="9"/>
                                            </p:txEl>
                                          </p:spTgt>
                                        </p:tgtEl>
                                        <p:attrNameLst>
                                          <p:attrName>ppt_y</p:attrName>
                                        </p:attrNameLst>
                                      </p:cBhvr>
                                      <p:tavLst>
                                        <p:tav tm="0">
                                          <p:val>
                                            <p:strVal val="#ppt_y+#ppt_h*1.125000"/>
                                          </p:val>
                                        </p:tav>
                                        <p:tav tm="100000">
                                          <p:val>
                                            <p:strVal val="#ppt_y"/>
                                          </p:val>
                                        </p:tav>
                                      </p:tavLst>
                                    </p:anim>
                                    <p:animEffect transition="in" filter="wipe(up)">
                                      <p:cBhvr>
                                        <p:cTn id="6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916645"/>
          </a:xfrm>
        </p:spPr>
        <p:txBody>
          <a:bodyPr>
            <a:normAutofit/>
          </a:bodyPr>
          <a:lstStyle/>
          <a:p>
            <a:r>
              <a:rPr lang="en-US" dirty="0" smtClean="0"/>
              <a:t>Example: printing</a:t>
            </a:r>
            <a:endParaRPr lang="en-US" i="1" dirty="0">
              <a:solidFill>
                <a:srgbClr val="FF0000"/>
              </a:solidFill>
            </a:endParaRPr>
          </a:p>
        </p:txBody>
      </p:sp>
      <p:sp>
        <p:nvSpPr>
          <p:cNvPr id="3" name="Content Placeholder 2"/>
          <p:cNvSpPr>
            <a:spLocks noGrp="1"/>
          </p:cNvSpPr>
          <p:nvPr>
            <p:ph idx="1"/>
          </p:nvPr>
        </p:nvSpPr>
        <p:spPr>
          <a:xfrm>
            <a:off x="344909" y="2069748"/>
            <a:ext cx="8434585" cy="4788252"/>
          </a:xfrm>
        </p:spPr>
        <p:txBody>
          <a:bodyPr>
            <a:normAutofit/>
          </a:bodyPr>
          <a:lstStyle/>
          <a:p>
            <a:r>
              <a:rPr lang="en-US" dirty="0" smtClean="0">
                <a:latin typeface="Avenir Book"/>
                <a:cs typeface="Avenir Book"/>
              </a:rPr>
              <a:t>Classic CS Example: Print “hello world to the terminal</a:t>
            </a:r>
          </a:p>
          <a:p>
            <a:r>
              <a:rPr lang="en-US" dirty="0" smtClean="0">
                <a:latin typeface="Avenir Book"/>
                <a:cs typeface="Avenir Book"/>
              </a:rPr>
              <a:t>Python</a:t>
            </a:r>
          </a:p>
          <a:p>
            <a:pPr lvl="1"/>
            <a:r>
              <a:rPr lang="en-US" dirty="0" smtClean="0">
                <a:latin typeface="Consolas"/>
                <a:cs typeface="Consolas"/>
              </a:rPr>
              <a:t>print(“Hello, world!”)</a:t>
            </a:r>
          </a:p>
          <a:p>
            <a:r>
              <a:rPr lang="en-US" dirty="0" smtClean="0">
                <a:latin typeface="Avenir Book"/>
                <a:cs typeface="Avenir Book"/>
              </a:rPr>
              <a:t>Questions?</a:t>
            </a:r>
          </a:p>
          <a:p>
            <a:pPr lvl="1"/>
            <a:r>
              <a:rPr lang="en-US" dirty="0" smtClean="0">
                <a:latin typeface="Avenir Book"/>
                <a:cs typeface="Avenir Book"/>
              </a:rPr>
              <a:t>Can you print numbers?</a:t>
            </a:r>
          </a:p>
          <a:p>
            <a:pPr lvl="2"/>
            <a:r>
              <a:rPr lang="en-US" dirty="0" smtClean="0">
                <a:latin typeface="Consolas"/>
                <a:cs typeface="Consolas"/>
              </a:rPr>
              <a:t>print(2)</a:t>
            </a:r>
          </a:p>
          <a:p>
            <a:pPr lvl="1"/>
            <a:r>
              <a:rPr lang="en-US" dirty="0" smtClean="0">
                <a:latin typeface="Avenir Book"/>
                <a:cs typeface="Avenir Book"/>
              </a:rPr>
              <a:t>Can you print multiple things?</a:t>
            </a:r>
          </a:p>
          <a:p>
            <a:pPr lvl="2"/>
            <a:r>
              <a:rPr lang="en-US" dirty="0" smtClean="0">
                <a:latin typeface="Consolas"/>
                <a:cs typeface="Consolas"/>
              </a:rPr>
              <a:t>print(“hello”, “world”)</a:t>
            </a:r>
          </a:p>
          <a:p>
            <a:pPr lvl="1"/>
            <a:r>
              <a:rPr lang="en-US" dirty="0" smtClean="0">
                <a:latin typeface="Avenir Book"/>
                <a:cs typeface="Avenir Book"/>
              </a:rPr>
              <a:t>Can you print something with </a:t>
            </a:r>
            <a:r>
              <a:rPr lang="en-US" dirty="0" err="1" smtClean="0">
                <a:latin typeface="Avenir Book"/>
                <a:cs typeface="Avenir Book"/>
              </a:rPr>
              <a:t>dickson</a:t>
            </a:r>
            <a:r>
              <a:rPr lang="en-US" dirty="0" smtClean="0">
                <a:latin typeface="Avenir Book"/>
                <a:cs typeface="Avenir Book"/>
              </a:rPr>
              <a:t> after?</a:t>
            </a:r>
          </a:p>
          <a:p>
            <a:pPr lvl="2"/>
            <a:r>
              <a:rPr lang="en-US" dirty="0" err="1" smtClean="0">
                <a:latin typeface="Consolas"/>
                <a:cs typeface="Consolas"/>
              </a:rPr>
              <a:t>def</a:t>
            </a:r>
            <a:r>
              <a:rPr lang="en-US" dirty="0" smtClean="0">
                <a:latin typeface="Consolas"/>
                <a:cs typeface="Consolas"/>
              </a:rPr>
              <a:t> </a:t>
            </a:r>
            <a:r>
              <a:rPr lang="en-US" dirty="0" err="1" smtClean="0">
                <a:latin typeface="Consolas"/>
                <a:cs typeface="Consolas"/>
              </a:rPr>
              <a:t>print_with_dickson</a:t>
            </a:r>
            <a:r>
              <a:rPr lang="en-US" dirty="0" smtClean="0">
                <a:latin typeface="Consolas"/>
                <a:cs typeface="Consolas"/>
              </a:rPr>
              <a:t>(x):		</a:t>
            </a:r>
            <a:r>
              <a:rPr lang="en-US" dirty="0" smtClean="0">
                <a:latin typeface="Avenir Book"/>
                <a:cs typeface="Avenir Book"/>
              </a:rPr>
              <a:t>Look! Function + print!</a:t>
            </a:r>
          </a:p>
          <a:p>
            <a:pPr marL="685800" lvl="2" indent="0">
              <a:buNone/>
            </a:pPr>
            <a:r>
              <a:rPr lang="en-US" dirty="0">
                <a:latin typeface="Consolas"/>
                <a:cs typeface="Consolas"/>
              </a:rPr>
              <a:t>	</a:t>
            </a:r>
            <a:r>
              <a:rPr lang="en-US" dirty="0" smtClean="0">
                <a:latin typeface="Consolas"/>
                <a:cs typeface="Consolas"/>
              </a:rPr>
              <a:t>	print(x, “</a:t>
            </a:r>
            <a:r>
              <a:rPr lang="en-US" dirty="0" err="1" smtClean="0">
                <a:latin typeface="Consolas"/>
                <a:cs typeface="Consolas"/>
              </a:rPr>
              <a:t>dickson</a:t>
            </a:r>
            <a:r>
              <a:rPr lang="en-US" dirty="0" smtClean="0">
                <a:latin typeface="Consolas"/>
                <a:cs typeface="Consolas"/>
              </a:rPr>
              <a:t>”)</a:t>
            </a:r>
          </a:p>
        </p:txBody>
      </p:sp>
      <p:sp>
        <p:nvSpPr>
          <p:cNvPr id="5" name="Slide Number Placeholder 4"/>
          <p:cNvSpPr>
            <a:spLocks noGrp="1"/>
          </p:cNvSpPr>
          <p:nvPr>
            <p:ph type="sldNum" sz="quarter" idx="12"/>
          </p:nvPr>
        </p:nvSpPr>
        <p:spPr/>
        <p:txBody>
          <a:bodyPr/>
          <a:lstStyle/>
          <a:p>
            <a:fld id="{8B37D5FE-740C-46F5-801A-FA5477D9711F}" type="slidenum">
              <a:rPr lang="en-US" smtClean="0"/>
              <a:pPr/>
              <a:t>14</a:t>
            </a:fld>
            <a:endParaRPr lang="en-US"/>
          </a:p>
        </p:txBody>
      </p:sp>
    </p:spTree>
    <p:extLst>
      <p:ext uri="{BB962C8B-B14F-4D97-AF65-F5344CB8AC3E}">
        <p14:creationId xmlns:p14="http://schemas.microsoft.com/office/powerpoint/2010/main" val="170035684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30" dur="500"/>
                                        <p:tgtEl>
                                          <p:spTgt spid="3">
                                            <p:txEl>
                                              <p:pRg st="4" end="4"/>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34" dur="500"/>
                                        <p:tgtEl>
                                          <p:spTgt spid="3">
                                            <p:txEl>
                                              <p:pRg st="5" end="5"/>
                                            </p:txEl>
                                          </p:spTgt>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p:tgtEl>
                                          <p:spTgt spid="3">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p:tgtEl>
                                          <p:spTgt spid="3">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
                                            <p:txEl>
                                              <p:pRg st="7" end="7"/>
                                            </p:txEl>
                                          </p:spTgt>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p:tgtEl>
                                          <p:spTgt spid="3">
                                            <p:txEl>
                                              <p:pRg st="8" end="8"/>
                                            </p:txEl>
                                          </p:spTgt>
                                        </p:tgtEl>
                                        <p:attrNameLst>
                                          <p:attrName>ppt_y</p:attrName>
                                        </p:attrNameLst>
                                      </p:cBhvr>
                                      <p:tavLst>
                                        <p:tav tm="0">
                                          <p:val>
                                            <p:strVal val="#ppt_y+#ppt_h*1.125000"/>
                                          </p:val>
                                        </p:tav>
                                        <p:tav tm="100000">
                                          <p:val>
                                            <p:strVal val="#ppt_y"/>
                                          </p:val>
                                        </p:tav>
                                      </p:tavLst>
                                    </p:anim>
                                    <p:animEffect transition="in" filter="wipe(up)">
                                      <p:cBhvr>
                                        <p:cTn id="48" dur="500"/>
                                        <p:tgtEl>
                                          <p:spTgt spid="3">
                                            <p:txEl>
                                              <p:pRg st="8" end="8"/>
                                            </p:txEl>
                                          </p:spTgt>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 calcmode="lin" valueType="num">
                                      <p:cBhvr additive="base">
                                        <p:cTn id="51" dur="500"/>
                                        <p:tgtEl>
                                          <p:spTgt spid="3">
                                            <p:txEl>
                                              <p:pRg st="9" end="9"/>
                                            </p:txEl>
                                          </p:spTgt>
                                        </p:tgtEl>
                                        <p:attrNameLst>
                                          <p:attrName>ppt_y</p:attrName>
                                        </p:attrNameLst>
                                      </p:cBhvr>
                                      <p:tavLst>
                                        <p:tav tm="0">
                                          <p:val>
                                            <p:strVal val="#ppt_y+#ppt_h*1.125000"/>
                                          </p:val>
                                        </p:tav>
                                        <p:tav tm="100000">
                                          <p:val>
                                            <p:strVal val="#ppt_y"/>
                                          </p:val>
                                        </p:tav>
                                      </p:tavLst>
                                    </p:anim>
                                    <p:animEffect transition="in" filter="wipe(up)">
                                      <p:cBhvr>
                                        <p:cTn id="52" dur="500"/>
                                        <p:tgtEl>
                                          <p:spTgt spid="3">
                                            <p:txEl>
                                              <p:pRg st="9" end="9"/>
                                            </p:txEl>
                                          </p:spTgt>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p:tgtEl>
                                          <p:spTgt spid="3">
                                            <p:txEl>
                                              <p:pRg st="10" end="10"/>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027664"/>
            <a:ext cx="7024744" cy="916645"/>
          </a:xfrm>
        </p:spPr>
        <p:txBody>
          <a:bodyPr>
            <a:normAutofit/>
          </a:bodyPr>
          <a:lstStyle/>
          <a:p>
            <a:r>
              <a:rPr lang="en-US" dirty="0" smtClean="0"/>
              <a:t>Final Remarks</a:t>
            </a:r>
            <a:endParaRPr lang="en-US" i="1" dirty="0">
              <a:solidFill>
                <a:srgbClr val="FF0000"/>
              </a:solidFill>
            </a:endParaRPr>
          </a:p>
        </p:txBody>
      </p:sp>
      <p:sp>
        <p:nvSpPr>
          <p:cNvPr id="3" name="Content Placeholder 2"/>
          <p:cNvSpPr>
            <a:spLocks noGrp="1"/>
          </p:cNvSpPr>
          <p:nvPr>
            <p:ph idx="1"/>
          </p:nvPr>
        </p:nvSpPr>
        <p:spPr>
          <a:xfrm>
            <a:off x="486008" y="2069748"/>
            <a:ext cx="8089677" cy="4547173"/>
          </a:xfrm>
        </p:spPr>
        <p:txBody>
          <a:bodyPr>
            <a:normAutofit/>
          </a:bodyPr>
          <a:lstStyle/>
          <a:p>
            <a:r>
              <a:rPr lang="en-US" dirty="0" smtClean="0">
                <a:latin typeface="Avenir Book"/>
                <a:cs typeface="Avenir Book"/>
              </a:rPr>
              <a:t>Come prepared to discussion! (i.e. </a:t>
            </a:r>
            <a:r>
              <a:rPr lang="en-US" dirty="0" smtClean="0">
                <a:latin typeface="Avenir Book"/>
                <a:cs typeface="Avenir Book"/>
                <a:hlinkClick r:id="rId2"/>
              </a:rPr>
              <a:t>reading </a:t>
            </a:r>
            <a:r>
              <a:rPr lang="en-US" dirty="0" smtClean="0">
                <a:latin typeface="Avenir Book"/>
                <a:cs typeface="Avenir Book"/>
              </a:rPr>
              <a:t>done, have questions/insights to share). Don’t fall behind!</a:t>
            </a:r>
          </a:p>
          <a:p>
            <a:r>
              <a:rPr lang="en-US" dirty="0" smtClean="0">
                <a:latin typeface="Avenir Book"/>
                <a:cs typeface="Avenir Book"/>
              </a:rPr>
              <a:t>If you’re too tired, might as well take a nap in your dorm, right?</a:t>
            </a:r>
          </a:p>
          <a:p>
            <a:r>
              <a:rPr lang="en-US" dirty="0" smtClean="0">
                <a:latin typeface="Avenir Book"/>
                <a:cs typeface="Avenir Book"/>
              </a:rPr>
              <a:t>I’m not omnipotent. </a:t>
            </a:r>
            <a:r>
              <a:rPr lang="en-US" i="1" u="sng" dirty="0" smtClean="0">
                <a:latin typeface="Avenir Book"/>
                <a:cs typeface="Avenir Book"/>
              </a:rPr>
              <a:t>You</a:t>
            </a:r>
            <a:r>
              <a:rPr lang="en-US" dirty="0" smtClean="0">
                <a:latin typeface="Avenir Book"/>
                <a:cs typeface="Avenir Book"/>
              </a:rPr>
              <a:t> have to put in the work to learn. I’m here to share my experience and my insights.</a:t>
            </a:r>
          </a:p>
          <a:p>
            <a:r>
              <a:rPr lang="en-US" dirty="0" smtClean="0">
                <a:latin typeface="Avenir Book"/>
                <a:cs typeface="Avenir Book"/>
              </a:rPr>
              <a:t>Everything has a purpose! Try to figure the purpose out with </a:t>
            </a:r>
            <a:r>
              <a:rPr lang="en-US" sz="3600" i="1" u="sng" dirty="0" smtClean="0">
                <a:latin typeface="Avenir Book"/>
                <a:cs typeface="Avenir Book"/>
              </a:rPr>
              <a:t>simple examples!</a:t>
            </a:r>
          </a:p>
          <a:p>
            <a:r>
              <a:rPr lang="en-US" sz="3600" u="sng" dirty="0" smtClean="0">
                <a:latin typeface="Avenir Book"/>
                <a:cs typeface="Avenir Book"/>
              </a:rPr>
              <a:t>Let’s have a fun semester!</a:t>
            </a:r>
            <a:endParaRPr lang="en-US" dirty="0" smtClean="0">
              <a:latin typeface="Avenir Book"/>
              <a:cs typeface="Avenir Book"/>
            </a:endParaRPr>
          </a:p>
        </p:txBody>
      </p:sp>
      <p:sp>
        <p:nvSpPr>
          <p:cNvPr id="5" name="Slide Number Placeholder 4"/>
          <p:cNvSpPr>
            <a:spLocks noGrp="1"/>
          </p:cNvSpPr>
          <p:nvPr>
            <p:ph type="sldNum" sz="quarter" idx="12"/>
          </p:nvPr>
        </p:nvSpPr>
        <p:spPr/>
        <p:txBody>
          <a:bodyPr/>
          <a:lstStyle/>
          <a:p>
            <a:fld id="{8B37D5FE-740C-46F5-801A-FA5477D9711F}" type="slidenum">
              <a:rPr lang="en-US" smtClean="0"/>
              <a:pPr/>
              <a:t>15</a:t>
            </a:fld>
            <a:endParaRPr lang="en-US"/>
          </a:p>
        </p:txBody>
      </p:sp>
    </p:spTree>
    <p:extLst>
      <p:ext uri="{BB962C8B-B14F-4D97-AF65-F5344CB8AC3E}">
        <p14:creationId xmlns:p14="http://schemas.microsoft.com/office/powerpoint/2010/main" val="315141435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Austin.thmx</Template>
  <TotalTime>731</TotalTime>
  <Words>990</Words>
  <Application>Microsoft Macintosh PowerPoint</Application>
  <PresentationFormat>On-screen Show (4:3)</PresentationFormat>
  <Paragraphs>122</Paragraphs>
  <Slides>15</Slides>
  <Notes>4</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Austin</vt:lpstr>
      <vt:lpstr>Welcome to CS61A Disc. 29/47 :D</vt:lpstr>
      <vt:lpstr>Anuncios</vt:lpstr>
      <vt:lpstr>Meet and Greet</vt:lpstr>
      <vt:lpstr>It’s a Race!</vt:lpstr>
      <vt:lpstr>My Summer</vt:lpstr>
      <vt:lpstr>What did I just do???</vt:lpstr>
      <vt:lpstr>Basic Computer Program</vt:lpstr>
      <vt:lpstr>Basic Computer Program</vt:lpstr>
      <vt:lpstr>Lost on the Moon</vt:lpstr>
      <vt:lpstr>Lost on the Moon (Solutions)</vt:lpstr>
      <vt:lpstr>This worksheet seemed random???</vt:lpstr>
      <vt:lpstr>Tools</vt:lpstr>
      <vt:lpstr>Mastering CS</vt:lpstr>
      <vt:lpstr>Example: printing</vt:lpstr>
      <vt:lpstr>Final Remarks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CS61A Section 47 :D</dc:title>
  <dc:creator>Dickson Tsai</dc:creator>
  <cp:lastModifiedBy>Dickson Tsai</cp:lastModifiedBy>
  <cp:revision>20</cp:revision>
  <dcterms:created xsi:type="dcterms:W3CDTF">2014-08-28T16:21:02Z</dcterms:created>
  <dcterms:modified xsi:type="dcterms:W3CDTF">2014-09-05T23:48:36Z</dcterms:modified>
</cp:coreProperties>
</file>