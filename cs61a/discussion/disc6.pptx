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8" r:id="rId3"/>
    <p:sldId id="271" r:id="rId4"/>
    <p:sldId id="305" r:id="rId5"/>
    <p:sldId id="336" r:id="rId6"/>
    <p:sldId id="337" r:id="rId7"/>
    <p:sldId id="319" r:id="rId8"/>
    <p:sldId id="260" r:id="rId9"/>
    <p:sldId id="308" r:id="rId10"/>
    <p:sldId id="315" r:id="rId11"/>
    <p:sldId id="310" r:id="rId12"/>
    <p:sldId id="338" r:id="rId13"/>
    <p:sldId id="351" r:id="rId14"/>
    <p:sldId id="353" r:id="rId15"/>
    <p:sldId id="339" r:id="rId16"/>
    <p:sldId id="340" r:id="rId17"/>
    <p:sldId id="341" r:id="rId18"/>
    <p:sldId id="349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50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804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-952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6FA6C3-894D-9342-858C-89781436E0BA}" type="datetimeFigureOut">
              <a:rPr lang="en-US"/>
              <a:pPr>
                <a:defRPr/>
              </a:pPr>
              <a:t>10/9/14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915EBA-7225-EA45-954F-AB711B433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1027A8-00FB-C24C-8EBA-1EDF84C5EE30}" type="datetimeFigureOut">
              <a:rPr lang="en-US"/>
              <a:pPr>
                <a:defRPr/>
              </a:pPr>
              <a:t>10/9/14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</a:p>
          <a:p>
            <a:pPr lvl="1"/>
            <a:r>
              <a:rPr lang="x-none" noProof="0" smtClean="0"/>
              <a:t>Second level</a:t>
            </a:r>
          </a:p>
          <a:p>
            <a:pPr lvl="2"/>
            <a:r>
              <a:rPr lang="x-none" noProof="0" smtClean="0"/>
              <a:t>Third level</a:t>
            </a:r>
          </a:p>
          <a:p>
            <a:pPr lvl="3"/>
            <a:r>
              <a:rPr lang="x-none" noProof="0" smtClean="0"/>
              <a:t>Fourth level</a:t>
            </a:r>
          </a:p>
          <a:p>
            <a:pPr lvl="4"/>
            <a:r>
              <a:rPr lang="x-none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B6E1B7-B6E5-514A-9283-C0DC69B17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35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 smtClean="0"/>
            </a:lvl1pPr>
          </a:lstStyle>
          <a:p>
            <a:pPr>
              <a:defRPr/>
            </a:pPr>
            <a:fld id="{6655137A-6FB0-1C4E-94C3-267D0A594E98}" type="datetime4">
              <a:rPr lang="en-US"/>
              <a:pPr>
                <a:defRPr/>
              </a:pPr>
              <a:t>October 9, 2014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8AB3673-7F39-5843-8E75-30B1437A0E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2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16100-0000-9F4B-9427-59A4B6C5F6E8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15C37-9862-4A4D-8ED0-DA94B4E9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6BC0-9B5A-E141-AC34-D53ED23DCC8B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6B77E-877A-634E-8367-933DCBBB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F12F-EAF1-5D4C-880F-775AA42497DD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4F99-59E1-674F-B576-6D449172E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A0580-2F88-7044-9CC5-C84EE5CA0F77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0751-79D9-1344-AD3D-FA20E3482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403FB-6F30-AC4D-8EDB-8F62E14D9E80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FC7C-C76F-7B4C-A7EE-E50F65313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429B-D636-EC4D-85FC-9BD3CD488279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0BBE-D4FC-4844-8BE2-FB25DC1A1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FDE1A-A3B7-4942-8E99-F13B05783BF1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98C8-ACE9-D74A-862F-4CCA0EB14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DDEC9-34B2-2B47-8562-0DB2DDF36A93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4C8CE-B679-E249-8A21-F0C382805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3F03-5748-284E-8EA1-FA16176281C4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80443-B5BA-1441-A0F5-E0E8C82EE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883A8-6536-C340-9C9B-990BB2391E14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EAA6B-3350-4147-9EAD-27A9D5A68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6373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033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30618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356F25-E6A9-6B44-B749-785EDDA8CCD6}" type="datetime4">
              <a:rPr lang="en-US"/>
              <a:pPr>
                <a:defRPr/>
              </a:pPr>
              <a:t>October 9,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8D96C5-9F30-DE44-9E70-A9B197719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6" r:id="rId8"/>
    <p:sldLayoutId id="2147483817" r:id="rId9"/>
    <p:sldLayoutId id="2147483813" r:id="rId10"/>
    <p:sldLayoutId id="214748381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200"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0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1239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325563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icksontsai.com/meet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733925" y="2446338"/>
            <a:ext cx="3313113" cy="1963737"/>
          </a:xfrm>
        </p:spPr>
        <p:txBody>
          <a:bodyPr/>
          <a:lstStyle/>
          <a:p>
            <a:r>
              <a:rPr lang="en-US" dirty="0">
                <a:latin typeface="Century Gothic" charset="0"/>
              </a:rPr>
              <a:t>Welcome to CS61A </a:t>
            </a:r>
            <a:r>
              <a:rPr lang="en-US" dirty="0" smtClean="0">
                <a:latin typeface="Century Gothic" charset="0"/>
              </a:rPr>
              <a:t>Disc </a:t>
            </a:r>
            <a:r>
              <a:rPr lang="en-US" dirty="0">
                <a:latin typeface="Century Gothic" charset="0"/>
              </a:rPr>
              <a:t>6</a:t>
            </a:r>
            <a:r>
              <a:rPr lang="en-US" dirty="0" smtClean="0">
                <a:latin typeface="Century Gothic" charset="0"/>
              </a:rPr>
              <a:t> </a:t>
            </a:r>
            <a:r>
              <a:rPr lang="en-US" dirty="0" smtClean="0">
                <a:latin typeface="Century Gothic" charset="0"/>
              </a:rPr>
              <a:t>Sect. 29</a:t>
            </a:r>
            <a:r>
              <a:rPr lang="en-US" dirty="0">
                <a:latin typeface="Century Gothic" charset="0"/>
              </a:rPr>
              <a:t>/47 :D</a:t>
            </a: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4733925" y="4421188"/>
            <a:ext cx="3309938" cy="12604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entury Gothic" charset="0"/>
              </a:rPr>
              <a:t>Dickson Tsai</a:t>
            </a:r>
          </a:p>
          <a:p>
            <a:r>
              <a:rPr lang="en-US" dirty="0" smtClean="0">
                <a:latin typeface="Century Gothic" charset="0"/>
                <a:hlinkClick r:id="rId2"/>
              </a:rPr>
              <a:t>dickson.tsai+cs61a@</a:t>
            </a:r>
            <a:r>
              <a:rPr lang="en-US" dirty="0">
                <a:latin typeface="Century Gothic" charset="0"/>
                <a:hlinkClick r:id="rId2"/>
              </a:rPr>
              <a:t>berkeley.edu</a:t>
            </a:r>
            <a:endParaRPr lang="en-US" dirty="0">
              <a:latin typeface="Century Gothic" charset="0"/>
            </a:endParaRPr>
          </a:p>
          <a:p>
            <a:r>
              <a:rPr lang="en-US" dirty="0">
                <a:latin typeface="Century Gothic" charset="0"/>
              </a:rPr>
              <a:t>OH: </a:t>
            </a:r>
            <a:r>
              <a:rPr lang="en-US" dirty="0" err="1">
                <a:latin typeface="Century Gothic" charset="0"/>
              </a:rPr>
              <a:t>Tu</a:t>
            </a:r>
            <a:r>
              <a:rPr lang="en-US" dirty="0">
                <a:latin typeface="Century Gothic" charset="0"/>
              </a:rPr>
              <a:t>, </a:t>
            </a:r>
            <a:r>
              <a:rPr lang="en-US" dirty="0" err="1">
                <a:latin typeface="Century Gothic" charset="0"/>
              </a:rPr>
              <a:t>Th</a:t>
            </a:r>
            <a:r>
              <a:rPr lang="en-US" dirty="0">
                <a:latin typeface="Century Gothic" charset="0"/>
              </a:rPr>
              <a:t> 4-5pm 411 Soda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-282575" y="4425950"/>
            <a:ext cx="4781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 smtClean="0">
                <a:solidFill>
                  <a:srgbClr val="424242"/>
                </a:solidFill>
              </a:rPr>
              <a:t>Previous: </a:t>
            </a:r>
            <a:r>
              <a:rPr lang="en-US" dirty="0" smtClean="0">
                <a:solidFill>
                  <a:srgbClr val="424242"/>
                </a:solidFill>
              </a:rPr>
              <a:t>Lists and Trees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b="1" dirty="0">
                <a:solidFill>
                  <a:srgbClr val="424242"/>
                </a:solidFill>
              </a:rPr>
              <a:t>Today: </a:t>
            </a:r>
            <a:r>
              <a:rPr lang="en-US" b="1" dirty="0" smtClean="0">
                <a:solidFill>
                  <a:srgbClr val="424242"/>
                </a:solidFill>
              </a:rPr>
              <a:t>Mutable Lists, Dictionaries, and Nonlocal 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>
                <a:solidFill>
                  <a:srgbClr val="424242"/>
                </a:solidFill>
              </a:rPr>
              <a:t>Next stop: </a:t>
            </a:r>
            <a:r>
              <a:rPr lang="en-US" dirty="0" smtClean="0">
                <a:solidFill>
                  <a:srgbClr val="424242"/>
                </a:solidFill>
              </a:rPr>
              <a:t>Object oriented programming</a:t>
            </a:r>
            <a:endParaRPr lang="en-US" dirty="0">
              <a:solidFill>
                <a:srgbClr val="424242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F7D4B-5206-4F42-A4A3-937B571AE82A}" type="slidenum">
              <a:rPr lang="en-US">
                <a:solidFill>
                  <a:schemeClr val="accent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 Logistics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Please take out a piece of paper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Put your name, login (e.g. cs61a-ty), SID, and section number (#47 for 11-12:30 pm, #29 for 6:30-8pm)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Graded on effort: effort = revise your quiz with diff color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6690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can I make your lab/discussion experience more worthwhile?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Lab review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Draw out the following data structures.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rooted(5, [rooted(4, [leaf(3), leaf(2)]), 			leaf(1), rooted(6, [])])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link(link(link(‘a’, empty), link(4, empty)), 		link(5, empty))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reduce(lambda x, y: link(y, x), range(5), empty)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endParaRPr lang="en-US" sz="2000" dirty="0" smtClean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2629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 </a:t>
            </a:r>
            <a:r>
              <a:rPr lang="en-US" dirty="0" smtClean="0">
                <a:solidFill>
                  <a:srgbClr val="FF0000"/>
                </a:solidFill>
                <a:latin typeface="Century Gothic" charset="0"/>
              </a:rPr>
              <a:t>[Solutions]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25" y="2026496"/>
            <a:ext cx="8128000" cy="4008967"/>
          </a:xfrm>
        </p:spPr>
        <p:txBody>
          <a:bodyPr/>
          <a:lstStyle/>
          <a:p>
            <a:pPr marL="366713" lvl="1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rooted(5, 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marL="366713" lvl="1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	[</a:t>
            </a: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rooted(4, [leaf(3), leaf(2)])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,</a:t>
            </a:r>
          </a:p>
          <a:p>
            <a:pPr marL="366713" lvl="1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	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leaf</a:t>
            </a: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(1), 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marL="366713" lvl="1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	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rooted</a:t>
            </a: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(6, [])])</a:t>
            </a:r>
          </a:p>
          <a:p>
            <a:pPr marL="527050" indent="-457200">
              <a:buFont typeface="+mj-lt"/>
              <a:buAutoNum type="arabicPeriod"/>
            </a:pP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97020" y="3208020"/>
            <a:ext cx="822960" cy="82296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270375" y="3303270"/>
            <a:ext cx="492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5</a:t>
            </a:r>
            <a:endParaRPr lang="en-US" sz="2800" b="1" dirty="0"/>
          </a:p>
        </p:txBody>
      </p:sp>
      <p:sp>
        <p:nvSpPr>
          <p:cNvPr id="15" name="Oval 14"/>
          <p:cNvSpPr/>
          <p:nvPr/>
        </p:nvSpPr>
        <p:spPr>
          <a:xfrm>
            <a:off x="2556510" y="4092555"/>
            <a:ext cx="822960" cy="82296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729865" y="4187805"/>
            <a:ext cx="492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4</a:t>
            </a:r>
            <a:endParaRPr lang="en-US" sz="2800" b="1" dirty="0"/>
          </a:p>
        </p:txBody>
      </p:sp>
      <p:sp>
        <p:nvSpPr>
          <p:cNvPr id="17" name="Oval 16"/>
          <p:cNvSpPr/>
          <p:nvPr/>
        </p:nvSpPr>
        <p:spPr>
          <a:xfrm>
            <a:off x="1391920" y="5328920"/>
            <a:ext cx="822960" cy="82296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565275" y="5424170"/>
            <a:ext cx="492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3</a:t>
            </a:r>
            <a:endParaRPr lang="en-US" sz="2800" b="1" dirty="0"/>
          </a:p>
        </p:txBody>
      </p:sp>
      <p:sp>
        <p:nvSpPr>
          <p:cNvPr id="19" name="Oval 18"/>
          <p:cNvSpPr/>
          <p:nvPr/>
        </p:nvSpPr>
        <p:spPr>
          <a:xfrm>
            <a:off x="3274060" y="5328920"/>
            <a:ext cx="822960" cy="82296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447415" y="5424170"/>
            <a:ext cx="492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2</a:t>
            </a:r>
            <a:endParaRPr lang="en-US" sz="2800" b="1" dirty="0"/>
          </a:p>
        </p:txBody>
      </p:sp>
      <p:sp>
        <p:nvSpPr>
          <p:cNvPr id="21" name="Oval 20"/>
          <p:cNvSpPr/>
          <p:nvPr/>
        </p:nvSpPr>
        <p:spPr>
          <a:xfrm>
            <a:off x="4945380" y="4092555"/>
            <a:ext cx="822960" cy="82296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118735" y="4187805"/>
            <a:ext cx="492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</a:t>
            </a:r>
            <a:endParaRPr lang="en-US" sz="2800" b="1" dirty="0"/>
          </a:p>
        </p:txBody>
      </p:sp>
      <p:sp>
        <p:nvSpPr>
          <p:cNvPr id="23" name="Oval 22"/>
          <p:cNvSpPr/>
          <p:nvPr/>
        </p:nvSpPr>
        <p:spPr>
          <a:xfrm>
            <a:off x="7206615" y="4092555"/>
            <a:ext cx="822960" cy="82296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7379970" y="4187805"/>
            <a:ext cx="492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6</a:t>
            </a:r>
            <a:endParaRPr lang="en-US" sz="2800" b="1" dirty="0"/>
          </a:p>
        </p:txBody>
      </p:sp>
      <p:sp>
        <p:nvSpPr>
          <p:cNvPr id="13" name="Frame 12"/>
          <p:cNvSpPr/>
          <p:nvPr/>
        </p:nvSpPr>
        <p:spPr>
          <a:xfrm>
            <a:off x="1042987" y="4030980"/>
            <a:ext cx="3227387" cy="2287270"/>
          </a:xfrm>
          <a:prstGeom prst="frame">
            <a:avLst>
              <a:gd name="adj1" fmla="val 176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Frame 25"/>
          <p:cNvSpPr/>
          <p:nvPr/>
        </p:nvSpPr>
        <p:spPr>
          <a:xfrm>
            <a:off x="4815523" y="3976350"/>
            <a:ext cx="1061721" cy="1104880"/>
          </a:xfrm>
          <a:prstGeom prst="frame">
            <a:avLst>
              <a:gd name="adj1" fmla="val 176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Frame 27"/>
          <p:cNvSpPr/>
          <p:nvPr/>
        </p:nvSpPr>
        <p:spPr>
          <a:xfrm>
            <a:off x="7093585" y="3993495"/>
            <a:ext cx="1061721" cy="1104880"/>
          </a:xfrm>
          <a:prstGeom prst="frame">
            <a:avLst>
              <a:gd name="adj1" fmla="val 176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291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" grpId="0"/>
      <p:bldP spid="15" grpId="0" animBg="1"/>
      <p:bldP spid="15" grpId="1" animBg="1"/>
      <p:bldP spid="16" grpId="0"/>
      <p:bldP spid="17" grpId="0" animBg="1"/>
      <p:bldP spid="17" grpId="1" animBg="1"/>
      <p:bldP spid="18" grpId="0"/>
      <p:bldP spid="19" grpId="0" animBg="1"/>
      <p:bldP spid="19" grpId="1" animBg="1"/>
      <p:bldP spid="20" grpId="0"/>
      <p:bldP spid="21" grpId="0" animBg="1"/>
      <p:bldP spid="21" grpId="1" animBg="1"/>
      <p:bldP spid="22" grpId="0"/>
      <p:bldP spid="23" grpId="0" animBg="1"/>
      <p:bldP spid="23" grpId="1" animBg="1"/>
      <p:bldP spid="24" grpId="0"/>
      <p:bldP spid="13" grpId="0" animBg="1"/>
      <p:bldP spid="13" grpId="1" animBg="1"/>
      <p:bldP spid="26" grpId="0" animBg="1"/>
      <p:bldP spid="26" grpId="1" animBg="1"/>
      <p:bldP spid="28" grpId="0" animBg="1"/>
      <p:bldP spid="2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 </a:t>
            </a:r>
            <a:r>
              <a:rPr lang="en-US" dirty="0" smtClean="0">
                <a:solidFill>
                  <a:srgbClr val="FF0000"/>
                </a:solidFill>
                <a:latin typeface="Century Gothic" charset="0"/>
              </a:rPr>
              <a:t>[Solutions]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  <a:prstGeom prst="rect">
            <a:avLst/>
          </a:prstGeom>
        </p:spPr>
        <p:txBody>
          <a:bodyPr/>
          <a:lstStyle/>
          <a:p>
            <a:pPr marL="366713" lvl="1" indent="0">
              <a:buNone/>
            </a:pPr>
            <a:r>
              <a:rPr lang="en-US" dirty="0" smtClean="0">
                <a:solidFill>
                  <a:srgbClr val="804000"/>
                </a:solidFill>
                <a:latin typeface="Consolas"/>
                <a:cs typeface="Consolas"/>
              </a:rPr>
              <a:t>link</a:t>
            </a: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/>
                <a:cs typeface="Consolas"/>
              </a:rPr>
              <a:t>link</a:t>
            </a: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link(‘a’, empty)</a:t>
            </a: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, </a:t>
            </a:r>
            <a:r>
              <a:rPr lang="en-US" dirty="0">
                <a:solidFill>
                  <a:srgbClr val="FF6600"/>
                </a:solidFill>
                <a:latin typeface="Consolas"/>
                <a:cs typeface="Consolas"/>
              </a:rPr>
              <a:t>link(4, empty)</a:t>
            </a: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), 		</a:t>
            </a:r>
            <a:r>
              <a:rPr lang="en-US" dirty="0">
                <a:solidFill>
                  <a:schemeClr val="accent4"/>
                </a:solidFill>
                <a:latin typeface="Consolas"/>
                <a:cs typeface="Consolas"/>
              </a:rPr>
              <a:t>link(5, empty)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</a:t>
            </a:r>
            <a:endParaRPr lang="en-US" dirty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FEFEFE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710055" y="5615398"/>
            <a:ext cx="1734820" cy="822960"/>
            <a:chOff x="1710055" y="4460875"/>
            <a:chExt cx="1734820" cy="822960"/>
          </a:xfrm>
        </p:grpSpPr>
        <p:grpSp>
          <p:nvGrpSpPr>
            <p:cNvPr id="2" name="Group 1"/>
            <p:cNvGrpSpPr/>
            <p:nvPr/>
          </p:nvGrpSpPr>
          <p:grpSpPr>
            <a:xfrm>
              <a:off x="1710055" y="4460875"/>
              <a:ext cx="1734820" cy="822960"/>
              <a:chOff x="3030855" y="3843020"/>
              <a:chExt cx="1734820" cy="82296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3030855" y="3843020"/>
                <a:ext cx="822960" cy="82296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3942715" y="3843020"/>
                <a:ext cx="822960" cy="82296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1723390" y="4629666"/>
              <a:ext cx="8096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‘a’</a:t>
              </a:r>
              <a:endParaRPr lang="en-US" sz="2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621915" y="4650522"/>
              <a:ext cx="8096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smtClean="0"/>
                <a:t>✘</a:t>
              </a:r>
              <a:endParaRPr lang="en-US" sz="2400" b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084955" y="4460875"/>
            <a:ext cx="1734820" cy="822960"/>
            <a:chOff x="1710055" y="4460875"/>
            <a:chExt cx="1734820" cy="822960"/>
          </a:xfrm>
        </p:grpSpPr>
        <p:grpSp>
          <p:nvGrpSpPr>
            <p:cNvPr id="13" name="Group 12"/>
            <p:cNvGrpSpPr/>
            <p:nvPr/>
          </p:nvGrpSpPr>
          <p:grpSpPr>
            <a:xfrm>
              <a:off x="1710055" y="4460875"/>
              <a:ext cx="1734820" cy="822960"/>
              <a:chOff x="3030855" y="3843020"/>
              <a:chExt cx="1734820" cy="82296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030855" y="3843020"/>
                <a:ext cx="822960" cy="822960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942715" y="3843020"/>
                <a:ext cx="822960" cy="822960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1723390" y="4629666"/>
              <a:ext cx="8096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4</a:t>
              </a:r>
              <a:endParaRPr lang="en-US" sz="2400" b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21915" y="4650522"/>
              <a:ext cx="8096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smtClean="0"/>
                <a:t>✘</a:t>
              </a:r>
              <a:endParaRPr lang="en-US" sz="2400" b="1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098290" y="3385299"/>
            <a:ext cx="1734820" cy="822960"/>
            <a:chOff x="1710055" y="4460875"/>
            <a:chExt cx="1734820" cy="822960"/>
          </a:xfrm>
        </p:grpSpPr>
        <p:grpSp>
          <p:nvGrpSpPr>
            <p:cNvPr id="19" name="Group 18"/>
            <p:cNvGrpSpPr/>
            <p:nvPr/>
          </p:nvGrpSpPr>
          <p:grpSpPr>
            <a:xfrm>
              <a:off x="1710055" y="4460875"/>
              <a:ext cx="1734820" cy="822960"/>
              <a:chOff x="3030855" y="3843020"/>
              <a:chExt cx="1734820" cy="82296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3030855" y="3843020"/>
                <a:ext cx="822960" cy="822960"/>
              </a:xfrm>
              <a:prstGeom prst="rect">
                <a:avLst/>
              </a:prstGeom>
              <a:ln/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3942715" y="3843020"/>
                <a:ext cx="822960" cy="822960"/>
              </a:xfrm>
              <a:prstGeom prst="rect">
                <a:avLst/>
              </a:prstGeom>
              <a:ln/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1723390" y="4629666"/>
              <a:ext cx="8096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5</a:t>
              </a:r>
              <a:endParaRPr lang="en-US" sz="2400" b="1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621915" y="4650522"/>
              <a:ext cx="8096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smtClean="0"/>
                <a:t>✘</a:t>
              </a:r>
              <a:endParaRPr lang="en-US" sz="2400" b="1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773555" y="3383817"/>
            <a:ext cx="1734820" cy="822960"/>
            <a:chOff x="3030855" y="3843020"/>
            <a:chExt cx="1734820" cy="822960"/>
          </a:xfrm>
        </p:grpSpPr>
        <p:sp>
          <p:nvSpPr>
            <p:cNvPr id="28" name="Rectangle 27"/>
            <p:cNvSpPr/>
            <p:nvPr/>
          </p:nvSpPr>
          <p:spPr>
            <a:xfrm>
              <a:off x="3030855" y="3843020"/>
              <a:ext cx="822960" cy="82296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942715" y="3843020"/>
              <a:ext cx="822960" cy="82296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754505" y="4577689"/>
            <a:ext cx="1734820" cy="822960"/>
            <a:chOff x="3030855" y="3843020"/>
            <a:chExt cx="1734820" cy="822960"/>
          </a:xfrm>
        </p:grpSpPr>
        <p:sp>
          <p:nvSpPr>
            <p:cNvPr id="34" name="Rectangle 33"/>
            <p:cNvSpPr/>
            <p:nvPr/>
          </p:nvSpPr>
          <p:spPr>
            <a:xfrm>
              <a:off x="3030855" y="3843020"/>
              <a:ext cx="822960" cy="82296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942715" y="3843020"/>
              <a:ext cx="822960" cy="82296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cxnSp>
        <p:nvCxnSpPr>
          <p:cNvPr id="37" name="Straight Arrow Connector 36"/>
          <p:cNvCxnSpPr>
            <a:endCxn id="34" idx="0"/>
          </p:cNvCxnSpPr>
          <p:nvPr/>
        </p:nvCxnSpPr>
        <p:spPr>
          <a:xfrm flipH="1">
            <a:off x="2165985" y="3794125"/>
            <a:ext cx="8891" cy="78356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121026" y="3794125"/>
            <a:ext cx="963929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5" idx="0"/>
          </p:cNvCxnSpPr>
          <p:nvPr/>
        </p:nvCxnSpPr>
        <p:spPr>
          <a:xfrm flipH="1">
            <a:off x="2121535" y="4968875"/>
            <a:ext cx="20637" cy="64652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14" idx="1"/>
          </p:cNvCxnSpPr>
          <p:nvPr/>
        </p:nvCxnSpPr>
        <p:spPr>
          <a:xfrm flipV="1">
            <a:off x="3051176" y="4860499"/>
            <a:ext cx="1047114" cy="10837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8125" y="5343380"/>
            <a:ext cx="1743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Look! 5 link constructor calls, 5 boxes!</a:t>
            </a:r>
            <a:endParaRPr lang="en-US" dirty="0"/>
          </a:p>
        </p:txBody>
      </p:sp>
      <p:grpSp>
        <p:nvGrpSpPr>
          <p:cNvPr id="51" name="Group 50"/>
          <p:cNvGrpSpPr/>
          <p:nvPr/>
        </p:nvGrpSpPr>
        <p:grpSpPr>
          <a:xfrm>
            <a:off x="6588124" y="2921000"/>
            <a:ext cx="1873251" cy="923330"/>
            <a:chOff x="6588124" y="2921000"/>
            <a:chExt cx="1873251" cy="923330"/>
          </a:xfrm>
        </p:grpSpPr>
        <p:sp>
          <p:nvSpPr>
            <p:cNvPr id="49" name="Rectangular Callout 48"/>
            <p:cNvSpPr/>
            <p:nvPr/>
          </p:nvSpPr>
          <p:spPr>
            <a:xfrm>
              <a:off x="6588125" y="2921000"/>
              <a:ext cx="1873250" cy="873125"/>
            </a:xfrm>
            <a:prstGeom prst="wedgeRectCallout">
              <a:avLst>
                <a:gd name="adj1" fmla="val -35803"/>
                <a:gd name="adj2" fmla="val -7022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588124" y="2921000"/>
              <a:ext cx="17430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2</a:t>
              </a:r>
              <a:r>
                <a:rPr lang="en-US" baseline="30000" dirty="0" smtClean="0"/>
                <a:t>nd</a:t>
              </a:r>
              <a:r>
                <a:rPr lang="en-US" dirty="0" smtClean="0"/>
                <a:t> </a:t>
              </a:r>
              <a:r>
                <a:rPr lang="en-US" dirty="0" err="1" smtClean="0"/>
                <a:t>arg</a:t>
              </a:r>
              <a:r>
                <a:rPr lang="en-US" dirty="0" smtClean="0"/>
                <a:t> must always be linked list</a:t>
              </a:r>
              <a:endParaRPr lang="en-US" dirty="0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6915149" y="1240433"/>
            <a:ext cx="1873251" cy="1200329"/>
            <a:chOff x="6588124" y="2921000"/>
            <a:chExt cx="1873251" cy="1200329"/>
          </a:xfrm>
        </p:grpSpPr>
        <p:sp>
          <p:nvSpPr>
            <p:cNvPr id="55" name="Rectangular Callout 54"/>
            <p:cNvSpPr/>
            <p:nvPr/>
          </p:nvSpPr>
          <p:spPr>
            <a:xfrm>
              <a:off x="6588125" y="2921000"/>
              <a:ext cx="1873250" cy="1200329"/>
            </a:xfrm>
            <a:prstGeom prst="wedgeRectCallout">
              <a:avLst>
                <a:gd name="adj1" fmla="val -89192"/>
                <a:gd name="adj2" fmla="val 41666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588124" y="2921000"/>
              <a:ext cx="17430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1st </a:t>
              </a:r>
              <a:r>
                <a:rPr lang="en-US" dirty="0" err="1" smtClean="0"/>
                <a:t>arg</a:t>
              </a:r>
              <a:r>
                <a:rPr lang="en-US" dirty="0" smtClean="0"/>
                <a:t> can be anything, including another link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03869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 </a:t>
            </a:r>
            <a:r>
              <a:rPr lang="en-US" dirty="0" smtClean="0">
                <a:solidFill>
                  <a:srgbClr val="FF0000"/>
                </a:solidFill>
                <a:latin typeface="Century Gothic" charset="0"/>
              </a:rPr>
              <a:t>[Solutions]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pPr marL="366713" lvl="1" indent="0">
              <a:buNone/>
            </a:pP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reduce</a:t>
            </a:r>
            <a:r>
              <a:rPr lang="en-US" sz="2000" dirty="0">
                <a:solidFill>
                  <a:srgbClr val="4A6300"/>
                </a:solidFill>
                <a:latin typeface="Consolas"/>
                <a:cs typeface="Consolas"/>
              </a:rPr>
              <a:t>(lambda x, y: link(y, x), range(5), empty) </a:t>
            </a:r>
          </a:p>
          <a:p>
            <a:pPr marL="69850" indent="0">
              <a:buNone/>
            </a:pP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34015"/>
              </p:ext>
            </p:extLst>
          </p:nvPr>
        </p:nvGraphicFramePr>
        <p:xfrm>
          <a:off x="155575" y="3413125"/>
          <a:ext cx="8686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4540"/>
                <a:gridCol w="322362"/>
                <a:gridCol w="489989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result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empty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link(0,</a:t>
                      </a:r>
                      <a:r>
                        <a:rPr lang="en-US" baseline="0" dirty="0" smtClean="0"/>
                        <a:t> empty)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link(0, empty)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link(1, link(0, empty))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link(1, link(0, empty))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link(2, link(1, link(0, empty)))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link(2, link(1, link(0, empty)))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link(3, …)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link(3, …)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link(4, link(3, link(2, link(1, link(0, empty)))))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9058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err="1">
                <a:latin typeface="Century Gothic" charset="0"/>
              </a:rPr>
              <a:t>Anuncios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6855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Project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2 Trends due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today for normal credit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Reminder: My OH are Tuesdays, Thursdays 4-5 PM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Soda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411.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b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Do not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post any of your code on a public-viewable platform online. (e.g.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Github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Pastebin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</a:t>
            </a:r>
          </a:p>
          <a:p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Go to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  <a:hlinkClick r:id="rId3"/>
              </a:rPr>
              <a:t>dicksontsai.com/meet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to schedule an appointment if you would like to talk to me about anything related to the course. </a:t>
            </a:r>
            <a:endParaRPr lang="en-US" b="1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b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 know office hours are crowded and not individualized.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This is my attempt to alleviate that problem.</a:t>
            </a:r>
            <a:endParaRPr lang="en-US" b="1" u="sng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279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5-min Review Recap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sz="2000" b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Trends project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Why are we dealing w/ ‘sentiment’ ADT??</a:t>
            </a:r>
          </a:p>
          <a:p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Advantages</a:t>
            </a:r>
          </a:p>
          <a:p>
            <a:pPr lvl="1"/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We can now ‘think’ in terms of ‘sentiment’ objects, instead of ‘a number from -1 to 1 or None’. </a:t>
            </a:r>
          </a:p>
          <a:p>
            <a:pPr lvl="1"/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“””Return a sentiment representing the tweet””” vs. “””Return the value which represents the degree of positivity/negativity of the tweet, which can range from -1 to 1 or not exist at all (None)”””</a:t>
            </a:r>
          </a:p>
          <a:p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Disadvantages</a:t>
            </a:r>
          </a:p>
          <a:p>
            <a:pPr lvl="1"/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Easy to mess up – abstraction barrier violations only caught by the </a:t>
            </a:r>
            <a:r>
              <a:rPr lang="en-US" sz="20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autograder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would other programmers know that we intend to define an ADT?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Solution: Make types part of the syntax (next week)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547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58896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795463"/>
            <a:ext cx="8314267" cy="3819525"/>
          </a:xfrm>
        </p:spPr>
        <p:txBody>
          <a:bodyPr/>
          <a:lstStyle/>
          <a:p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“An ounce of prevention is worth a pound of cure”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– Benjamin Franklin</a:t>
            </a:r>
            <a:endParaRPr lang="en-US" u="sng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Ways to “prevent” trouble later (proven effective from personal experience):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Before coding your solution, write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pseudocode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for it.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want to isolate the conceptual aspect of the problem from the programming/syntax/bugs aspect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Example of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pseudocode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 No Python syntax involved!</a:t>
            </a:r>
          </a:p>
          <a:p>
            <a:pPr lvl="3"/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sum_squares_list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lst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):</a:t>
            </a:r>
          </a:p>
          <a:p>
            <a:pPr lvl="4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For each number in the list:</a:t>
            </a:r>
          </a:p>
          <a:p>
            <a:pPr lvl="5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Square the number</a:t>
            </a:r>
          </a:p>
          <a:p>
            <a:pPr lvl="5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Add the number to a running total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tests (or at least understand them) before you code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2"/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98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New Way of Running Disc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Form groups of 2-3 as usual</a:t>
            </a:r>
          </a:p>
          <a:p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up your solution (function boxes + answers) on the board!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you are concerned about putting about an incorrect answer, you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shouldn</a:t>
            </a:r>
            <a:r>
              <a:rPr lang="fr-FR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’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 be. It’s better to make mistakes here than on the test.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Plus, everyone can see common mistakes and learn together.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More practice with writing code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Chalkboards should make you feel smart.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Rotate people every problem so everyone gets a chance.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4830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Closure Property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result of combination can itself be combined using same method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For trees: To create a tree, combine value of list of trees. Now we can put this new tree into another list of trees and value to produce yet another tree!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i.e. Every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subtree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of a tree is a tree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-&gt; You can do </a:t>
            </a: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recursion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so easily now!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5" name="Picture 4" descr="Screen Shot 2014-10-04 at 9.16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33" y="5211233"/>
            <a:ext cx="2730500" cy="13081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3754438" y="5131857"/>
            <a:ext cx="1790700" cy="583142"/>
            <a:chOff x="5086350" y="5052483"/>
            <a:chExt cx="1790700" cy="583142"/>
          </a:xfrm>
        </p:grpSpPr>
        <p:sp>
          <p:nvSpPr>
            <p:cNvPr id="2" name="Left-Right Arrow Callout 1"/>
            <p:cNvSpPr/>
            <p:nvPr/>
          </p:nvSpPr>
          <p:spPr>
            <a:xfrm>
              <a:off x="5086350" y="5052483"/>
              <a:ext cx="1790700" cy="583142"/>
            </a:xfrm>
            <a:prstGeom prst="leftRightArrowCallo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521325" y="5131858"/>
              <a:ext cx="952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height</a:t>
              </a:r>
              <a:endParaRPr lang="en-US" dirty="0"/>
            </a:p>
          </p:txBody>
        </p:sp>
      </p:grpSp>
      <p:sp>
        <p:nvSpPr>
          <p:cNvPr id="8" name="Frame 7"/>
          <p:cNvSpPr/>
          <p:nvPr/>
        </p:nvSpPr>
        <p:spPr>
          <a:xfrm>
            <a:off x="505883" y="5131857"/>
            <a:ext cx="2907242" cy="1387475"/>
          </a:xfrm>
          <a:prstGeom prst="frame">
            <a:avLst>
              <a:gd name="adj1" fmla="val 181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743325" y="5813266"/>
            <a:ext cx="1790700" cy="583142"/>
            <a:chOff x="5086350" y="5052483"/>
            <a:chExt cx="1790700" cy="583142"/>
          </a:xfrm>
        </p:grpSpPr>
        <p:sp>
          <p:nvSpPr>
            <p:cNvPr id="11" name="Left-Right Arrow Callout 10"/>
            <p:cNvSpPr/>
            <p:nvPr/>
          </p:nvSpPr>
          <p:spPr>
            <a:xfrm>
              <a:off x="5086350" y="5052483"/>
              <a:ext cx="1790700" cy="583142"/>
            </a:xfrm>
            <a:prstGeom prst="leftRightArrowCallou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21325" y="5131858"/>
              <a:ext cx="952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height</a:t>
              </a:r>
              <a:endParaRPr lang="en-US" dirty="0"/>
            </a:p>
          </p:txBody>
        </p:sp>
      </p:grpSp>
      <p:sp>
        <p:nvSpPr>
          <p:cNvPr id="13" name="Frame 12"/>
          <p:cNvSpPr/>
          <p:nvPr/>
        </p:nvSpPr>
        <p:spPr>
          <a:xfrm>
            <a:off x="610658" y="5722329"/>
            <a:ext cx="1802342" cy="710142"/>
          </a:xfrm>
          <a:prstGeom prst="frame">
            <a:avLst>
              <a:gd name="adj1" fmla="val 181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59450" y="523554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794375" y="591060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61100" y="4628091"/>
            <a:ext cx="1790700" cy="583142"/>
            <a:chOff x="5086350" y="5052483"/>
            <a:chExt cx="1790700" cy="583142"/>
          </a:xfrm>
        </p:grpSpPr>
        <p:sp>
          <p:nvSpPr>
            <p:cNvPr id="17" name="Left-Right Arrow Callout 16"/>
            <p:cNvSpPr/>
            <p:nvPr/>
          </p:nvSpPr>
          <p:spPr>
            <a:xfrm>
              <a:off x="5086350" y="5052483"/>
              <a:ext cx="1790700" cy="583142"/>
            </a:xfrm>
            <a:prstGeom prst="leftRightArrowCallou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521325" y="5131858"/>
              <a:ext cx="952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height</a:t>
              </a:r>
              <a:endParaRPr lang="en-US" dirty="0"/>
            </a:p>
          </p:txBody>
        </p:sp>
      </p:grpSp>
      <p:sp>
        <p:nvSpPr>
          <p:cNvPr id="19" name="Frame 18"/>
          <p:cNvSpPr/>
          <p:nvPr/>
        </p:nvSpPr>
        <p:spPr>
          <a:xfrm>
            <a:off x="2555875" y="5580564"/>
            <a:ext cx="648758" cy="531312"/>
          </a:xfrm>
          <a:prstGeom prst="frame">
            <a:avLst>
              <a:gd name="adj1" fmla="val 181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51800" y="470413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6987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Mutability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 object is </a:t>
            </a: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mutable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if it can be changed after it’s created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Simplest example of mutation you’ve seen: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Assignment!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&gt;&gt;&gt; a = 1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&gt;&gt;&gt; a = a + 1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a’s value changed! We did not create a new a!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Think deeply: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Q: Are strings mutable? How do you know?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Strings are not mutable. We know because they can be keys to a dictionary.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0426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Mutability Powerful but Dangerous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can’t make assumptions about a list that’s changing!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remove_evens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lst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	for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elem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in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lst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	if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elem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% 2 == 0: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 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lst.remove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elem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a = [1, 2, 3, 4]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remove_evens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(a)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a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# Do we get [1, 3]?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7456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Mutability Powerful but Dangerous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list is mutating as you are iterating!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remove_ones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lst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	for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elem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in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lst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	if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elem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== </a:t>
            </a: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1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 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lst.remove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elem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a = [1, 1, 3, 4]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remove_evens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(a)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a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# Do we get [3, </a:t>
            </a: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4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]?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solidFill>
                <a:srgbClr val="FEFEFE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4996815" y="3286125"/>
            <a:ext cx="822960" cy="822960"/>
            <a:chOff x="4996815" y="3286125"/>
            <a:chExt cx="822960" cy="822960"/>
          </a:xfrm>
        </p:grpSpPr>
        <p:sp>
          <p:nvSpPr>
            <p:cNvPr id="8" name="Rectangle 7"/>
            <p:cNvSpPr/>
            <p:nvPr/>
          </p:nvSpPr>
          <p:spPr>
            <a:xfrm>
              <a:off x="4996815" y="3286125"/>
              <a:ext cx="822960" cy="82296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10150" y="3454916"/>
              <a:ext cx="8096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1</a:t>
              </a:r>
              <a:endParaRPr lang="en-US" sz="2400" b="1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908675" y="3286125"/>
            <a:ext cx="822960" cy="822960"/>
            <a:chOff x="5908675" y="3286125"/>
            <a:chExt cx="822960" cy="822960"/>
          </a:xfrm>
        </p:grpSpPr>
        <p:sp>
          <p:nvSpPr>
            <p:cNvPr id="11" name="Rectangle 10"/>
            <p:cNvSpPr/>
            <p:nvPr/>
          </p:nvSpPr>
          <p:spPr>
            <a:xfrm>
              <a:off x="5908675" y="3286125"/>
              <a:ext cx="822960" cy="82296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08675" y="3475772"/>
              <a:ext cx="8096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1</a:t>
              </a:r>
              <a:endParaRPr lang="en-US" sz="2400" b="1" dirty="0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6826885" y="3286125"/>
            <a:ext cx="822960" cy="82296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840220" y="3454916"/>
            <a:ext cx="80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738745" y="3286125"/>
            <a:ext cx="822960" cy="822960"/>
            <a:chOff x="7738745" y="3286125"/>
            <a:chExt cx="822960" cy="822960"/>
          </a:xfrm>
        </p:grpSpPr>
        <p:sp>
          <p:nvSpPr>
            <p:cNvPr id="16" name="Rectangle 15"/>
            <p:cNvSpPr/>
            <p:nvPr/>
          </p:nvSpPr>
          <p:spPr>
            <a:xfrm>
              <a:off x="7738745" y="3286125"/>
              <a:ext cx="822960" cy="82296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38745" y="3475772"/>
              <a:ext cx="8096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4</a:t>
              </a:r>
              <a:endParaRPr lang="en-US" sz="2400" b="1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191249" y="1977588"/>
            <a:ext cx="3016251" cy="923330"/>
            <a:chOff x="6588124" y="2921000"/>
            <a:chExt cx="1873251" cy="923330"/>
          </a:xfrm>
        </p:grpSpPr>
        <p:sp>
          <p:nvSpPr>
            <p:cNvPr id="6" name="Rectangular Callout 5"/>
            <p:cNvSpPr/>
            <p:nvPr/>
          </p:nvSpPr>
          <p:spPr>
            <a:xfrm>
              <a:off x="6588125" y="2921000"/>
              <a:ext cx="1873250" cy="873125"/>
            </a:xfrm>
            <a:prstGeom prst="wedgeRectCallout">
              <a:avLst>
                <a:gd name="adj1" fmla="val -112645"/>
                <a:gd name="adj2" fmla="val 117046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88124" y="2921000"/>
              <a:ext cx="17430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The for loop thinks that the next element </a:t>
              </a:r>
              <a:r>
                <a:rPr lang="en-US" smtClean="0"/>
                <a:t>is at the </a:t>
              </a:r>
              <a:r>
                <a:rPr lang="en-US" dirty="0" smtClean="0"/>
                <a:t>next index</a:t>
              </a:r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010150" y="5349875"/>
            <a:ext cx="207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Next </a:t>
            </a:r>
            <a:r>
              <a:rPr lang="en-US" dirty="0" err="1" smtClean="0"/>
              <a:t>elem</a:t>
            </a:r>
            <a:r>
              <a:rPr lang="en-US" dirty="0" smtClean="0"/>
              <a:t>: 0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359399" y="5719207"/>
            <a:ext cx="207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Next </a:t>
            </a:r>
            <a:r>
              <a:rPr lang="en-US" dirty="0" err="1" smtClean="0"/>
              <a:t>elem</a:t>
            </a:r>
            <a:r>
              <a:rPr lang="en-US" dirty="0" smtClean="0"/>
              <a:t>: 1 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7080250" y="4254500"/>
            <a:ext cx="349249" cy="160337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27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is vs. ==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is – an operator that determines if two objects point to the same object in memory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== - an operator that determines if two objects can be considered ‘equivalent’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a = [1, 2, 3]	&gt;&gt;&gt; a = b = [1, 2, 3]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b = [1, 2, 3]	&gt;&gt;&gt; a is b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a is b			True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False				&gt;&gt;&gt; a == b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a == b			True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True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8957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Dictionary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are they used for??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To organize your data into (key, value) pairs. 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Especially important if you want to capture general relationships in your data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‘CA’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&lt;-&gt; list of polygons that represent California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More generally: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State &lt;-&gt; list of polygons that represent that state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Keys have to be unique and immutable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Values can be anything, including other dictionaries</a:t>
            </a: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4461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Dictionary – Useful operations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669868" cy="4195233"/>
          </a:xfrm>
        </p:spPr>
        <p:txBody>
          <a:bodyPr/>
          <a:lstStyle/>
          <a:p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Create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new value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Just assign value to a new key</a:t>
            </a:r>
          </a:p>
          <a:p>
            <a:pPr marL="366713" lvl="1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&gt;&gt;&gt; a = {}</a:t>
            </a:r>
          </a:p>
          <a:p>
            <a:pPr marL="366713" lvl="1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&gt;&gt;&gt; a[‘happy’] = ‘yes!’</a:t>
            </a:r>
          </a:p>
          <a:p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Look up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 value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Careful! Key must exist</a:t>
            </a:r>
          </a:p>
          <a:p>
            <a:pPr marL="366713" lvl="1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&gt;&gt;&gt; a[‘happy’]</a:t>
            </a:r>
          </a:p>
          <a:p>
            <a:pPr marL="366713" lvl="1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‘yes!’</a:t>
            </a:r>
          </a:p>
          <a:p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Iterate through all keys/values/both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366713" lvl="1" indent="0">
              <a:buNone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&gt;&gt;&gt; for k in a:	&gt;&gt;&gt; for v in </a:t>
            </a:r>
            <a:r>
              <a:rPr lang="en-US" sz="20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a.values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()	&gt;&gt;&gt; for k, v in </a:t>
            </a:r>
            <a:r>
              <a:rPr lang="en-US" sz="20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a.items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()</a:t>
            </a:r>
          </a:p>
          <a:p>
            <a:pPr marL="366713" lvl="1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…</a:t>
            </a: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0079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Dictionary – Example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4175656" cy="4195233"/>
          </a:xfrm>
        </p:spPr>
        <p:txBody>
          <a:bodyPr/>
          <a:lstStyle/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poke = {‘p’: 25, ‘d’: 148, ‘m’: 151}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poke[‘p’]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25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poke[‘j’] = 135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poke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{‘p’: 25, ‘d’: 148, ‘m’: 151, ‘j’: 135}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poke[‘di’] = 25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&gt;&gt;&gt; poke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433853"/>
              </p:ext>
            </p:extLst>
          </p:nvPr>
        </p:nvGraphicFramePr>
        <p:xfrm>
          <a:off x="4649788" y="2114869"/>
          <a:ext cx="2763838" cy="25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919"/>
                <a:gridCol w="1381919"/>
              </a:tblGrid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Key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‘p’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‘d’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148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‘m’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645328"/>
              </p:ext>
            </p:extLst>
          </p:nvPr>
        </p:nvGraphicFramePr>
        <p:xfrm>
          <a:off x="4649788" y="2163132"/>
          <a:ext cx="2763838" cy="3146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919"/>
                <a:gridCol w="1381919"/>
              </a:tblGrid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Key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‘p’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‘d’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148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‘m’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151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‘j’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125357"/>
              </p:ext>
            </p:extLst>
          </p:nvPr>
        </p:nvGraphicFramePr>
        <p:xfrm>
          <a:off x="4649788" y="2163132"/>
          <a:ext cx="2763838" cy="3775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919"/>
                <a:gridCol w="1381919"/>
              </a:tblGrid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Key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‘p’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‘d’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148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‘m’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151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‘j’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135</a:t>
                      </a:r>
                      <a:endParaRPr lang="en-US" dirty="0"/>
                    </a:p>
                  </a:txBody>
                  <a:tcPr/>
                </a:tc>
              </a:tr>
              <a:tr h="629209">
                <a:tc>
                  <a:txBody>
                    <a:bodyPr/>
                    <a:lstStyle/>
                    <a:p>
                      <a:r>
                        <a:rPr lang="en-US" dirty="0" smtClean="0"/>
                        <a:t>‘di’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254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Nonlocal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Why is nonlocal useful??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Motivated by the idea of </a:t>
            </a: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closures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“inner function but not from outside the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func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”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We want the inner function to be able to modify closure variables, not create a local copy for itself. -&gt; Mutation!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Old assignment rule: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Evaluate the RHS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Bind value(s) from RHS to names on LHS </a:t>
            </a: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the current frame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current frame limitation is restricting!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7760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Nonlocal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Nonlocal modifies assignment rule: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Evaluate the RHS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Bind value(s) from RHS to names on LHS in the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enclosing scope (for names declared nonlocal)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Nonlocal variables: NOT the current frame and NOT the global frame. </a:t>
            </a: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All frames in between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(via parent pointers)</a:t>
            </a: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0678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Nonlocal Example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69850" indent="0">
              <a:buNone/>
            </a:pP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step():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nonlocal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+ 1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return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return step</a:t>
            </a:r>
          </a:p>
          <a:p>
            <a:pPr marL="69850" indent="0">
              <a:buNone/>
            </a:pPr>
            <a:r>
              <a:rPr lang="en-US" u="sng" dirty="0" smtClean="0">
                <a:solidFill>
                  <a:srgbClr val="4A6300"/>
                </a:solidFill>
                <a:latin typeface="Consolas"/>
                <a:cs typeface="Consolas"/>
              </a:rPr>
              <a:t>s = </a:t>
            </a:r>
            <a:r>
              <a:rPr lang="en-US" u="sng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u="sng" dirty="0" smtClean="0">
                <a:solidFill>
                  <a:srgbClr val="4A6300"/>
                </a:solidFill>
                <a:latin typeface="Consolas"/>
                <a:cs typeface="Consolas"/>
              </a:rPr>
              <a:t>(3)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s()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s()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380584"/>
              </p:ext>
            </p:extLst>
          </p:nvPr>
        </p:nvGraphicFramePr>
        <p:xfrm>
          <a:off x="4141787" y="2514600"/>
          <a:ext cx="20653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213"/>
                <a:gridCol w="492125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Global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669005"/>
              </p:ext>
            </p:extLst>
          </p:nvPr>
        </p:nvGraphicFramePr>
        <p:xfrm>
          <a:off x="3921125" y="4381500"/>
          <a:ext cx="228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14"/>
                <a:gridCol w="737986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P=f1</a:t>
                      </a:r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num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5981700" y="3095625"/>
            <a:ext cx="963929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945629" y="2809875"/>
            <a:ext cx="161099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r>
              <a:rPr lang="en-US" dirty="0" err="1" smtClean="0"/>
              <a:t>make_step</a:t>
            </a:r>
            <a:endParaRPr lang="en-US" dirty="0" smtClean="0"/>
          </a:p>
          <a:p>
            <a:r>
              <a:rPr lang="en-US" dirty="0" smtClean="0"/>
              <a:t>[parent=G]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852160" y="4699000"/>
            <a:ext cx="958215" cy="60325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0375" y="3865960"/>
            <a:ext cx="1610996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pPr algn="ctr"/>
            <a:r>
              <a:rPr lang="en-US" dirty="0" smtClean="0"/>
              <a:t>step</a:t>
            </a:r>
          </a:p>
          <a:p>
            <a:r>
              <a:rPr lang="en-US" dirty="0" smtClean="0"/>
              <a:t>[parent=f1]</a:t>
            </a:r>
          </a:p>
        </p:txBody>
      </p:sp>
    </p:spTree>
    <p:extLst>
      <p:ext uri="{BB962C8B-B14F-4D97-AF65-F5344CB8AC3E}">
        <p14:creationId xmlns:p14="http://schemas.microsoft.com/office/powerpoint/2010/main" val="3839963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58896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Nonlocal Example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1885950"/>
            <a:ext cx="8263467" cy="4195233"/>
          </a:xfrm>
        </p:spPr>
        <p:txBody>
          <a:bodyPr/>
          <a:lstStyle/>
          <a:p>
            <a:pPr marL="69850" indent="0">
              <a:buNone/>
            </a:pP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step():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</a:t>
            </a:r>
            <a:r>
              <a:rPr lang="en-US" dirty="0" smtClean="0">
                <a:solidFill>
                  <a:srgbClr val="FF00FF"/>
                </a:solidFill>
                <a:latin typeface="Consolas"/>
                <a:cs typeface="Consolas"/>
              </a:rPr>
              <a:t>nonlocal </a:t>
            </a:r>
            <a:r>
              <a:rPr lang="en-US" dirty="0" err="1" smtClean="0">
                <a:solidFill>
                  <a:srgbClr val="FF00FF"/>
                </a:solidFill>
                <a:latin typeface="Consolas"/>
                <a:cs typeface="Consolas"/>
              </a:rPr>
              <a:t>num</a:t>
            </a:r>
            <a:endParaRPr lang="en-US" dirty="0" smtClean="0">
              <a:solidFill>
                <a:srgbClr val="FF00FF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+ 1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return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return step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(3)</a:t>
            </a:r>
          </a:p>
          <a:p>
            <a:pPr marL="69850" indent="0">
              <a:buNone/>
            </a:pPr>
            <a:r>
              <a:rPr lang="en-US" u="sng" dirty="0" smtClean="0">
                <a:solidFill>
                  <a:srgbClr val="4A6300"/>
                </a:solidFill>
                <a:latin typeface="Consolas"/>
                <a:cs typeface="Consolas"/>
              </a:rPr>
              <a:t>s()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s()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649788" y="223838"/>
            <a:ext cx="1331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66255"/>
              </p:ext>
            </p:extLst>
          </p:nvPr>
        </p:nvGraphicFramePr>
        <p:xfrm>
          <a:off x="4141787" y="2076450"/>
          <a:ext cx="20653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213"/>
                <a:gridCol w="492125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Global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069523"/>
              </p:ext>
            </p:extLst>
          </p:nvPr>
        </p:nvGraphicFramePr>
        <p:xfrm>
          <a:off x="3645535" y="3943350"/>
          <a:ext cx="271399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837"/>
                <a:gridCol w="876153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F1: </a:t>
                      </a:r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P=G</a:t>
                      </a:r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>
                          <a:solidFill>
                            <a:srgbClr val="FF00FF"/>
                          </a:solidFill>
                        </a:rPr>
                        <a:t>num</a:t>
                      </a:r>
                      <a:endParaRPr lang="en-US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5981700" y="2657475"/>
            <a:ext cx="963929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945629" y="2371725"/>
            <a:ext cx="161099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r>
              <a:rPr lang="en-US" dirty="0" err="1" smtClean="0"/>
              <a:t>make_step</a:t>
            </a:r>
            <a:endParaRPr lang="en-US" dirty="0" smtClean="0"/>
          </a:p>
          <a:p>
            <a:r>
              <a:rPr lang="en-US" dirty="0" smtClean="0"/>
              <a:t>[parent=G]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852160" y="4260850"/>
            <a:ext cx="958215" cy="60325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0375" y="3427810"/>
            <a:ext cx="1610996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pPr algn="ctr"/>
            <a:r>
              <a:rPr lang="en-US" dirty="0" smtClean="0"/>
              <a:t>step</a:t>
            </a:r>
          </a:p>
          <a:p>
            <a:r>
              <a:rPr lang="en-US" dirty="0" smtClean="0"/>
              <a:t>[parent=F1]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817749"/>
              </p:ext>
            </p:extLst>
          </p:nvPr>
        </p:nvGraphicFramePr>
        <p:xfrm>
          <a:off x="5429250" y="5772785"/>
          <a:ext cx="2286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14"/>
                <a:gridCol w="737986"/>
              </a:tblGrid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F2: 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P=F1</a:t>
                      </a:r>
                      <a:endParaRPr lang="en-US" dirty="0"/>
                    </a:p>
                  </a:txBody>
                  <a:tcPr/>
                </a:tc>
              </a:tr>
              <a:tr h="192546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flipV="1">
            <a:off x="5895975" y="4351140"/>
            <a:ext cx="1049654" cy="88761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98624" y="5641915"/>
            <a:ext cx="3063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FF"/>
                </a:solidFill>
              </a:rPr>
              <a:t>Find name in closure</a:t>
            </a:r>
          </a:p>
          <a:p>
            <a:r>
              <a:rPr lang="en-US" dirty="0" smtClean="0">
                <a:solidFill>
                  <a:srgbClr val="FF00FF"/>
                </a:solidFill>
              </a:rPr>
              <a:t>(Not current frame or Global). </a:t>
            </a:r>
          </a:p>
          <a:p>
            <a:r>
              <a:rPr lang="en-US" dirty="0" smtClean="0">
                <a:solidFill>
                  <a:srgbClr val="FF00FF"/>
                </a:solidFill>
              </a:rPr>
              <a:t>Name must already exist</a:t>
            </a:r>
          </a:p>
        </p:txBody>
      </p:sp>
      <p:cxnSp>
        <p:nvCxnSpPr>
          <p:cNvPr id="16" name="Straight Arrow Connector 15"/>
          <p:cNvCxnSpPr>
            <a:endCxn id="12" idx="1"/>
          </p:cNvCxnSpPr>
          <p:nvPr/>
        </p:nvCxnSpPr>
        <p:spPr>
          <a:xfrm>
            <a:off x="5981700" y="3000375"/>
            <a:ext cx="828675" cy="8891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6380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58896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Nonlocal Example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1885950"/>
            <a:ext cx="8263467" cy="4195233"/>
          </a:xfrm>
        </p:spPr>
        <p:txBody>
          <a:bodyPr/>
          <a:lstStyle/>
          <a:p>
            <a:pPr marL="69850" indent="0">
              <a:buNone/>
            </a:pP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step():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nonlocal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 </a:t>
            </a:r>
            <a:r>
              <a:rPr lang="en-US" dirty="0" err="1" smtClean="0">
                <a:solidFill>
                  <a:srgbClr val="FF66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FF6600"/>
                </a:solidFill>
                <a:latin typeface="Consolas"/>
                <a:cs typeface="Consolas"/>
              </a:rPr>
              <a:t> = </a:t>
            </a:r>
            <a:r>
              <a:rPr lang="en-US" dirty="0" err="1" smtClean="0">
                <a:solidFill>
                  <a:srgbClr val="FF66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FF6600"/>
                </a:solidFill>
                <a:latin typeface="Consolas"/>
                <a:cs typeface="Consolas"/>
              </a:rPr>
              <a:t> + 1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return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return step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(3)</a:t>
            </a:r>
          </a:p>
          <a:p>
            <a:pPr marL="69850" indent="0">
              <a:buNone/>
            </a:pPr>
            <a:r>
              <a:rPr lang="en-US" u="sng" dirty="0" smtClean="0">
                <a:solidFill>
                  <a:srgbClr val="4A6300"/>
                </a:solidFill>
                <a:latin typeface="Consolas"/>
                <a:cs typeface="Consolas"/>
              </a:rPr>
              <a:t>s()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s()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649788" y="223838"/>
            <a:ext cx="1331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722769"/>
              </p:ext>
            </p:extLst>
          </p:nvPr>
        </p:nvGraphicFramePr>
        <p:xfrm>
          <a:off x="4141787" y="2076450"/>
          <a:ext cx="20653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213"/>
                <a:gridCol w="492125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Global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708130"/>
              </p:ext>
            </p:extLst>
          </p:nvPr>
        </p:nvGraphicFramePr>
        <p:xfrm>
          <a:off x="3645535" y="3943350"/>
          <a:ext cx="271399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837"/>
                <a:gridCol w="876153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F1: </a:t>
                      </a:r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P=G</a:t>
                      </a:r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>
                          <a:solidFill>
                            <a:srgbClr val="FF00FF"/>
                          </a:solidFill>
                        </a:rPr>
                        <a:t>num</a:t>
                      </a:r>
                      <a:endParaRPr lang="en-US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trike="sngStrike" dirty="0" smtClean="0"/>
                        <a:t>3</a:t>
                      </a:r>
                      <a:r>
                        <a:rPr lang="en-US" dirty="0" smtClean="0"/>
                        <a:t>    </a:t>
                      </a:r>
                      <a:r>
                        <a:rPr lang="en-US" dirty="0" smtClean="0">
                          <a:solidFill>
                            <a:srgbClr val="FF6600"/>
                          </a:solidFill>
                        </a:rPr>
                        <a:t>4 </a:t>
                      </a:r>
                      <a:endParaRPr lang="en-US" dirty="0">
                        <a:solidFill>
                          <a:srgbClr val="FF6600"/>
                        </a:solidFill>
                      </a:endParaRPr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5981700" y="2657475"/>
            <a:ext cx="963929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945629" y="2371725"/>
            <a:ext cx="161099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r>
              <a:rPr lang="en-US" dirty="0" err="1" smtClean="0"/>
              <a:t>make_step</a:t>
            </a:r>
            <a:endParaRPr lang="en-US" dirty="0" smtClean="0"/>
          </a:p>
          <a:p>
            <a:r>
              <a:rPr lang="en-US" dirty="0" smtClean="0"/>
              <a:t>[parent=G]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6207125" y="4260851"/>
            <a:ext cx="603250" cy="60325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0375" y="3427810"/>
            <a:ext cx="1610996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pPr algn="ctr"/>
            <a:r>
              <a:rPr lang="en-US" dirty="0" smtClean="0"/>
              <a:t>step</a:t>
            </a:r>
          </a:p>
          <a:p>
            <a:r>
              <a:rPr lang="en-US" dirty="0" smtClean="0"/>
              <a:t>[parent=F1]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810404"/>
              </p:ext>
            </p:extLst>
          </p:nvPr>
        </p:nvGraphicFramePr>
        <p:xfrm>
          <a:off x="5429250" y="5772785"/>
          <a:ext cx="2286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14"/>
                <a:gridCol w="737986"/>
              </a:tblGrid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F2: 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P=F1</a:t>
                      </a:r>
                      <a:endParaRPr lang="en-US" dirty="0"/>
                    </a:p>
                  </a:txBody>
                  <a:tcPr/>
                </a:tc>
              </a:tr>
              <a:tr h="192546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flipV="1">
            <a:off x="5895975" y="4351140"/>
            <a:ext cx="1049654" cy="88761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98624" y="5641915"/>
            <a:ext cx="3063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6600"/>
                </a:solidFill>
              </a:rPr>
              <a:t>Now the assignment will affect declared variable, not local frame.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981700" y="3000375"/>
            <a:ext cx="828675" cy="8891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3251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58896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Nonlocal Example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1885950"/>
            <a:ext cx="8263467" cy="4195233"/>
          </a:xfrm>
        </p:spPr>
        <p:txBody>
          <a:bodyPr/>
          <a:lstStyle/>
          <a:p>
            <a:pPr marL="69850" indent="0">
              <a:buNone/>
            </a:pP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step():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nonlocal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endParaRPr lang="en-US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+ 1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</a:t>
            </a:r>
            <a:r>
              <a:rPr lang="en-US" dirty="0" smtClean="0">
                <a:solidFill>
                  <a:srgbClr val="3366FF"/>
                </a:solidFill>
                <a:latin typeface="Consolas"/>
                <a:cs typeface="Consolas"/>
              </a:rPr>
              <a:t>return </a:t>
            </a:r>
            <a:r>
              <a:rPr lang="en-US" dirty="0" err="1" smtClean="0">
                <a:solidFill>
                  <a:srgbClr val="3366FF"/>
                </a:solidFill>
                <a:latin typeface="Consolas"/>
                <a:cs typeface="Consolas"/>
              </a:rPr>
              <a:t>num</a:t>
            </a:r>
            <a:endParaRPr lang="en-US" dirty="0" smtClean="0">
              <a:solidFill>
                <a:srgbClr val="3366FF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return step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(3)</a:t>
            </a:r>
          </a:p>
          <a:p>
            <a:pPr marL="69850" indent="0">
              <a:buNone/>
            </a:pPr>
            <a:r>
              <a:rPr lang="en-US" u="sng" dirty="0" smtClean="0">
                <a:solidFill>
                  <a:srgbClr val="4A6300"/>
                </a:solidFill>
                <a:latin typeface="Consolas"/>
                <a:cs typeface="Consolas"/>
              </a:rPr>
              <a:t>s()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s()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649788" y="223838"/>
            <a:ext cx="1331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132604"/>
              </p:ext>
            </p:extLst>
          </p:nvPr>
        </p:nvGraphicFramePr>
        <p:xfrm>
          <a:off x="4141787" y="2076450"/>
          <a:ext cx="20653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213"/>
                <a:gridCol w="492125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Global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613766"/>
              </p:ext>
            </p:extLst>
          </p:nvPr>
        </p:nvGraphicFramePr>
        <p:xfrm>
          <a:off x="3645535" y="3943350"/>
          <a:ext cx="271399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837"/>
                <a:gridCol w="876153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F1: </a:t>
                      </a:r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P=G</a:t>
                      </a:r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>
                          <a:solidFill>
                            <a:srgbClr val="FF00FF"/>
                          </a:solidFill>
                        </a:rPr>
                        <a:t>num</a:t>
                      </a:r>
                      <a:endParaRPr lang="en-US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trike="sngStrike" dirty="0" smtClean="0"/>
                        <a:t>3</a:t>
                      </a:r>
                      <a:r>
                        <a:rPr lang="en-US" dirty="0" smtClean="0"/>
                        <a:t>    </a:t>
                      </a:r>
                      <a:r>
                        <a:rPr lang="en-US" dirty="0" smtClean="0">
                          <a:solidFill>
                            <a:srgbClr val="FF6600"/>
                          </a:solidFill>
                        </a:rPr>
                        <a:t>4 </a:t>
                      </a:r>
                      <a:endParaRPr lang="en-US" dirty="0">
                        <a:solidFill>
                          <a:srgbClr val="FF6600"/>
                        </a:solidFill>
                      </a:endParaRPr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5981700" y="2657475"/>
            <a:ext cx="963929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945629" y="2371725"/>
            <a:ext cx="161099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r>
              <a:rPr lang="en-US" dirty="0" err="1" smtClean="0"/>
              <a:t>make_step</a:t>
            </a:r>
            <a:endParaRPr lang="en-US" dirty="0" smtClean="0"/>
          </a:p>
          <a:p>
            <a:r>
              <a:rPr lang="en-US" dirty="0" smtClean="0"/>
              <a:t>[parent=G]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6207125" y="4260851"/>
            <a:ext cx="603250" cy="60325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0375" y="3427810"/>
            <a:ext cx="1610996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pPr algn="ctr"/>
            <a:r>
              <a:rPr lang="en-US" dirty="0" smtClean="0"/>
              <a:t>step</a:t>
            </a:r>
          </a:p>
          <a:p>
            <a:r>
              <a:rPr lang="en-US" dirty="0" smtClean="0"/>
              <a:t>[parent=F1]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767421"/>
              </p:ext>
            </p:extLst>
          </p:nvPr>
        </p:nvGraphicFramePr>
        <p:xfrm>
          <a:off x="5429250" y="5772785"/>
          <a:ext cx="2286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14"/>
                <a:gridCol w="737986"/>
              </a:tblGrid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F2: 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P=F1</a:t>
                      </a:r>
                      <a:endParaRPr lang="en-US" dirty="0"/>
                    </a:p>
                  </a:txBody>
                  <a:tcPr/>
                </a:tc>
              </a:tr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3366FF"/>
                          </a:solidFill>
                        </a:rPr>
                        <a:t>RV</a:t>
                      </a:r>
                      <a:endParaRPr lang="en-US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3366FF"/>
                          </a:solidFill>
                        </a:rPr>
                        <a:t>4</a:t>
                      </a:r>
                      <a:endParaRPr lang="en-US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flipV="1">
            <a:off x="5895975" y="4351140"/>
            <a:ext cx="1049654" cy="88761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98624" y="5641915"/>
            <a:ext cx="3063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3366FF"/>
                </a:solidFill>
              </a:rPr>
              <a:t>Everything else proceeds as normal. 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981700" y="3000375"/>
            <a:ext cx="828675" cy="8891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907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58896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Nonlocal Example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1885950"/>
            <a:ext cx="8263467" cy="4195233"/>
          </a:xfrm>
        </p:spPr>
        <p:txBody>
          <a:bodyPr/>
          <a:lstStyle/>
          <a:p>
            <a:pPr marL="69850" indent="0">
              <a:buNone/>
            </a:pP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step():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nonlocal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endParaRPr lang="en-US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+ 1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</a:t>
            </a:r>
            <a:r>
              <a:rPr lang="en-US" dirty="0" smtClean="0">
                <a:solidFill>
                  <a:srgbClr val="3366FF"/>
                </a:solidFill>
                <a:latin typeface="Consolas"/>
                <a:cs typeface="Consolas"/>
              </a:rPr>
              <a:t>return </a:t>
            </a:r>
            <a:r>
              <a:rPr lang="en-US" dirty="0" err="1" smtClean="0">
                <a:solidFill>
                  <a:srgbClr val="3366FF"/>
                </a:solidFill>
                <a:latin typeface="Consolas"/>
                <a:cs typeface="Consolas"/>
              </a:rPr>
              <a:t>num</a:t>
            </a:r>
            <a:endParaRPr lang="en-US" dirty="0" smtClean="0">
              <a:solidFill>
                <a:srgbClr val="3366FF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return step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(3)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s()</a:t>
            </a:r>
          </a:p>
          <a:p>
            <a:pPr marL="69850" indent="0">
              <a:buNone/>
            </a:pPr>
            <a:r>
              <a:rPr lang="en-US" u="sng" dirty="0" smtClean="0">
                <a:solidFill>
                  <a:srgbClr val="FF0000"/>
                </a:solidFill>
                <a:latin typeface="Consolas"/>
                <a:cs typeface="Consolas"/>
              </a:rPr>
              <a:t>s()</a:t>
            </a:r>
            <a:endParaRPr lang="en-US" u="sng" dirty="0" smtClean="0">
              <a:solidFill>
                <a:srgbClr val="FF00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649788" y="223838"/>
            <a:ext cx="1331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237233"/>
              </p:ext>
            </p:extLst>
          </p:nvPr>
        </p:nvGraphicFramePr>
        <p:xfrm>
          <a:off x="4141787" y="2076450"/>
          <a:ext cx="20653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213"/>
                <a:gridCol w="492125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Global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839462"/>
              </p:ext>
            </p:extLst>
          </p:nvPr>
        </p:nvGraphicFramePr>
        <p:xfrm>
          <a:off x="3645535" y="3943350"/>
          <a:ext cx="271399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837"/>
                <a:gridCol w="876153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F1: </a:t>
                      </a:r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P=G</a:t>
                      </a:r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>
                          <a:solidFill>
                            <a:srgbClr val="FF00FF"/>
                          </a:solidFill>
                        </a:rPr>
                        <a:t>num</a:t>
                      </a:r>
                      <a:endParaRPr lang="en-US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trike="noStrike" baseline="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5981700" y="2657475"/>
            <a:ext cx="963929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945629" y="2371725"/>
            <a:ext cx="161099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r>
              <a:rPr lang="en-US" dirty="0" err="1" smtClean="0"/>
              <a:t>make_step</a:t>
            </a:r>
            <a:endParaRPr lang="en-US" dirty="0" smtClean="0"/>
          </a:p>
          <a:p>
            <a:r>
              <a:rPr lang="en-US" dirty="0" smtClean="0"/>
              <a:t>[parent=G]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6207125" y="4260851"/>
            <a:ext cx="603250" cy="60325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0375" y="3427810"/>
            <a:ext cx="1610996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pPr algn="ctr"/>
            <a:r>
              <a:rPr lang="en-US" dirty="0" smtClean="0"/>
              <a:t>step</a:t>
            </a:r>
          </a:p>
          <a:p>
            <a:r>
              <a:rPr lang="en-US" dirty="0" smtClean="0"/>
              <a:t>[parent=F1]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939042"/>
              </p:ext>
            </p:extLst>
          </p:nvPr>
        </p:nvGraphicFramePr>
        <p:xfrm>
          <a:off x="3711575" y="5772785"/>
          <a:ext cx="2286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14"/>
                <a:gridCol w="737986"/>
              </a:tblGrid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F2: 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P=F1</a:t>
                      </a:r>
                      <a:endParaRPr lang="en-US" dirty="0"/>
                    </a:p>
                  </a:txBody>
                  <a:tcPr/>
                </a:tc>
              </a:tr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3366FF"/>
                          </a:solidFill>
                        </a:rPr>
                        <a:t>RV</a:t>
                      </a:r>
                      <a:endParaRPr lang="en-US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3366FF"/>
                          </a:solidFill>
                        </a:rPr>
                        <a:t>4</a:t>
                      </a:r>
                      <a:endParaRPr lang="en-US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flipV="1">
            <a:off x="5895975" y="4351140"/>
            <a:ext cx="1049654" cy="88761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1660" y="5857974"/>
            <a:ext cx="3063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next time you call s, you’ll get a different result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767530"/>
              </p:ext>
            </p:extLst>
          </p:nvPr>
        </p:nvGraphicFramePr>
        <p:xfrm>
          <a:off x="6359525" y="5788759"/>
          <a:ext cx="2286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14"/>
                <a:gridCol w="737986"/>
              </a:tblGrid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F3: 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P=F1</a:t>
                      </a:r>
                      <a:endParaRPr lang="en-US" dirty="0"/>
                    </a:p>
                  </a:txBody>
                  <a:tcPr/>
                </a:tc>
              </a:tr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RV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5981700" y="3000375"/>
            <a:ext cx="828675" cy="8891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9185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58896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Nonlocal Example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1885950"/>
            <a:ext cx="8263467" cy="4195233"/>
          </a:xfrm>
        </p:spPr>
        <p:txBody>
          <a:bodyPr/>
          <a:lstStyle/>
          <a:p>
            <a:pPr marL="69850" indent="0">
              <a:buNone/>
            </a:pP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step():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nonlocal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endParaRPr lang="en-US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num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+ 1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  </a:t>
            </a:r>
            <a:r>
              <a:rPr lang="en-US" dirty="0" smtClean="0">
                <a:solidFill>
                  <a:srgbClr val="3366FF"/>
                </a:solidFill>
                <a:latin typeface="Consolas"/>
                <a:cs typeface="Consolas"/>
              </a:rPr>
              <a:t>return </a:t>
            </a:r>
            <a:r>
              <a:rPr lang="en-US" dirty="0" err="1" smtClean="0">
                <a:solidFill>
                  <a:srgbClr val="3366FF"/>
                </a:solidFill>
                <a:latin typeface="Consolas"/>
                <a:cs typeface="Consolas"/>
              </a:rPr>
              <a:t>num</a:t>
            </a:r>
            <a:endParaRPr lang="en-US" dirty="0" smtClean="0">
              <a:solidFill>
                <a:srgbClr val="3366FF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return step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(3)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t =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make_step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(2)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s()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t()</a:t>
            </a:r>
            <a:endParaRPr lang="en-US" dirty="0">
              <a:solidFill>
                <a:srgbClr val="FF00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649788" y="223838"/>
            <a:ext cx="1331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808411"/>
              </p:ext>
            </p:extLst>
          </p:nvPr>
        </p:nvGraphicFramePr>
        <p:xfrm>
          <a:off x="4141787" y="2076450"/>
          <a:ext cx="20653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213"/>
                <a:gridCol w="492125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Global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09374"/>
              </p:ext>
            </p:extLst>
          </p:nvPr>
        </p:nvGraphicFramePr>
        <p:xfrm>
          <a:off x="3645535" y="3943350"/>
          <a:ext cx="271399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837"/>
                <a:gridCol w="876153"/>
              </a:tblGrid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F1: </a:t>
                      </a:r>
                      <a:r>
                        <a:rPr lang="en-US" dirty="0" err="1" smtClean="0"/>
                        <a:t>make_step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P=G</a:t>
                      </a:r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>
                          <a:solidFill>
                            <a:srgbClr val="FF00FF"/>
                          </a:solidFill>
                        </a:rPr>
                        <a:t>num</a:t>
                      </a:r>
                      <a:endParaRPr lang="en-US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trike="noStrike" baseline="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  <a:tr h="347663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5981700" y="2657475"/>
            <a:ext cx="963929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945629" y="2371725"/>
            <a:ext cx="161099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r>
              <a:rPr lang="en-US" dirty="0" err="1" smtClean="0"/>
              <a:t>make_step</a:t>
            </a:r>
            <a:endParaRPr lang="en-US" dirty="0" smtClean="0"/>
          </a:p>
          <a:p>
            <a:r>
              <a:rPr lang="en-US" dirty="0" smtClean="0"/>
              <a:t>[parent=G]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6207125" y="4260851"/>
            <a:ext cx="603250" cy="60325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0375" y="3427810"/>
            <a:ext cx="1610996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func</a:t>
            </a:r>
            <a:endParaRPr lang="en-US" dirty="0" smtClean="0"/>
          </a:p>
          <a:p>
            <a:pPr algn="ctr"/>
            <a:r>
              <a:rPr lang="en-US" dirty="0" smtClean="0"/>
              <a:t>step</a:t>
            </a:r>
          </a:p>
          <a:p>
            <a:r>
              <a:rPr lang="en-US" dirty="0" smtClean="0"/>
              <a:t>[parent=F1]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282460"/>
              </p:ext>
            </p:extLst>
          </p:nvPr>
        </p:nvGraphicFramePr>
        <p:xfrm>
          <a:off x="3711575" y="5772785"/>
          <a:ext cx="2286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14"/>
                <a:gridCol w="737986"/>
              </a:tblGrid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F2: 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P=F1</a:t>
                      </a:r>
                      <a:endParaRPr lang="en-US" dirty="0"/>
                    </a:p>
                  </a:txBody>
                  <a:tcPr/>
                </a:tc>
              </a:tr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3366FF"/>
                          </a:solidFill>
                        </a:rPr>
                        <a:t>RV</a:t>
                      </a:r>
                      <a:endParaRPr lang="en-US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3366FF"/>
                          </a:solidFill>
                        </a:rPr>
                        <a:t>4</a:t>
                      </a:r>
                      <a:endParaRPr lang="en-US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flipV="1">
            <a:off x="5895975" y="4351140"/>
            <a:ext cx="1049654" cy="88761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748167"/>
              </p:ext>
            </p:extLst>
          </p:nvPr>
        </p:nvGraphicFramePr>
        <p:xfrm>
          <a:off x="6359525" y="5788759"/>
          <a:ext cx="2286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14"/>
                <a:gridCol w="737986"/>
              </a:tblGrid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F3: 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P=F1</a:t>
                      </a:r>
                      <a:endParaRPr lang="en-US" dirty="0"/>
                    </a:p>
                  </a:txBody>
                  <a:tcPr/>
                </a:tc>
              </a:tr>
              <a:tr h="192546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RV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5981700" y="3000375"/>
            <a:ext cx="828675" cy="8891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9871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cussion0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discussion0.ppt</Template>
  <TotalTime>16326</TotalTime>
  <Words>2057</Words>
  <Application>Microsoft Macintosh PowerPoint</Application>
  <PresentationFormat>On-screen Show (4:3)</PresentationFormat>
  <Paragraphs>453</Paragraphs>
  <Slides>26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discussion0</vt:lpstr>
      <vt:lpstr>Welcome to CS61A Disc 6 Sect. 29/47 :D</vt:lpstr>
      <vt:lpstr>Section Quiz Logistics</vt:lpstr>
      <vt:lpstr>Section Quiz</vt:lpstr>
      <vt:lpstr>Section Quiz [Solutions]</vt:lpstr>
      <vt:lpstr>Section Quiz [Solutions]</vt:lpstr>
      <vt:lpstr>Section Quiz [Solutions]</vt:lpstr>
      <vt:lpstr>Anuncios</vt:lpstr>
      <vt:lpstr>5-min Review Recap</vt:lpstr>
      <vt:lpstr>Tip of the Day</vt:lpstr>
      <vt:lpstr>New Way of Running Disc</vt:lpstr>
      <vt:lpstr>Closure Property</vt:lpstr>
      <vt:lpstr>Mutability</vt:lpstr>
      <vt:lpstr>Mutability Powerful but Dangerous</vt:lpstr>
      <vt:lpstr>Mutability Powerful but Dangerous</vt:lpstr>
      <vt:lpstr>is vs. ==</vt:lpstr>
      <vt:lpstr>Dictionary</vt:lpstr>
      <vt:lpstr>Dictionary – Useful operations</vt:lpstr>
      <vt:lpstr>Dictionary – Example</vt:lpstr>
      <vt:lpstr>Nonlocal</vt:lpstr>
      <vt:lpstr>Nonlocal</vt:lpstr>
      <vt:lpstr>Nonlocal Example</vt:lpstr>
      <vt:lpstr>Nonlocal Example</vt:lpstr>
      <vt:lpstr>Nonlocal Example</vt:lpstr>
      <vt:lpstr>Nonlocal Example</vt:lpstr>
      <vt:lpstr>Nonlocal Example</vt:lpstr>
      <vt:lpstr>Nonlocal Example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CS61A Section 47 :D</dc:title>
  <dc:creator>Dickson Tsai</dc:creator>
  <cp:lastModifiedBy>Dickson Tsai</cp:lastModifiedBy>
  <cp:revision>259</cp:revision>
  <dcterms:created xsi:type="dcterms:W3CDTF">2014-08-28T16:21:02Z</dcterms:created>
  <dcterms:modified xsi:type="dcterms:W3CDTF">2014-10-10T01:11:52Z</dcterms:modified>
</cp:coreProperties>
</file>