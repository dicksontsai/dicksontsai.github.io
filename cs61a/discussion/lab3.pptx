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11"/>
  </p:notesMasterIdLst>
  <p:handoutMasterIdLst>
    <p:handoutMasterId r:id="rId12"/>
  </p:handoutMasterIdLst>
  <p:sldIdLst>
    <p:sldId id="256" r:id="rId2"/>
    <p:sldId id="258" r:id="rId3"/>
    <p:sldId id="261" r:id="rId4"/>
    <p:sldId id="257" r:id="rId5"/>
    <p:sldId id="260" r:id="rId6"/>
    <p:sldId id="264" r:id="rId7"/>
    <p:sldId id="262" r:id="rId8"/>
    <p:sldId id="259" r:id="rId9"/>
    <p:sldId id="265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Century Gothic" charset="0"/>
        <a:ea typeface="ＭＳ Ｐゴシック" charset="0"/>
        <a:cs typeface="ＭＳ Ｐゴシック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99" d="100"/>
          <a:sy n="99" d="100"/>
        </p:scale>
        <p:origin x="-896" y="3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handoutMaster" Target="handoutMasters/handoutMaster1.xml"/><Relationship Id="rId13" Type="http://schemas.openxmlformats.org/officeDocument/2006/relationships/printerSettings" Target="printerSettings/printerSettings1.bin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3D6FA6C3-894D-9342-858C-89781436E0BA}" type="datetimeFigureOut">
              <a:rPr lang="en-US"/>
              <a:pPr>
                <a:defRPr/>
              </a:pPr>
              <a:t>9/15/14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1C915EBA-7225-EA45-954F-AB711B4338E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55129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F11027A8-00FB-C24C-8EBA-1EDF84C5EE30}" type="datetimeFigureOut">
              <a:rPr lang="en-US"/>
              <a:pPr>
                <a:defRPr/>
              </a:pPr>
              <a:t>9/15/14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x-none" noProof="0" smtClean="0"/>
              <a:t>Click to edit Master text styles</a:t>
            </a:r>
          </a:p>
          <a:p>
            <a:pPr lvl="1"/>
            <a:r>
              <a:rPr lang="x-none" noProof="0" smtClean="0"/>
              <a:t>Second level</a:t>
            </a:r>
          </a:p>
          <a:p>
            <a:pPr lvl="2"/>
            <a:r>
              <a:rPr lang="x-none" noProof="0" smtClean="0"/>
              <a:t>Third level</a:t>
            </a:r>
          </a:p>
          <a:p>
            <a:pPr lvl="3"/>
            <a:r>
              <a:rPr lang="x-none" noProof="0" smtClean="0"/>
              <a:t>Fourth level</a:t>
            </a:r>
          </a:p>
          <a:p>
            <a:pPr lvl="4"/>
            <a:r>
              <a:rPr lang="x-none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BEB6E1B7-B6E5-514A-9283-C0DC69B17F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2435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 dirty="0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val="1"/>
            </a:ext>
          </a:extLst>
        </p:spPr>
      </p:sp>
      <p:sp>
        <p:nvSpPr>
          <p:cNvPr id="21506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>
              <a:latin typeface="Calibri" charset="0"/>
            </a:endParaRPr>
          </a:p>
        </p:txBody>
      </p:sp>
      <p:sp>
        <p:nvSpPr>
          <p:cNvPr id="2150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925DA98-8938-FA4F-B19D-C0BD4794D78C}" type="slidenum">
              <a:rPr lang="en-US">
                <a:latin typeface="Calibri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latin typeface="Calibri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0" name="Rectangle 39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1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2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7" name="Rectangle 36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8" name="Rectangle 37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4" name="Rectangle 33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5" name="Rectangle 34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1" name="Rectangle 30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6" name="Freeform 5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Freeform 6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Hexagon 10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Freeform 15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Hexagon 16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Freeform 25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3" name="Rectangle 42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4" name="Rectangle 43"/>
          <p:cNvSpPr/>
          <p:nvPr/>
        </p:nvSpPr>
        <p:spPr>
          <a:xfrm>
            <a:off x="4649788" y="-22225"/>
            <a:ext cx="3505200" cy="23129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33365" y="2708476"/>
            <a:ext cx="3313355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33365" y="4421080"/>
            <a:ext cx="3309803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x-none" smtClean="0"/>
              <a:t>Click to edit Master subtitle style</a:t>
            </a:r>
            <a:endParaRPr lang="en-US" dirty="0"/>
          </a:p>
        </p:txBody>
      </p:sp>
      <p:sp>
        <p:nvSpPr>
          <p:cNvPr id="47" name="Date Placeholder 3"/>
          <p:cNvSpPr>
            <a:spLocks noGrp="1"/>
          </p:cNvSpPr>
          <p:nvPr>
            <p:ph type="dt" sz="half" idx="10"/>
          </p:nvPr>
        </p:nvSpPr>
        <p:spPr>
          <a:xfrm>
            <a:off x="4738688" y="1516063"/>
            <a:ext cx="2133600" cy="752475"/>
          </a:xfrm>
        </p:spPr>
        <p:txBody>
          <a:bodyPr anchor="b"/>
          <a:lstStyle>
            <a:lvl1pPr algn="l">
              <a:defRPr sz="2400" smtClean="0"/>
            </a:lvl1pPr>
          </a:lstStyle>
          <a:p>
            <a:pPr>
              <a:defRPr/>
            </a:pPr>
            <a:fld id="{6655137A-6FB0-1C4E-94C3-267D0A594E98}" type="datetime4">
              <a:rPr lang="en-US"/>
              <a:pPr>
                <a:defRPr/>
              </a:pPr>
              <a:t>September 15, 2014</a:t>
            </a:fld>
            <a:endParaRPr lang="en-US" dirty="0"/>
          </a:p>
        </p:txBody>
      </p:sp>
      <p:sp>
        <p:nvSpPr>
          <p:cNvPr id="48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03838" y="5719763"/>
            <a:ext cx="2830512" cy="365125"/>
          </a:xfrm>
        </p:spPr>
        <p:txBody>
          <a:bodyPr>
            <a:normAutofit/>
          </a:bodyPr>
          <a:lstStyle>
            <a:lvl1pPr>
              <a:defRPr dirty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649788" y="5719763"/>
            <a:ext cx="642937" cy="365125"/>
          </a:xfrm>
        </p:spPr>
        <p:txBody>
          <a:bodyPr/>
          <a:lstStyle>
            <a:lvl1pPr>
              <a:defRPr smtClean="0">
                <a:solidFill>
                  <a:schemeClr val="accent1"/>
                </a:solidFill>
              </a:defRPr>
            </a:lvl1pPr>
          </a:lstStyle>
          <a:p>
            <a:pPr>
              <a:defRPr/>
            </a:pPr>
            <a:fld id="{C8AB3673-7F39-5843-8E75-30B1437A0E6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6294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F16100-0000-9F4B-9427-59A4B6C5F6E8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115C37-9862-4A4D-8ED0-DA94B4E9ED9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7008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8645" y="2900829"/>
            <a:ext cx="6637468" cy="1362075"/>
          </a:xfrm>
        </p:spPr>
        <p:txBody>
          <a:bodyPr/>
          <a:lstStyle>
            <a:lvl1pPr algn="l">
              <a:defRPr sz="4000" b="0" cap="none" baseline="0"/>
            </a:lvl1pPr>
          </a:lstStyle>
          <a:p>
            <a:r>
              <a:rPr lang="x-none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8645" y="4267200"/>
            <a:ext cx="6637467" cy="1520413"/>
          </a:xfrm>
        </p:spPr>
        <p:txBody>
          <a:bodyPr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8E6BC0-9B5A-E141-AC34-D53ED23DCC8B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F6B77E-877A-634E-8367-933DCBBB0CF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680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042416" y="2313432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4645152" y="2313431"/>
            <a:ext cx="3419856" cy="3493008"/>
          </a:xfrm>
        </p:spPr>
        <p:txBody>
          <a:bodyPr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D4F12F-EAF1-5D4C-880F-775AA42497DD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4934F99-59E1-674F-B576-6D449172EE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9606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2111" y="2316009"/>
            <a:ext cx="3057148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1721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1837" y="2316010"/>
            <a:ext cx="305571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152" y="2974694"/>
            <a:ext cx="3419856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CA0580-2F88-7044-9CC5-C84EE5CA0F77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650751-79D9-1344-AD3D-FA20E34824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89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A403FB-6F30-AC4D-8EDB-8F62E14D9E80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68FC7C-C76F-7B4C-A7EE-E50F6531394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2453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429B-D636-EC4D-85FC-9BD3CD488279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5C0BBE-D4FC-4844-8BE2-FB25DC1A1A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995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5894" y="856527"/>
            <a:ext cx="3090440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9833" y="2657434"/>
            <a:ext cx="3304572" cy="1463153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6592" y="4136994"/>
            <a:ext cx="3298784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CFDE1A-A3B7-4942-8E99-F13B05783BF1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49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5198C8-ACE9-D74A-862F-4CCA0EB14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50" name="Footer Placeholder 5"/>
          <p:cNvSpPr>
            <a:spLocks noGrp="1"/>
          </p:cNvSpPr>
          <p:nvPr>
            <p:ph type="ftr" sz="quarter" idx="12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4563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-382588" y="0"/>
            <a:ext cx="9932988" cy="6858000"/>
            <a:chOff x="-382404" y="0"/>
            <a:chExt cx="9932332" cy="6858000"/>
          </a:xfrm>
        </p:grpSpPr>
        <p:grpSp>
          <p:nvGrpSpPr>
            <p:cNvPr id="6" name="Group 61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29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41" name="Rectangle 40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2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3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0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38" name="Rectangle 37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9" name="Rectangle 38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40" name="Rectangle 39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31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35" name="Rectangle 34"/>
                <p:cNvSpPr/>
                <p:nvPr/>
              </p:nvSpPr>
              <p:spPr>
                <a:xfrm>
                  <a:off x="916372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6" name="Rectangle 35"/>
                <p:cNvSpPr/>
                <p:nvPr/>
              </p:nvSpPr>
              <p:spPr>
                <a:xfrm>
                  <a:off x="2032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37" name="Rectangle 36"/>
                <p:cNvSpPr/>
                <p:nvPr/>
              </p:nvSpPr>
              <p:spPr>
                <a:xfrm>
                  <a:off x="230617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32" name="Rectangle 31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7" name="Freeform 6"/>
            <p:cNvSpPr/>
            <p:nvPr/>
          </p:nvSpPr>
          <p:spPr>
            <a:xfrm>
              <a:off x="-12540" y="5035550"/>
              <a:ext cx="9144984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Freeform 7"/>
            <p:cNvSpPr/>
            <p:nvPr/>
          </p:nvSpPr>
          <p:spPr>
            <a:xfrm>
              <a:off x="-12540" y="3467100"/>
              <a:ext cx="9144984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Freeform 8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Freeform 9"/>
            <p:cNvSpPr/>
            <p:nvPr/>
          </p:nvSpPr>
          <p:spPr>
            <a:xfrm>
              <a:off x="-12540" y="5284788"/>
              <a:ext cx="9144984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2136793" y="5132388"/>
              <a:ext cx="6982952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2" name="Hexagon 11"/>
            <p:cNvSpPr/>
            <p:nvPr/>
          </p:nvSpPr>
          <p:spPr>
            <a:xfrm rot="1800000">
              <a:off x="2995574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3" name="Hexagon 12"/>
            <p:cNvSpPr/>
            <p:nvPr/>
          </p:nvSpPr>
          <p:spPr>
            <a:xfrm rot="1800000">
              <a:off x="3719426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4" name="Hexagon 13"/>
            <p:cNvSpPr/>
            <p:nvPr/>
          </p:nvSpPr>
          <p:spPr>
            <a:xfrm rot="1800000">
              <a:off x="3728950" y="159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5" name="Hexagon 14"/>
            <p:cNvSpPr/>
            <p:nvPr/>
          </p:nvSpPr>
          <p:spPr>
            <a:xfrm rot="1800000">
              <a:off x="2976525" y="32543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Hexagon 15"/>
            <p:cNvSpPr/>
            <p:nvPr/>
          </p:nvSpPr>
          <p:spPr>
            <a:xfrm rot="1800000">
              <a:off x="4462327" y="53832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7" name="Freeform 16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8" name="Hexagon 17"/>
            <p:cNvSpPr/>
            <p:nvPr/>
          </p:nvSpPr>
          <p:spPr>
            <a:xfrm rot="1800000">
              <a:off x="23970" y="54022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9" name="Hexagon 18"/>
            <p:cNvSpPr/>
            <p:nvPr/>
          </p:nvSpPr>
          <p:spPr>
            <a:xfrm rot="1800000">
              <a:off x="52543" y="284956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0" name="Hexagon 19"/>
            <p:cNvSpPr/>
            <p:nvPr/>
          </p:nvSpPr>
          <p:spPr>
            <a:xfrm rot="1800000">
              <a:off x="776395" y="4125913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1" name="Hexagon 20"/>
            <p:cNvSpPr/>
            <p:nvPr/>
          </p:nvSpPr>
          <p:spPr>
            <a:xfrm rot="1800000">
              <a:off x="1509772" y="54117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2" name="Hexagon 21"/>
            <p:cNvSpPr/>
            <p:nvPr/>
          </p:nvSpPr>
          <p:spPr>
            <a:xfrm rot="1800000">
              <a:off x="1528821" y="28590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3" name="Hexagon 22"/>
            <p:cNvSpPr/>
            <p:nvPr/>
          </p:nvSpPr>
          <p:spPr>
            <a:xfrm rot="1800000">
              <a:off x="795444" y="1563688"/>
              <a:ext cx="1601681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4" name="Hexagon 23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5" name="Hexagon 24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6" name="Hexagon 25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7" name="Freeform 26"/>
            <p:cNvSpPr/>
            <p:nvPr/>
          </p:nvSpPr>
          <p:spPr>
            <a:xfrm rot="1800000">
              <a:off x="8306998" y="4056063"/>
              <a:ext cx="124293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28" name="Freeform 27"/>
            <p:cNvSpPr/>
            <p:nvPr/>
          </p:nvSpPr>
          <p:spPr>
            <a:xfrm rot="1800000">
              <a:off x="8306998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44" name="Rectangle 43"/>
          <p:cNvSpPr/>
          <p:nvPr/>
        </p:nvSpPr>
        <p:spPr>
          <a:xfrm>
            <a:off x="4560888" y="-22225"/>
            <a:ext cx="3679825" cy="6272213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6" name="Rectangle 45"/>
          <p:cNvSpPr/>
          <p:nvPr/>
        </p:nvSpPr>
        <p:spPr>
          <a:xfrm>
            <a:off x="904875" y="601663"/>
            <a:ext cx="3562350" cy="564832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7" name="Rectangle 46"/>
          <p:cNvSpPr/>
          <p:nvPr/>
        </p:nvSpPr>
        <p:spPr>
          <a:xfrm>
            <a:off x="4651375" y="6088063"/>
            <a:ext cx="3505200" cy="825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34424" y="2660904"/>
            <a:ext cx="3300984" cy="1463040"/>
          </a:xfrm>
        </p:spPr>
        <p:txBody>
          <a:bodyPr>
            <a:normAutofit/>
          </a:bodyPr>
          <a:lstStyle>
            <a:lvl1pPr algn="l">
              <a:defRPr sz="2800" b="0"/>
            </a:lvl1pPr>
          </a:lstStyle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05208" y="693795"/>
            <a:ext cx="3359623" cy="5468112"/>
          </a:xfrm>
        </p:spPr>
        <p:txBody>
          <a:bodyPr rtlCol="0">
            <a:normAutofit/>
          </a:bodyPr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x-none" noProof="0" smtClean="0"/>
              <a:t>Drag picture to placeholder or click icon to add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34630" y="4133088"/>
            <a:ext cx="3300573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x-none" smtClean="0"/>
              <a:t>Click to edit Master text styles</a:t>
            </a:r>
          </a:p>
        </p:txBody>
      </p:sp>
      <p:sp>
        <p:nvSpPr>
          <p:cNvPr id="4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EDDEC9-34B2-2B47-8562-0DB2DDF36A93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49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641850" y="5724525"/>
            <a:ext cx="3492500" cy="365125"/>
          </a:xfrm>
        </p:spPr>
        <p:txBody>
          <a:bodyPr>
            <a:normAutofit/>
          </a:bodyPr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B54C8CE-B679-E249-8A21-F0C3828050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12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753F03-5748-284E-8EA1-FA16176281C4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A80443-B5BA-1441-A0F5-E0E8C82EE8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167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030147"/>
            <a:ext cx="1484453" cy="4780344"/>
          </a:xfrm>
        </p:spPr>
        <p:txBody>
          <a:bodyPr vert="eaVert" anchor="ctr"/>
          <a:lstStyle/>
          <a:p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53296" y="1030147"/>
            <a:ext cx="5423704" cy="4780344"/>
          </a:xfrm>
        </p:spPr>
        <p:txBody>
          <a:bodyPr vert="eaVert"/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6883A8-6536-C340-9C9B-990BB2391E14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6EAA6B-3350-4147-9EAD-27A9D5A683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039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1"/>
          <p:cNvGrpSpPr>
            <a:grpSpLocks/>
          </p:cNvGrpSpPr>
          <p:nvPr/>
        </p:nvGrpSpPr>
        <p:grpSpPr bwMode="auto">
          <a:xfrm>
            <a:off x="-304800" y="0"/>
            <a:ext cx="9932988" cy="6858000"/>
            <a:chOff x="-382404" y="0"/>
            <a:chExt cx="9932332" cy="6858000"/>
          </a:xfrm>
        </p:grpSpPr>
        <p:grpSp>
          <p:nvGrpSpPr>
            <p:cNvPr id="1035" name="Group 44"/>
            <p:cNvGrpSpPr>
              <a:grpSpLocks/>
            </p:cNvGrpSpPr>
            <p:nvPr/>
          </p:nvGrpSpPr>
          <p:grpSpPr bwMode="auto"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58" name="Group 4"/>
              <p:cNvGrpSpPr>
                <a:grpSpLocks/>
              </p:cNvGrpSpPr>
              <p:nvPr/>
            </p:nvGrpSpPr>
            <p:grpSpPr bwMode="auto"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99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159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744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59" name="Group 5"/>
              <p:cNvGrpSpPr>
                <a:grpSpLocks/>
              </p:cNvGrpSpPr>
              <p:nvPr/>
            </p:nvGrpSpPr>
            <p:grpSpPr bwMode="auto"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3836" y="0"/>
                  <a:ext cx="1600094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-504" y="0"/>
                  <a:ext cx="45717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081" y="0"/>
                  <a:ext cx="76195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grpSp>
            <p:nvGrpSpPr>
              <p:cNvPr id="1060" name="Group 9"/>
              <p:cNvGrpSpPr>
                <a:grpSpLocks/>
              </p:cNvGrpSpPr>
              <p:nvPr/>
            </p:nvGrpSpPr>
            <p:grpSpPr bwMode="auto"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6373" y="1587"/>
                  <a:ext cx="1600094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2033" y="1587"/>
                  <a:ext cx="45717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30618" y="1587"/>
                  <a:ext cx="761950" cy="6858001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fontAlgn="auto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en-US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09907" y="0"/>
                <a:ext cx="2819214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568" y="0"/>
                <a:ext cx="45717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153" y="0"/>
                <a:ext cx="76195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en-US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2540" y="5035550"/>
              <a:ext cx="9144983" cy="1174750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2540" y="3467100"/>
              <a:ext cx="9144983" cy="890588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653" y="5640388"/>
              <a:ext cx="3004940" cy="1211262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2540" y="5284788"/>
              <a:ext cx="9144983" cy="1477962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6793" y="5132388"/>
              <a:ext cx="6982951" cy="171926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5573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19425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8949" y="159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6524" y="32543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2326" y="53832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2113"/>
              <a:ext cx="1261980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3969" y="54022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542" y="284956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394" y="4125913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09771" y="54117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8820" y="28590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443" y="1563688"/>
              <a:ext cx="1601682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909" y="414496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810" y="54213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810" y="2868613"/>
              <a:ext cx="1600094" cy="1389062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997" y="4056063"/>
              <a:ext cx="1242931" cy="1387475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997" y="1511300"/>
              <a:ext cx="1241343" cy="1389063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457200" y="333375"/>
            <a:ext cx="8229600" cy="6186488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0" name="Rectangle 69"/>
          <p:cNvSpPr/>
          <p:nvPr/>
        </p:nvSpPr>
        <p:spPr>
          <a:xfrm>
            <a:off x="4560888" y="-22225"/>
            <a:ext cx="3679825" cy="700088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4649788" y="-22225"/>
            <a:ext cx="3505200" cy="6238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30" name="Title Placeholder 1"/>
          <p:cNvSpPr>
            <a:spLocks noGrp="1"/>
          </p:cNvSpPr>
          <p:nvPr>
            <p:ph type="title"/>
          </p:nvPr>
        </p:nvSpPr>
        <p:spPr bwMode="auto">
          <a:xfrm>
            <a:off x="1042988" y="1027113"/>
            <a:ext cx="7024687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title style</a:t>
            </a:r>
            <a:endParaRPr lang="en-US"/>
          </a:p>
        </p:txBody>
      </p:sp>
      <p:sp>
        <p:nvSpPr>
          <p:cNvPr id="1031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042988" y="2324100"/>
            <a:ext cx="6777037" cy="350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x-none" smtClean="0"/>
              <a:t>Click to edit Master text styles</a:t>
            </a:r>
          </a:p>
          <a:p>
            <a:pPr lvl="1"/>
            <a:r>
              <a:rPr lang="x-none" smtClean="0"/>
              <a:t>Second level</a:t>
            </a:r>
          </a:p>
          <a:p>
            <a:pPr lvl="2"/>
            <a:r>
              <a:rPr lang="x-none" smtClean="0"/>
              <a:t>Third level</a:t>
            </a:r>
          </a:p>
          <a:p>
            <a:pPr lvl="3"/>
            <a:r>
              <a:rPr lang="x-none" smtClean="0"/>
              <a:t>Fourth level</a:t>
            </a:r>
          </a:p>
          <a:p>
            <a:pPr lvl="4"/>
            <a:r>
              <a:rPr lang="x-none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7575" y="223838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3356F25-E6A9-6B44-B749-785EDDA8CCD6}" type="datetime4">
              <a:rPr lang="en-US"/>
              <a:pPr>
                <a:defRPr/>
              </a:pPr>
              <a:t>September 15, 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1850" y="5851525"/>
            <a:ext cx="350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649788" y="223838"/>
            <a:ext cx="13319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rgbClr val="FEFEFE"/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258D96C5-9F30-DE44-9E70-A9B1977192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15" r:id="rId1"/>
    <p:sldLayoutId id="2147483807" r:id="rId2"/>
    <p:sldLayoutId id="2147483808" r:id="rId3"/>
    <p:sldLayoutId id="2147483809" r:id="rId4"/>
    <p:sldLayoutId id="2147483810" r:id="rId5"/>
    <p:sldLayoutId id="2147483811" r:id="rId6"/>
    <p:sldLayoutId id="2147483812" r:id="rId7"/>
    <p:sldLayoutId id="2147483816" r:id="rId8"/>
    <p:sldLayoutId id="2147483817" r:id="rId9"/>
    <p:sldLayoutId id="2147483813" r:id="rId10"/>
    <p:sldLayoutId id="2147483814" r:id="rId11"/>
  </p:sldLayoutIdLst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4000" kern="1200">
          <a:solidFill>
            <a:schemeClr val="accent1"/>
          </a:solidFill>
          <a:latin typeface="+mj-lt"/>
          <a:ea typeface="ＭＳ Ｐゴシック" charset="0"/>
          <a:cs typeface="ＭＳ Ｐゴシック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4000">
          <a:solidFill>
            <a:schemeClr val="accent1"/>
          </a:solidFill>
          <a:latin typeface="Century Gothic" charset="0"/>
          <a:ea typeface="ＭＳ Ｐゴシック" charset="0"/>
          <a:cs typeface="ＭＳ Ｐゴシック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400" kern="1200">
          <a:solidFill>
            <a:schemeClr val="tx2"/>
          </a:solidFill>
          <a:latin typeface="+mn-lt"/>
          <a:ea typeface="ＭＳ Ｐゴシック" charset="0"/>
          <a:cs typeface="ＭＳ Ｐゴシック" charset="0"/>
        </a:defRPr>
      </a:lvl1pPr>
      <a:lvl2pPr marL="639763" indent="-27305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200" kern="1200">
          <a:solidFill>
            <a:schemeClr val="tx2"/>
          </a:solidFill>
          <a:latin typeface="+mn-lt"/>
          <a:ea typeface="ＭＳ Ｐゴシック" charset="0"/>
          <a:cs typeface="+mn-cs"/>
        </a:defRPr>
      </a:lvl2pPr>
      <a:lvl3pPr marL="9144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2000" kern="1200">
          <a:solidFill>
            <a:schemeClr val="tx2"/>
          </a:solidFill>
          <a:latin typeface="+mn-lt"/>
          <a:ea typeface="ＭＳ Ｐゴシック" charset="0"/>
          <a:cs typeface="+mn-cs"/>
        </a:defRPr>
      </a:lvl3pPr>
      <a:lvl4pPr marL="112395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kern="1200">
          <a:solidFill>
            <a:schemeClr val="tx2"/>
          </a:solidFill>
          <a:latin typeface="+mn-lt"/>
          <a:ea typeface="ＭＳ Ｐゴシック" charset="0"/>
          <a:cs typeface="+mn-cs"/>
        </a:defRPr>
      </a:lvl4pPr>
      <a:lvl5pPr marL="1325563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76000"/>
        <a:buFont typeface="Wingdings 2" charset="0"/>
        <a:buChar char=""/>
        <a:defRPr sz="1600" kern="1200">
          <a:solidFill>
            <a:schemeClr val="tx2"/>
          </a:solidFill>
          <a:latin typeface="+mn-lt"/>
          <a:ea typeface="ＭＳ Ｐゴシック" charset="0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mailto:dickson.tsai@berkeley.edu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Title 1"/>
          <p:cNvSpPr>
            <a:spLocks noGrp="1"/>
          </p:cNvSpPr>
          <p:nvPr>
            <p:ph type="ctrTitle"/>
          </p:nvPr>
        </p:nvSpPr>
        <p:spPr>
          <a:xfrm>
            <a:off x="4733925" y="2446338"/>
            <a:ext cx="3313113" cy="1963737"/>
          </a:xfrm>
        </p:spPr>
        <p:txBody>
          <a:bodyPr/>
          <a:lstStyle/>
          <a:p>
            <a:r>
              <a:rPr lang="en-US" dirty="0">
                <a:latin typeface="Century Gothic" charset="0"/>
              </a:rPr>
              <a:t>Welcome to CS61A </a:t>
            </a:r>
            <a:r>
              <a:rPr lang="en-US" dirty="0" smtClean="0">
                <a:latin typeface="Century Gothic" charset="0"/>
              </a:rPr>
              <a:t>Lab </a:t>
            </a:r>
            <a:r>
              <a:rPr lang="en-US" dirty="0" smtClean="0">
                <a:latin typeface="Century Gothic" charset="0"/>
              </a:rPr>
              <a:t>3 </a:t>
            </a:r>
            <a:r>
              <a:rPr lang="en-US" dirty="0" smtClean="0">
                <a:latin typeface="Century Gothic" charset="0"/>
              </a:rPr>
              <a:t>Sect. 29</a:t>
            </a:r>
            <a:r>
              <a:rPr lang="en-US" dirty="0">
                <a:latin typeface="Century Gothic" charset="0"/>
              </a:rPr>
              <a:t>/47 :D</a:t>
            </a:r>
          </a:p>
        </p:txBody>
      </p:sp>
      <p:sp>
        <p:nvSpPr>
          <p:cNvPr id="5122" name="Subtitle 2"/>
          <p:cNvSpPr>
            <a:spLocks noGrp="1"/>
          </p:cNvSpPr>
          <p:nvPr>
            <p:ph type="subTitle" idx="1"/>
          </p:nvPr>
        </p:nvSpPr>
        <p:spPr>
          <a:xfrm>
            <a:off x="4733925" y="4421188"/>
            <a:ext cx="3309938" cy="1260475"/>
          </a:xfrm>
        </p:spPr>
        <p:txBody>
          <a:bodyPr>
            <a:normAutofit lnSpcReduction="10000"/>
          </a:bodyPr>
          <a:lstStyle/>
          <a:p>
            <a:r>
              <a:rPr lang="en-US" dirty="0">
                <a:latin typeface="Century Gothic" charset="0"/>
              </a:rPr>
              <a:t>Dickson Tsai</a:t>
            </a:r>
          </a:p>
          <a:p>
            <a:r>
              <a:rPr lang="en-US" dirty="0" smtClean="0">
                <a:latin typeface="Century Gothic" charset="0"/>
                <a:hlinkClick r:id="rId2"/>
              </a:rPr>
              <a:t>dickson.tsai+cs61a@</a:t>
            </a:r>
            <a:r>
              <a:rPr lang="en-US" dirty="0">
                <a:latin typeface="Century Gothic" charset="0"/>
                <a:hlinkClick r:id="rId2"/>
              </a:rPr>
              <a:t>berkeley.edu</a:t>
            </a:r>
            <a:endParaRPr lang="en-US" dirty="0">
              <a:latin typeface="Century Gothic" charset="0"/>
            </a:endParaRPr>
          </a:p>
          <a:p>
            <a:r>
              <a:rPr lang="en-US" dirty="0">
                <a:latin typeface="Century Gothic" charset="0"/>
              </a:rPr>
              <a:t>OH: </a:t>
            </a:r>
            <a:r>
              <a:rPr lang="en-US" dirty="0" err="1">
                <a:latin typeface="Century Gothic" charset="0"/>
              </a:rPr>
              <a:t>Tu</a:t>
            </a:r>
            <a:r>
              <a:rPr lang="en-US" dirty="0">
                <a:latin typeface="Century Gothic" charset="0"/>
              </a:rPr>
              <a:t>, </a:t>
            </a:r>
            <a:r>
              <a:rPr lang="en-US" dirty="0" err="1">
                <a:latin typeface="Century Gothic" charset="0"/>
              </a:rPr>
              <a:t>Th</a:t>
            </a:r>
            <a:r>
              <a:rPr lang="en-US" dirty="0">
                <a:latin typeface="Century Gothic" charset="0"/>
              </a:rPr>
              <a:t> 4-5pm 411 Soda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 bwMode="auto">
          <a:xfrm>
            <a:off x="-282575" y="4425950"/>
            <a:ext cx="47815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57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 smtClean="0">
                <a:solidFill>
                  <a:srgbClr val="424242"/>
                </a:solidFill>
              </a:rPr>
              <a:t>Previous: </a:t>
            </a:r>
            <a:r>
              <a:rPr lang="en-US" dirty="0" smtClean="0">
                <a:solidFill>
                  <a:srgbClr val="424242"/>
                </a:solidFill>
              </a:rPr>
              <a:t>Control Flow and HOF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b="1" dirty="0">
                <a:solidFill>
                  <a:srgbClr val="424242"/>
                </a:solidFill>
              </a:rPr>
              <a:t>Today: </a:t>
            </a:r>
            <a:r>
              <a:rPr lang="en-US" b="1" dirty="0" smtClean="0">
                <a:solidFill>
                  <a:srgbClr val="424242"/>
                </a:solidFill>
              </a:rPr>
              <a:t>Lambdas and Recursion</a:t>
            </a:r>
            <a:r>
              <a:rPr lang="en-US" b="1" dirty="0" smtClean="0">
                <a:solidFill>
                  <a:srgbClr val="424242"/>
                </a:solidFill>
              </a:rPr>
              <a:t> </a:t>
            </a:r>
            <a:r>
              <a:rPr lang="en-US" b="1" dirty="0" smtClean="0">
                <a:solidFill>
                  <a:srgbClr val="424242"/>
                </a:solidFill>
              </a:rPr>
              <a:t>&gt;</a:t>
            </a:r>
            <a:r>
              <a:rPr lang="en-US" b="1" dirty="0">
                <a:solidFill>
                  <a:srgbClr val="424242"/>
                </a:solidFill>
              </a:rPr>
              <a:t>&gt;&gt;</a:t>
            </a:r>
          </a:p>
          <a:p>
            <a:pPr>
              <a:spcBef>
                <a:spcPct val="20000"/>
              </a:spcBef>
              <a:buClr>
                <a:schemeClr val="accent1"/>
              </a:buClr>
              <a:buSzPct val="76000"/>
              <a:buFont typeface="Arial" charset="0"/>
              <a:buChar char="•"/>
            </a:pPr>
            <a:r>
              <a:rPr lang="en-US" dirty="0">
                <a:solidFill>
                  <a:srgbClr val="424242"/>
                </a:solidFill>
              </a:rPr>
              <a:t>Next stop: </a:t>
            </a:r>
            <a:r>
              <a:rPr lang="en-US" dirty="0" smtClean="0">
                <a:solidFill>
                  <a:srgbClr val="424242"/>
                </a:solidFill>
              </a:rPr>
              <a:t>Midterm Post-Mortem</a:t>
            </a:r>
            <a:endParaRPr lang="en-US" dirty="0">
              <a:solidFill>
                <a:srgbClr val="424242"/>
              </a:solidFill>
            </a:endParaRPr>
          </a:p>
        </p:txBody>
      </p:sp>
      <p:sp>
        <p:nvSpPr>
          <p:cNvPr id="5124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04F7D4B-5206-4F42-A4A3-937B571AE82A}" type="slidenum">
              <a:rPr lang="en-US">
                <a:solidFill>
                  <a:schemeClr val="accent1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897467" y="739246"/>
            <a:ext cx="7365999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Section Quiz Policy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97467" y="2092854"/>
            <a:ext cx="7365999" cy="4155546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New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policy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In-class quizzes graded on effort to mark discussion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attendance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Effort = Correct your answers using a different color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Please still be prepared for discussion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.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My new e-mail: dickson.tsai+cs61a@berkeley.edu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1693027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65674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Submission Process Review</a:t>
            </a:r>
            <a:endParaRPr lang="en-US" dirty="0">
              <a:latin typeface="Century Gothic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>
              <a:solidFill>
                <a:srgbClr val="FEFEFE"/>
              </a:solidFill>
            </a:endParaRPr>
          </a:p>
        </p:txBody>
      </p:sp>
      <p:pic>
        <p:nvPicPr>
          <p:cNvPr id="4" name="Picture 3" descr="72883965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609" y="1598613"/>
            <a:ext cx="1750258" cy="1071913"/>
          </a:xfrm>
          <a:prstGeom prst="rect">
            <a:avLst/>
          </a:prstGeom>
        </p:spPr>
      </p:pic>
      <p:pic>
        <p:nvPicPr>
          <p:cNvPr id="5" name="Picture 4" descr="skd188803sd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3"/>
          <a:stretch/>
        </p:blipFill>
        <p:spPr>
          <a:xfrm>
            <a:off x="3657600" y="2423620"/>
            <a:ext cx="1484942" cy="2874360"/>
          </a:xfrm>
          <a:prstGeom prst="rect">
            <a:avLst/>
          </a:prstGeom>
        </p:spPr>
      </p:pic>
      <p:pic>
        <p:nvPicPr>
          <p:cNvPr id="8" name="Picture 7" descr="skd188803sd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3"/>
          <a:stretch/>
        </p:blipFill>
        <p:spPr>
          <a:xfrm>
            <a:off x="4400071" y="2423620"/>
            <a:ext cx="1484942" cy="2874360"/>
          </a:xfrm>
          <a:prstGeom prst="rect">
            <a:avLst/>
          </a:prstGeom>
        </p:spPr>
      </p:pic>
      <p:pic>
        <p:nvPicPr>
          <p:cNvPr id="9" name="Picture 8" descr="skd188803sdc.pn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03"/>
          <a:stretch/>
        </p:blipFill>
        <p:spPr>
          <a:xfrm>
            <a:off x="5142542" y="2423620"/>
            <a:ext cx="1484942" cy="287436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2319867" y="2959576"/>
            <a:ext cx="1168400" cy="130762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1042988" y="2959576"/>
            <a:ext cx="2614612" cy="2188157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flipV="1">
            <a:off x="6627484" y="2252133"/>
            <a:ext cx="755449" cy="189653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Smiley Face 16"/>
          <p:cNvSpPr/>
          <p:nvPr/>
        </p:nvSpPr>
        <p:spPr>
          <a:xfrm>
            <a:off x="7106920" y="775653"/>
            <a:ext cx="822960" cy="822960"/>
          </a:xfrm>
          <a:prstGeom prst="smileyFace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1981199" y="1977344"/>
            <a:ext cx="4261897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err="1" smtClean="0">
                <a:latin typeface="Consolas"/>
                <a:cs typeface="Consolas"/>
              </a:rPr>
              <a:t>ssh</a:t>
            </a:r>
            <a:r>
              <a:rPr lang="en-US" sz="1600" dirty="0" smtClean="0">
                <a:latin typeface="Consolas"/>
                <a:cs typeface="Consolas"/>
              </a:rPr>
              <a:t> cs61a-??@</a:t>
            </a:r>
            <a:r>
              <a:rPr lang="en-US" sz="1600" dirty="0" err="1" smtClean="0">
                <a:latin typeface="Consolas"/>
                <a:cs typeface="Consolas"/>
              </a:rPr>
              <a:t>cory.eecs.berkeley.edu</a:t>
            </a:r>
            <a:endParaRPr lang="en-US" sz="1600" dirty="0" smtClean="0">
              <a:latin typeface="Consolas"/>
              <a:cs typeface="Consolas"/>
            </a:endParaRPr>
          </a:p>
          <a:p>
            <a:r>
              <a:rPr lang="en-US" dirty="0" smtClean="0"/>
              <a:t>connect to remote</a:t>
            </a:r>
          </a:p>
          <a:p>
            <a:r>
              <a:rPr lang="en-US" dirty="0" smtClean="0"/>
              <a:t>terminal</a:t>
            </a:r>
            <a:endParaRPr lang="en-US" dirty="0"/>
          </a:p>
        </p:txBody>
      </p:sp>
      <p:sp>
        <p:nvSpPr>
          <p:cNvPr id="22" name="TextBox 21"/>
          <p:cNvSpPr txBox="1"/>
          <p:nvPr/>
        </p:nvSpPr>
        <p:spPr>
          <a:xfrm rot="2562708">
            <a:off x="-714476" y="4187916"/>
            <a:ext cx="60686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s</a:t>
            </a:r>
            <a:r>
              <a:rPr lang="en-US" dirty="0" err="1" smtClean="0">
                <a:latin typeface="Consolas"/>
                <a:cs typeface="Consolas"/>
              </a:rPr>
              <a:t>cp</a:t>
            </a:r>
            <a:r>
              <a:rPr lang="en-US" dirty="0" smtClean="0">
                <a:latin typeface="Consolas"/>
                <a:cs typeface="Consolas"/>
              </a:rPr>
              <a:t> ~/path/to/</a:t>
            </a:r>
            <a:r>
              <a:rPr lang="en-US" dirty="0" err="1" smtClean="0">
                <a:latin typeface="Consolas"/>
                <a:cs typeface="Consolas"/>
              </a:rPr>
              <a:t>file.py</a:t>
            </a:r>
            <a:r>
              <a:rPr lang="en-US" dirty="0" smtClean="0">
                <a:latin typeface="Consolas"/>
                <a:cs typeface="Consolas"/>
              </a:rPr>
              <a:t> </a:t>
            </a:r>
          </a:p>
          <a:p>
            <a:r>
              <a:rPr lang="en-US" dirty="0" smtClean="0">
                <a:latin typeface="Consolas"/>
                <a:cs typeface="Consolas"/>
              </a:rPr>
              <a:t>cs61a-??@</a:t>
            </a:r>
            <a:r>
              <a:rPr lang="en-US" dirty="0" err="1" smtClean="0">
                <a:latin typeface="Consolas"/>
                <a:cs typeface="Consolas"/>
              </a:rPr>
              <a:t>cory.eecs.berkeley.edu</a:t>
            </a:r>
            <a:r>
              <a:rPr lang="en-US" dirty="0" smtClean="0">
                <a:latin typeface="Consolas"/>
                <a:cs typeface="Consolas"/>
              </a:rPr>
              <a:t>:~/</a:t>
            </a:r>
            <a:r>
              <a:rPr lang="en-US" dirty="0" err="1" smtClean="0">
                <a:latin typeface="Consolas"/>
                <a:cs typeface="Consolas"/>
              </a:rPr>
              <a:t>dest</a:t>
            </a:r>
            <a:r>
              <a:rPr lang="en-US" dirty="0">
                <a:latin typeface="Consolas"/>
                <a:cs typeface="Consolas"/>
              </a:rPr>
              <a:t>/</a:t>
            </a:r>
            <a:r>
              <a:rPr lang="en-US" dirty="0" smtClean="0">
                <a:latin typeface="Consolas"/>
                <a:cs typeface="Consolas"/>
              </a:rPr>
              <a:t>folder</a:t>
            </a:r>
          </a:p>
          <a:p>
            <a:r>
              <a:rPr lang="en-US" dirty="0" smtClean="0"/>
              <a:t>Copy file to remote server</a:t>
            </a:r>
            <a:endParaRPr lang="en-US" dirty="0"/>
          </a:p>
        </p:txBody>
      </p:sp>
      <p:sp>
        <p:nvSpPr>
          <p:cNvPr id="23" name="TextBox 22"/>
          <p:cNvSpPr txBox="1"/>
          <p:nvPr/>
        </p:nvSpPr>
        <p:spPr>
          <a:xfrm>
            <a:off x="6581764" y="1850813"/>
            <a:ext cx="226759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Consolas"/>
                <a:cs typeface="Consolas"/>
              </a:rPr>
              <a:t>submit </a:t>
            </a:r>
            <a:r>
              <a:rPr lang="en-US" dirty="0" smtClean="0">
                <a:latin typeface="Consolas"/>
                <a:cs typeface="Consolas"/>
              </a:rPr>
              <a:t>lab03</a:t>
            </a:r>
            <a:endParaRPr lang="en-US" dirty="0" smtClean="0">
              <a:latin typeface="Consolas"/>
              <a:cs typeface="Consolas"/>
            </a:endParaRPr>
          </a:p>
          <a:p>
            <a:endParaRPr lang="en-US" dirty="0"/>
          </a:p>
          <a:p>
            <a:r>
              <a:rPr lang="en-US" dirty="0" smtClean="0"/>
              <a:t>Actually give your files to us!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Make sure you are in the right folder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Do not include .</a:t>
            </a:r>
            <a:r>
              <a:rPr lang="en-US" dirty="0" err="1" smtClean="0"/>
              <a:t>py</a:t>
            </a:r>
            <a:r>
              <a:rPr lang="en-US" dirty="0" smtClean="0"/>
              <a:t> ending here</a:t>
            </a:r>
          </a:p>
          <a:p>
            <a:pPr marL="285750" indent="-285750">
              <a:buFontTx/>
              <a:buChar char="-"/>
            </a:pPr>
            <a:r>
              <a:rPr lang="en-US" dirty="0" smtClean="0"/>
              <a:t>Do not submit from ~ folder</a:t>
            </a:r>
          </a:p>
          <a:p>
            <a:pPr marL="285750" indent="-285750">
              <a:buFontTx/>
              <a:buChar char="-"/>
            </a:pPr>
            <a:endParaRPr lang="en-US" dirty="0" smtClean="0"/>
          </a:p>
        </p:txBody>
      </p:sp>
      <p:sp>
        <p:nvSpPr>
          <p:cNvPr id="24" name="TextBox 23"/>
          <p:cNvSpPr txBox="1"/>
          <p:nvPr/>
        </p:nvSpPr>
        <p:spPr>
          <a:xfrm>
            <a:off x="5032364" y="5297980"/>
            <a:ext cx="30988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onsolas"/>
                <a:cs typeface="Consolas"/>
              </a:rPr>
              <a:t>c</a:t>
            </a:r>
            <a:r>
              <a:rPr lang="en-US" dirty="0" err="1" smtClean="0">
                <a:latin typeface="Consolas"/>
                <a:cs typeface="Consolas"/>
              </a:rPr>
              <a:t>ory</a:t>
            </a:r>
            <a:r>
              <a:rPr lang="en-US" dirty="0" smtClean="0">
                <a:latin typeface="Consolas"/>
                <a:cs typeface="Consolas"/>
              </a:rPr>
              <a:t>[2] ~ #</a:t>
            </a:r>
          </a:p>
          <a:p>
            <a:r>
              <a:rPr lang="en-US" dirty="0" smtClean="0"/>
              <a:t>Your prompt should now say that you are in Berkeley’s server! UNIX is used here!!!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20490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Century Gothic" charset="0"/>
              </a:rPr>
              <a:t>Anuncios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324100"/>
            <a:ext cx="8128000" cy="400896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Project 1 due 11:59 PM 9/17 (Wed) for 1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extra credit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Due 11:59PM 9/18 (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Thr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) for normal credit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Midterm 1 next Monday 9/22.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Practice problems until you have strong + correct intuition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Reminder: My OH are Tuesdays, Thursdays 4-5 PM</a:t>
            </a:r>
            <a:r>
              <a:rPr lang="en-US" dirty="0">
                <a:solidFill>
                  <a:srgbClr val="4A6300"/>
                </a:solidFill>
                <a:latin typeface="Avenir Book" charset="0"/>
                <a:cs typeface="Avenir Book" charset="0"/>
              </a:rPr>
              <a:t>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Soda 411</a:t>
            </a:r>
          </a:p>
          <a:p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>
              <a:solidFill>
                <a:srgbClr val="FEFEFE"/>
              </a:solidFill>
            </a:endParaRP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Tip of the Day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Iterative Improvement!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Do little by little so you won’t be overwhelmed by the end of the week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The down time between classes/at meals is a great time to sneak in an </a:t>
            </a:r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env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 diagram or implementation of factorial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Try the easiest problems first. E.g. do the play function in Hog after enough experience with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simple iteration Qs.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The more you do, the faster you’ll be at them, and the less tedious they become. </a:t>
            </a:r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2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E.g.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first learning the bicycle</a:t>
            </a:r>
          </a:p>
          <a:p>
            <a:pPr lvl="3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Start slow. Do not bike up the hill next to Soda. Somewhere flat.</a:t>
            </a:r>
          </a:p>
          <a:p>
            <a:pPr lvl="3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Get more comfortable w/ practice</a:t>
            </a:r>
          </a:p>
          <a:p>
            <a:pPr lvl="3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Now you can go to far-away places and enjoy the sights! 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lvl="1"/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354739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Directions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Access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the lab at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cs61a.org</a:t>
            </a:r>
          </a:p>
          <a:p>
            <a:pPr marL="527050" indent="-457200">
              <a:buFont typeface="+mj-lt"/>
              <a:buAutoNum type="arabicPeriod"/>
            </a:pP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Type the WWPP question into your interpreter. Now try to explain its behavior to your neighbor. You guys can also work on drawing an </a:t>
            </a:r>
            <a:r>
              <a:rPr lang="en-US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env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diagram together.</a:t>
            </a:r>
            <a:endParaRPr lang="en-US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u="sng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Must submit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: Q3,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Q4, Q6, Q8 </a:t>
            </a:r>
            <a:r>
              <a:rPr lang="en-US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in </a:t>
            </a:r>
            <a:r>
              <a:rPr lang="en-US" dirty="0" smtClean="0">
                <a:solidFill>
                  <a:srgbClr val="4A6300"/>
                </a:solidFill>
                <a:latin typeface="Consolas"/>
                <a:cs typeface="Consolas"/>
              </a:rPr>
              <a:t>lab03.py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  <a:p>
            <a:pPr marL="69850" indent="0">
              <a:buNone/>
            </a:pP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622648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1042988" y="455613"/>
            <a:ext cx="7024687" cy="1143000"/>
          </a:xfrm>
        </p:spPr>
        <p:txBody>
          <a:bodyPr/>
          <a:lstStyle/>
          <a:p>
            <a:r>
              <a:rPr lang="en-US" dirty="0" smtClean="0">
                <a:latin typeface="Century Gothic" charset="0"/>
              </a:rPr>
              <a:t>To get to my website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598613"/>
            <a:ext cx="8314267" cy="4903787"/>
          </a:xfrm>
        </p:spPr>
        <p:txBody>
          <a:bodyPr/>
          <a:lstStyle/>
          <a:p>
            <a:r>
              <a:rPr lang="en-US" dirty="0" err="1" smtClean="0">
                <a:solidFill>
                  <a:srgbClr val="4A6300"/>
                </a:solidFill>
                <a:latin typeface="Avenir Book"/>
                <a:cs typeface="Avenir Book"/>
              </a:rPr>
              <a:t>dicksontsai.com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/cs61a</a:t>
            </a: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OR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Go to cs61a.org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Click the “Staff” link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Click my name</a:t>
            </a:r>
          </a:p>
          <a:p>
            <a:pPr lvl="1"/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Go to Discussion for discussion materials</a:t>
            </a:r>
          </a:p>
          <a:p>
            <a:pPr lvl="1"/>
            <a:endParaRPr lang="en-US" dirty="0">
              <a:solidFill>
                <a:srgbClr val="4A6300"/>
              </a:solidFill>
              <a:latin typeface="Avenir Book"/>
              <a:cs typeface="Avenir Book"/>
            </a:endParaRPr>
          </a:p>
          <a:p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You will find my slides to discussion/lab. They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will be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different, because I add more content along the </a:t>
            </a:r>
            <a:r>
              <a:rPr lang="en-US" dirty="0" smtClean="0">
                <a:solidFill>
                  <a:srgbClr val="4A6300"/>
                </a:solidFill>
                <a:latin typeface="Avenir Book"/>
                <a:cs typeface="Avenir Book"/>
              </a:rPr>
              <a:t>day based on student feedback. </a:t>
            </a:r>
            <a:endParaRPr lang="en-US" dirty="0" smtClean="0">
              <a:solidFill>
                <a:srgbClr val="4A6300"/>
              </a:solidFill>
              <a:latin typeface="Avenir Book"/>
              <a:cs typeface="Avenir Book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878644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Conceptual Questions (Friday 9</a:t>
            </a:r>
            <a:r>
              <a:rPr lang="en-US" dirty="0" smtClean="0">
                <a:latin typeface="Century Gothic" charset="0"/>
              </a:rPr>
              <a:t>/12 </a:t>
            </a:r>
            <a:r>
              <a:rPr lang="en-US" dirty="0" smtClean="0">
                <a:latin typeface="Century Gothic" charset="0"/>
              </a:rPr>
              <a:t>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Notice that improve is a solution to an iteration problem. Try applying the iteration questions 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to it and see how the answers play out in the code: What to repeat? What to keep track of? Which value to start/stop with for each </a:t>
            </a:r>
            <a:r>
              <a:rPr lang="en-US" sz="20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var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? What to do w/ results?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is the domain/range/behavior of the improve function?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If I wanted to find a zero of 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  <a:sym typeface="Wingdings"/>
              </a:rPr>
              <a:t>x</a:t>
            </a:r>
            <a:r>
              <a:rPr lang="en-US" sz="2000" baseline="30000" dirty="0" smtClean="0">
                <a:solidFill>
                  <a:srgbClr val="4A6300"/>
                </a:solidFill>
                <a:latin typeface="Consolas"/>
                <a:cs typeface="Consolas"/>
                <a:sym typeface="Wingdings"/>
              </a:rPr>
              <a:t>2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  <a:sym typeface="Wingdings"/>
              </a:rPr>
              <a:t> + 2x + 1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, how will I do it with the code presented in lecture?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How would you represent the mathematical function </a:t>
            </a:r>
            <a:r>
              <a:rPr lang="en-US" sz="1800" dirty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f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(x) = 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  <a:sym typeface="Wingdings"/>
              </a:rPr>
              <a:t>x</a:t>
            </a:r>
            <a:r>
              <a:rPr lang="en-US" sz="1800" baseline="30000" dirty="0" smtClean="0">
                <a:solidFill>
                  <a:srgbClr val="4A6300"/>
                </a:solidFill>
                <a:latin typeface="Consolas"/>
                <a:cs typeface="Consolas"/>
                <a:sym typeface="Wingdings"/>
              </a:rPr>
              <a:t>2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  <a:sym typeface="Wingdings"/>
              </a:rPr>
              <a:t> </a:t>
            </a:r>
            <a:r>
              <a:rPr lang="en-US" sz="1800" dirty="0">
                <a:solidFill>
                  <a:srgbClr val="4A6300"/>
                </a:solidFill>
                <a:latin typeface="Consolas"/>
                <a:cs typeface="Consolas"/>
                <a:sym typeface="Wingdings"/>
              </a:rPr>
              <a:t>+ 2x + </a:t>
            </a:r>
            <a:r>
              <a:rPr lang="en-US" sz="1800" dirty="0" smtClean="0">
                <a:solidFill>
                  <a:srgbClr val="4A6300"/>
                </a:solidFill>
                <a:latin typeface="Consolas"/>
                <a:cs typeface="Consolas"/>
                <a:sym typeface="Wingdings"/>
              </a:rPr>
              <a:t>1 </a:t>
            </a: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in Python?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What is the inverse function of </a:t>
            </a:r>
            <a:r>
              <a:rPr lang="en-US" sz="2000" dirty="0" smtClean="0">
                <a:solidFill>
                  <a:srgbClr val="4A6300"/>
                </a:solidFill>
                <a:latin typeface="Consolas"/>
                <a:cs typeface="Consolas"/>
                <a:sym typeface="Wingdings"/>
              </a:rPr>
              <a:t>f(x) = x</a:t>
            </a:r>
            <a:r>
              <a:rPr lang="en-US" sz="2000" baseline="30000" dirty="0" smtClean="0">
                <a:solidFill>
                  <a:srgbClr val="4A6300"/>
                </a:solidFill>
                <a:latin typeface="Consolas"/>
                <a:cs typeface="Consolas"/>
                <a:sym typeface="Wingdings"/>
              </a:rPr>
              <a:t>2</a:t>
            </a: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? How do I define it with Newton’s Method? 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2000" dirty="0" smtClean="0">
                <a:solidFill>
                  <a:srgbClr val="4A6300"/>
                </a:solidFill>
                <a:latin typeface="Avenir Book" charset="0"/>
                <a:cs typeface="Avenir Book" charset="0"/>
                <a:sym typeface="Wingdings"/>
              </a:rPr>
              <a:t>Same question worded differently: What is the purpose of Newton’s Method? What is it used for? What is its behavior?</a:t>
            </a:r>
            <a:endParaRPr lang="en-US" sz="2000" dirty="0" smtClean="0">
              <a:solidFill>
                <a:srgbClr val="4A6300"/>
              </a:solidFill>
              <a:latin typeface="Avenir Book" charset="0"/>
              <a:cs typeface="Avenir Book" charset="0"/>
              <a:sym typeface="Wingdings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9860561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Title 1"/>
          <p:cNvSpPr>
            <a:spLocks noGrp="1"/>
          </p:cNvSpPr>
          <p:nvPr>
            <p:ph type="title"/>
          </p:nvPr>
        </p:nvSpPr>
        <p:spPr>
          <a:xfrm>
            <a:off x="474133" y="1027113"/>
            <a:ext cx="8263466" cy="1143000"/>
          </a:xfrm>
        </p:spPr>
        <p:txBody>
          <a:bodyPr/>
          <a:lstStyle/>
          <a:p>
            <a:pPr algn="ctr"/>
            <a:r>
              <a:rPr lang="en-US" dirty="0" smtClean="0">
                <a:latin typeface="Century Gothic" charset="0"/>
              </a:rPr>
              <a:t>Optional Conceptual Questions (Monday 9</a:t>
            </a:r>
            <a:r>
              <a:rPr lang="en-US" dirty="0" smtClean="0">
                <a:latin typeface="Century Gothic" charset="0"/>
              </a:rPr>
              <a:t>/15 </a:t>
            </a:r>
            <a:r>
              <a:rPr lang="en-US" dirty="0" smtClean="0">
                <a:latin typeface="Century Gothic" charset="0"/>
              </a:rPr>
              <a:t>lecture)</a:t>
            </a:r>
            <a:endParaRPr lang="en-US" dirty="0">
              <a:latin typeface="Century Gothic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132" y="2324100"/>
            <a:ext cx="8263467" cy="4195233"/>
          </a:xfrm>
        </p:spPr>
        <p:txBody>
          <a:bodyPr/>
          <a:lstStyle/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are the components of a recursive function?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should base cases be checked?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Why should base cases not be evaluated with recursive calls?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Iteration is a special case of recursion. Presumably, we can use the same questions from iteration on recursion problems. Try it on factorial.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computation do we want to repeat?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variables do we have to keep track of?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What values do the </a:t>
            </a:r>
            <a:r>
              <a:rPr lang="en-US" sz="1600" dirty="0" err="1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vars</a:t>
            </a: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 start with? </a:t>
            </a:r>
          </a:p>
          <a:p>
            <a:pPr marL="823913" lvl="1" indent="-457200">
              <a:buFont typeface="+mj-lt"/>
              <a:buAutoNum type="arabicPeriod"/>
            </a:pPr>
            <a:r>
              <a:rPr lang="en-US" sz="16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When should the computation end? What do we do with resulting values?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How does the environment diagram of recursive factorial compare to iterative factorial? How do both functions keep track of their current state?</a:t>
            </a:r>
          </a:p>
          <a:p>
            <a:pPr marL="527050" indent="-457200">
              <a:buFont typeface="+mj-lt"/>
              <a:buAutoNum type="arabicPeriod"/>
            </a:pPr>
            <a:r>
              <a:rPr lang="en-US" sz="1800" dirty="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Why is iteration a special case of recursion? What is either </a:t>
            </a:r>
            <a:r>
              <a:rPr lang="en-US" sz="1800" smtClean="0">
                <a:solidFill>
                  <a:srgbClr val="4A6300"/>
                </a:solidFill>
                <a:latin typeface="Avenir Book" charset="0"/>
                <a:cs typeface="Avenir Book" charset="0"/>
              </a:rPr>
              <a:t>good for?</a:t>
            </a:r>
            <a:endParaRPr lang="en-US" sz="1800" dirty="0" smtClean="0">
              <a:solidFill>
                <a:srgbClr val="4A6300"/>
              </a:solidFill>
              <a:latin typeface="Avenir Book" charset="0"/>
              <a:cs typeface="Avenir Book" charset="0"/>
            </a:endParaRPr>
          </a:p>
        </p:txBody>
      </p:sp>
      <p:sp>
        <p:nvSpPr>
          <p:cNvPr id="6147" name="Slide Number Placeholder 4"/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  <a:cs typeface="ＭＳ Ｐゴシック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charset="0"/>
                <a:ea typeface="ＭＳ Ｐゴシック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9B6F7E0B-2963-1842-872C-CA99E62BCD77}" type="slidenum">
              <a:rPr lang="en-US">
                <a:solidFill>
                  <a:srgbClr val="FEFEFE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>
              <a:solidFill>
                <a:srgbClr val="FEFEF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012343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iscussion0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微软雅黑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discussion0.ppt</Template>
  <TotalTime>5166</TotalTime>
  <Words>818</Words>
  <Application>Microsoft Macintosh PowerPoint</Application>
  <PresentationFormat>On-screen Show (4:3)</PresentationFormat>
  <Paragraphs>92</Paragraphs>
  <Slides>9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discussion0</vt:lpstr>
      <vt:lpstr>Welcome to CS61A Lab 3 Sect. 29/47 :D</vt:lpstr>
      <vt:lpstr>Section Quiz Policy</vt:lpstr>
      <vt:lpstr>Submission Process Review</vt:lpstr>
      <vt:lpstr>Anuncios</vt:lpstr>
      <vt:lpstr>Tip of the Day</vt:lpstr>
      <vt:lpstr>Directions</vt:lpstr>
      <vt:lpstr>To get to my website</vt:lpstr>
      <vt:lpstr>Optional Conceptual Questions (Friday 9/12 lecture)</vt:lpstr>
      <vt:lpstr>Optional Conceptual Questions (Monday 9/15 lecture)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CS61A Section 47 :D</dc:title>
  <dc:creator>Dickson Tsai</dc:creator>
  <cp:lastModifiedBy>Dickson Tsai</cp:lastModifiedBy>
  <cp:revision>61</cp:revision>
  <dcterms:created xsi:type="dcterms:W3CDTF">2014-08-28T16:21:02Z</dcterms:created>
  <dcterms:modified xsi:type="dcterms:W3CDTF">2014-09-15T23:36:13Z</dcterms:modified>
</cp:coreProperties>
</file>