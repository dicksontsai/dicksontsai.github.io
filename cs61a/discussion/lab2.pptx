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8" r:id="rId3"/>
    <p:sldId id="261" r:id="rId4"/>
    <p:sldId id="257" r:id="rId5"/>
    <p:sldId id="263" r:id="rId6"/>
    <p:sldId id="260" r:id="rId7"/>
    <p:sldId id="266" r:id="rId8"/>
    <p:sldId id="264" r:id="rId9"/>
    <p:sldId id="262" r:id="rId10"/>
    <p:sldId id="259" r:id="rId11"/>
    <p:sldId id="267" r:id="rId12"/>
    <p:sldId id="265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9" d="100"/>
          <a:sy n="99" d="100"/>
        </p:scale>
        <p:origin x="-80" y="3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printerSettings" Target="printerSettings/printerSettings1.bin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D6FA6C3-894D-9342-858C-89781436E0BA}" type="datetimeFigureOut">
              <a:rPr lang="en-US"/>
              <a:pPr>
                <a:defRPr/>
              </a:pPr>
              <a:t>9/8/14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C915EBA-7225-EA45-954F-AB711B4338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512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F11027A8-00FB-C24C-8EBA-1EDF84C5EE30}" type="datetimeFigureOut">
              <a:rPr lang="en-US"/>
              <a:pPr>
                <a:defRPr/>
              </a:pPr>
              <a:t>9/8/14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 noProof="0" smtClean="0"/>
              <a:t>Click to edit Master text styles</a:t>
            </a:r>
          </a:p>
          <a:p>
            <a:pPr lvl="1"/>
            <a:r>
              <a:rPr lang="x-none" noProof="0" smtClean="0"/>
              <a:t>Second level</a:t>
            </a:r>
          </a:p>
          <a:p>
            <a:pPr lvl="2"/>
            <a:r>
              <a:rPr lang="x-none" noProof="0" smtClean="0"/>
              <a:t>Third level</a:t>
            </a:r>
          </a:p>
          <a:p>
            <a:pPr lvl="3"/>
            <a:r>
              <a:rPr lang="x-none" noProof="0" smtClean="0"/>
              <a:t>Fourth level</a:t>
            </a:r>
          </a:p>
          <a:p>
            <a:pPr lvl="4"/>
            <a:r>
              <a:rPr lang="x-none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EB6E1B7-B6E5-514A-9283-C0DC69B17F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435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5" name="Group 44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8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0" name="Rectangle 39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1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2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29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7" name="Rectangle 36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8" name="Rectangle 37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4" name="Rectangle 33"/>
                <p:cNvSpPr/>
                <p:nvPr/>
              </p:nvSpPr>
              <p:spPr>
                <a:xfrm>
                  <a:off x="916372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5" name="Rectangle 34"/>
                <p:cNvSpPr/>
                <p:nvPr/>
              </p:nvSpPr>
              <p:spPr>
                <a:xfrm>
                  <a:off x="2032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230617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31" name="Rectangle 30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6" name="Freeform 5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Hexagon 10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Hexagon 16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Freeform 25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3" name="Rectangle 42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4649788" y="-22225"/>
            <a:ext cx="3505200" cy="23129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 dirty="0"/>
          </a:p>
        </p:txBody>
      </p:sp>
      <p:sp>
        <p:nvSpPr>
          <p:cNvPr id="47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688" y="1516063"/>
            <a:ext cx="2133600" cy="752475"/>
          </a:xfrm>
        </p:spPr>
        <p:txBody>
          <a:bodyPr anchor="b"/>
          <a:lstStyle>
            <a:lvl1pPr algn="l">
              <a:defRPr sz="2400" smtClean="0"/>
            </a:lvl1pPr>
          </a:lstStyle>
          <a:p>
            <a:pPr>
              <a:defRPr/>
            </a:pPr>
            <a:fld id="{6655137A-6FB0-1C4E-94C3-267D0A594E98}" type="datetime4">
              <a:rPr lang="en-US"/>
              <a:pPr>
                <a:defRPr/>
              </a:pPr>
              <a:t>September 8, 2014</a:t>
            </a:fld>
            <a:endParaRPr lang="en-US" dirty="0"/>
          </a:p>
        </p:txBody>
      </p:sp>
      <p:sp>
        <p:nvSpPr>
          <p:cNvPr id="4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838" y="5719763"/>
            <a:ext cx="2830512" cy="365125"/>
          </a:xfrm>
        </p:spPr>
        <p:txBody>
          <a:bodyPr>
            <a:normAutofit/>
          </a:bodyPr>
          <a:lstStyle>
            <a:lvl1pPr>
              <a:defRPr dirty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788" y="5719763"/>
            <a:ext cx="642937" cy="365125"/>
          </a:xfrm>
        </p:spPr>
        <p:txBody>
          <a:bodyPr/>
          <a:lstStyle>
            <a:lvl1pPr>
              <a:defRPr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C8AB3673-7F39-5843-8E75-30B1437A0E6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629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F16100-0000-9F4B-9427-59A4B6C5F6E8}" type="datetime4">
              <a:rPr lang="en-US"/>
              <a:pPr>
                <a:defRPr/>
              </a:pPr>
              <a:t>September 8,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115C37-9862-4A4D-8ED0-DA94B4E9ED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70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/>
          <a:lstStyle>
            <a:lvl1pPr algn="l">
              <a:defRPr sz="4000" b="0" cap="none" baseline="0"/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E6BC0-9B5A-E141-AC34-D53ED23DCC8B}" type="datetime4">
              <a:rPr lang="en-US"/>
              <a:pPr>
                <a:defRPr/>
              </a:pPr>
              <a:t>September 8,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F6B77E-877A-634E-8367-933DCBBB0C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80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4F12F-EAF1-5D4C-880F-775AA42497DD}" type="datetime4">
              <a:rPr lang="en-US"/>
              <a:pPr>
                <a:defRPr/>
              </a:pPr>
              <a:t>September 8, 2014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934F99-59E1-674F-B576-6D449172EE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960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CA0580-2F88-7044-9CC5-C84EE5CA0F77}" type="datetime4">
              <a:rPr lang="en-US"/>
              <a:pPr>
                <a:defRPr/>
              </a:pPr>
              <a:t>September 8, 2014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650751-79D9-1344-AD3D-FA20E34824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893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A403FB-6F30-AC4D-8EDB-8F62E14D9E80}" type="datetime4">
              <a:rPr lang="en-US"/>
              <a:pPr>
                <a:defRPr/>
              </a:pPr>
              <a:t>September 8, 2014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8FC7C-C76F-7B4C-A7EE-E50F653139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245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8429B-D636-EC4D-85FC-9BD3CD488279}" type="datetime4">
              <a:rPr lang="en-US"/>
              <a:pPr>
                <a:defRPr/>
              </a:pPr>
              <a:t>September 8, 2014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5C0BBE-D4FC-4844-8BE2-FB25DC1A1A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995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6" name="Group 61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9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1" name="Rectangle 40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2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3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8" name="Rectangle 37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1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5" name="Rectangle 34"/>
                <p:cNvSpPr/>
                <p:nvPr/>
              </p:nvSpPr>
              <p:spPr>
                <a:xfrm>
                  <a:off x="916372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2032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230617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32" name="Rectangle 31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7" name="Freeform 6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Hexagon 15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Hexagon 25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4" name="Rectangle 43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904875" y="601663"/>
            <a:ext cx="3562350" cy="56483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>
            <a:normAutofit/>
          </a:bodyPr>
          <a:lstStyle>
            <a:lvl1pPr algn="l">
              <a:defRPr sz="2800" b="0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FDE1A-A3B7-4942-8E99-F13B05783BF1}" type="datetime4">
              <a:rPr lang="en-US"/>
              <a:pPr>
                <a:defRPr/>
              </a:pPr>
              <a:t>September 8, 2014</a:t>
            </a:fld>
            <a:endParaRPr lang="en-US"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198C8-ACE9-D74A-862F-4CCA0EB14A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0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4641850" y="5724525"/>
            <a:ext cx="3492500" cy="365125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56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6" name="Group 61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9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1" name="Rectangle 40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2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3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8" name="Rectangle 37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1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5" name="Rectangle 34"/>
                <p:cNvSpPr/>
                <p:nvPr/>
              </p:nvSpPr>
              <p:spPr>
                <a:xfrm>
                  <a:off x="916372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2032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230617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32" name="Rectangle 31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7" name="Freeform 6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Hexagon 15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Hexagon 25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4" name="Rectangle 43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904875" y="601663"/>
            <a:ext cx="3562350" cy="564832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>
            <a:normAutofit/>
          </a:bodyPr>
          <a:lstStyle>
            <a:lvl1pPr algn="l">
              <a:defRPr sz="2800" b="0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 rtlCol="0">
            <a:norm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DDEC9-34B2-2B47-8562-0DB2DDF36A93}" type="datetime4">
              <a:rPr lang="en-US"/>
              <a:pPr>
                <a:defRPr/>
              </a:pPr>
              <a:t>September 8, 2014</a:t>
            </a:fld>
            <a:endParaRPr lang="en-US"/>
          </a:p>
        </p:txBody>
      </p:sp>
      <p:sp>
        <p:nvSpPr>
          <p:cNvPr id="4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850" y="5724525"/>
            <a:ext cx="3492500" cy="365125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54C8CE-B679-E249-8A21-F0C3828050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312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753F03-5748-284E-8EA1-FA16176281C4}" type="datetime4">
              <a:rPr lang="en-US"/>
              <a:pPr>
                <a:defRPr/>
              </a:pPr>
              <a:t>September 8,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80443-B5BA-1441-A0F5-E0E8C82EE8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67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6883A8-6536-C340-9C9B-990BB2391E14}" type="datetime4">
              <a:rPr lang="en-US"/>
              <a:pPr>
                <a:defRPr/>
              </a:pPr>
              <a:t>September 8,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6EAA6B-3350-4147-9EAD-27A9D5A683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39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1"/>
          <p:cNvGrpSpPr>
            <a:grpSpLocks/>
          </p:cNvGrpSpPr>
          <p:nvPr/>
        </p:nvGrpSpPr>
        <p:grpSpPr bwMode="auto">
          <a:xfrm>
            <a:off x="-304800" y="0"/>
            <a:ext cx="9932988" cy="6858000"/>
            <a:chOff x="-382404" y="0"/>
            <a:chExt cx="9932332" cy="6858000"/>
          </a:xfrm>
        </p:grpSpPr>
        <p:grpSp>
          <p:nvGrpSpPr>
            <p:cNvPr id="1035" name="Group 44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58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1059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1060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6373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2033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30618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2540" y="5035550"/>
              <a:ext cx="9144983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2540" y="3467100"/>
              <a:ext cx="9144983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2540" y="5284788"/>
              <a:ext cx="9144983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6793" y="5132388"/>
              <a:ext cx="6982951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5573" y="28590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19425" y="41259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8949" y="15922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6524" y="32543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2326" y="53832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3969" y="54022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542" y="28495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394" y="41259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09771" y="54117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8820" y="28590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443" y="15636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997" y="4056063"/>
              <a:ext cx="1242931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997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375"/>
            <a:ext cx="8229600" cy="61864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0888" y="-22225"/>
            <a:ext cx="3679825" cy="700088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30" name="Title Placeholder 1"/>
          <p:cNvSpPr>
            <a:spLocks noGrp="1"/>
          </p:cNvSpPr>
          <p:nvPr>
            <p:ph type="title"/>
          </p:nvPr>
        </p:nvSpPr>
        <p:spPr bwMode="auto">
          <a:xfrm>
            <a:off x="1042988" y="1027113"/>
            <a:ext cx="70246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42988" y="2324100"/>
            <a:ext cx="6777037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EFEFE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3356F25-E6A9-6B44-B749-785EDDA8CCD6}" type="datetime4">
              <a:rPr lang="en-US"/>
              <a:pPr>
                <a:defRPr/>
              </a:pPr>
              <a:t>September 8,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EFEFE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258D96C5-9F30-DE44-9E70-A9B1977192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6" r:id="rId8"/>
    <p:sldLayoutId id="2147483817" r:id="rId9"/>
    <p:sldLayoutId id="2147483813" r:id="rId10"/>
    <p:sldLayoutId id="2147483814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kern="1200">
          <a:solidFill>
            <a:schemeClr val="accent1"/>
          </a:solidFill>
          <a:latin typeface="+mj-lt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30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2400" kern="1200">
          <a:solidFill>
            <a:schemeClr val="tx2"/>
          </a:solidFill>
          <a:latin typeface="+mn-lt"/>
          <a:ea typeface="ＭＳ Ｐゴシック" charset="0"/>
          <a:cs typeface="ＭＳ Ｐゴシック" charset="0"/>
        </a:defRPr>
      </a:lvl1pPr>
      <a:lvl2pPr marL="639763" indent="-2730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2200" kern="1200">
          <a:solidFill>
            <a:schemeClr val="tx2"/>
          </a:solidFill>
          <a:latin typeface="+mn-lt"/>
          <a:ea typeface="ＭＳ Ｐゴシック" charset="0"/>
          <a:cs typeface="+mn-cs"/>
        </a:defRPr>
      </a:lvl2pPr>
      <a:lvl3pPr marL="914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2000" kern="1200">
          <a:solidFill>
            <a:schemeClr val="tx2"/>
          </a:solidFill>
          <a:latin typeface="+mn-lt"/>
          <a:ea typeface="ＭＳ Ｐゴシック" charset="0"/>
          <a:cs typeface="+mn-cs"/>
        </a:defRPr>
      </a:lvl3pPr>
      <a:lvl4pPr marL="112395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kern="1200">
          <a:solidFill>
            <a:schemeClr val="tx2"/>
          </a:solidFill>
          <a:latin typeface="+mn-lt"/>
          <a:ea typeface="ＭＳ Ｐゴシック" charset="0"/>
          <a:cs typeface="+mn-cs"/>
        </a:defRPr>
      </a:lvl4pPr>
      <a:lvl5pPr marL="1325563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1600" kern="1200">
          <a:solidFill>
            <a:schemeClr val="tx2"/>
          </a:solidFill>
          <a:latin typeface="+mn-lt"/>
          <a:ea typeface="ＭＳ Ｐゴシック" charset="0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dickson.tsai@berkeley.ed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://en.wikipedia.org/wiki/River%23mediaviewer/File:Loboc_river.png" TargetMode="External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www.pythontutor.com/visualize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4" Type="http://schemas.openxmlformats.org/officeDocument/2006/relationships/hyperlink" Target="http://simple.wikipedia.org/wiki/Lotus_Cars%23mediaviewer/File:Final_assembly.jpg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itle 1"/>
          <p:cNvSpPr>
            <a:spLocks noGrp="1"/>
          </p:cNvSpPr>
          <p:nvPr>
            <p:ph type="ctrTitle"/>
          </p:nvPr>
        </p:nvSpPr>
        <p:spPr>
          <a:xfrm>
            <a:off x="4733925" y="2446338"/>
            <a:ext cx="3313113" cy="1963737"/>
          </a:xfrm>
        </p:spPr>
        <p:txBody>
          <a:bodyPr/>
          <a:lstStyle/>
          <a:p>
            <a:r>
              <a:rPr lang="en-US" dirty="0">
                <a:latin typeface="Century Gothic" charset="0"/>
              </a:rPr>
              <a:t>Welcome to CS61A </a:t>
            </a:r>
            <a:r>
              <a:rPr lang="en-US" dirty="0" smtClean="0">
                <a:latin typeface="Century Gothic" charset="0"/>
              </a:rPr>
              <a:t>Lab </a:t>
            </a:r>
            <a:r>
              <a:rPr lang="en-US" dirty="0" smtClean="0">
                <a:latin typeface="Century Gothic" charset="0"/>
              </a:rPr>
              <a:t>2 </a:t>
            </a:r>
            <a:r>
              <a:rPr lang="en-US" dirty="0" smtClean="0">
                <a:latin typeface="Century Gothic" charset="0"/>
              </a:rPr>
              <a:t>Sect. 29</a:t>
            </a:r>
            <a:r>
              <a:rPr lang="en-US" dirty="0">
                <a:latin typeface="Century Gothic" charset="0"/>
              </a:rPr>
              <a:t>/47 :D</a:t>
            </a:r>
          </a:p>
        </p:txBody>
      </p:sp>
      <p:sp>
        <p:nvSpPr>
          <p:cNvPr id="5122" name="Subtitle 2"/>
          <p:cNvSpPr>
            <a:spLocks noGrp="1"/>
          </p:cNvSpPr>
          <p:nvPr>
            <p:ph type="subTitle" idx="1"/>
          </p:nvPr>
        </p:nvSpPr>
        <p:spPr>
          <a:xfrm>
            <a:off x="4733925" y="4421188"/>
            <a:ext cx="3309938" cy="1260475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Century Gothic" charset="0"/>
              </a:rPr>
              <a:t>Dickson Tsai</a:t>
            </a:r>
          </a:p>
          <a:p>
            <a:r>
              <a:rPr lang="en-US" dirty="0" smtClean="0">
                <a:latin typeface="Century Gothic" charset="0"/>
                <a:hlinkClick r:id="rId2"/>
              </a:rPr>
              <a:t>dickson.tsai+cs61a@</a:t>
            </a:r>
            <a:r>
              <a:rPr lang="en-US" dirty="0">
                <a:latin typeface="Century Gothic" charset="0"/>
                <a:hlinkClick r:id="rId2"/>
              </a:rPr>
              <a:t>berkeley.edu</a:t>
            </a:r>
            <a:endParaRPr lang="en-US" dirty="0">
              <a:latin typeface="Century Gothic" charset="0"/>
            </a:endParaRPr>
          </a:p>
          <a:p>
            <a:r>
              <a:rPr lang="en-US" dirty="0">
                <a:latin typeface="Century Gothic" charset="0"/>
              </a:rPr>
              <a:t>OH: </a:t>
            </a:r>
            <a:r>
              <a:rPr lang="en-US" dirty="0" err="1">
                <a:latin typeface="Century Gothic" charset="0"/>
              </a:rPr>
              <a:t>Tu</a:t>
            </a:r>
            <a:r>
              <a:rPr lang="en-US" dirty="0">
                <a:latin typeface="Century Gothic" charset="0"/>
              </a:rPr>
              <a:t>, </a:t>
            </a:r>
            <a:r>
              <a:rPr lang="en-US" dirty="0" err="1">
                <a:latin typeface="Century Gothic" charset="0"/>
              </a:rPr>
              <a:t>Th</a:t>
            </a:r>
            <a:r>
              <a:rPr lang="en-US" dirty="0">
                <a:latin typeface="Century Gothic" charset="0"/>
              </a:rPr>
              <a:t> 4-5pm 411 Soda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 bwMode="auto">
          <a:xfrm>
            <a:off x="-282575" y="4425950"/>
            <a:ext cx="4781550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Arial" charset="0"/>
              <a:buChar char="•"/>
            </a:pPr>
            <a:r>
              <a:rPr lang="en-US" dirty="0" smtClean="0">
                <a:solidFill>
                  <a:srgbClr val="424242"/>
                </a:solidFill>
              </a:rPr>
              <a:t>Previous: </a:t>
            </a:r>
            <a:r>
              <a:rPr lang="en-US" dirty="0" smtClean="0">
                <a:solidFill>
                  <a:srgbClr val="424242"/>
                </a:solidFill>
              </a:rPr>
              <a:t>Your Own Machine </a:t>
            </a:r>
            <a:r>
              <a:rPr lang="en-US" b="1" dirty="0" smtClean="0">
                <a:solidFill>
                  <a:srgbClr val="424242"/>
                </a:solidFill>
              </a:rPr>
              <a:t>&gt;</a:t>
            </a:r>
            <a:r>
              <a:rPr lang="en-US" b="1" dirty="0">
                <a:solidFill>
                  <a:srgbClr val="424242"/>
                </a:solidFill>
              </a:rPr>
              <a:t>&gt;&gt;</a:t>
            </a:r>
          </a:p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Arial" charset="0"/>
              <a:buChar char="•"/>
            </a:pPr>
            <a:r>
              <a:rPr lang="en-US" b="1" dirty="0">
                <a:solidFill>
                  <a:srgbClr val="424242"/>
                </a:solidFill>
              </a:rPr>
              <a:t>Today: </a:t>
            </a:r>
            <a:r>
              <a:rPr lang="en-US" b="1" dirty="0" smtClean="0">
                <a:solidFill>
                  <a:srgbClr val="424242"/>
                </a:solidFill>
              </a:rPr>
              <a:t>Control Flow and HOF</a:t>
            </a:r>
            <a:r>
              <a:rPr lang="en-US" b="1" dirty="0" smtClean="0">
                <a:solidFill>
                  <a:srgbClr val="424242"/>
                </a:solidFill>
              </a:rPr>
              <a:t> </a:t>
            </a:r>
            <a:r>
              <a:rPr lang="en-US" b="1" dirty="0" smtClean="0">
                <a:solidFill>
                  <a:srgbClr val="424242"/>
                </a:solidFill>
              </a:rPr>
              <a:t>&gt;</a:t>
            </a:r>
            <a:r>
              <a:rPr lang="en-US" b="1" dirty="0">
                <a:solidFill>
                  <a:srgbClr val="424242"/>
                </a:solidFill>
              </a:rPr>
              <a:t>&gt;&gt;</a:t>
            </a:r>
          </a:p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Arial" charset="0"/>
              <a:buChar char="•"/>
            </a:pPr>
            <a:r>
              <a:rPr lang="en-US" dirty="0">
                <a:solidFill>
                  <a:srgbClr val="424242"/>
                </a:solidFill>
              </a:rPr>
              <a:t>Next stop: </a:t>
            </a:r>
            <a:r>
              <a:rPr lang="en-US" dirty="0" smtClean="0">
                <a:solidFill>
                  <a:srgbClr val="424242"/>
                </a:solidFill>
              </a:rPr>
              <a:t>Lambdas and Recursion</a:t>
            </a:r>
            <a:endParaRPr lang="en-US" dirty="0">
              <a:solidFill>
                <a:srgbClr val="424242"/>
              </a:solidFill>
            </a:endParaRPr>
          </a:p>
        </p:txBody>
      </p:sp>
      <p:sp>
        <p:nvSpPr>
          <p:cNvPr id="5124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04F7D4B-5206-4F42-A4A3-937B571AE82A}" type="slidenum">
              <a:rPr lang="en-US">
                <a:solidFill>
                  <a:schemeClr val="accent1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897467" y="739246"/>
            <a:ext cx="7365999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Optional Section Homework </a:t>
            </a:r>
            <a:r>
              <a:rPr lang="en-US" dirty="0" smtClean="0">
                <a:solidFill>
                  <a:srgbClr val="FF0000"/>
                </a:solidFill>
                <a:latin typeface="Century Gothic" charset="0"/>
              </a:rPr>
              <a:t>[Canceled]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7467" y="2092854"/>
            <a:ext cx="7365999" cy="4155546"/>
          </a:xfrm>
        </p:spPr>
        <p:txBody>
          <a:bodyPr/>
          <a:lstStyle/>
          <a:p>
            <a:r>
              <a:rPr lang="en-US" sz="12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This will be used to mark attendance for the next section for midterm recovery. Will help participation (but you can participate in other ways as well!)</a:t>
            </a:r>
          </a:p>
          <a:p>
            <a:r>
              <a:rPr lang="en-US" sz="12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These should take at most 15 minutes, if you keep up with your reading.</a:t>
            </a:r>
          </a:p>
          <a:p>
            <a:r>
              <a:rPr lang="en-US" sz="12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Submit with voice recording, email, paper, slideshow, however you want. </a:t>
            </a:r>
            <a:endParaRPr lang="en-US" sz="1200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r>
              <a:rPr lang="en-US" sz="12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Graded on effort, but use your time wisely. 10 minutes of BS &lt; 10 minutes of </a:t>
            </a:r>
            <a:r>
              <a:rPr lang="en-US" sz="1200" b="1" i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citing</a:t>
            </a:r>
            <a:r>
              <a:rPr lang="en-US" sz="12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the textbook</a:t>
            </a:r>
          </a:p>
          <a:p>
            <a:r>
              <a:rPr lang="en-US" sz="12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Feel free to make your own questions!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New policy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In-class quizzes graded on effort to mark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discussion attendance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Please still be prepared for discussion.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Those who submitted this assignment by Thursday 9/4 will have a free absence from discussion for midterm recovery.</a:t>
            </a:r>
            <a:endParaRPr lang="en-US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9302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Review</a:t>
            </a:r>
            <a:endParaRPr lang="en-US" dirty="0">
              <a:latin typeface="Century Gothic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>
              <a:solidFill>
                <a:srgbClr val="FEFEFE"/>
              </a:solidFill>
            </a:endParaRPr>
          </a:p>
        </p:txBody>
      </p:sp>
      <p:pic>
        <p:nvPicPr>
          <p:cNvPr id="4" name="Picture 3" descr="72883965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609" y="1598613"/>
            <a:ext cx="1750258" cy="1071913"/>
          </a:xfrm>
          <a:prstGeom prst="rect">
            <a:avLst/>
          </a:prstGeom>
        </p:spPr>
      </p:pic>
      <p:pic>
        <p:nvPicPr>
          <p:cNvPr id="5" name="Picture 4" descr="skd188803sdc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03"/>
          <a:stretch/>
        </p:blipFill>
        <p:spPr>
          <a:xfrm>
            <a:off x="3657600" y="2423620"/>
            <a:ext cx="1484942" cy="2874360"/>
          </a:xfrm>
          <a:prstGeom prst="rect">
            <a:avLst/>
          </a:prstGeom>
        </p:spPr>
      </p:pic>
      <p:pic>
        <p:nvPicPr>
          <p:cNvPr id="8" name="Picture 7" descr="skd188803sdc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03"/>
          <a:stretch/>
        </p:blipFill>
        <p:spPr>
          <a:xfrm>
            <a:off x="4400071" y="2423620"/>
            <a:ext cx="1484942" cy="2874360"/>
          </a:xfrm>
          <a:prstGeom prst="rect">
            <a:avLst/>
          </a:prstGeom>
        </p:spPr>
      </p:pic>
      <p:pic>
        <p:nvPicPr>
          <p:cNvPr id="9" name="Picture 8" descr="skd188803sdc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03"/>
          <a:stretch/>
        </p:blipFill>
        <p:spPr>
          <a:xfrm>
            <a:off x="5142542" y="2423620"/>
            <a:ext cx="1484942" cy="287436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2319867" y="2959576"/>
            <a:ext cx="1168400" cy="13076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1042988" y="2959576"/>
            <a:ext cx="2614612" cy="218815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6627484" y="2252133"/>
            <a:ext cx="755449" cy="18965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miley Face 16"/>
          <p:cNvSpPr/>
          <p:nvPr/>
        </p:nvSpPr>
        <p:spPr>
          <a:xfrm>
            <a:off x="7106920" y="775653"/>
            <a:ext cx="822960" cy="822960"/>
          </a:xfrm>
          <a:prstGeom prst="smileyFace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981199" y="1977344"/>
            <a:ext cx="426189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>
                <a:latin typeface="Consolas"/>
                <a:cs typeface="Consolas"/>
              </a:rPr>
              <a:t>ssh</a:t>
            </a:r>
            <a:r>
              <a:rPr lang="en-US" sz="1600" dirty="0" smtClean="0">
                <a:latin typeface="Consolas"/>
                <a:cs typeface="Consolas"/>
              </a:rPr>
              <a:t> cs61a-??@</a:t>
            </a:r>
            <a:r>
              <a:rPr lang="en-US" sz="1600" dirty="0" err="1" smtClean="0">
                <a:latin typeface="Consolas"/>
                <a:cs typeface="Consolas"/>
              </a:rPr>
              <a:t>cory.eecs.berkeley.edu</a:t>
            </a:r>
            <a:endParaRPr lang="en-US" sz="1600" dirty="0" smtClean="0">
              <a:latin typeface="Consolas"/>
              <a:cs typeface="Consolas"/>
            </a:endParaRPr>
          </a:p>
          <a:p>
            <a:r>
              <a:rPr lang="en-US" dirty="0" smtClean="0"/>
              <a:t>connect to remote</a:t>
            </a:r>
          </a:p>
          <a:p>
            <a:r>
              <a:rPr lang="en-US" dirty="0" smtClean="0"/>
              <a:t>terminal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 rot="2562708">
            <a:off x="-714476" y="4187916"/>
            <a:ext cx="60686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/>
                <a:cs typeface="Consolas"/>
              </a:rPr>
              <a:t>s</a:t>
            </a:r>
            <a:r>
              <a:rPr lang="en-US" dirty="0" err="1" smtClean="0">
                <a:latin typeface="Consolas"/>
                <a:cs typeface="Consolas"/>
              </a:rPr>
              <a:t>cp</a:t>
            </a:r>
            <a:r>
              <a:rPr lang="en-US" dirty="0" smtClean="0">
                <a:latin typeface="Consolas"/>
                <a:cs typeface="Consolas"/>
              </a:rPr>
              <a:t> ~/path/to/</a:t>
            </a:r>
            <a:r>
              <a:rPr lang="en-US" dirty="0" err="1" smtClean="0">
                <a:latin typeface="Consolas"/>
                <a:cs typeface="Consolas"/>
              </a:rPr>
              <a:t>file.py</a:t>
            </a:r>
            <a:r>
              <a:rPr lang="en-US" dirty="0" smtClean="0">
                <a:latin typeface="Consolas"/>
                <a:cs typeface="Consolas"/>
              </a:rPr>
              <a:t> </a:t>
            </a:r>
          </a:p>
          <a:p>
            <a:r>
              <a:rPr lang="en-US" dirty="0" smtClean="0">
                <a:latin typeface="Consolas"/>
                <a:cs typeface="Consolas"/>
              </a:rPr>
              <a:t>cs61a-??@</a:t>
            </a:r>
            <a:r>
              <a:rPr lang="en-US" dirty="0" err="1" smtClean="0">
                <a:latin typeface="Consolas"/>
                <a:cs typeface="Consolas"/>
              </a:rPr>
              <a:t>cory.eecs.berkeley.edu</a:t>
            </a:r>
            <a:r>
              <a:rPr lang="en-US" dirty="0" smtClean="0">
                <a:latin typeface="Consolas"/>
                <a:cs typeface="Consolas"/>
              </a:rPr>
              <a:t>:~/</a:t>
            </a:r>
            <a:r>
              <a:rPr lang="en-US" dirty="0" err="1" smtClean="0">
                <a:latin typeface="Consolas"/>
                <a:cs typeface="Consolas"/>
              </a:rPr>
              <a:t>dest</a:t>
            </a:r>
            <a:r>
              <a:rPr lang="en-US" dirty="0">
                <a:latin typeface="Consolas"/>
                <a:cs typeface="Consolas"/>
              </a:rPr>
              <a:t>/</a:t>
            </a:r>
            <a:r>
              <a:rPr lang="en-US" dirty="0" smtClean="0">
                <a:latin typeface="Consolas"/>
                <a:cs typeface="Consolas"/>
              </a:rPr>
              <a:t>folder</a:t>
            </a:r>
          </a:p>
          <a:p>
            <a:r>
              <a:rPr lang="en-US" dirty="0" smtClean="0"/>
              <a:t>Copy file to remote server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581764" y="1850813"/>
            <a:ext cx="226759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/>
                <a:cs typeface="Consolas"/>
              </a:rPr>
              <a:t>submit </a:t>
            </a:r>
            <a:r>
              <a:rPr lang="en-US" dirty="0" smtClean="0">
                <a:latin typeface="Consolas"/>
                <a:cs typeface="Consolas"/>
              </a:rPr>
              <a:t>lab02</a:t>
            </a:r>
            <a:endParaRPr lang="en-US" dirty="0" smtClean="0">
              <a:latin typeface="Consolas"/>
              <a:cs typeface="Consolas"/>
            </a:endParaRPr>
          </a:p>
          <a:p>
            <a:endParaRPr lang="en-US" dirty="0"/>
          </a:p>
          <a:p>
            <a:r>
              <a:rPr lang="en-US" dirty="0" smtClean="0"/>
              <a:t>Actually give your files to us!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Make sure you are in the right folder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Do not include .</a:t>
            </a:r>
            <a:r>
              <a:rPr lang="en-US" dirty="0" err="1" smtClean="0"/>
              <a:t>py</a:t>
            </a:r>
            <a:r>
              <a:rPr lang="en-US" dirty="0" smtClean="0"/>
              <a:t> ending here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Do not submit from ~ folder</a:t>
            </a:r>
          </a:p>
          <a:p>
            <a:pPr marL="285750" indent="-285750">
              <a:buFontTx/>
              <a:buChar char="-"/>
            </a:pPr>
            <a:endParaRPr lang="en-US" dirty="0" smtClean="0"/>
          </a:p>
        </p:txBody>
      </p:sp>
      <p:sp>
        <p:nvSpPr>
          <p:cNvPr id="24" name="TextBox 23"/>
          <p:cNvSpPr txBox="1"/>
          <p:nvPr/>
        </p:nvSpPr>
        <p:spPr>
          <a:xfrm>
            <a:off x="5032364" y="5297980"/>
            <a:ext cx="3098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/>
                <a:cs typeface="Consolas"/>
              </a:rPr>
              <a:t>c</a:t>
            </a:r>
            <a:r>
              <a:rPr lang="en-US" dirty="0" err="1" smtClean="0">
                <a:latin typeface="Consolas"/>
                <a:cs typeface="Consolas"/>
              </a:rPr>
              <a:t>ory</a:t>
            </a:r>
            <a:r>
              <a:rPr lang="en-US" dirty="0" smtClean="0">
                <a:latin typeface="Consolas"/>
                <a:cs typeface="Consolas"/>
              </a:rPr>
              <a:t>[2] ~ #</a:t>
            </a:r>
          </a:p>
          <a:p>
            <a:r>
              <a:rPr lang="en-US" dirty="0" smtClean="0"/>
              <a:t>Your prompt should now say that you are in Berkeley’s server! UNIX is used here!!!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2049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entury Gothic" charset="0"/>
              </a:rPr>
              <a:t>Anuncios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4100"/>
            <a:ext cx="8128000" cy="400896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HW1 due 2pm (befor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 lecture) on Wednesday 9/10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Project 1 due 11:59 PM next Wednesday 9/17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START NOW!!!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Take-home quiz posted 3pm this Wednesday, due 11:59PM this Thursday 9/11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To see if you are on pace with the course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Reminder: My OH are Tuesdays, Thursdays 4-5 PM</a:t>
            </a: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in Soda 411</a:t>
            </a:r>
          </a:p>
          <a:p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>
              <a:solidFill>
                <a:srgbClr val="FEFEFE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830" y="664210"/>
            <a:ext cx="3629025" cy="725805"/>
          </a:xfrm>
          <a:prstGeom prst="rect">
            <a:avLst/>
          </a:prstGeom>
        </p:spPr>
      </p:pic>
      <p:sp>
        <p:nvSpPr>
          <p:cNvPr id="6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entury Gothic" charset="0"/>
              </a:rPr>
              <a:t>Tip of the Day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4100"/>
            <a:ext cx="8128000" cy="400896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Visualize everything!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>
              <a:solidFill>
                <a:srgbClr val="FEFEFE"/>
              </a:solidFill>
            </a:endParaRPr>
          </a:p>
        </p:txBody>
      </p:sp>
      <p:pic>
        <p:nvPicPr>
          <p:cNvPr id="2" name="Picture 1" descr="Loboc_river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41" y="2866293"/>
            <a:ext cx="3162300" cy="23614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8241" y="5457226"/>
            <a:ext cx="3162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Control flow: think of a river! </a:t>
            </a:r>
            <a:r>
              <a:rPr lang="en-US" dirty="0" smtClean="0">
                <a:hlinkClick r:id="rId5"/>
              </a:rPr>
              <a:t>Photo cred</a:t>
            </a:r>
            <a:r>
              <a:rPr lang="en-US" dirty="0" smtClean="0"/>
              <a:t>: Wikipedia user </a:t>
            </a:r>
            <a:r>
              <a:rPr lang="en-US" dirty="0" err="1" smtClean="0"/>
              <a:t>Qaalvin</a:t>
            </a:r>
            <a:endParaRPr lang="en-US" dirty="0"/>
          </a:p>
        </p:txBody>
      </p:sp>
      <p:pic>
        <p:nvPicPr>
          <p:cNvPr id="5" name="Picture 4" descr="Function_Diagram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375" y="1119950"/>
            <a:ext cx="3162300" cy="1204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05375" y="2358422"/>
            <a:ext cx="34977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Function: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List what you know/assume about the input/output. 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Summarize what the function does (behavior) in the middle box! 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Photo cred: Simon </a:t>
            </a:r>
            <a:r>
              <a:rPr lang="en-US" dirty="0" err="1" smtClean="0"/>
              <a:t>Ko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905375" y="4858365"/>
            <a:ext cx="316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Call expressions: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5375" y="5227698"/>
            <a:ext cx="2751508" cy="128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809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Tip of the Day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Visualize everything!</a:t>
            </a:r>
            <a:endParaRPr lang="en-US" dirty="0" smtClean="0">
              <a:solidFill>
                <a:srgbClr val="4A6300"/>
              </a:solidFill>
              <a:latin typeface="Avenir Book"/>
              <a:cs typeface="Avenir Book"/>
            </a:endParaRP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Environment Diagrams!!!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Work with 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  <a:hlinkClick r:id="rId3"/>
              </a:rPr>
              <a:t>Python Tutor</a:t>
            </a:r>
            <a:endParaRPr lang="en-US" dirty="0">
              <a:solidFill>
                <a:srgbClr val="4A6300"/>
              </a:solidFill>
              <a:latin typeface="Avenir Book"/>
              <a:cs typeface="Avenir Book"/>
            </a:endParaRP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But remember that </a:t>
            </a:r>
            <a:r>
              <a:rPr lang="en-US" dirty="0" err="1" smtClean="0">
                <a:solidFill>
                  <a:srgbClr val="4A6300"/>
                </a:solidFill>
                <a:latin typeface="Avenir Book"/>
                <a:cs typeface="Avenir Book"/>
              </a:rPr>
              <a:t>PythonTutor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 does not show everything.</a:t>
            </a:r>
          </a:p>
          <a:p>
            <a:pPr lvl="2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In particular, you have to keep track of where you are in the rules (e.g. I’m still evaluating the operator of this call </a:t>
            </a:r>
            <a:r>
              <a:rPr lang="en-US" dirty="0" err="1" smtClean="0">
                <a:solidFill>
                  <a:srgbClr val="4A6300"/>
                </a:solidFill>
                <a:latin typeface="Avenir Book"/>
                <a:cs typeface="Avenir Book"/>
              </a:rPr>
              <a:t>exp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)</a:t>
            </a:r>
          </a:p>
          <a:p>
            <a:pPr lvl="1"/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5473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Tip of the Day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Visualize everything!</a:t>
            </a:r>
            <a:endParaRPr lang="en-US" dirty="0" smtClean="0">
              <a:solidFill>
                <a:srgbClr val="4A6300"/>
              </a:solidFill>
              <a:latin typeface="Avenir Book"/>
              <a:cs typeface="Avenir Book"/>
            </a:endParaRP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Higher order functions: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E.g. factory that makes cars (customize functions)</a:t>
            </a:r>
          </a:p>
          <a:p>
            <a:pPr marL="69850" indent="0">
              <a:buNone/>
            </a:pPr>
            <a:endParaRPr lang="en-US" dirty="0">
              <a:solidFill>
                <a:srgbClr val="4A6300"/>
              </a:solidFill>
              <a:latin typeface="Avenir Book"/>
              <a:cs typeface="Avenir Book"/>
            </a:endParaRPr>
          </a:p>
          <a:p>
            <a:pPr marL="69850" indent="0">
              <a:buNone/>
            </a:pPr>
            <a:r>
              <a:rPr lang="en-US" sz="1800" dirty="0" err="1" smtClean="0">
                <a:solidFill>
                  <a:srgbClr val="4A6300"/>
                </a:solidFill>
                <a:latin typeface="Consolas"/>
                <a:cs typeface="Consolas"/>
              </a:rPr>
              <a:t>def</a:t>
            </a:r>
            <a:r>
              <a:rPr lang="en-US" sz="1800" dirty="0" smtClean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sz="1800" dirty="0" err="1" smtClean="0">
                <a:solidFill>
                  <a:srgbClr val="4A6300"/>
                </a:solidFill>
                <a:latin typeface="Consolas"/>
                <a:cs typeface="Consolas"/>
              </a:rPr>
              <a:t>make_car</a:t>
            </a:r>
            <a:r>
              <a:rPr lang="en-US" sz="1800" dirty="0" smtClean="0">
                <a:solidFill>
                  <a:srgbClr val="4A6300"/>
                </a:solidFill>
                <a:latin typeface="Consolas"/>
                <a:cs typeface="Consolas"/>
              </a:rPr>
              <a:t>(color):</a:t>
            </a:r>
          </a:p>
          <a:p>
            <a:pPr marL="69850" indent="0">
              <a:buNone/>
            </a:pPr>
            <a:r>
              <a:rPr lang="en-US" sz="1800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sz="1800" dirty="0" err="1" smtClean="0">
                <a:solidFill>
                  <a:srgbClr val="4A6300"/>
                </a:solidFill>
                <a:latin typeface="Consolas"/>
                <a:cs typeface="Consolas"/>
              </a:rPr>
              <a:t>def</a:t>
            </a:r>
            <a:r>
              <a:rPr lang="en-US" sz="1800" dirty="0" smtClean="0">
                <a:solidFill>
                  <a:srgbClr val="4A6300"/>
                </a:solidFill>
                <a:latin typeface="Consolas"/>
                <a:cs typeface="Consolas"/>
              </a:rPr>
              <a:t> car(driver):</a:t>
            </a:r>
          </a:p>
          <a:p>
            <a:pPr marL="69850" indent="0">
              <a:buNone/>
            </a:pPr>
            <a:r>
              <a:rPr lang="en-US" sz="1800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sz="1800" dirty="0" smtClean="0">
                <a:solidFill>
                  <a:srgbClr val="4A6300"/>
                </a:solidFill>
                <a:latin typeface="Consolas"/>
                <a:cs typeface="Consolas"/>
              </a:rPr>
              <a:t> print(“‘Vroom! </a:t>
            </a:r>
            <a:r>
              <a:rPr lang="en-US" sz="1800" dirty="0">
                <a:solidFill>
                  <a:srgbClr val="4A6300"/>
                </a:solidFill>
                <a:latin typeface="Consolas"/>
                <a:cs typeface="Consolas"/>
              </a:rPr>
              <a:t>I</a:t>
            </a:r>
            <a:r>
              <a:rPr lang="en-US" sz="1800" dirty="0" smtClean="0">
                <a:solidFill>
                  <a:srgbClr val="4A6300"/>
                </a:solidFill>
                <a:latin typeface="Consolas"/>
                <a:cs typeface="Consolas"/>
              </a:rPr>
              <a:t> like this {0} \</a:t>
            </a:r>
          </a:p>
          <a:p>
            <a:pPr marL="69850" indent="0">
              <a:buNone/>
            </a:pPr>
            <a:r>
              <a:rPr lang="en-US" sz="1800" dirty="0" smtClean="0">
                <a:solidFill>
                  <a:srgbClr val="4A6300"/>
                </a:solidFill>
                <a:latin typeface="Consolas"/>
                <a:cs typeface="Consolas"/>
              </a:rPr>
              <a:t>   car!’ –{1}”.format(color, driver))</a:t>
            </a:r>
          </a:p>
          <a:p>
            <a:pPr marL="69850" indent="0">
              <a:buNone/>
            </a:pPr>
            <a:r>
              <a:rPr lang="en-US" sz="1800" dirty="0" smtClean="0">
                <a:solidFill>
                  <a:srgbClr val="4A6300"/>
                </a:solidFill>
                <a:latin typeface="Consolas"/>
                <a:cs typeface="Consolas"/>
              </a:rPr>
              <a:t> return car</a:t>
            </a:r>
          </a:p>
          <a:p>
            <a:pPr marL="69850" indent="0">
              <a:buNone/>
            </a:pPr>
            <a:r>
              <a:rPr lang="en-US" sz="1800" dirty="0" err="1" smtClean="0">
                <a:solidFill>
                  <a:srgbClr val="4A6300"/>
                </a:solidFill>
                <a:latin typeface="Consolas"/>
                <a:cs typeface="Consolas"/>
              </a:rPr>
              <a:t>make_car</a:t>
            </a:r>
            <a:r>
              <a:rPr lang="en-US" sz="1800" dirty="0" smtClean="0">
                <a:solidFill>
                  <a:srgbClr val="4A6300"/>
                </a:solidFill>
                <a:latin typeface="Consolas"/>
                <a:cs typeface="Consolas"/>
              </a:rPr>
              <a:t>(‘blue’)(‘Ray’)</a:t>
            </a:r>
          </a:p>
          <a:p>
            <a:pPr marL="69850" indent="0">
              <a:buNone/>
            </a:pPr>
            <a:r>
              <a:rPr lang="en-US" sz="1800" dirty="0" err="1" smtClean="0">
                <a:solidFill>
                  <a:srgbClr val="4A6300"/>
                </a:solidFill>
                <a:latin typeface="Consolas"/>
                <a:cs typeface="Consolas"/>
              </a:rPr>
              <a:t>my_car</a:t>
            </a:r>
            <a:r>
              <a:rPr lang="en-US" sz="1800" dirty="0" smtClean="0">
                <a:solidFill>
                  <a:srgbClr val="4A6300"/>
                </a:solidFill>
                <a:latin typeface="Consolas"/>
                <a:cs typeface="Consolas"/>
              </a:rPr>
              <a:t> = </a:t>
            </a:r>
            <a:r>
              <a:rPr lang="en-US" sz="1800" dirty="0" err="1" smtClean="0">
                <a:solidFill>
                  <a:srgbClr val="4A6300"/>
                </a:solidFill>
                <a:latin typeface="Consolas"/>
                <a:cs typeface="Consolas"/>
              </a:rPr>
              <a:t>make_car</a:t>
            </a:r>
            <a:r>
              <a:rPr lang="en-US" sz="1800" dirty="0" smtClean="0">
                <a:solidFill>
                  <a:srgbClr val="4A6300"/>
                </a:solidFill>
                <a:latin typeface="Consolas"/>
                <a:cs typeface="Consolas"/>
              </a:rPr>
              <a:t>(‘green’)</a:t>
            </a:r>
          </a:p>
          <a:p>
            <a:pPr marL="69850" indent="0">
              <a:buNone/>
            </a:pPr>
            <a:r>
              <a:rPr lang="en-US" sz="1800" dirty="0" err="1" smtClean="0">
                <a:solidFill>
                  <a:srgbClr val="4A6300"/>
                </a:solidFill>
                <a:latin typeface="Consolas"/>
                <a:cs typeface="Consolas"/>
              </a:rPr>
              <a:t>my_car</a:t>
            </a:r>
            <a:r>
              <a:rPr lang="en-US" sz="1800" dirty="0" smtClean="0">
                <a:solidFill>
                  <a:srgbClr val="4A6300"/>
                </a:solidFill>
                <a:latin typeface="Consolas"/>
                <a:cs typeface="Consolas"/>
              </a:rPr>
              <a:t>(“</a:t>
            </a:r>
            <a:r>
              <a:rPr lang="en-US" sz="1800" dirty="0" err="1" smtClean="0">
                <a:solidFill>
                  <a:srgbClr val="4A6300"/>
                </a:solidFill>
                <a:latin typeface="Consolas"/>
                <a:cs typeface="Consolas"/>
              </a:rPr>
              <a:t>dickson</a:t>
            </a:r>
            <a:r>
              <a:rPr lang="en-US" sz="1800" dirty="0" smtClean="0">
                <a:solidFill>
                  <a:srgbClr val="4A6300"/>
                </a:solidFill>
                <a:latin typeface="Consolas"/>
                <a:cs typeface="Consolas"/>
              </a:rPr>
              <a:t>”)</a:t>
            </a:r>
            <a:endParaRPr lang="en-US" sz="1800" dirty="0">
              <a:solidFill>
                <a:srgbClr val="4A6300"/>
              </a:solidFill>
              <a:latin typeface="Consolas"/>
              <a:cs typeface="Consolas"/>
            </a:endParaRPr>
          </a:p>
          <a:p>
            <a:pPr marL="69850" indent="0">
              <a:buNone/>
            </a:pPr>
            <a:r>
              <a:rPr lang="en-US" sz="1800" dirty="0" smtClean="0">
                <a:solidFill>
                  <a:srgbClr val="4A6300"/>
                </a:solidFill>
                <a:latin typeface="Avenir Book"/>
                <a:cs typeface="Avenir Book"/>
              </a:rPr>
              <a:t>Q: How can we make sure we don’t mix the colors of two different cars together?</a:t>
            </a:r>
            <a:endParaRPr lang="en-US" sz="1800" dirty="0">
              <a:solidFill>
                <a:srgbClr val="4A6300"/>
              </a:solidFill>
              <a:latin typeface="Avenir Book"/>
              <a:cs typeface="Avenir Book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>
              <a:solidFill>
                <a:srgbClr val="FEFEFE"/>
              </a:solidFill>
            </a:endParaRPr>
          </a:p>
        </p:txBody>
      </p:sp>
      <p:pic>
        <p:nvPicPr>
          <p:cNvPr id="2" name="Picture 1" descr="Final_assembly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5225" y="2911883"/>
            <a:ext cx="3262973" cy="24324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65225" y="5382815"/>
            <a:ext cx="3262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Car factory. </a:t>
            </a:r>
            <a:r>
              <a:rPr lang="en-US" dirty="0" smtClean="0">
                <a:hlinkClick r:id="rId4"/>
              </a:rPr>
              <a:t>Photo cred</a:t>
            </a:r>
            <a:r>
              <a:rPr lang="en-US" dirty="0" smtClean="0"/>
              <a:t>: Brian </a:t>
            </a:r>
            <a:r>
              <a:rPr lang="en-US" dirty="0" err="1" smtClean="0"/>
              <a:t>Snelson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3023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Directions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pPr marL="527050" indent="-457200">
              <a:buFont typeface="+mj-lt"/>
              <a:buAutoNum type="arabicPeriod"/>
            </a:pP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Write your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name and login </a:t>
            </a: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on the board (or email to me your login, e.g. cs61a-ty) if you went to discussion on Thursday. I will cross-reference your names with my attendance sheet, so please be honest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.</a:t>
            </a:r>
          </a:p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Access the lab at cs61a.org</a:t>
            </a:r>
          </a:p>
          <a:p>
            <a:pPr marL="527050" indent="-457200">
              <a:buFont typeface="+mj-lt"/>
              <a:buAutoNum type="arabicPeriod"/>
            </a:pPr>
            <a:r>
              <a:rPr lang="en-US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Must submit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: Q3, Q7, Q9, Q12 in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lab02.py</a:t>
            </a:r>
          </a:p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Conceptual questions: Q1, Q2, Q6, Q8, Q11</a:t>
            </a:r>
          </a:p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Extra coding practice: Q4, Q5, Q10, Q13 in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lab02_extra.py</a:t>
            </a:r>
            <a:endParaRPr lang="en-US" dirty="0" smtClean="0">
              <a:solidFill>
                <a:srgbClr val="4A6300"/>
              </a:solidFill>
              <a:latin typeface="Avenir Book"/>
              <a:cs typeface="Avenir Book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---Loop--- If you are stuck, please collaborate! (even just discussing the WWPP problems)</a:t>
            </a:r>
          </a:p>
          <a:p>
            <a:pPr marL="527050" indent="-457200">
              <a:buFont typeface="+mj-lt"/>
              <a:buAutoNum type="arabicPeriod"/>
            </a:pPr>
            <a:endParaRPr lang="en-US" dirty="0" smtClean="0">
              <a:solidFill>
                <a:srgbClr val="4A6300"/>
              </a:solidFill>
              <a:latin typeface="Avenir Book"/>
              <a:cs typeface="Avenir Book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2264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To get to my website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r>
              <a:rPr lang="en-US" dirty="0" err="1" smtClean="0">
                <a:solidFill>
                  <a:srgbClr val="4A6300"/>
                </a:solidFill>
                <a:latin typeface="Avenir Book"/>
                <a:cs typeface="Avenir Book"/>
              </a:rPr>
              <a:t>dicksontsai.com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/cs61a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OR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Go to cs61a.org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Click the “Staff” link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Click my name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Go to Discussion for discussion materials</a:t>
            </a:r>
          </a:p>
          <a:p>
            <a:pPr lvl="1"/>
            <a:endParaRPr lang="en-US" dirty="0">
              <a:solidFill>
                <a:srgbClr val="4A6300"/>
              </a:solidFill>
              <a:latin typeface="Avenir Book"/>
              <a:cs typeface="Avenir Book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You will find my slides to discussion/lab. They may be different, because I add more content along the day. 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7864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Optional </a:t>
            </a:r>
            <a:r>
              <a:rPr lang="en-US" dirty="0" smtClean="0">
                <a:latin typeface="Century Gothic" charset="0"/>
              </a:rPr>
              <a:t>Conceptual Questions (Friday 9/5 lecture)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pPr marL="527050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Creating a new frame and binding the formal parameters to the arguments happen in the (circle one</a:t>
            </a: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  <a:sym typeface="Wingdings"/>
              </a:rPr>
              <a:t>:) </a:t>
            </a:r>
            <a:r>
              <a:rPr lang="en-US" sz="20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eval</a:t>
            </a: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/ apply phase.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2000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State the rules for </a:t>
            </a: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executing a </a:t>
            </a:r>
            <a:r>
              <a:rPr lang="en-US" sz="2000" b="1" dirty="0" err="1" smtClean="0">
                <a:solidFill>
                  <a:srgbClr val="4A6300"/>
                </a:solidFill>
                <a:latin typeface="Consolas"/>
                <a:cs typeface="Consolas"/>
              </a:rPr>
              <a:t>def</a:t>
            </a: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statement. </a:t>
            </a:r>
            <a:r>
              <a:rPr lang="en-US" sz="2000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Why is nothing in the function executed until the function gets called?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State the rules for evaluating a name (name lookup).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Why does each function call have its separate environment?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True/False: w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 always look at the frame above the current frame if we cannot find the name in the current frame.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would Python output? (</a:t>
            </a: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  <a:sym typeface="Wingdings"/>
              </a:rPr>
              <a:t>)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Before we enter the while loop,</a:t>
            </a:r>
          </a:p>
          <a:p>
            <a:pPr marL="69850" indent="0">
              <a:buNone/>
            </a:pP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do we have to check the condition</a:t>
            </a:r>
          </a:p>
          <a:p>
            <a:pPr marL="69850" indent="0">
              <a:buNone/>
            </a:pP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header? When might this be useful?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>
              <a:solidFill>
                <a:srgbClr val="FEFEFE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657670" y="4707759"/>
            <a:ext cx="31816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9850" indent="0">
              <a:buNone/>
            </a:pPr>
            <a:r>
              <a:rPr lang="en-US" sz="1400" b="1" dirty="0" err="1">
                <a:solidFill>
                  <a:srgbClr val="4A6300"/>
                </a:solidFill>
                <a:latin typeface="Consolas"/>
                <a:cs typeface="Consolas"/>
              </a:rPr>
              <a:t>def</a:t>
            </a:r>
            <a:r>
              <a:rPr lang="en-US" sz="1400" b="1" dirty="0">
                <a:solidFill>
                  <a:srgbClr val="4A6300"/>
                </a:solidFill>
                <a:latin typeface="Consolas"/>
                <a:cs typeface="Consolas"/>
              </a:rPr>
              <a:t> foo(x):</a:t>
            </a:r>
          </a:p>
          <a:p>
            <a:pPr marL="69850" indent="0">
              <a:buNone/>
            </a:pPr>
            <a:r>
              <a:rPr lang="en-US" sz="1400" b="1" dirty="0">
                <a:solidFill>
                  <a:srgbClr val="4A6300"/>
                </a:solidFill>
                <a:latin typeface="Consolas"/>
                <a:cs typeface="Consolas"/>
              </a:rPr>
              <a:t>  if x &gt; 1</a:t>
            </a:r>
            <a:r>
              <a:rPr lang="en-US" sz="1400" b="1" dirty="0" smtClean="0">
                <a:solidFill>
                  <a:srgbClr val="4A6300"/>
                </a:solidFill>
                <a:latin typeface="Consolas"/>
                <a:cs typeface="Consolas"/>
              </a:rPr>
              <a:t>:</a:t>
            </a:r>
            <a:endParaRPr lang="en-US" sz="1400" b="1" dirty="0">
              <a:solidFill>
                <a:srgbClr val="4A6300"/>
              </a:solidFill>
              <a:latin typeface="Consolas"/>
              <a:cs typeface="Consolas"/>
            </a:endParaRPr>
          </a:p>
          <a:p>
            <a:pPr marL="69850" indent="0">
              <a:buNone/>
            </a:pPr>
            <a:r>
              <a:rPr lang="en-US" sz="1400" b="1" dirty="0">
                <a:solidFill>
                  <a:srgbClr val="4A6300"/>
                </a:solidFill>
                <a:latin typeface="Consolas"/>
                <a:cs typeface="Consolas"/>
              </a:rPr>
              <a:t>    print</a:t>
            </a:r>
            <a:r>
              <a:rPr lang="en-US" sz="1400" b="1" dirty="0" smtClean="0">
                <a:solidFill>
                  <a:srgbClr val="4A6300"/>
                </a:solidFill>
                <a:latin typeface="Consolas"/>
                <a:cs typeface="Consolas"/>
              </a:rPr>
              <a:t>(1)</a:t>
            </a:r>
            <a:endParaRPr lang="en-US" sz="1400" b="1" dirty="0">
              <a:solidFill>
                <a:srgbClr val="4A6300"/>
              </a:solidFill>
              <a:latin typeface="Consolas"/>
              <a:cs typeface="Consolas"/>
            </a:endParaRPr>
          </a:p>
          <a:p>
            <a:pPr marL="69850" indent="0">
              <a:buNone/>
            </a:pPr>
            <a:r>
              <a:rPr lang="en-US" sz="1400" b="1" dirty="0">
                <a:solidFill>
                  <a:srgbClr val="4A6300"/>
                </a:solidFill>
                <a:latin typeface="Consolas"/>
                <a:cs typeface="Consolas"/>
              </a:rPr>
              <a:t>  </a:t>
            </a:r>
            <a:r>
              <a:rPr lang="en-US" sz="1400" b="1" dirty="0" err="1">
                <a:solidFill>
                  <a:srgbClr val="4A6300"/>
                </a:solidFill>
                <a:latin typeface="Consolas"/>
                <a:cs typeface="Consolas"/>
              </a:rPr>
              <a:t>elif</a:t>
            </a:r>
            <a:r>
              <a:rPr lang="en-US" sz="1400" b="1" dirty="0">
                <a:solidFill>
                  <a:srgbClr val="4A6300"/>
                </a:solidFill>
                <a:latin typeface="Consolas"/>
                <a:cs typeface="Consolas"/>
              </a:rPr>
              <a:t> x:</a:t>
            </a:r>
          </a:p>
          <a:p>
            <a:pPr marL="69850" indent="0">
              <a:buNone/>
            </a:pPr>
            <a:r>
              <a:rPr lang="en-US" sz="1400" b="1" dirty="0">
                <a:solidFill>
                  <a:srgbClr val="4A6300"/>
                </a:solidFill>
                <a:latin typeface="Consolas"/>
                <a:cs typeface="Consolas"/>
              </a:rPr>
              <a:t>    print(2</a:t>
            </a:r>
            <a:r>
              <a:rPr lang="en-US" sz="1400" b="1" dirty="0" smtClean="0">
                <a:solidFill>
                  <a:srgbClr val="4A6300"/>
                </a:solidFill>
                <a:latin typeface="Consolas"/>
                <a:cs typeface="Consolas"/>
              </a:rPr>
              <a:t>)</a:t>
            </a:r>
          </a:p>
          <a:p>
            <a:pPr marL="69850" indent="0">
              <a:buNone/>
            </a:pPr>
            <a:r>
              <a:rPr lang="en-US" sz="1400" b="1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sz="1400" b="1" dirty="0" smtClean="0">
                <a:solidFill>
                  <a:srgbClr val="4A6300"/>
                </a:solidFill>
                <a:latin typeface="Consolas"/>
                <a:cs typeface="Consolas"/>
              </a:rPr>
              <a:t> else:</a:t>
            </a:r>
          </a:p>
          <a:p>
            <a:pPr marL="69850" indent="0">
              <a:buNone/>
            </a:pPr>
            <a:r>
              <a:rPr lang="en-US" sz="1400" b="1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sz="1400" b="1" dirty="0" smtClean="0">
                <a:solidFill>
                  <a:srgbClr val="4A6300"/>
                </a:solidFill>
                <a:latin typeface="Consolas"/>
                <a:cs typeface="Consolas"/>
              </a:rPr>
              <a:t>   print(3)</a:t>
            </a:r>
            <a:endParaRPr lang="en-US" sz="1400" b="1" dirty="0">
              <a:solidFill>
                <a:srgbClr val="4A6300"/>
              </a:solidFill>
              <a:latin typeface="Consolas"/>
              <a:cs typeface="Consolas"/>
            </a:endParaRPr>
          </a:p>
          <a:p>
            <a:pPr marL="69850" indent="0">
              <a:buNone/>
            </a:pPr>
            <a:r>
              <a:rPr lang="en-US" sz="1400" b="1" dirty="0">
                <a:solidFill>
                  <a:srgbClr val="4A6300"/>
                </a:solidFill>
                <a:latin typeface="Consolas"/>
                <a:cs typeface="Consolas"/>
              </a:rPr>
              <a:t>print</a:t>
            </a:r>
            <a:r>
              <a:rPr lang="en-US" sz="1400" b="1" dirty="0" smtClean="0">
                <a:solidFill>
                  <a:srgbClr val="4A6300"/>
                </a:solidFill>
                <a:latin typeface="Consolas"/>
                <a:cs typeface="Consolas"/>
              </a:rPr>
              <a:t>(foo(0), foo(1)</a:t>
            </a:r>
            <a:r>
              <a:rPr lang="en-US" sz="1400" b="1" dirty="0">
                <a:solidFill>
                  <a:srgbClr val="4A6300"/>
                </a:solidFill>
                <a:latin typeface="Consolas"/>
                <a:cs typeface="Consolas"/>
              </a:rPr>
              <a:t>, foo</a:t>
            </a:r>
            <a:r>
              <a:rPr lang="en-US" sz="1400" b="1" dirty="0" smtClean="0">
                <a:solidFill>
                  <a:srgbClr val="4A6300"/>
                </a:solidFill>
                <a:latin typeface="Consolas"/>
                <a:cs typeface="Consolas"/>
              </a:rPr>
              <a:t>(2)</a:t>
            </a:r>
            <a:r>
              <a:rPr lang="en-US" sz="1400" b="1" dirty="0">
                <a:solidFill>
                  <a:srgbClr val="4A6300"/>
                </a:solidFill>
                <a:latin typeface="Consolas"/>
                <a:cs typeface="Consolas"/>
              </a:rPr>
              <a:t>)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098605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Optional </a:t>
            </a:r>
            <a:r>
              <a:rPr lang="en-US" dirty="0" smtClean="0">
                <a:latin typeface="Century Gothic" charset="0"/>
              </a:rPr>
              <a:t>Conceptual Questions (Friday 9/5 lecture - Python)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pPr marL="527050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Write an assignment statement to bind names </a:t>
            </a:r>
            <a:r>
              <a:rPr lang="en-US" sz="2000" dirty="0" smtClean="0">
                <a:solidFill>
                  <a:srgbClr val="4A6300"/>
                </a:solidFill>
                <a:latin typeface="Consolas"/>
                <a:cs typeface="Consolas"/>
              </a:rPr>
              <a:t>a, b, c, d</a:t>
            </a: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to the output of </a:t>
            </a:r>
            <a:r>
              <a:rPr lang="en-US" sz="2000" dirty="0" err="1" smtClean="0">
                <a:solidFill>
                  <a:srgbClr val="4A6300"/>
                </a:solidFill>
                <a:latin typeface="Consolas"/>
                <a:cs typeface="Consolas"/>
              </a:rPr>
              <a:t>square_four</a:t>
            </a: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.</a:t>
            </a:r>
          </a:p>
          <a:p>
            <a:pPr marL="366713" lvl="1" indent="0">
              <a:buNone/>
            </a:pPr>
            <a:r>
              <a:rPr lang="en-US" sz="1800" dirty="0" err="1" smtClean="0">
                <a:solidFill>
                  <a:srgbClr val="4A6300"/>
                </a:solidFill>
                <a:latin typeface="Consolas"/>
                <a:cs typeface="Consolas"/>
              </a:rPr>
              <a:t>def</a:t>
            </a:r>
            <a:r>
              <a:rPr lang="en-US" sz="1800" dirty="0" smtClean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sz="1800" dirty="0" err="1" smtClean="0">
                <a:solidFill>
                  <a:srgbClr val="4A6300"/>
                </a:solidFill>
                <a:latin typeface="Consolas"/>
                <a:cs typeface="Consolas"/>
              </a:rPr>
              <a:t>square_four</a:t>
            </a:r>
            <a:r>
              <a:rPr lang="en-US" sz="1800" dirty="0" smtClean="0">
                <a:solidFill>
                  <a:srgbClr val="4A6300"/>
                </a:solidFill>
                <a:latin typeface="Consolas"/>
                <a:cs typeface="Consolas"/>
              </a:rPr>
              <a:t>(a, b, c, d):</a:t>
            </a:r>
          </a:p>
          <a:p>
            <a:pPr marL="366713" lvl="1" indent="0">
              <a:buNone/>
            </a:pPr>
            <a:r>
              <a:rPr lang="en-US" sz="1800" dirty="0">
                <a:solidFill>
                  <a:srgbClr val="4A6300"/>
                </a:solidFill>
                <a:latin typeface="Consolas"/>
                <a:cs typeface="Consolas"/>
              </a:rPr>
              <a:t>  """</a:t>
            </a:r>
            <a:r>
              <a:rPr lang="en-US" sz="1800" dirty="0" smtClean="0">
                <a:solidFill>
                  <a:srgbClr val="4A6300"/>
                </a:solidFill>
                <a:latin typeface="Consolas"/>
                <a:cs typeface="Consolas"/>
              </a:rPr>
              <a:t>Takes in 4 numbers and returns each </a:t>
            </a:r>
            <a:r>
              <a:rPr lang="en-US" sz="1800" dirty="0">
                <a:solidFill>
                  <a:srgbClr val="4A6300"/>
                </a:solidFill>
                <a:latin typeface="Consolas"/>
                <a:cs typeface="Consolas"/>
              </a:rPr>
              <a:t>number’s </a:t>
            </a:r>
            <a:r>
              <a:rPr lang="en-US" sz="1800" dirty="0" smtClean="0">
                <a:solidFill>
                  <a:srgbClr val="4A6300"/>
                </a:solidFill>
                <a:latin typeface="Consolas"/>
                <a:cs typeface="Consolas"/>
              </a:rPr>
              <a:t>square.      	Returns 4 numbers in total."</a:t>
            </a:r>
            <a:r>
              <a:rPr lang="en-US" sz="1800" dirty="0">
                <a:solidFill>
                  <a:srgbClr val="4A6300"/>
                </a:solidFill>
                <a:latin typeface="Consolas"/>
                <a:cs typeface="Consolas"/>
              </a:rPr>
              <a:t>""</a:t>
            </a:r>
            <a:endParaRPr lang="en-US" sz="1800" dirty="0" smtClean="0">
              <a:solidFill>
                <a:srgbClr val="4A6300"/>
              </a:solidFill>
              <a:latin typeface="Consolas"/>
              <a:cs typeface="Consolas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Write </a:t>
            </a:r>
            <a:r>
              <a:rPr lang="en-US" sz="2000" dirty="0" err="1" smtClean="0">
                <a:solidFill>
                  <a:srgbClr val="4A6300"/>
                </a:solidFill>
                <a:latin typeface="Consolas"/>
                <a:cs typeface="Consolas"/>
              </a:rPr>
              <a:t>doctests</a:t>
            </a: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for </a:t>
            </a:r>
            <a:r>
              <a:rPr lang="en-US" sz="2000" dirty="0" err="1" smtClean="0">
                <a:solidFill>
                  <a:srgbClr val="4A6300"/>
                </a:solidFill>
                <a:latin typeface="Consolas"/>
                <a:cs typeface="Consolas"/>
              </a:rPr>
              <a:t>square_four</a:t>
            </a:r>
            <a:r>
              <a:rPr lang="en-US" sz="2000" dirty="0" smtClean="0">
                <a:solidFill>
                  <a:srgbClr val="4A6300"/>
                </a:solidFill>
                <a:latin typeface="Consolas"/>
                <a:cs typeface="Consolas"/>
              </a:rPr>
              <a:t>.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4A6300"/>
                </a:solidFill>
                <a:latin typeface="Avenir Book"/>
                <a:cs typeface="Avenir Book"/>
              </a:rPr>
              <a:t>Change the </a:t>
            </a:r>
            <a:r>
              <a:rPr lang="en-US" sz="2000" dirty="0" err="1" smtClean="0">
                <a:solidFill>
                  <a:srgbClr val="4A6300"/>
                </a:solidFill>
                <a:latin typeface="Avenir Book"/>
                <a:cs typeface="Avenir Book"/>
              </a:rPr>
              <a:t>func</a:t>
            </a:r>
            <a:r>
              <a:rPr lang="en-US" sz="2000" dirty="0" smtClean="0">
                <a:solidFill>
                  <a:srgbClr val="4A6300"/>
                </a:solidFill>
                <a:latin typeface="Avenir Book"/>
                <a:cs typeface="Avenir Book"/>
              </a:rPr>
              <a:t> signature below to make </a:t>
            </a:r>
            <a:r>
              <a:rPr lang="en-US" sz="2000" dirty="0" smtClean="0">
                <a:solidFill>
                  <a:srgbClr val="4A6300"/>
                </a:solidFill>
                <a:latin typeface="Consolas"/>
                <a:cs typeface="Consolas"/>
              </a:rPr>
              <a:t>best</a:t>
            </a:r>
            <a:r>
              <a:rPr lang="en-US" sz="2000" dirty="0" smtClean="0">
                <a:solidFill>
                  <a:srgbClr val="4A6300"/>
                </a:solidFill>
                <a:latin typeface="Avenir Book"/>
                <a:cs typeface="Avenir Book"/>
              </a:rPr>
              <a:t> default to </a:t>
            </a:r>
            <a:r>
              <a:rPr lang="en-US" sz="2000" dirty="0" smtClean="0">
                <a:solidFill>
                  <a:srgbClr val="4A6300"/>
                </a:solidFill>
                <a:latin typeface="Consolas"/>
                <a:cs typeface="Consolas"/>
              </a:rPr>
              <a:t>True</a:t>
            </a:r>
            <a:r>
              <a:rPr lang="en-US" sz="2000" dirty="0" smtClean="0">
                <a:solidFill>
                  <a:srgbClr val="4A6300"/>
                </a:solidFill>
                <a:latin typeface="Avenir Book"/>
                <a:cs typeface="Avenir Book"/>
              </a:rPr>
              <a:t>.</a:t>
            </a:r>
          </a:p>
          <a:p>
            <a:pPr marL="69850" indent="0">
              <a:buNone/>
            </a:pPr>
            <a:r>
              <a:rPr lang="en-US" sz="2000" dirty="0" smtClean="0">
                <a:solidFill>
                  <a:srgbClr val="4A6300"/>
                </a:solidFill>
                <a:latin typeface="Consolas"/>
                <a:cs typeface="Consolas"/>
              </a:rPr>
              <a:t>	</a:t>
            </a:r>
            <a:r>
              <a:rPr lang="en-US" sz="2000" dirty="0" err="1" smtClean="0">
                <a:solidFill>
                  <a:srgbClr val="4A6300"/>
                </a:solidFill>
                <a:latin typeface="Consolas"/>
                <a:cs typeface="Consolas"/>
              </a:rPr>
              <a:t>def</a:t>
            </a:r>
            <a:r>
              <a:rPr lang="en-US" sz="2000" dirty="0" smtClean="0">
                <a:solidFill>
                  <a:srgbClr val="4A6300"/>
                </a:solidFill>
                <a:latin typeface="Consolas"/>
                <a:cs typeface="Consolas"/>
              </a:rPr>
              <a:t> go(bears, best):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4A6300"/>
                </a:solidFill>
                <a:latin typeface="Avenir Book"/>
                <a:cs typeface="Avenir Book"/>
              </a:rPr>
              <a:t>What part of the </a:t>
            </a:r>
            <a:r>
              <a:rPr lang="en-US" sz="2000" dirty="0" err="1" smtClean="0">
                <a:solidFill>
                  <a:srgbClr val="4A6300"/>
                </a:solidFill>
                <a:latin typeface="Avenir Book"/>
                <a:cs typeface="Avenir Book"/>
              </a:rPr>
              <a:t>eval</a:t>
            </a:r>
            <a:r>
              <a:rPr lang="en-US" sz="2000" dirty="0" smtClean="0">
                <a:solidFill>
                  <a:srgbClr val="4A6300"/>
                </a:solidFill>
                <a:latin typeface="Avenir Book"/>
                <a:cs typeface="Avenir Book"/>
              </a:rPr>
              <a:t>/apply rules for evaluating call expressions do we have to modify to support default arguments?</a:t>
            </a:r>
            <a:endParaRPr lang="en-US" sz="2000" dirty="0" smtClean="0">
              <a:solidFill>
                <a:srgbClr val="4A6300"/>
              </a:solidFill>
              <a:latin typeface="Avenir Book"/>
              <a:cs typeface="Avenir Book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93699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Optional </a:t>
            </a:r>
            <a:r>
              <a:rPr lang="en-US" dirty="0" smtClean="0">
                <a:latin typeface="Century Gothic" charset="0"/>
              </a:rPr>
              <a:t>Conceptual Questions (Monday 9/8 lecture)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Explain how the following line works:</a:t>
            </a:r>
          </a:p>
          <a:p>
            <a:pPr marL="69850" indent="0">
              <a:buNone/>
            </a:pPr>
            <a:r>
              <a:rPr lang="en-US" sz="1800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	</a:t>
            </a:r>
            <a:r>
              <a:rPr lang="en-US" sz="1800" dirty="0" smtClean="0">
                <a:solidFill>
                  <a:srgbClr val="4A6300"/>
                </a:solidFill>
                <a:latin typeface="Consolas"/>
                <a:cs typeface="Consolas"/>
              </a:rPr>
              <a:t>assert x == 2, “x is not 2”</a:t>
            </a: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The characteristics of a function are the domain, range, and behavior.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Define each of these terms.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Find the domain, range, and behavior of this code:</a:t>
            </a:r>
          </a:p>
          <a:p>
            <a:pPr marL="366713" lvl="1" indent="0">
              <a:buNone/>
            </a:pPr>
            <a:r>
              <a:rPr lang="en-US" sz="1400" dirty="0" err="1" smtClean="0">
                <a:solidFill>
                  <a:srgbClr val="4A6300"/>
                </a:solidFill>
                <a:latin typeface="Consolas"/>
                <a:cs typeface="Consolas"/>
              </a:rPr>
              <a:t>def</a:t>
            </a: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 pyramid(n):</a:t>
            </a:r>
          </a:p>
          <a:p>
            <a:pPr marL="366713" lvl="1" indent="0">
              <a:buNone/>
            </a:pP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  a, b, total = 0, n, 0</a:t>
            </a:r>
          </a:p>
          <a:p>
            <a:pPr marL="366713" lvl="1" indent="0">
              <a:buNone/>
            </a:pPr>
            <a:r>
              <a:rPr lang="en-US" sz="1400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 while b:</a:t>
            </a:r>
          </a:p>
          <a:p>
            <a:pPr marL="366713" lvl="1" indent="0">
              <a:buNone/>
            </a:pPr>
            <a:r>
              <a:rPr lang="en-US" sz="1400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   a, b = a+1, b-1</a:t>
            </a:r>
          </a:p>
          <a:p>
            <a:pPr marL="366713" lvl="1" indent="0">
              <a:buNone/>
            </a:pPr>
            <a:r>
              <a:rPr lang="en-US" sz="1400" dirty="0">
                <a:solidFill>
                  <a:srgbClr val="4A6300"/>
                </a:solidFill>
                <a:latin typeface="Consolas"/>
                <a:cs typeface="Consolas"/>
              </a:rPr>
              <a:t>  </a:t>
            </a: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  total = total + a + b</a:t>
            </a:r>
          </a:p>
          <a:p>
            <a:pPr marL="366713" lvl="1" indent="0">
              <a:buNone/>
            </a:pPr>
            <a:r>
              <a:rPr lang="en-US" sz="1400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 return total</a:t>
            </a:r>
            <a:r>
              <a:rPr lang="en-US" sz="1400" dirty="0">
                <a:solidFill>
                  <a:srgbClr val="4A6300"/>
                </a:solidFill>
                <a:latin typeface="Consolas"/>
                <a:cs typeface="Consolas"/>
              </a:rPr>
              <a:t>	</a:t>
            </a:r>
            <a:endParaRPr lang="en-US" sz="20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What’re advantages of higher order functions (HOFs)? Disadvantages?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Give examples (real life examples ok!) of how: HOFs express general methods of computation, HOFs remove repetition from programs, HOFs separate concerns among </a:t>
            </a:r>
            <a:r>
              <a:rPr lang="en-US" sz="18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functios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.</a:t>
            </a: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00123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iscussion0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discussion0.ppt</Template>
  <TotalTime>5093</TotalTime>
  <Words>1031</Words>
  <Application>Microsoft Macintosh PowerPoint</Application>
  <PresentationFormat>On-screen Show (4:3)</PresentationFormat>
  <Paragraphs>147</Paragraphs>
  <Slides>12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discussion0</vt:lpstr>
      <vt:lpstr>Welcome to CS61A Lab 2 Sect. 29/47 :D</vt:lpstr>
      <vt:lpstr>Optional Section Homework [Canceled]</vt:lpstr>
      <vt:lpstr>Review</vt:lpstr>
      <vt:lpstr>Anuncios</vt:lpstr>
      <vt:lpstr>Tip of the Day</vt:lpstr>
      <vt:lpstr>Tip of the Day</vt:lpstr>
      <vt:lpstr>Tip of the Day</vt:lpstr>
      <vt:lpstr>Directions</vt:lpstr>
      <vt:lpstr>To get to my website</vt:lpstr>
      <vt:lpstr>Optional Conceptual Questions (Friday 9/5 lecture)</vt:lpstr>
      <vt:lpstr>Optional Conceptual Questions (Friday 9/5 lecture - Python)</vt:lpstr>
      <vt:lpstr>Optional Conceptual Questions (Monday 9/8 lecture)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CS61A Section 47 :D</dc:title>
  <dc:creator>Dickson Tsai</dc:creator>
  <cp:lastModifiedBy>Dickson Tsai</cp:lastModifiedBy>
  <cp:revision>48</cp:revision>
  <dcterms:created xsi:type="dcterms:W3CDTF">2014-08-28T16:21:02Z</dcterms:created>
  <dcterms:modified xsi:type="dcterms:W3CDTF">2014-09-09T08:08:57Z</dcterms:modified>
</cp:coreProperties>
</file>