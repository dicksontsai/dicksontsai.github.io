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792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-12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D6FA6C3-894D-9342-858C-89781436E0BA}" type="datetimeFigureOut">
              <a:rPr lang="en-US"/>
              <a:pPr>
                <a:defRPr/>
              </a:pPr>
              <a:t>8/30/14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C915EBA-7225-EA45-954F-AB711B4338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512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11027A8-00FB-C24C-8EBA-1EDF84C5EE30}" type="datetimeFigureOut">
              <a:rPr lang="en-US"/>
              <a:pPr>
                <a:defRPr/>
              </a:pPr>
              <a:t>8/30/14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noProof="0" smtClean="0"/>
              <a:t>Click to edit Master text styles</a:t>
            </a:r>
          </a:p>
          <a:p>
            <a:pPr lvl="1"/>
            <a:r>
              <a:rPr lang="x-none" noProof="0" smtClean="0"/>
              <a:t>Second level</a:t>
            </a:r>
          </a:p>
          <a:p>
            <a:pPr lvl="2"/>
            <a:r>
              <a:rPr lang="x-none" noProof="0" smtClean="0"/>
              <a:t>Third level</a:t>
            </a:r>
          </a:p>
          <a:p>
            <a:pPr lvl="3"/>
            <a:r>
              <a:rPr lang="x-none" noProof="0" smtClean="0"/>
              <a:t>Fourth level</a:t>
            </a:r>
          </a:p>
          <a:p>
            <a:pPr lvl="4"/>
            <a:r>
              <a:rPr lang="x-none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B6E1B7-B6E5-514A-9283-C0DC69B17F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435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1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2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4" name="Rectangle 33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1" name="Rectangle 30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6" name="Freeform 5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Hexagon 10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Hexagon 16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3" name="Rectangle 42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649788" y="-22225"/>
            <a:ext cx="3505200" cy="2312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 dirty="0"/>
          </a:p>
        </p:txBody>
      </p:sp>
      <p:sp>
        <p:nvSpPr>
          <p:cNvPr id="47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688" y="1516063"/>
            <a:ext cx="2133600" cy="752475"/>
          </a:xfrm>
        </p:spPr>
        <p:txBody>
          <a:bodyPr anchor="b"/>
          <a:lstStyle>
            <a:lvl1pPr algn="l">
              <a:defRPr sz="2400" smtClean="0"/>
            </a:lvl1pPr>
          </a:lstStyle>
          <a:p>
            <a:pPr>
              <a:defRPr/>
            </a:pPr>
            <a:fld id="{6655137A-6FB0-1C4E-94C3-267D0A594E98}" type="datetime4">
              <a:rPr lang="en-US"/>
              <a:pPr>
                <a:defRPr/>
              </a:pPr>
              <a:t>August 30, 2014</a:t>
            </a:fld>
            <a:endParaRPr lang="en-US" dirty="0"/>
          </a:p>
        </p:txBody>
      </p:sp>
      <p:sp>
        <p:nvSpPr>
          <p:cNvPr id="4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838" y="5719763"/>
            <a:ext cx="2830512" cy="365125"/>
          </a:xfrm>
        </p:spPr>
        <p:txBody>
          <a:bodyPr>
            <a:normAutofit/>
          </a:bodyPr>
          <a:lstStyle>
            <a:lvl1pPr>
              <a:defRPr dirty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788" y="5719763"/>
            <a:ext cx="642937" cy="365125"/>
          </a:xfrm>
        </p:spPr>
        <p:txBody>
          <a:bodyPr/>
          <a:lstStyle>
            <a:lvl1pPr>
              <a:defRPr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8AB3673-7F39-5843-8E75-30B1437A0E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629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16100-0000-9F4B-9427-59A4B6C5F6E8}" type="datetime4">
              <a:rPr lang="en-US"/>
              <a:pPr>
                <a:defRPr/>
              </a:pPr>
              <a:t>August 30,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15C37-9862-4A4D-8ED0-DA94B4E9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0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/>
          <a:lstStyle>
            <a:lvl1pPr algn="l">
              <a:defRPr sz="4000" b="0" cap="none" baseline="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E6BC0-9B5A-E141-AC34-D53ED23DCC8B}" type="datetime4">
              <a:rPr lang="en-US"/>
              <a:pPr>
                <a:defRPr/>
              </a:pPr>
              <a:t>August 30,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6B77E-877A-634E-8367-933DCBBB0C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80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4F12F-EAF1-5D4C-880F-775AA42497DD}" type="datetime4">
              <a:rPr lang="en-US"/>
              <a:pPr>
                <a:defRPr/>
              </a:pPr>
              <a:t>August 30, 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34F99-59E1-674F-B576-6D449172E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6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A0580-2F88-7044-9CC5-C84EE5CA0F77}" type="datetime4">
              <a:rPr lang="en-US"/>
              <a:pPr>
                <a:defRPr/>
              </a:pPr>
              <a:t>August 30, 2014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50751-79D9-1344-AD3D-FA20E3482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9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403FB-6F30-AC4D-8EDB-8F62E14D9E80}" type="datetime4">
              <a:rPr lang="en-US"/>
              <a:pPr>
                <a:defRPr/>
              </a:pPr>
              <a:t>August 30, 2014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8FC7C-C76F-7B4C-A7EE-E50F653139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4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8429B-D636-EC4D-85FC-9BD3CD488279}" type="datetime4">
              <a:rPr lang="en-US"/>
              <a:pPr>
                <a:defRPr/>
              </a:pPr>
              <a:t>August 30, 2014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C0BBE-D4FC-4844-8BE2-FB25DC1A1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9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FDE1A-A3B7-4942-8E99-F13B05783BF1}" type="datetime4">
              <a:rPr lang="en-US"/>
              <a:pPr>
                <a:defRPr/>
              </a:pPr>
              <a:t>August 30, 2014</a:t>
            </a:fld>
            <a:endParaRPr lang="en-US"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198C8-ACE9-D74A-862F-4CCA0EB14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0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5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DDEC9-34B2-2B47-8562-0DB2DDF36A93}" type="datetime4">
              <a:rPr lang="en-US"/>
              <a:pPr>
                <a:defRPr/>
              </a:pPr>
              <a:t>August 30, 2014</a:t>
            </a:fld>
            <a:endParaRPr lang="en-US"/>
          </a:p>
        </p:txBody>
      </p:sp>
      <p:sp>
        <p:nvSpPr>
          <p:cNvPr id="4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4C8CE-B679-E249-8A21-F0C3828050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12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53F03-5748-284E-8EA1-FA16176281C4}" type="datetime4">
              <a:rPr lang="en-US"/>
              <a:pPr>
                <a:defRPr/>
              </a:pPr>
              <a:t>August 30,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80443-B5BA-1441-A0F5-E0E8C82EE8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6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6883A8-6536-C340-9C9B-990BB2391E14}" type="datetime4">
              <a:rPr lang="en-US"/>
              <a:pPr>
                <a:defRPr/>
              </a:pPr>
              <a:t>August 30,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EAA6B-3350-4147-9EAD-27A9D5A683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3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1"/>
          <p:cNvGrpSpPr>
            <a:grpSpLocks/>
          </p:cNvGrpSpPr>
          <p:nvPr/>
        </p:nvGrpSpPr>
        <p:grpSpPr bwMode="auto">
          <a:xfrm>
            <a:off x="-304800" y="0"/>
            <a:ext cx="9932988" cy="6858000"/>
            <a:chOff x="-382404" y="0"/>
            <a:chExt cx="9932332" cy="6858000"/>
          </a:xfrm>
        </p:grpSpPr>
        <p:grpSp>
          <p:nvGrpSpPr>
            <p:cNvPr id="103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5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5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6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6373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2033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30618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2540" y="5035550"/>
              <a:ext cx="9144983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2540" y="3467100"/>
              <a:ext cx="9144983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2540" y="5284788"/>
              <a:ext cx="9144983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6793" y="5132388"/>
              <a:ext cx="6982951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5573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19425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8949" y="159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6524" y="32543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2326" y="53832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3969" y="540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542" y="28495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394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09771" y="54117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8820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443" y="15636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997" y="4056063"/>
              <a:ext cx="1242931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997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375"/>
            <a:ext cx="8229600" cy="61864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0888" y="-22225"/>
            <a:ext cx="3679825" cy="700088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0" name="Title Placeholder 1"/>
          <p:cNvSpPr>
            <a:spLocks noGrp="1"/>
          </p:cNvSpPr>
          <p:nvPr>
            <p:ph type="title"/>
          </p:nvPr>
        </p:nvSpPr>
        <p:spPr bwMode="auto"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3356F25-E6A9-6B44-B749-785EDDA8CCD6}" type="datetime4">
              <a:rPr lang="en-US"/>
              <a:pPr>
                <a:defRPr/>
              </a:pPr>
              <a:t>August 30,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58D96C5-9F30-DE44-9E70-A9B197719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6" r:id="rId8"/>
    <p:sldLayoutId id="2147483817" r:id="rId9"/>
    <p:sldLayoutId id="2147483813" r:id="rId10"/>
    <p:sldLayoutId id="214748381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40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639763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200" kern="1200">
          <a:solidFill>
            <a:schemeClr val="tx2"/>
          </a:solidFill>
          <a:latin typeface="+mn-lt"/>
          <a:ea typeface="ＭＳ Ｐゴシック" charset="0"/>
          <a:cs typeface="+mn-cs"/>
        </a:defRPr>
      </a:lvl2pPr>
      <a:lvl3pPr marL="914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000" kern="1200">
          <a:solidFill>
            <a:schemeClr val="tx2"/>
          </a:solidFill>
          <a:latin typeface="+mn-lt"/>
          <a:ea typeface="ＭＳ Ｐゴシック" charset="0"/>
          <a:cs typeface="+mn-cs"/>
        </a:defRPr>
      </a:lvl3pPr>
      <a:lvl4pPr marL="112395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kern="1200">
          <a:solidFill>
            <a:schemeClr val="tx2"/>
          </a:solidFill>
          <a:latin typeface="+mn-lt"/>
          <a:ea typeface="ＭＳ Ｐゴシック" charset="0"/>
          <a:cs typeface="+mn-cs"/>
        </a:defRPr>
      </a:lvl4pPr>
      <a:lvl5pPr marL="1325563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1600" kern="1200">
          <a:solidFill>
            <a:schemeClr val="tx2"/>
          </a:solidFill>
          <a:latin typeface="+mn-lt"/>
          <a:ea typeface="ＭＳ Ｐゴシック" charset="0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dickson.tsai@berkeley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/>
          <p:cNvSpPr>
            <a:spLocks noGrp="1"/>
          </p:cNvSpPr>
          <p:nvPr>
            <p:ph type="ctrTitle"/>
          </p:nvPr>
        </p:nvSpPr>
        <p:spPr>
          <a:xfrm>
            <a:off x="4733925" y="2446338"/>
            <a:ext cx="3313113" cy="1963737"/>
          </a:xfrm>
        </p:spPr>
        <p:txBody>
          <a:bodyPr/>
          <a:lstStyle/>
          <a:p>
            <a:r>
              <a:rPr lang="en-US" dirty="0">
                <a:latin typeface="Century Gothic" charset="0"/>
              </a:rPr>
              <a:t>Welcome to CS61A </a:t>
            </a:r>
            <a:r>
              <a:rPr lang="en-US" dirty="0" smtClean="0">
                <a:latin typeface="Century Gothic" charset="0"/>
              </a:rPr>
              <a:t>Lab 1 Sect. 29</a:t>
            </a:r>
            <a:r>
              <a:rPr lang="en-US" dirty="0">
                <a:latin typeface="Century Gothic" charset="0"/>
              </a:rPr>
              <a:t>/47 :D</a:t>
            </a:r>
          </a:p>
        </p:txBody>
      </p:sp>
      <p:sp>
        <p:nvSpPr>
          <p:cNvPr id="5122" name="Subtitle 2"/>
          <p:cNvSpPr>
            <a:spLocks noGrp="1"/>
          </p:cNvSpPr>
          <p:nvPr>
            <p:ph type="subTitle" idx="1"/>
          </p:nvPr>
        </p:nvSpPr>
        <p:spPr>
          <a:xfrm>
            <a:off x="4733925" y="4421188"/>
            <a:ext cx="3309938" cy="1260475"/>
          </a:xfrm>
        </p:spPr>
        <p:txBody>
          <a:bodyPr/>
          <a:lstStyle/>
          <a:p>
            <a:r>
              <a:rPr lang="en-US">
                <a:latin typeface="Century Gothic" charset="0"/>
              </a:rPr>
              <a:t>Dickson Tsai</a:t>
            </a:r>
          </a:p>
          <a:p>
            <a:r>
              <a:rPr lang="en-US">
                <a:latin typeface="Century Gothic" charset="0"/>
                <a:hlinkClick r:id="rId2"/>
              </a:rPr>
              <a:t>dickson.tsai@berkeley.edu</a:t>
            </a:r>
            <a:endParaRPr lang="en-US">
              <a:latin typeface="Century Gothic" charset="0"/>
            </a:endParaRPr>
          </a:p>
          <a:p>
            <a:r>
              <a:rPr lang="en-US">
                <a:latin typeface="Century Gothic" charset="0"/>
              </a:rPr>
              <a:t>OH: Tu, Th 4-5pm 411 Soda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-282575" y="4425950"/>
            <a:ext cx="47815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 smtClean="0">
                <a:solidFill>
                  <a:srgbClr val="424242"/>
                </a:solidFill>
              </a:rPr>
              <a:t>Previous: UNIX </a:t>
            </a:r>
            <a:r>
              <a:rPr lang="en-US" b="1" dirty="0" smtClean="0">
                <a:solidFill>
                  <a:srgbClr val="424242"/>
                </a:solidFill>
              </a:rPr>
              <a:t>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b="1" dirty="0">
                <a:solidFill>
                  <a:srgbClr val="424242"/>
                </a:solidFill>
              </a:rPr>
              <a:t>Today: </a:t>
            </a:r>
            <a:r>
              <a:rPr lang="en-US" b="1" dirty="0" smtClean="0">
                <a:solidFill>
                  <a:srgbClr val="424242"/>
                </a:solidFill>
              </a:rPr>
              <a:t>Your Own Machine 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>
                <a:solidFill>
                  <a:srgbClr val="424242"/>
                </a:solidFill>
              </a:rPr>
              <a:t>Next stop: </a:t>
            </a:r>
            <a:r>
              <a:rPr lang="en-US" dirty="0" smtClean="0">
                <a:solidFill>
                  <a:srgbClr val="424242"/>
                </a:solidFill>
              </a:rPr>
              <a:t>Control and Higher Order Functions</a:t>
            </a:r>
            <a:endParaRPr lang="en-US" dirty="0">
              <a:solidFill>
                <a:srgbClr val="424242"/>
              </a:solidFill>
            </a:endParaRPr>
          </a:p>
        </p:txBody>
      </p:sp>
      <p:sp>
        <p:nvSpPr>
          <p:cNvPr id="512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4F7D4B-5206-4F42-A4A3-937B571AE82A}" type="slidenum">
              <a:rPr lang="en-US">
                <a:solidFill>
                  <a:schemeClr val="accent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entury Gothic" charset="0"/>
              </a:rPr>
              <a:t>Anuncios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Divide yourselves based on: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Windows user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Mac/Linux user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Already set up Python and did the lab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Post-lab activities – Work together to build something cool!!!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Work with the Shakespeare data set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Write a program that gives you the current headlines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Write something that you see yourself using tonight</a:t>
            </a:r>
          </a:p>
          <a:p>
            <a:pPr lvl="1"/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solidFill>
                <a:srgbClr val="FEFEFE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897467" y="739246"/>
            <a:ext cx="7365999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Optional Section Homework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7467" y="2092854"/>
            <a:ext cx="7365999" cy="4155546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This will be used to mark attendance for the next section for midterm recovery. Will help participation (but you can participate in other ways as well!)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These should take at most 15 minutes, if you keep up with your reading.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Submit with voice recording, email, paper, slideshow, however you want. 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Graded on effort, but use your time wisely. 10 minutes of BS &lt; 10 minutes of </a:t>
            </a:r>
            <a:r>
              <a:rPr lang="en-US" b="1" i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citing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the textbook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Feel free to make your own questions!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9302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897467" y="1027113"/>
            <a:ext cx="7365999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Optional Section Homework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do names/assignment provide abstraction?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does Python evaluate a call expression?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does Python evaluate primitive expressions?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Write a function 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square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that takes in a number and returns the square of that number.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Now write call expressions that call the 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square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function. Try nesting once you get the basics!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Note that the operator can be expressed using a call expression. How can this be useful?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f(2)(3, 4)</a:t>
            </a:r>
            <a:endParaRPr lang="en-US" dirty="0">
              <a:solidFill>
                <a:srgbClr val="4A6300"/>
              </a:solidFill>
              <a:latin typeface="Consolas"/>
              <a:cs typeface="Consolas"/>
            </a:endParaRPr>
          </a:p>
          <a:p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8605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Directions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Get an account form from me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Log into the school computer with your account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Open the terminal. There is a funny looking round thing on the top left. Click that, then search/open terminal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Run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ssh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update.cs.berkeley.edu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to change your password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>
                <a:solidFill>
                  <a:srgbClr val="4A6300"/>
                </a:solidFill>
                <a:latin typeface="Avenir Book"/>
                <a:cs typeface="Avenir Book"/>
              </a:rPr>
              <a:t>A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ccess the labs for today at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cs61a.org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Work on lab 0 on the school computers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Now, you can use your personal machines for lab 1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Connect remotely: </a:t>
            </a:r>
            <a:r>
              <a:rPr lang="en-US" sz="1800" dirty="0" err="1" smtClean="0">
                <a:solidFill>
                  <a:srgbClr val="4A6300"/>
                </a:solidFill>
                <a:latin typeface="Consolas"/>
                <a:cs typeface="Consolas"/>
              </a:rPr>
              <a:t>ssh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</a:rPr>
              <a:t> cs61a-???@cory.eecs.berkeley.edu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Remember to submit lab01.py from your class account</a:t>
            </a:r>
          </a:p>
          <a:p>
            <a:pPr marL="69850" indent="0">
              <a:buNone/>
            </a:pP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5473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Directions</a:t>
            </a:r>
            <a:endParaRPr lang="en-US" dirty="0">
              <a:latin typeface="Century Gothic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solidFill>
                <a:srgbClr val="FEFEFE"/>
              </a:solidFill>
            </a:endParaRPr>
          </a:p>
        </p:txBody>
      </p:sp>
      <p:pic>
        <p:nvPicPr>
          <p:cNvPr id="4" name="Picture 3" descr="72883965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09" y="1598613"/>
            <a:ext cx="1750258" cy="1071913"/>
          </a:xfrm>
          <a:prstGeom prst="rect">
            <a:avLst/>
          </a:prstGeom>
        </p:spPr>
      </p:pic>
      <p:pic>
        <p:nvPicPr>
          <p:cNvPr id="5" name="Picture 4" descr="skd188803sdc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03"/>
          <a:stretch/>
        </p:blipFill>
        <p:spPr>
          <a:xfrm>
            <a:off x="3657600" y="2423620"/>
            <a:ext cx="1484942" cy="2874360"/>
          </a:xfrm>
          <a:prstGeom prst="rect">
            <a:avLst/>
          </a:prstGeom>
        </p:spPr>
      </p:pic>
      <p:pic>
        <p:nvPicPr>
          <p:cNvPr id="8" name="Picture 7" descr="skd188803sdc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03"/>
          <a:stretch/>
        </p:blipFill>
        <p:spPr>
          <a:xfrm>
            <a:off x="4400071" y="2423620"/>
            <a:ext cx="1484942" cy="2874360"/>
          </a:xfrm>
          <a:prstGeom prst="rect">
            <a:avLst/>
          </a:prstGeom>
        </p:spPr>
      </p:pic>
      <p:pic>
        <p:nvPicPr>
          <p:cNvPr id="9" name="Picture 8" descr="skd188803sdc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03"/>
          <a:stretch/>
        </p:blipFill>
        <p:spPr>
          <a:xfrm>
            <a:off x="5142542" y="2423620"/>
            <a:ext cx="1484942" cy="287436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2319867" y="2959576"/>
            <a:ext cx="1168400" cy="13076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042988" y="2959576"/>
            <a:ext cx="2614612" cy="21881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6627484" y="2252133"/>
            <a:ext cx="755449" cy="18965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miley Face 16"/>
          <p:cNvSpPr/>
          <p:nvPr/>
        </p:nvSpPr>
        <p:spPr>
          <a:xfrm>
            <a:off x="7106920" y="775653"/>
            <a:ext cx="822960" cy="822960"/>
          </a:xfrm>
          <a:prstGeom prst="smileyFac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981199" y="1977344"/>
            <a:ext cx="426189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latin typeface="Consolas"/>
                <a:cs typeface="Consolas"/>
              </a:rPr>
              <a:t>ssh</a:t>
            </a:r>
            <a:r>
              <a:rPr lang="en-US" sz="1600" dirty="0" smtClean="0">
                <a:latin typeface="Consolas"/>
                <a:cs typeface="Consolas"/>
              </a:rPr>
              <a:t> cs61a-??@</a:t>
            </a:r>
            <a:r>
              <a:rPr lang="en-US" sz="1600" dirty="0" err="1" smtClean="0">
                <a:latin typeface="Consolas"/>
                <a:cs typeface="Consolas"/>
              </a:rPr>
              <a:t>cory.eecs.berkeley.edu</a:t>
            </a:r>
            <a:endParaRPr lang="en-US" sz="1600" dirty="0" smtClean="0">
              <a:latin typeface="Consolas"/>
              <a:cs typeface="Consolas"/>
            </a:endParaRPr>
          </a:p>
          <a:p>
            <a:r>
              <a:rPr lang="en-US" dirty="0" smtClean="0"/>
              <a:t>connect to remote</a:t>
            </a:r>
          </a:p>
          <a:p>
            <a:r>
              <a:rPr lang="en-US" dirty="0" smtClean="0"/>
              <a:t>terminal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 rot="2562708">
            <a:off x="-714476" y="4187916"/>
            <a:ext cx="60686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/>
                <a:cs typeface="Consolas"/>
              </a:rPr>
              <a:t>s</a:t>
            </a:r>
            <a:r>
              <a:rPr lang="en-US" dirty="0" err="1" smtClean="0">
                <a:latin typeface="Consolas"/>
                <a:cs typeface="Consolas"/>
              </a:rPr>
              <a:t>cp</a:t>
            </a:r>
            <a:r>
              <a:rPr lang="en-US" dirty="0" smtClean="0">
                <a:latin typeface="Consolas"/>
                <a:cs typeface="Consolas"/>
              </a:rPr>
              <a:t> ~/path/to/</a:t>
            </a:r>
            <a:r>
              <a:rPr lang="en-US" dirty="0" err="1" smtClean="0">
                <a:latin typeface="Consolas"/>
                <a:cs typeface="Consolas"/>
              </a:rPr>
              <a:t>file.py</a:t>
            </a:r>
            <a:r>
              <a:rPr lang="en-US" dirty="0" smtClean="0">
                <a:latin typeface="Consolas"/>
                <a:cs typeface="Consolas"/>
              </a:rPr>
              <a:t> </a:t>
            </a:r>
          </a:p>
          <a:p>
            <a:r>
              <a:rPr lang="en-US" dirty="0" smtClean="0">
                <a:latin typeface="Consolas"/>
                <a:cs typeface="Consolas"/>
              </a:rPr>
              <a:t>cs61a-??@</a:t>
            </a:r>
            <a:r>
              <a:rPr lang="en-US" dirty="0" err="1" smtClean="0">
                <a:latin typeface="Consolas"/>
                <a:cs typeface="Consolas"/>
              </a:rPr>
              <a:t>cory.eecs.berkeley.edu</a:t>
            </a:r>
            <a:r>
              <a:rPr lang="en-US" dirty="0" smtClean="0">
                <a:latin typeface="Consolas"/>
                <a:cs typeface="Consolas"/>
              </a:rPr>
              <a:t>:~/</a:t>
            </a:r>
            <a:r>
              <a:rPr lang="en-US" dirty="0" err="1" smtClean="0">
                <a:latin typeface="Consolas"/>
                <a:cs typeface="Consolas"/>
              </a:rPr>
              <a:t>dest</a:t>
            </a:r>
            <a:r>
              <a:rPr lang="en-US" dirty="0">
                <a:latin typeface="Consolas"/>
                <a:cs typeface="Consolas"/>
              </a:rPr>
              <a:t>/</a:t>
            </a:r>
            <a:r>
              <a:rPr lang="en-US" dirty="0" smtClean="0">
                <a:latin typeface="Consolas"/>
                <a:cs typeface="Consolas"/>
              </a:rPr>
              <a:t>folder</a:t>
            </a:r>
          </a:p>
          <a:p>
            <a:r>
              <a:rPr lang="en-US" dirty="0" smtClean="0"/>
              <a:t>Copy file to remote server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581764" y="1850813"/>
            <a:ext cx="22675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/>
                <a:cs typeface="Consolas"/>
              </a:rPr>
              <a:t>submit lab01</a:t>
            </a:r>
          </a:p>
          <a:p>
            <a:endParaRPr lang="en-US" dirty="0"/>
          </a:p>
          <a:p>
            <a:r>
              <a:rPr lang="en-US" dirty="0" smtClean="0"/>
              <a:t>Actually give your files to us!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Make sure you are in the right folder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Do not include .</a:t>
            </a:r>
            <a:r>
              <a:rPr lang="en-US" dirty="0" err="1" smtClean="0"/>
              <a:t>py</a:t>
            </a:r>
            <a:r>
              <a:rPr lang="en-US" dirty="0" smtClean="0"/>
              <a:t> ending here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Do not submit from ~ folder</a:t>
            </a:r>
          </a:p>
          <a:p>
            <a:pPr marL="285750" indent="-285750">
              <a:buFontTx/>
              <a:buChar char="-"/>
            </a:pPr>
            <a:endParaRPr lang="en-US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5032364" y="5297980"/>
            <a:ext cx="3098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/>
                <a:cs typeface="Consolas"/>
              </a:rPr>
              <a:t>c</a:t>
            </a:r>
            <a:r>
              <a:rPr lang="en-US" dirty="0" err="1" smtClean="0">
                <a:latin typeface="Consolas"/>
                <a:cs typeface="Consolas"/>
              </a:rPr>
              <a:t>ory</a:t>
            </a:r>
            <a:r>
              <a:rPr lang="en-US" dirty="0" smtClean="0">
                <a:latin typeface="Consolas"/>
                <a:cs typeface="Consolas"/>
              </a:rPr>
              <a:t>[2] ~ #</a:t>
            </a:r>
          </a:p>
          <a:p>
            <a:r>
              <a:rPr lang="en-US" dirty="0" smtClean="0"/>
              <a:t>Your prompt should now say that you are in Berkeley’s server! UNIX is used here!!!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2049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To get to my website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dicksontsai.com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/cs61a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OR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Go to cs61a.org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Click the “Staff” link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Click my name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Go to Discussion for discussion materials</a:t>
            </a:r>
          </a:p>
          <a:p>
            <a:pPr lvl="1"/>
            <a:endParaRPr lang="en-US" dirty="0">
              <a:solidFill>
                <a:srgbClr val="4A6300"/>
              </a:solidFill>
              <a:latin typeface="Avenir Book"/>
              <a:cs typeface="Avenir Book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You will find my slides to discussion/lab. They may be different, because I add more content along the day. 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7864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scussion0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discussion0.ppt</Template>
  <TotalTime>4956</TotalTime>
  <Words>536</Words>
  <Application>Microsoft Macintosh PowerPoint</Application>
  <PresentationFormat>On-screen Show (4:3)</PresentationFormat>
  <Paragraphs>77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Century Gothic</vt:lpstr>
      <vt:lpstr>ＭＳ Ｐゴシック</vt:lpstr>
      <vt:lpstr>Arial</vt:lpstr>
      <vt:lpstr>Wingdings 2</vt:lpstr>
      <vt:lpstr>Calibri</vt:lpstr>
      <vt:lpstr>Avenir Book</vt:lpstr>
      <vt:lpstr>Wingdings</vt:lpstr>
      <vt:lpstr>Consolas</vt:lpstr>
      <vt:lpstr>discussion0</vt:lpstr>
      <vt:lpstr>Welcome to CS61A Lab 1 Sect. 29/47 :D</vt:lpstr>
      <vt:lpstr>Anuncios</vt:lpstr>
      <vt:lpstr>Optional Section Homework</vt:lpstr>
      <vt:lpstr>Optional Section Homework</vt:lpstr>
      <vt:lpstr>Directions</vt:lpstr>
      <vt:lpstr>Directions</vt:lpstr>
      <vt:lpstr>To get to my website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CS61A Section 47 :D</dc:title>
  <dc:creator>Dickson Tsai</dc:creator>
  <cp:lastModifiedBy>Dickson Tsai</cp:lastModifiedBy>
  <cp:revision>31</cp:revision>
  <dcterms:created xsi:type="dcterms:W3CDTF">2014-08-28T16:21:02Z</dcterms:created>
  <dcterms:modified xsi:type="dcterms:W3CDTF">2014-09-03T00:39:13Z</dcterms:modified>
</cp:coreProperties>
</file>