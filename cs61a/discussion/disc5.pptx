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8" r:id="rId3"/>
    <p:sldId id="271" r:id="rId4"/>
    <p:sldId id="305" r:id="rId5"/>
    <p:sldId id="257" r:id="rId6"/>
    <p:sldId id="319" r:id="rId7"/>
    <p:sldId id="260" r:id="rId8"/>
    <p:sldId id="308" r:id="rId9"/>
    <p:sldId id="315" r:id="rId10"/>
    <p:sldId id="321" r:id="rId11"/>
    <p:sldId id="320" r:id="rId12"/>
    <p:sldId id="322" r:id="rId13"/>
    <p:sldId id="323" r:id="rId14"/>
    <p:sldId id="324" r:id="rId15"/>
    <p:sldId id="325" r:id="rId16"/>
    <p:sldId id="326" r:id="rId17"/>
    <p:sldId id="327" r:id="rId18"/>
    <p:sldId id="329" r:id="rId19"/>
    <p:sldId id="328" r:id="rId20"/>
    <p:sldId id="330" r:id="rId21"/>
    <p:sldId id="331" r:id="rId22"/>
    <p:sldId id="332" r:id="rId23"/>
    <p:sldId id="334" r:id="rId24"/>
    <p:sldId id="333" r:id="rId25"/>
    <p:sldId id="310" r:id="rId26"/>
    <p:sldId id="335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804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9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10/3/14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10/3/14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October 3,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October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icksontsai.com/meet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Disc </a:t>
            </a:r>
            <a:r>
              <a:rPr lang="en-US" dirty="0">
                <a:latin typeface="Century Gothic" charset="0"/>
              </a:rPr>
              <a:t>5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</a:t>
            </a:r>
            <a:r>
              <a:rPr lang="en-US" dirty="0" smtClean="0">
                <a:solidFill>
                  <a:srgbClr val="424242"/>
                </a:solidFill>
              </a:rPr>
              <a:t>Data Abstraction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Lists and Trees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Object oriented programming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Logistics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take out a piece of paper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Put your name, login (e.g. cs61a-ty), SID, and section number (#47 for 11-12:30 pm, #29 for 6:30-8pm)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effort: effort = revise your quiz with diff color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669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can I make your lab/discussion experience more worthwhile?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Review: What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is data abstraction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?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From lab: What would Python print?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&gt;&gt;&gt; a = [1, 2, 3, 4]		&gt;&gt;&gt; a + [3]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&gt;&gt;&gt; a[2:]			_____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____				&gt;&gt;&gt; a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&gt;&gt;&gt; a[-2:]			_____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_____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&gt;&gt;&gt; a[-2::-1]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_____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&gt;&gt;&gt; a + 3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_____</a:t>
            </a:r>
          </a:p>
          <a:p>
            <a:pPr marL="366713" lvl="1" indent="0">
              <a:buNone/>
            </a:pPr>
            <a:endParaRPr lang="en-US" sz="1400" dirty="0" smtClean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262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is data abstraction? Think of a real life example.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methodology by which functions enforce an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abstraction barrier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between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representation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and </a:t>
            </a:r>
            <a:r>
              <a:rPr lang="en-US" dirty="0" smtClean="0">
                <a:solidFill>
                  <a:srgbClr val="FF0000"/>
                </a:solidFill>
                <a:latin typeface="Avenir Book" charset="0"/>
                <a:cs typeface="Avenir Book" charset="0"/>
              </a:rPr>
              <a:t>use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2988" y="3762375"/>
            <a:ext cx="241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grid is represented by pixels on a screen</a:t>
            </a:r>
            <a:endParaRPr lang="en-US" dirty="0"/>
          </a:p>
        </p:txBody>
      </p:sp>
      <p:pic>
        <p:nvPicPr>
          <p:cNvPr id="7" name="Picture 6" descr="250px-Sudoku-by-L2G-20050714.sv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383" y="3762375"/>
            <a:ext cx="1638810" cy="1638810"/>
          </a:xfrm>
          <a:prstGeom prst="rect">
            <a:avLst/>
          </a:prstGeom>
        </p:spPr>
      </p:pic>
      <p:pic>
        <p:nvPicPr>
          <p:cNvPr id="8" name="Picture 7" descr="050524_sudoku_hmed_12p.grid-6x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868" y="5401185"/>
            <a:ext cx="1584325" cy="11899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2988" y="5401185"/>
            <a:ext cx="241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grid is represented by a newspaper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49913" y="3914775"/>
            <a:ext cx="30654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both grids: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lookup(</a:t>
            </a:r>
            <a:r>
              <a:rPr lang="en-US" dirty="0" err="1" smtClean="0"/>
              <a:t>board,position</a:t>
            </a:r>
            <a:r>
              <a:rPr lang="en-US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fill_in</a:t>
            </a:r>
            <a:r>
              <a:rPr lang="en-US" dirty="0" smtClean="0"/>
              <a:t>(</a:t>
            </a:r>
            <a:r>
              <a:rPr lang="en-US" dirty="0" err="1" smtClean="0"/>
              <a:t>board,position</a:t>
            </a:r>
            <a:r>
              <a:rPr lang="en-US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take_note</a:t>
            </a:r>
            <a:r>
              <a:rPr lang="en-US" dirty="0" smtClean="0"/>
              <a:t>(board, position, possibility)</a:t>
            </a:r>
          </a:p>
          <a:p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 smtClean="0"/>
              <a:t>is_valid</a:t>
            </a:r>
            <a:r>
              <a:rPr lang="en-US" dirty="0" smtClean="0"/>
              <a:t>(solution)</a:t>
            </a:r>
          </a:p>
          <a:p>
            <a:r>
              <a:rPr lang="en-US" dirty="0" smtClean="0"/>
              <a:t>(Sudoku has the same rules no matter the form!)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291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Section Quiz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[Solutions]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855"/>
            <a:ext cx="8128000" cy="400896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From lab: What would Python print?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&gt;&gt;&gt; a = [1, 2, 3, 4]		&gt;&gt;&gt; a + [3]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&gt;&gt;&gt; a[2:]			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[1, 2, 3, 4, 3]</a:t>
            </a:r>
            <a:endParaRPr lang="en-US" sz="1400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[3, 4]</a:t>
            </a: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			&gt;&gt;&gt; a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&gt;&gt;&gt; a[-2:]			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[1, 2, 3, 4]</a:t>
            </a:r>
            <a:endParaRPr lang="en-US" sz="1400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[3, 4]			(Bonus): &gt;&gt;&gt; a[5:]</a:t>
            </a:r>
            <a:endParaRPr lang="en-US" sz="1400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&gt;&gt;&gt; a[-2::-1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]			[]</a:t>
            </a:r>
            <a:endParaRPr lang="en-US" sz="1400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[3, 2, 1]</a:t>
            </a:r>
            <a:endParaRPr lang="en-US" sz="1400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&gt;&gt;&gt; a + 3</a:t>
            </a:r>
          </a:p>
          <a:p>
            <a:pPr marL="366713" lvl="1" indent="0">
              <a:buNone/>
            </a:pP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TypeError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: can only concatenate list (not “</a:t>
            </a: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int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”) to list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(Bonus): &gt;&gt;&gt; 3 + a</a:t>
            </a:r>
          </a:p>
          <a:p>
            <a:pPr marL="366713" lvl="1" indent="0">
              <a:buNone/>
            </a:pP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TypeError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: unsupported operand type(s) for ‘+’: ‘</a:t>
            </a: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int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’ and ‘list’</a:t>
            </a:r>
            <a:endParaRPr lang="en-US" sz="1400" dirty="0">
              <a:solidFill>
                <a:srgbClr val="4A6300"/>
              </a:solidFill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Explanations:</a:t>
            </a:r>
          </a:p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Slicing and concatenation are non-mutating operations. The original list remains unchanged. You get a new object every time!</a:t>
            </a:r>
          </a:p>
          <a:p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slicing is invalid, you will get an empty list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err="1">
                <a:latin typeface="Century Gothic" charset="0"/>
              </a:rPr>
              <a:t>Anuncios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855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HW4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due next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Tuesday 10/7.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Project 2 Trends due next Wed 10/8 for one extra point, or 10/9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Reminder: My OH are Tuesdays, Thursdays 4-5 PM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Soda 411</a:t>
            </a:r>
          </a:p>
          <a:p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Do </a:t>
            </a:r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post any of your code on a public-viewable platform online. (e.g.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Github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Pastebin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</a:t>
            </a:r>
          </a:p>
          <a:p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Go to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  <a:hlinkClick r:id="rId3"/>
              </a:rPr>
              <a:t>dicksontsai.com/meet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 schedule an appointment if you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would like to talk to me about anything related to the course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 </a:t>
            </a:r>
            <a:endParaRPr lang="en-US" b="1" u="sng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279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5-min Review Recap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Pingpong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(should require) translating an iterative solution to a recursive solution. 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458" y="2794120"/>
            <a:ext cx="53402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fib_iter</a:t>
            </a:r>
            <a:r>
              <a:rPr lang="en-US" dirty="0" smtClean="0">
                <a:latin typeface="Consolas"/>
                <a:cs typeface="Consolas"/>
              </a:rPr>
              <a:t>(</a:t>
            </a:r>
            <a:r>
              <a:rPr lang="en-US" dirty="0" smtClean="0">
                <a:solidFill>
                  <a:srgbClr val="FF6700"/>
                </a:solidFill>
                <a:latin typeface="Consolas"/>
                <a:cs typeface="Consolas"/>
              </a:rPr>
              <a:t>n</a:t>
            </a:r>
            <a:r>
              <a:rPr lang="en-US" dirty="0" smtClean="0">
                <a:latin typeface="Consolas"/>
                <a:cs typeface="Consolas"/>
              </a:rPr>
              <a:t>)</a:t>
            </a:r>
            <a:r>
              <a:rPr lang="en-US" dirty="0" smtClean="0">
                <a:latin typeface="Consolas"/>
                <a:cs typeface="Consolas"/>
              </a:rPr>
              <a:t>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FF6700"/>
                </a:solidFill>
                <a:latin typeface="Consolas"/>
                <a:cs typeface="Consolas"/>
              </a:rPr>
              <a:t>curr</a:t>
            </a:r>
            <a:r>
              <a:rPr lang="en-US" dirty="0" smtClean="0">
                <a:latin typeface="Consolas"/>
                <a:cs typeface="Consolas"/>
              </a:rPr>
              <a:t>, </a:t>
            </a:r>
            <a:r>
              <a:rPr lang="en-US" dirty="0" err="1" smtClean="0">
                <a:solidFill>
                  <a:srgbClr val="FF6700"/>
                </a:solidFill>
                <a:latin typeface="Consolas"/>
                <a:cs typeface="Consolas"/>
              </a:rPr>
              <a:t>prev</a:t>
            </a:r>
            <a:r>
              <a:rPr lang="en-US" dirty="0" smtClean="0">
                <a:solidFill>
                  <a:srgbClr val="FF67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= </a:t>
            </a:r>
            <a:r>
              <a:rPr lang="en-US" dirty="0" smtClean="0">
                <a:solidFill>
                  <a:srgbClr val="FF0000"/>
                </a:solidFill>
                <a:latin typeface="Consolas"/>
                <a:cs typeface="Consolas"/>
              </a:rPr>
              <a:t>0, 1</a:t>
            </a:r>
            <a:endParaRPr lang="en-US" dirty="0" smtClean="0">
              <a:solidFill>
                <a:srgbClr val="FF0000"/>
              </a:solidFill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3366FF"/>
                </a:solidFill>
                <a:latin typeface="Consolas"/>
                <a:cs typeface="Consolas"/>
              </a:rPr>
              <a:t>while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FF00FF"/>
                </a:solidFill>
                <a:latin typeface="Consolas"/>
                <a:cs typeface="Consolas"/>
              </a:rPr>
              <a:t>n &gt; 0</a:t>
            </a:r>
            <a:r>
              <a:rPr lang="en-US" dirty="0" smtClean="0">
                <a:latin typeface="Consolas"/>
                <a:cs typeface="Consolas"/>
              </a:rPr>
              <a:t>:</a:t>
            </a:r>
            <a:endParaRPr lang="en-US" dirty="0" smtClean="0"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</a:t>
            </a:r>
            <a:r>
              <a:rPr lang="en-US" dirty="0" err="1" smtClean="0">
                <a:solidFill>
                  <a:srgbClr val="008000"/>
                </a:solidFill>
                <a:latin typeface="Consolas"/>
                <a:cs typeface="Consolas"/>
              </a:rPr>
              <a:t>curr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, </a:t>
            </a:r>
            <a:r>
              <a:rPr lang="en-US" dirty="0" err="1" smtClean="0">
                <a:solidFill>
                  <a:srgbClr val="008000"/>
                </a:solidFill>
                <a:latin typeface="Consolas"/>
                <a:cs typeface="Consolas"/>
              </a:rPr>
              <a:t>prev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 = </a:t>
            </a:r>
            <a:r>
              <a:rPr lang="en-US" dirty="0" err="1" smtClean="0">
                <a:solidFill>
                  <a:srgbClr val="008000"/>
                </a:solidFill>
                <a:latin typeface="Consolas"/>
                <a:cs typeface="Consolas"/>
              </a:rPr>
              <a:t>curr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 + </a:t>
            </a:r>
            <a:r>
              <a:rPr lang="en-US" dirty="0" err="1" smtClean="0">
                <a:solidFill>
                  <a:srgbClr val="008000"/>
                </a:solidFill>
                <a:latin typeface="Consolas"/>
                <a:cs typeface="Consolas"/>
              </a:rPr>
              <a:t>prev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, </a:t>
            </a:r>
            <a:r>
              <a:rPr lang="en-US" dirty="0" err="1" smtClean="0">
                <a:solidFill>
                  <a:srgbClr val="008000"/>
                </a:solidFill>
                <a:latin typeface="Consolas"/>
                <a:cs typeface="Consolas"/>
              </a:rPr>
              <a:t>curr</a:t>
            </a:r>
            <a:endParaRPr lang="en-US" dirty="0" smtClean="0">
              <a:solidFill>
                <a:srgbClr val="008000"/>
              </a:solidFill>
              <a:latin typeface="Consolas"/>
              <a:cs typeface="Consolas"/>
            </a:endParaRPr>
          </a:p>
          <a:p>
            <a:r>
              <a:rPr lang="en-US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   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n -= 1</a:t>
            </a:r>
          </a:p>
          <a:p>
            <a:r>
              <a:rPr lang="en-US" dirty="0">
                <a:solidFill>
                  <a:srgbClr val="660066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660066"/>
                </a:solidFill>
                <a:latin typeface="Consolas"/>
                <a:cs typeface="Consolas"/>
              </a:rPr>
              <a:t> return </a:t>
            </a:r>
            <a:r>
              <a:rPr lang="en-US" dirty="0" err="1" smtClean="0">
                <a:solidFill>
                  <a:srgbClr val="660066"/>
                </a:solidFill>
                <a:latin typeface="Consolas"/>
                <a:cs typeface="Consolas"/>
              </a:rPr>
              <a:t>curr</a:t>
            </a:r>
            <a:endParaRPr lang="en-US" dirty="0" smtClean="0">
              <a:solidFill>
                <a:srgbClr val="660066"/>
              </a:solidFill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fib_trans</a:t>
            </a:r>
            <a:r>
              <a:rPr lang="en-US" dirty="0" smtClean="0">
                <a:latin typeface="Consolas"/>
                <a:cs typeface="Consolas"/>
              </a:rPr>
              <a:t>(</a:t>
            </a:r>
            <a:r>
              <a:rPr lang="en-US" dirty="0" smtClean="0">
                <a:latin typeface="Consolas"/>
                <a:cs typeface="Consolas"/>
              </a:rPr>
              <a:t>n):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helper(</a:t>
            </a:r>
            <a:r>
              <a:rPr lang="en-US" dirty="0">
                <a:solidFill>
                  <a:srgbClr val="FF6700"/>
                </a:solidFill>
                <a:latin typeface="Consolas"/>
                <a:cs typeface="Consolas"/>
              </a:rPr>
              <a:t>n</a:t>
            </a:r>
            <a:r>
              <a:rPr lang="en-US" dirty="0" smtClean="0">
                <a:solidFill>
                  <a:srgbClr val="FF6700"/>
                </a:solidFill>
                <a:latin typeface="Consolas"/>
                <a:cs typeface="Consolas"/>
              </a:rPr>
              <a:t>, </a:t>
            </a:r>
            <a:r>
              <a:rPr lang="en-US" dirty="0" err="1" smtClean="0">
                <a:solidFill>
                  <a:srgbClr val="FF6700"/>
                </a:solidFill>
                <a:latin typeface="Consolas"/>
                <a:cs typeface="Consolas"/>
              </a:rPr>
              <a:t>curr</a:t>
            </a:r>
            <a:r>
              <a:rPr lang="en-US" dirty="0" smtClean="0">
                <a:solidFill>
                  <a:srgbClr val="FF6700"/>
                </a:solidFill>
                <a:latin typeface="Consolas"/>
                <a:cs typeface="Consolas"/>
              </a:rPr>
              <a:t>, </a:t>
            </a:r>
            <a:r>
              <a:rPr lang="en-US" dirty="0" err="1" smtClean="0">
                <a:solidFill>
                  <a:srgbClr val="FF6700"/>
                </a:solidFill>
                <a:latin typeface="Consolas"/>
                <a:cs typeface="Consolas"/>
              </a:rPr>
              <a:t>prev</a:t>
            </a:r>
            <a:r>
              <a:rPr lang="en-US" dirty="0" smtClean="0">
                <a:latin typeface="Consolas"/>
                <a:cs typeface="Consolas"/>
              </a:rPr>
              <a:t>):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 if </a:t>
            </a:r>
            <a:r>
              <a:rPr lang="en-US" dirty="0" smtClean="0">
                <a:solidFill>
                  <a:srgbClr val="FF00FF"/>
                </a:solidFill>
                <a:latin typeface="Consolas"/>
                <a:cs typeface="Consolas"/>
              </a:rPr>
              <a:t>n == 0</a:t>
            </a:r>
            <a:r>
              <a:rPr lang="en-US" dirty="0" smtClean="0">
                <a:latin typeface="Consolas"/>
                <a:cs typeface="Consolas"/>
              </a:rPr>
              <a:t>:</a:t>
            </a:r>
          </a:p>
          <a:p>
            <a:r>
              <a:rPr lang="en-US" dirty="0">
                <a:solidFill>
                  <a:srgbClr val="660066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660066"/>
                </a:solidFill>
                <a:latin typeface="Consolas"/>
                <a:cs typeface="Consolas"/>
              </a:rPr>
              <a:t>     return </a:t>
            </a:r>
            <a:r>
              <a:rPr lang="en-US" dirty="0" err="1" smtClean="0">
                <a:solidFill>
                  <a:srgbClr val="660066"/>
                </a:solidFill>
                <a:latin typeface="Consolas"/>
                <a:cs typeface="Consolas"/>
              </a:rPr>
              <a:t>curr</a:t>
            </a:r>
            <a:endParaRPr lang="en-US" dirty="0" smtClean="0">
              <a:solidFill>
                <a:srgbClr val="660066"/>
              </a:solidFill>
              <a:latin typeface="Consolas"/>
              <a:cs typeface="Consolas"/>
            </a:endParaRP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 return </a:t>
            </a:r>
            <a:r>
              <a:rPr lang="en-US" dirty="0" smtClean="0">
                <a:solidFill>
                  <a:srgbClr val="3366FF"/>
                </a:solidFill>
                <a:latin typeface="Consolas"/>
                <a:cs typeface="Consolas"/>
              </a:rPr>
              <a:t>helper</a:t>
            </a:r>
            <a:r>
              <a:rPr lang="en-US" dirty="0" smtClean="0">
                <a:latin typeface="Consolas"/>
                <a:cs typeface="Consolas"/>
              </a:rPr>
              <a:t>(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n-1, </a:t>
            </a:r>
            <a:r>
              <a:rPr lang="en-US" dirty="0" err="1" smtClean="0">
                <a:solidFill>
                  <a:srgbClr val="008000"/>
                </a:solidFill>
                <a:latin typeface="Consolas"/>
                <a:cs typeface="Consolas"/>
              </a:rPr>
              <a:t>curr+prev</a:t>
            </a:r>
            <a:r>
              <a:rPr lang="en-US" dirty="0" smtClean="0">
                <a:solidFill>
                  <a:srgbClr val="008000"/>
                </a:solidFill>
                <a:latin typeface="Consolas"/>
                <a:cs typeface="Consolas"/>
              </a:rPr>
              <a:t>, </a:t>
            </a:r>
            <a:r>
              <a:rPr lang="en-US" dirty="0" err="1" smtClean="0">
                <a:solidFill>
                  <a:srgbClr val="008000"/>
                </a:solidFill>
                <a:latin typeface="Consolas"/>
                <a:cs typeface="Consolas"/>
              </a:rPr>
              <a:t>curr</a:t>
            </a:r>
            <a:r>
              <a:rPr lang="en-US" dirty="0" smtClean="0">
                <a:latin typeface="Consolas"/>
                <a:cs typeface="Consolas"/>
              </a:rPr>
              <a:t>)</a:t>
            </a:r>
            <a:endParaRPr lang="en-US" dirty="0">
              <a:latin typeface="Consolas"/>
              <a:cs typeface="Consolas"/>
            </a:endParaRPr>
          </a:p>
          <a:p>
            <a:r>
              <a:rPr lang="en-US" dirty="0" smtClean="0">
                <a:latin typeface="Consolas"/>
                <a:cs typeface="Consolas"/>
              </a:rPr>
              <a:t>  return </a:t>
            </a:r>
            <a:r>
              <a:rPr lang="en-US" dirty="0" smtClean="0">
                <a:solidFill>
                  <a:srgbClr val="3366FF"/>
                </a:solidFill>
                <a:latin typeface="Consolas"/>
                <a:cs typeface="Consolas"/>
              </a:rPr>
              <a:t>helper</a:t>
            </a:r>
            <a:r>
              <a:rPr lang="en-US" dirty="0" smtClean="0">
                <a:latin typeface="Consolas"/>
                <a:cs typeface="Consolas"/>
              </a:rPr>
              <a:t>(</a:t>
            </a:r>
            <a:r>
              <a:rPr lang="en-US" dirty="0" smtClean="0">
                <a:solidFill>
                  <a:srgbClr val="FF0000"/>
                </a:solidFill>
                <a:latin typeface="Consolas"/>
                <a:cs typeface="Consolas"/>
              </a:rPr>
              <a:t>n, 0, 1</a:t>
            </a:r>
            <a:r>
              <a:rPr lang="en-US" dirty="0" smtClean="0">
                <a:latin typeface="Consolas"/>
                <a:cs typeface="Consolas"/>
              </a:rPr>
              <a:t>)</a:t>
            </a:r>
            <a:endParaRPr lang="en-US" dirty="0">
              <a:latin typeface="Consolas"/>
              <a:cs typeface="Consola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99125" y="2444750"/>
            <a:ext cx="250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/>
                </a:solidFill>
              </a:rPr>
              <a:t>1. Variables to track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99125" y="2968109"/>
            <a:ext cx="250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. Initial values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99125" y="3489841"/>
            <a:ext cx="250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FF"/>
                </a:solidFill>
              </a:rPr>
              <a:t>3. When to stop (note – they are opposite)</a:t>
            </a:r>
            <a:endParaRPr lang="en-US" dirty="0">
              <a:solidFill>
                <a:srgbClr val="FF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99125" y="4581009"/>
            <a:ext cx="292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4. Update values. In recursion, assignment happens by argument passing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99125" y="5729843"/>
            <a:ext cx="250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366FF"/>
                </a:solidFill>
              </a:rPr>
              <a:t>5. Loop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99125" y="6133068"/>
            <a:ext cx="250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660066"/>
                </a:solidFill>
              </a:rPr>
              <a:t>6. Return</a:t>
            </a:r>
            <a:endParaRPr lang="en-US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-115887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27113"/>
            <a:ext cx="8314267" cy="4903787"/>
          </a:xfrm>
        </p:spPr>
        <p:txBody>
          <a:bodyPr/>
          <a:lstStyle/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Appreciate the power of the tools you have!(Think of more reasons!)</a:t>
            </a:r>
            <a:endParaRPr lang="en-US" u="sng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are while loops powerful?</a:t>
            </a:r>
          </a:p>
          <a:p>
            <a:pPr lvl="2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just have to state how a general iteration should go</a:t>
            </a:r>
          </a:p>
          <a:p>
            <a:pPr lvl="2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control when the loop ends generally (with variables)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are functions powerful?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2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Sta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te a piece of computation generally. Manipulate the computation via the parameters of the function.</a:t>
            </a:r>
          </a:p>
          <a:p>
            <a:pPr lvl="2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Store the code until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code needs to be called up.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is recursion powerful?</a:t>
            </a:r>
          </a:p>
          <a:p>
            <a:pPr lvl="2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Instead of coming up with whole solution at once, build up from a smaller solution. Lets you think more about concepts than code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is data abstraction powerful?</a:t>
            </a:r>
          </a:p>
          <a:p>
            <a:pPr lvl="2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Custom types = more flexibility, precision in manipulating data</a:t>
            </a:r>
          </a:p>
          <a:p>
            <a:pPr lvl="2"/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Specialized tweet functions can take in tweet objects, know what the objects store</a:t>
            </a:r>
          </a:p>
          <a:p>
            <a:pPr lvl="2"/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98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New Way of Running Disc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Form groups of 2-3 as usual</a:t>
            </a:r>
          </a:p>
          <a:p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up your solution (function boxes + answers) on the board!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 are concerned about putting about an incorrect answer, you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shouldn</a:t>
            </a:r>
            <a:r>
              <a:rPr lang="fr-FR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’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 be. It’s better to make mistakes here than on the test.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Plus, everyone can see common mistakes and learn together.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More practice with writing code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Chalkboards should make you feel smart.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Rotate people every problem so everyone gets a chance.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83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Comprehension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324100"/>
            <a:ext cx="8112125" cy="3508375"/>
          </a:xfrm>
        </p:spPr>
        <p:txBody>
          <a:bodyPr/>
          <a:lstStyle/>
          <a:p>
            <a:pPr marL="69850" indent="0">
              <a:buNone/>
            </a:pPr>
            <a:endParaRPr lang="en-US" dirty="0" smtClean="0"/>
          </a:p>
          <a:p>
            <a:pPr marL="69850" indent="0">
              <a:buNone/>
            </a:pPr>
            <a:endParaRPr lang="en-US" dirty="0"/>
          </a:p>
          <a:p>
            <a:pPr marL="69850" indent="0">
              <a:buNone/>
            </a:pPr>
            <a:r>
              <a:rPr lang="en-US" sz="2000" dirty="0" smtClean="0">
                <a:latin typeface="Consolas"/>
                <a:cs typeface="Consolas"/>
              </a:rPr>
              <a:t>[&lt;</a:t>
            </a:r>
            <a:r>
              <a:rPr lang="en-US" sz="2000" dirty="0" err="1" smtClean="0">
                <a:latin typeface="Consolas"/>
                <a:cs typeface="Consolas"/>
              </a:rPr>
              <a:t>map_expr</a:t>
            </a:r>
            <a:r>
              <a:rPr lang="en-US" sz="2000" dirty="0" smtClean="0">
                <a:latin typeface="Consolas"/>
                <a:cs typeface="Consolas"/>
              </a:rPr>
              <a:t>&gt; for &lt;name&gt; in &lt;</a:t>
            </a:r>
            <a:r>
              <a:rPr lang="en-US" sz="2000" dirty="0" err="1" smtClean="0">
                <a:latin typeface="Consolas"/>
                <a:cs typeface="Consolas"/>
              </a:rPr>
              <a:t>iter_exp</a:t>
            </a:r>
            <a:r>
              <a:rPr lang="en-US" sz="2000" dirty="0" smtClean="0">
                <a:latin typeface="Consolas"/>
                <a:cs typeface="Consolas"/>
              </a:rPr>
              <a:t>&gt; if &lt;</a:t>
            </a:r>
            <a:r>
              <a:rPr lang="en-US" sz="2000" dirty="0" err="1" smtClean="0">
                <a:latin typeface="Consolas"/>
                <a:cs typeface="Consolas"/>
              </a:rPr>
              <a:t>cond_expr</a:t>
            </a:r>
            <a:r>
              <a:rPr lang="en-US" sz="2000" dirty="0" smtClean="0">
                <a:latin typeface="Consolas"/>
                <a:cs typeface="Consolas"/>
              </a:rPr>
              <a:t>&gt;]</a:t>
            </a:r>
          </a:p>
          <a:p>
            <a:pPr marL="69850" indent="0">
              <a:buNone/>
            </a:pPr>
            <a:endParaRPr lang="en-US" sz="2000" dirty="0"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2000" dirty="0" smtClean="0">
                <a:latin typeface="Avenir Book"/>
                <a:cs typeface="Avenir Book"/>
              </a:rPr>
              <a:t>A list comprehension is an expression that evaluates to a list.</a:t>
            </a:r>
          </a:p>
          <a:p>
            <a:pPr marL="69850" indent="0">
              <a:buNone/>
            </a:pPr>
            <a:r>
              <a:rPr lang="en-US" sz="2000" dirty="0" smtClean="0">
                <a:latin typeface="Avenir Book"/>
                <a:cs typeface="Avenir Book"/>
              </a:rPr>
              <a:t>To create the list:</a:t>
            </a:r>
          </a:p>
          <a:p>
            <a:pPr marL="527050" indent="-457200">
              <a:buAutoNum type="arabicPeriod"/>
            </a:pPr>
            <a:r>
              <a:rPr lang="en-US" sz="2000" dirty="0" smtClean="0">
                <a:latin typeface="Avenir Book"/>
                <a:cs typeface="Avenir Book"/>
              </a:rPr>
              <a:t>Evaluate the </a:t>
            </a:r>
            <a:r>
              <a:rPr lang="en-US" sz="2000" dirty="0" err="1" smtClean="0">
                <a:latin typeface="Avenir Book"/>
                <a:cs typeface="Avenir Book"/>
              </a:rPr>
              <a:t>iter</a:t>
            </a:r>
            <a:r>
              <a:rPr lang="en-US" sz="2000" dirty="0" smtClean="0">
                <a:latin typeface="Avenir Book"/>
                <a:cs typeface="Avenir Book"/>
              </a:rPr>
              <a:t> exp. &lt;name&gt; will take on each value in the resulting sequence</a:t>
            </a:r>
          </a:p>
          <a:p>
            <a:pPr marL="527050" indent="-457200">
              <a:buAutoNum type="arabicPeriod"/>
            </a:pPr>
            <a:r>
              <a:rPr lang="en-US" sz="2000" dirty="0" smtClean="0">
                <a:latin typeface="Avenir Book"/>
                <a:cs typeface="Avenir Book"/>
              </a:rPr>
              <a:t>Evaluate the </a:t>
            </a:r>
            <a:r>
              <a:rPr lang="en-US" sz="2000" dirty="0" err="1" smtClean="0">
                <a:latin typeface="Avenir Book"/>
                <a:cs typeface="Avenir Book"/>
              </a:rPr>
              <a:t>cond</a:t>
            </a:r>
            <a:r>
              <a:rPr lang="en-US" sz="2000" dirty="0" smtClean="0">
                <a:latin typeface="Avenir Book"/>
                <a:cs typeface="Avenir Book"/>
              </a:rPr>
              <a:t> exp. If false, move on to the next value.</a:t>
            </a:r>
          </a:p>
          <a:p>
            <a:pPr marL="527050" indent="-457200">
              <a:buAutoNum type="arabicPeriod"/>
            </a:pPr>
            <a:r>
              <a:rPr lang="en-US" sz="2000" dirty="0" smtClean="0">
                <a:latin typeface="Avenir Book"/>
                <a:cs typeface="Avenir Book"/>
              </a:rPr>
              <a:t>Evaluate the map </a:t>
            </a:r>
            <a:r>
              <a:rPr lang="en-US" sz="2000" dirty="0" err="1" smtClean="0">
                <a:latin typeface="Avenir Book"/>
                <a:cs typeface="Avenir Book"/>
              </a:rPr>
              <a:t>exp</a:t>
            </a:r>
            <a:r>
              <a:rPr lang="en-US" sz="2000" dirty="0" smtClean="0">
                <a:latin typeface="Avenir Book"/>
                <a:cs typeface="Avenir Book"/>
              </a:rPr>
              <a:t> under the context of the name. The value of the map </a:t>
            </a:r>
            <a:r>
              <a:rPr lang="en-US" sz="2000" dirty="0" err="1" smtClean="0">
                <a:latin typeface="Avenir Book"/>
                <a:cs typeface="Avenir Book"/>
              </a:rPr>
              <a:t>exp</a:t>
            </a:r>
            <a:r>
              <a:rPr lang="en-US" sz="2000" dirty="0" smtClean="0">
                <a:latin typeface="Avenir Book"/>
                <a:cs typeface="Avenir Book"/>
              </a:rPr>
              <a:t> will be an element </a:t>
            </a:r>
            <a:r>
              <a:rPr lang="en-US" sz="2000" smtClean="0">
                <a:latin typeface="Avenir Book"/>
                <a:cs typeface="Avenir Book"/>
              </a:rPr>
              <a:t>of the new list.</a:t>
            </a:r>
            <a:endParaRPr lang="en-US" sz="2000" dirty="0" smtClean="0">
              <a:latin typeface="Avenir Book"/>
              <a:cs typeface="Avenir Book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115C37-9862-4A4D-8ED0-DA94B4E9ED9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88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657" y="1027113"/>
            <a:ext cx="7434262" cy="1143000"/>
          </a:xfrm>
        </p:spPr>
        <p:txBody>
          <a:bodyPr/>
          <a:lstStyle/>
          <a:p>
            <a:r>
              <a:rPr lang="en-US" dirty="0" smtClean="0"/>
              <a:t>List Comprehension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324100"/>
            <a:ext cx="8112125" cy="3508375"/>
          </a:xfrm>
        </p:spPr>
        <p:txBody>
          <a:bodyPr/>
          <a:lstStyle/>
          <a:p>
            <a:pPr marL="6985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Iter</a:t>
            </a:r>
            <a:r>
              <a:rPr lang="en-US" dirty="0" smtClean="0"/>
              <a:t> </a:t>
            </a:r>
            <a:r>
              <a:rPr lang="en-US" dirty="0" err="1" smtClean="0"/>
              <a:t>exp</a:t>
            </a:r>
            <a:r>
              <a:rPr lang="en-US" dirty="0" smtClean="0"/>
              <a:t>		2. </a:t>
            </a:r>
            <a:r>
              <a:rPr lang="en-US" dirty="0" err="1" smtClean="0"/>
              <a:t>cond</a:t>
            </a:r>
            <a:r>
              <a:rPr lang="en-US" dirty="0" smtClean="0"/>
              <a:t> </a:t>
            </a:r>
            <a:r>
              <a:rPr lang="en-US" dirty="0" err="1" smtClean="0"/>
              <a:t>exp</a:t>
            </a:r>
            <a:r>
              <a:rPr lang="en-US" dirty="0" smtClean="0"/>
              <a:t>		3. map </a:t>
            </a:r>
            <a:r>
              <a:rPr lang="en-US" dirty="0" err="1" smtClean="0"/>
              <a:t>exp</a:t>
            </a:r>
            <a:endParaRPr lang="en-US" dirty="0" smtClean="0"/>
          </a:p>
          <a:p>
            <a:pPr marL="69850" indent="0">
              <a:buNone/>
            </a:pPr>
            <a:r>
              <a:rPr lang="en-US" sz="2000" dirty="0" smtClean="0">
                <a:latin typeface="Avenir Book"/>
                <a:cs typeface="Avenir Book"/>
              </a:rPr>
              <a:t>A list of 50 1’s:</a:t>
            </a:r>
            <a:endParaRPr lang="en-US" sz="2000" dirty="0">
              <a:latin typeface="Avenir Book"/>
              <a:cs typeface="Avenir Book"/>
            </a:endParaRPr>
          </a:p>
          <a:p>
            <a:pPr marL="69850" indent="0">
              <a:buNone/>
            </a:pPr>
            <a:r>
              <a:rPr lang="en-US" sz="2000" dirty="0" smtClean="0">
                <a:latin typeface="Consolas"/>
                <a:cs typeface="Consolas"/>
              </a:rPr>
              <a:t>[1 for </a:t>
            </a:r>
            <a:r>
              <a:rPr lang="en-US" sz="2000" dirty="0" err="1" smtClean="0">
                <a:latin typeface="Consolas"/>
                <a:cs typeface="Consolas"/>
              </a:rPr>
              <a:t>i</a:t>
            </a:r>
            <a:r>
              <a:rPr lang="en-US" sz="2000" dirty="0" smtClean="0">
                <a:latin typeface="Consolas"/>
                <a:cs typeface="Consolas"/>
              </a:rPr>
              <a:t> in range(50)]</a:t>
            </a:r>
          </a:p>
          <a:p>
            <a:pPr marL="69850" indent="0">
              <a:buNone/>
            </a:pPr>
            <a:endParaRPr lang="en-US" sz="2000" dirty="0"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2000" dirty="0">
                <a:latin typeface="Avenir Book"/>
                <a:cs typeface="Avenir Book"/>
              </a:rPr>
              <a:t>A list of </a:t>
            </a:r>
            <a:r>
              <a:rPr lang="en-US" sz="2000" dirty="0" smtClean="0">
                <a:latin typeface="Avenir Book"/>
                <a:cs typeface="Avenir Book"/>
              </a:rPr>
              <a:t>odd squares from a to b:</a:t>
            </a:r>
            <a:endParaRPr lang="en-US" sz="2000" dirty="0">
              <a:latin typeface="Avenir Book"/>
              <a:cs typeface="Avenir Book"/>
            </a:endParaRPr>
          </a:p>
          <a:p>
            <a:pPr marL="69850" indent="0">
              <a:buNone/>
            </a:pPr>
            <a:r>
              <a:rPr lang="en-US" sz="2000" dirty="0" smtClean="0">
                <a:latin typeface="Consolas"/>
                <a:cs typeface="Consolas"/>
              </a:rPr>
              <a:t>[x * x for x in range(a, b) if x % 2 == 1]</a:t>
            </a:r>
            <a:endParaRPr lang="en-US" sz="2000" dirty="0">
              <a:latin typeface="Consolas"/>
              <a:cs typeface="Consolas"/>
            </a:endParaRPr>
          </a:p>
          <a:p>
            <a:pPr marL="69850" indent="0">
              <a:buNone/>
            </a:pPr>
            <a:endParaRPr lang="en-US" sz="2000" dirty="0"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2000" dirty="0" smtClean="0">
                <a:latin typeface="Avenir Book"/>
                <a:cs typeface="Avenir Book"/>
              </a:rPr>
              <a:t>The list of </a:t>
            </a:r>
            <a:r>
              <a:rPr lang="en-US" sz="2000" dirty="0" err="1" smtClean="0">
                <a:latin typeface="Avenir Book"/>
                <a:cs typeface="Avenir Book"/>
              </a:rPr>
              <a:t>fibonacci</a:t>
            </a:r>
            <a:r>
              <a:rPr lang="en-US" sz="2000" dirty="0" smtClean="0">
                <a:latin typeface="Avenir Book"/>
                <a:cs typeface="Avenir Book"/>
              </a:rPr>
              <a:t> numbers for odd squares from a to b if odd square ends with a 7</a:t>
            </a:r>
            <a:endParaRPr lang="en-US" sz="2000" dirty="0">
              <a:latin typeface="Avenir Book"/>
              <a:cs typeface="Avenir Book"/>
            </a:endParaRPr>
          </a:p>
          <a:p>
            <a:pPr marL="69850" indent="0">
              <a:buNone/>
            </a:pPr>
            <a:r>
              <a:rPr lang="en-US" sz="2000" dirty="0" smtClean="0">
                <a:latin typeface="Consolas"/>
                <a:cs typeface="Consolas"/>
              </a:rPr>
              <a:t>[fib(x) for x in [x*x for x in range(a, b) \</a:t>
            </a:r>
          </a:p>
          <a:p>
            <a:pPr marL="69850" indent="0">
              <a:buNone/>
            </a:pPr>
            <a:r>
              <a:rPr lang="en-US" sz="2000" dirty="0">
                <a:latin typeface="Consolas"/>
                <a:cs typeface="Consolas"/>
              </a:rPr>
              <a:t> </a:t>
            </a:r>
            <a:r>
              <a:rPr lang="en-US" sz="2000" dirty="0" smtClean="0">
                <a:latin typeface="Consolas"/>
                <a:cs typeface="Consolas"/>
              </a:rPr>
              <a:t>      if x % 2 == 1] if x % 10 == 7]</a:t>
            </a:r>
            <a:endParaRPr lang="en-US" sz="2000" dirty="0">
              <a:latin typeface="Consolas"/>
              <a:cs typeface="Consolas"/>
            </a:endParaRPr>
          </a:p>
          <a:p>
            <a:pPr marL="69850" indent="0">
              <a:buNone/>
            </a:pPr>
            <a:endParaRPr lang="en-US" sz="2000" dirty="0">
              <a:latin typeface="Consolas"/>
              <a:cs typeface="Consola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115C37-9862-4A4D-8ED0-DA94B4E9ED9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5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657" y="1027113"/>
            <a:ext cx="7434262" cy="1143000"/>
          </a:xfrm>
        </p:spPr>
        <p:txBody>
          <a:bodyPr/>
          <a:lstStyle/>
          <a:p>
            <a:r>
              <a:rPr lang="en-US" dirty="0" smtClean="0"/>
              <a:t>List Comprehension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324100"/>
            <a:ext cx="8112125" cy="3508375"/>
          </a:xfrm>
        </p:spPr>
        <p:txBody>
          <a:bodyPr/>
          <a:lstStyle/>
          <a:p>
            <a:pPr marL="527050" indent="-457200">
              <a:buAutoNum type="arabicPeriod"/>
            </a:pPr>
            <a:r>
              <a:rPr lang="en-US" dirty="0" err="1" smtClean="0"/>
              <a:t>Iter</a:t>
            </a:r>
            <a:r>
              <a:rPr lang="en-US" dirty="0" smtClean="0"/>
              <a:t> </a:t>
            </a:r>
            <a:r>
              <a:rPr lang="en-US" dirty="0" err="1" smtClean="0"/>
              <a:t>exp</a:t>
            </a:r>
            <a:r>
              <a:rPr lang="en-US" dirty="0" smtClean="0"/>
              <a:t>		2. </a:t>
            </a:r>
            <a:r>
              <a:rPr lang="en-US" dirty="0" err="1" smtClean="0"/>
              <a:t>cond</a:t>
            </a:r>
            <a:r>
              <a:rPr lang="en-US" dirty="0" smtClean="0"/>
              <a:t> </a:t>
            </a:r>
            <a:r>
              <a:rPr lang="en-US" dirty="0" err="1" smtClean="0"/>
              <a:t>exp</a:t>
            </a:r>
            <a:r>
              <a:rPr lang="en-US" dirty="0" smtClean="0"/>
              <a:t>		3. map </a:t>
            </a:r>
            <a:r>
              <a:rPr lang="en-US" dirty="0" err="1" smtClean="0"/>
              <a:t>exp</a:t>
            </a:r>
            <a:endParaRPr lang="en-US" dirty="0" smtClean="0"/>
          </a:p>
          <a:p>
            <a:pPr marL="527050" indent="-457200">
              <a:buAutoNum type="arabicPeriod"/>
            </a:pPr>
            <a:endParaRPr lang="en-US" sz="2000" dirty="0"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2000" dirty="0">
                <a:latin typeface="Avenir Book"/>
                <a:cs typeface="Avenir Book"/>
              </a:rPr>
              <a:t>A list of </a:t>
            </a:r>
            <a:r>
              <a:rPr lang="en-US" sz="2000" dirty="0" smtClean="0">
                <a:latin typeface="Avenir Book"/>
                <a:cs typeface="Avenir Book"/>
              </a:rPr>
              <a:t>odd squares from 1 to 6:</a:t>
            </a:r>
            <a:endParaRPr lang="en-US" sz="2000" dirty="0">
              <a:latin typeface="Avenir Book"/>
              <a:cs typeface="Avenir Book"/>
            </a:endParaRPr>
          </a:p>
          <a:p>
            <a:pPr marL="69850" indent="0">
              <a:buNone/>
            </a:pPr>
            <a:r>
              <a:rPr lang="en-US" sz="2000" dirty="0" smtClean="0">
                <a:latin typeface="Consolas"/>
                <a:cs typeface="Consolas"/>
              </a:rPr>
              <a:t>[x * x for x in range(1, </a:t>
            </a:r>
            <a:r>
              <a:rPr lang="en-US" sz="2000" dirty="0">
                <a:latin typeface="Consolas"/>
                <a:cs typeface="Consolas"/>
              </a:rPr>
              <a:t>9</a:t>
            </a:r>
            <a:r>
              <a:rPr lang="en-US" sz="2000" dirty="0" smtClean="0">
                <a:latin typeface="Consolas"/>
                <a:cs typeface="Consolas"/>
              </a:rPr>
              <a:t>) if x % 2 == 1]</a:t>
            </a:r>
            <a:endParaRPr lang="en-US" sz="2000" dirty="0">
              <a:latin typeface="Consolas"/>
              <a:cs typeface="Consolas"/>
            </a:endParaRPr>
          </a:p>
          <a:p>
            <a:pPr marL="69850" indent="0">
              <a:buNone/>
            </a:pPr>
            <a:r>
              <a:rPr lang="en-US" sz="2000" dirty="0" err="1">
                <a:cs typeface="Avenir Book"/>
              </a:rPr>
              <a:t>Iter</a:t>
            </a:r>
            <a:r>
              <a:rPr lang="en-US" sz="2000" dirty="0">
                <a:cs typeface="Avenir Book"/>
              </a:rPr>
              <a:t> </a:t>
            </a:r>
            <a:r>
              <a:rPr lang="en-US" sz="2000" dirty="0" err="1">
                <a:cs typeface="Avenir Book"/>
              </a:rPr>
              <a:t>exp</a:t>
            </a:r>
            <a:r>
              <a:rPr lang="en-US" sz="2000" dirty="0">
                <a:cs typeface="Avenir Book"/>
              </a:rPr>
              <a:t> </a:t>
            </a:r>
            <a:r>
              <a:rPr lang="en-US" sz="2000" dirty="0" err="1">
                <a:cs typeface="Avenir Book"/>
              </a:rPr>
              <a:t>seq</a:t>
            </a:r>
            <a:r>
              <a:rPr lang="en-US" sz="2000" dirty="0">
                <a:cs typeface="Avenir Book"/>
              </a:rPr>
              <a:t>:	</a:t>
            </a:r>
            <a:r>
              <a:rPr lang="en-US" sz="2000" dirty="0" smtClean="0">
                <a:cs typeface="Avenir Book"/>
              </a:rPr>
              <a:t>	 </a:t>
            </a:r>
            <a:r>
              <a:rPr lang="en-US" sz="2000" dirty="0">
                <a:cs typeface="Avenir Book"/>
              </a:rPr>
              <a:t>1	2	3	4	5	</a:t>
            </a:r>
            <a:r>
              <a:rPr lang="en-US" sz="2000" dirty="0" smtClean="0">
                <a:cs typeface="Avenir Book"/>
              </a:rPr>
              <a:t>6</a:t>
            </a:r>
          </a:p>
          <a:p>
            <a:pPr marL="69850" indent="0">
              <a:buNone/>
            </a:pPr>
            <a:r>
              <a:rPr lang="en-US" sz="2000" dirty="0" smtClean="0">
                <a:cs typeface="Avenir Book"/>
              </a:rPr>
              <a:t>Cond </a:t>
            </a:r>
            <a:r>
              <a:rPr lang="en-US" sz="2000" dirty="0" err="1">
                <a:cs typeface="Avenir Book"/>
              </a:rPr>
              <a:t>exp</a:t>
            </a:r>
            <a:r>
              <a:rPr lang="en-US" sz="2000" dirty="0">
                <a:cs typeface="Avenir Book"/>
              </a:rPr>
              <a:t> </a:t>
            </a:r>
            <a:r>
              <a:rPr lang="en-US" sz="2000" dirty="0" err="1">
                <a:cs typeface="Avenir Book"/>
              </a:rPr>
              <a:t>eval</a:t>
            </a:r>
            <a:r>
              <a:rPr lang="en-US" sz="2000" dirty="0">
                <a:cs typeface="Avenir Book"/>
              </a:rPr>
              <a:t>:	 1	</a:t>
            </a:r>
            <a:r>
              <a:rPr lang="en-US" sz="2000" b="1" dirty="0">
                <a:solidFill>
                  <a:srgbClr val="FF0000"/>
                </a:solidFill>
                <a:cs typeface="Avenir Book"/>
              </a:rPr>
              <a:t>2</a:t>
            </a:r>
            <a:r>
              <a:rPr lang="en-US" sz="2000" dirty="0">
                <a:cs typeface="Avenir Book"/>
              </a:rPr>
              <a:t>	3	</a:t>
            </a:r>
            <a:r>
              <a:rPr lang="en-US" sz="2000" b="1" dirty="0">
                <a:solidFill>
                  <a:srgbClr val="FF0000"/>
                </a:solidFill>
                <a:cs typeface="Avenir Book"/>
              </a:rPr>
              <a:t>4</a:t>
            </a:r>
            <a:r>
              <a:rPr lang="en-US" sz="2000" dirty="0">
                <a:cs typeface="Avenir Book"/>
              </a:rPr>
              <a:t>	5	</a:t>
            </a:r>
            <a:r>
              <a:rPr lang="en-US" sz="2000" b="1" dirty="0">
                <a:solidFill>
                  <a:srgbClr val="FF0000"/>
                </a:solidFill>
                <a:cs typeface="Avenir Book"/>
              </a:rPr>
              <a:t>6</a:t>
            </a:r>
          </a:p>
          <a:p>
            <a:pPr marL="69850" indent="0">
              <a:buNone/>
            </a:pPr>
            <a:r>
              <a:rPr lang="en-US" sz="2000" dirty="0" smtClean="0">
                <a:cs typeface="Avenir Book"/>
              </a:rPr>
              <a:t>Map </a:t>
            </a:r>
            <a:r>
              <a:rPr lang="en-US" sz="2000" dirty="0" err="1" smtClean="0">
                <a:cs typeface="Avenir Book"/>
              </a:rPr>
              <a:t>exp</a:t>
            </a:r>
            <a:r>
              <a:rPr lang="en-US" sz="2000" dirty="0" smtClean="0">
                <a:cs typeface="Avenir Book"/>
              </a:rPr>
              <a:t>:</a:t>
            </a:r>
          </a:p>
          <a:p>
            <a:pPr marL="69850" indent="0">
              <a:buNone/>
            </a:pPr>
            <a:endParaRPr lang="en-US" sz="2000" dirty="0">
              <a:cs typeface="Avenir Book"/>
            </a:endParaRPr>
          </a:p>
          <a:p>
            <a:pPr marL="69850" indent="0">
              <a:buNone/>
            </a:pPr>
            <a:r>
              <a:rPr lang="en-US" sz="2000" dirty="0" smtClean="0">
                <a:cs typeface="Avenir Book"/>
              </a:rPr>
              <a:t> </a:t>
            </a:r>
            <a:endParaRPr lang="en-US" sz="2000" dirty="0" smtClean="0">
              <a:latin typeface="Consolas"/>
              <a:cs typeface="Consola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115C37-9862-4A4D-8ED0-DA94B4E9ED9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444875" y="4635500"/>
            <a:ext cx="0" cy="561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238750" y="4635500"/>
            <a:ext cx="0" cy="550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985000" y="4635500"/>
            <a:ext cx="0" cy="550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2811462" y="5197475"/>
            <a:ext cx="1489075" cy="666750"/>
            <a:chOff x="4413250" y="4984751"/>
            <a:chExt cx="1489075" cy="666750"/>
          </a:xfrm>
        </p:grpSpPr>
        <p:sp>
          <p:nvSpPr>
            <p:cNvPr id="5" name="Rectangle 4"/>
            <p:cNvSpPr/>
            <p:nvPr/>
          </p:nvSpPr>
          <p:spPr>
            <a:xfrm>
              <a:off x="4494212" y="4984751"/>
              <a:ext cx="1316038" cy="66675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13250" y="5127625"/>
              <a:ext cx="1489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Consolas"/>
                  <a:cs typeface="Consolas"/>
                </a:rPr>
                <a:t>x * x</a:t>
              </a:r>
              <a:endParaRPr lang="en-US" dirty="0">
                <a:latin typeface="Consolas"/>
                <a:cs typeface="Consolas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627437" y="6010275"/>
            <a:ext cx="220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nsolas"/>
                <a:cs typeface="Consolas"/>
              </a:rPr>
              <a:t>[1, 9, 25]</a:t>
            </a:r>
            <a:endParaRPr lang="en-US" dirty="0">
              <a:latin typeface="Consolas"/>
              <a:cs typeface="Consolas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4649788" y="5197475"/>
            <a:ext cx="1489075" cy="666750"/>
            <a:chOff x="4413250" y="4984751"/>
            <a:chExt cx="1489075" cy="666750"/>
          </a:xfrm>
        </p:grpSpPr>
        <p:sp>
          <p:nvSpPr>
            <p:cNvPr id="19" name="Rectangle 18"/>
            <p:cNvSpPr/>
            <p:nvPr/>
          </p:nvSpPr>
          <p:spPr>
            <a:xfrm>
              <a:off x="4494212" y="4984751"/>
              <a:ext cx="1316038" cy="66675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13250" y="5127625"/>
              <a:ext cx="1489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Consolas"/>
                  <a:cs typeface="Consolas"/>
                </a:rPr>
                <a:t>x * x</a:t>
              </a:r>
              <a:endParaRPr lang="en-US" dirty="0">
                <a:latin typeface="Consolas"/>
                <a:cs typeface="Consolas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381750" y="5221762"/>
            <a:ext cx="1489075" cy="666750"/>
            <a:chOff x="4413250" y="4984751"/>
            <a:chExt cx="1489075" cy="666750"/>
          </a:xfrm>
        </p:grpSpPr>
        <p:sp>
          <p:nvSpPr>
            <p:cNvPr id="22" name="Rectangle 21"/>
            <p:cNvSpPr/>
            <p:nvPr/>
          </p:nvSpPr>
          <p:spPr>
            <a:xfrm>
              <a:off x="4494212" y="4984751"/>
              <a:ext cx="1316038" cy="66675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13250" y="5127625"/>
              <a:ext cx="1489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Consolas"/>
                  <a:cs typeface="Consolas"/>
                </a:rPr>
                <a:t>x * x</a:t>
              </a:r>
              <a:endParaRPr lang="en-US" dirty="0">
                <a:latin typeface="Consolas"/>
                <a:cs typeface="Consola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896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25500" y="455613"/>
            <a:ext cx="7445375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Why use list comprehensions?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“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C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oncise way to create lists” – Python documentation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Writing out a whole list is tedious and high-maintenance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[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tweet_text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(tweets[0]),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tweet_text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(tweets[1])]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How can one piece of code generate all elements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What does each element share? -&gt; map expression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What varies from element to element? -&gt;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iter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expression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Have another list that will determine the differences. You can filter that list -&gt;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cond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expression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3058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25500" y="455613"/>
            <a:ext cx="7445375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Why use list comprehensions?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How can one piece of code generate all elements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What does each element share? -&gt; map expression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What varies from element to element? -&gt;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iter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expression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Have another list that will determine the differences. You can filter that list -&gt;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cond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expression</a:t>
            </a:r>
          </a:p>
          <a:p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Example: collecting text of tweets</a:t>
            </a:r>
          </a:p>
          <a:p>
            <a:pPr lvl="1"/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Part that’s the </a:t>
            </a:r>
            <a:r>
              <a:rPr lang="en-US" u="sng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same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: </a:t>
            </a:r>
            <a:r>
              <a:rPr lang="en-US" dirty="0" err="1">
                <a:solidFill>
                  <a:srgbClr val="4A6300"/>
                </a:solidFill>
                <a:latin typeface="Avenir Book" charset="0"/>
                <a:cs typeface="Avenir Book" charset="0"/>
              </a:rPr>
              <a:t>tweet_text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(…)</a:t>
            </a:r>
          </a:p>
          <a:p>
            <a:pPr lvl="1"/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Part that’s </a:t>
            </a:r>
            <a:r>
              <a:rPr lang="en-US" u="sng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different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: tweets[0], tweets[1]</a:t>
            </a:r>
          </a:p>
          <a:p>
            <a:pPr lvl="2"/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The differences are [tweets[0], tweets[1], …,] -&gt; tweets!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Now, as long as we can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plug in difference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under the same name “tweet”, we can write all elements using same code:</a:t>
            </a:r>
          </a:p>
          <a:p>
            <a:pPr marL="685800" lvl="2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[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tweet_text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(tweet) for tweet in tweets]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538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25500" y="715963"/>
            <a:ext cx="7445375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Tree Terminology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628923"/>
            <a:ext cx="8314267" cy="87347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Tree – a graph without cycles (there is only one path from one node to another) -&gt; Hierarchy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6" name="Picture 5" descr="syntax_tre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25" y="2066924"/>
            <a:ext cx="4121150" cy="356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73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yntax_tre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25" y="2066924"/>
            <a:ext cx="4121150" cy="3561999"/>
          </a:xfrm>
          <a:prstGeom prst="rect">
            <a:avLst/>
          </a:prstGeom>
        </p:spPr>
      </p:pic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57199" y="715963"/>
            <a:ext cx="8083551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Tree Terminology – Parent/Child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628923"/>
            <a:ext cx="8314267" cy="72390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Parent – a node that has children.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Child – a node that has a parent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4619625" y="2066924"/>
            <a:ext cx="2000250" cy="79057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794500" y="2130424"/>
            <a:ext cx="174625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 is the parent of NP</a:t>
            </a:r>
            <a:r>
              <a:rPr lang="en-US" baseline="-25000" dirty="0" smtClean="0"/>
              <a:t>1</a:t>
            </a:r>
            <a:r>
              <a:rPr lang="en-US" dirty="0" smtClean="0"/>
              <a:t> and VP</a:t>
            </a:r>
          </a:p>
          <a:p>
            <a:endParaRPr lang="en-US" dirty="0"/>
          </a:p>
          <a:p>
            <a:r>
              <a:rPr lang="en-US" dirty="0" smtClean="0"/>
              <a:t>NP</a:t>
            </a:r>
            <a:r>
              <a:rPr lang="en-US" baseline="-25000" dirty="0" smtClean="0"/>
              <a:t>1</a:t>
            </a:r>
            <a:r>
              <a:rPr lang="en-US" dirty="0" smtClean="0"/>
              <a:t> and VP are children of S</a:t>
            </a:r>
            <a:endParaRPr lang="en-US" dirty="0"/>
          </a:p>
        </p:txBody>
      </p:sp>
      <p:sp>
        <p:nvSpPr>
          <p:cNvPr id="7" name="Donut 6"/>
          <p:cNvSpPr/>
          <p:nvPr/>
        </p:nvSpPr>
        <p:spPr>
          <a:xfrm>
            <a:off x="2235200" y="2649755"/>
            <a:ext cx="1025525" cy="1025525"/>
          </a:xfrm>
          <a:prstGeom prst="donut">
            <a:avLst>
              <a:gd name="adj" fmla="val 1094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nut 9"/>
          <p:cNvSpPr/>
          <p:nvPr/>
        </p:nvSpPr>
        <p:spPr>
          <a:xfrm>
            <a:off x="4106862" y="2649755"/>
            <a:ext cx="1025525" cy="1025525"/>
          </a:xfrm>
          <a:prstGeom prst="donut">
            <a:avLst>
              <a:gd name="adj" fmla="val 1094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107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25500" y="715963"/>
            <a:ext cx="7445375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Tree Terminology - Root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628923"/>
            <a:ext cx="8314267" cy="87347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Root – a node with no parent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 refer to a tree, usually have a reference to the root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6" name="Picture 5" descr="syntax_tre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25" y="2066924"/>
            <a:ext cx="4121150" cy="3561999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>
            <a:off x="4619625" y="2066924"/>
            <a:ext cx="2000250" cy="79057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794500" y="2130424"/>
            <a:ext cx="174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 is the root of this 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1261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25500" y="715963"/>
            <a:ext cx="7445375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Tree Terminology - Leaf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628923"/>
            <a:ext cx="8314267" cy="87347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Leaf – a node without any child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Most involved with base cases???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6" name="Picture 5" descr="syntax_tre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25" y="2066924"/>
            <a:ext cx="4121150" cy="35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94500" y="4933597"/>
            <a:ext cx="174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words are leaves here</a:t>
            </a:r>
            <a:endParaRPr lang="en-US" dirty="0"/>
          </a:p>
        </p:txBody>
      </p:sp>
      <p:sp>
        <p:nvSpPr>
          <p:cNvPr id="2" name="Freeform 1"/>
          <p:cNvSpPr/>
          <p:nvPr/>
        </p:nvSpPr>
        <p:spPr>
          <a:xfrm>
            <a:off x="2349500" y="3619500"/>
            <a:ext cx="4016375" cy="2002290"/>
          </a:xfrm>
          <a:custGeom>
            <a:avLst/>
            <a:gdLst>
              <a:gd name="connsiteX0" fmla="*/ 3921125 w 4016375"/>
              <a:gd name="connsiteY0" fmla="*/ 1571625 h 2002290"/>
              <a:gd name="connsiteX1" fmla="*/ 3698875 w 4016375"/>
              <a:gd name="connsiteY1" fmla="*/ 1524000 h 2002290"/>
              <a:gd name="connsiteX2" fmla="*/ 3603625 w 4016375"/>
              <a:gd name="connsiteY2" fmla="*/ 1492250 h 2002290"/>
              <a:gd name="connsiteX3" fmla="*/ 3524250 w 4016375"/>
              <a:gd name="connsiteY3" fmla="*/ 1476375 h 2002290"/>
              <a:gd name="connsiteX4" fmla="*/ 3429000 w 4016375"/>
              <a:gd name="connsiteY4" fmla="*/ 1444625 h 2002290"/>
              <a:gd name="connsiteX5" fmla="*/ 3270250 w 4016375"/>
              <a:gd name="connsiteY5" fmla="*/ 1428750 h 2002290"/>
              <a:gd name="connsiteX6" fmla="*/ 2730500 w 4016375"/>
              <a:gd name="connsiteY6" fmla="*/ 1397000 h 2002290"/>
              <a:gd name="connsiteX7" fmla="*/ 2587625 w 4016375"/>
              <a:gd name="connsiteY7" fmla="*/ 1381125 h 2002290"/>
              <a:gd name="connsiteX8" fmla="*/ 2397125 w 4016375"/>
              <a:gd name="connsiteY8" fmla="*/ 1365250 h 2002290"/>
              <a:gd name="connsiteX9" fmla="*/ 2190750 w 4016375"/>
              <a:gd name="connsiteY9" fmla="*/ 1333500 h 2002290"/>
              <a:gd name="connsiteX10" fmla="*/ 1698625 w 4016375"/>
              <a:gd name="connsiteY10" fmla="*/ 1317625 h 2002290"/>
              <a:gd name="connsiteX11" fmla="*/ 1603375 w 4016375"/>
              <a:gd name="connsiteY11" fmla="*/ 1206500 h 2002290"/>
              <a:gd name="connsiteX12" fmla="*/ 1539875 w 4016375"/>
              <a:gd name="connsiteY12" fmla="*/ 1111250 h 2002290"/>
              <a:gd name="connsiteX13" fmla="*/ 1428750 w 4016375"/>
              <a:gd name="connsiteY13" fmla="*/ 1016000 h 2002290"/>
              <a:gd name="connsiteX14" fmla="*/ 1381125 w 4016375"/>
              <a:gd name="connsiteY14" fmla="*/ 873125 h 2002290"/>
              <a:gd name="connsiteX15" fmla="*/ 1365250 w 4016375"/>
              <a:gd name="connsiteY15" fmla="*/ 825500 h 2002290"/>
              <a:gd name="connsiteX16" fmla="*/ 1301750 w 4016375"/>
              <a:gd name="connsiteY16" fmla="*/ 777875 h 2002290"/>
              <a:gd name="connsiteX17" fmla="*/ 1254125 w 4016375"/>
              <a:gd name="connsiteY17" fmla="*/ 730250 h 2002290"/>
              <a:gd name="connsiteX18" fmla="*/ 1190625 w 4016375"/>
              <a:gd name="connsiteY18" fmla="*/ 698500 h 2002290"/>
              <a:gd name="connsiteX19" fmla="*/ 1143000 w 4016375"/>
              <a:gd name="connsiteY19" fmla="*/ 650875 h 2002290"/>
              <a:gd name="connsiteX20" fmla="*/ 1047750 w 4016375"/>
              <a:gd name="connsiteY20" fmla="*/ 587375 h 2002290"/>
              <a:gd name="connsiteX21" fmla="*/ 968375 w 4016375"/>
              <a:gd name="connsiteY21" fmla="*/ 523875 h 2002290"/>
              <a:gd name="connsiteX22" fmla="*/ 857250 w 4016375"/>
              <a:gd name="connsiteY22" fmla="*/ 444500 h 2002290"/>
              <a:gd name="connsiteX23" fmla="*/ 714375 w 4016375"/>
              <a:gd name="connsiteY23" fmla="*/ 333375 h 2002290"/>
              <a:gd name="connsiteX24" fmla="*/ 666750 w 4016375"/>
              <a:gd name="connsiteY24" fmla="*/ 301625 h 2002290"/>
              <a:gd name="connsiteX25" fmla="*/ 523875 w 4016375"/>
              <a:gd name="connsiteY25" fmla="*/ 174625 h 2002290"/>
              <a:gd name="connsiteX26" fmla="*/ 476250 w 4016375"/>
              <a:gd name="connsiteY26" fmla="*/ 158750 h 2002290"/>
              <a:gd name="connsiteX27" fmla="*/ 444500 w 4016375"/>
              <a:gd name="connsiteY27" fmla="*/ 111125 h 2002290"/>
              <a:gd name="connsiteX28" fmla="*/ 349250 w 4016375"/>
              <a:gd name="connsiteY28" fmla="*/ 31750 h 2002290"/>
              <a:gd name="connsiteX29" fmla="*/ 254000 w 4016375"/>
              <a:gd name="connsiteY29" fmla="*/ 0 h 2002290"/>
              <a:gd name="connsiteX30" fmla="*/ 127000 w 4016375"/>
              <a:gd name="connsiteY30" fmla="*/ 47625 h 2002290"/>
              <a:gd name="connsiteX31" fmla="*/ 79375 w 4016375"/>
              <a:gd name="connsiteY31" fmla="*/ 95250 h 2002290"/>
              <a:gd name="connsiteX32" fmla="*/ 31750 w 4016375"/>
              <a:gd name="connsiteY32" fmla="*/ 222250 h 2002290"/>
              <a:gd name="connsiteX33" fmla="*/ 0 w 4016375"/>
              <a:gd name="connsiteY33" fmla="*/ 349250 h 2002290"/>
              <a:gd name="connsiteX34" fmla="*/ 15875 w 4016375"/>
              <a:gd name="connsiteY34" fmla="*/ 650875 h 2002290"/>
              <a:gd name="connsiteX35" fmla="*/ 47625 w 4016375"/>
              <a:gd name="connsiteY35" fmla="*/ 714375 h 2002290"/>
              <a:gd name="connsiteX36" fmla="*/ 95250 w 4016375"/>
              <a:gd name="connsiteY36" fmla="*/ 825500 h 2002290"/>
              <a:gd name="connsiteX37" fmla="*/ 158750 w 4016375"/>
              <a:gd name="connsiteY37" fmla="*/ 904875 h 2002290"/>
              <a:gd name="connsiteX38" fmla="*/ 238125 w 4016375"/>
              <a:gd name="connsiteY38" fmla="*/ 1063625 h 2002290"/>
              <a:gd name="connsiteX39" fmla="*/ 428625 w 4016375"/>
              <a:gd name="connsiteY39" fmla="*/ 1270000 h 2002290"/>
              <a:gd name="connsiteX40" fmla="*/ 476250 w 4016375"/>
              <a:gd name="connsiteY40" fmla="*/ 1301750 h 2002290"/>
              <a:gd name="connsiteX41" fmla="*/ 539750 w 4016375"/>
              <a:gd name="connsiteY41" fmla="*/ 1524000 h 2002290"/>
              <a:gd name="connsiteX42" fmla="*/ 571500 w 4016375"/>
              <a:gd name="connsiteY42" fmla="*/ 1603375 h 2002290"/>
              <a:gd name="connsiteX43" fmla="*/ 587375 w 4016375"/>
              <a:gd name="connsiteY43" fmla="*/ 1666875 h 2002290"/>
              <a:gd name="connsiteX44" fmla="*/ 619125 w 4016375"/>
              <a:gd name="connsiteY44" fmla="*/ 1746250 h 2002290"/>
              <a:gd name="connsiteX45" fmla="*/ 714375 w 4016375"/>
              <a:gd name="connsiteY45" fmla="*/ 1841500 h 2002290"/>
              <a:gd name="connsiteX46" fmla="*/ 777875 w 4016375"/>
              <a:gd name="connsiteY46" fmla="*/ 1857375 h 2002290"/>
              <a:gd name="connsiteX47" fmla="*/ 936625 w 4016375"/>
              <a:gd name="connsiteY47" fmla="*/ 1905000 h 2002290"/>
              <a:gd name="connsiteX48" fmla="*/ 1031875 w 4016375"/>
              <a:gd name="connsiteY48" fmla="*/ 1936750 h 2002290"/>
              <a:gd name="connsiteX49" fmla="*/ 1397000 w 4016375"/>
              <a:gd name="connsiteY49" fmla="*/ 1968500 h 2002290"/>
              <a:gd name="connsiteX50" fmla="*/ 1905000 w 4016375"/>
              <a:gd name="connsiteY50" fmla="*/ 1936750 h 2002290"/>
              <a:gd name="connsiteX51" fmla="*/ 3302000 w 4016375"/>
              <a:gd name="connsiteY51" fmla="*/ 1968500 h 2002290"/>
              <a:gd name="connsiteX52" fmla="*/ 3921125 w 4016375"/>
              <a:gd name="connsiteY52" fmla="*/ 1968500 h 2002290"/>
              <a:gd name="connsiteX53" fmla="*/ 3968750 w 4016375"/>
              <a:gd name="connsiteY53" fmla="*/ 1952625 h 2002290"/>
              <a:gd name="connsiteX54" fmla="*/ 4016375 w 4016375"/>
              <a:gd name="connsiteY54" fmla="*/ 1920875 h 2002290"/>
              <a:gd name="connsiteX55" fmla="*/ 3984625 w 4016375"/>
              <a:gd name="connsiteY55" fmla="*/ 1666875 h 2002290"/>
              <a:gd name="connsiteX56" fmla="*/ 3968750 w 4016375"/>
              <a:gd name="connsiteY56" fmla="*/ 1619250 h 2002290"/>
              <a:gd name="connsiteX57" fmla="*/ 3921125 w 4016375"/>
              <a:gd name="connsiteY57" fmla="*/ 1603375 h 2002290"/>
              <a:gd name="connsiteX58" fmla="*/ 3841750 w 4016375"/>
              <a:gd name="connsiteY58" fmla="*/ 1539875 h 200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016375" h="2002290">
                <a:moveTo>
                  <a:pt x="3921125" y="1571625"/>
                </a:moveTo>
                <a:cubicBezTo>
                  <a:pt x="3856302" y="1558660"/>
                  <a:pt x="3755280" y="1539041"/>
                  <a:pt x="3698875" y="1524000"/>
                </a:cubicBezTo>
                <a:cubicBezTo>
                  <a:pt x="3666538" y="1515377"/>
                  <a:pt x="3635913" y="1501056"/>
                  <a:pt x="3603625" y="1492250"/>
                </a:cubicBezTo>
                <a:cubicBezTo>
                  <a:pt x="3577593" y="1485150"/>
                  <a:pt x="3550282" y="1483475"/>
                  <a:pt x="3524250" y="1476375"/>
                </a:cubicBezTo>
                <a:cubicBezTo>
                  <a:pt x="3491962" y="1467569"/>
                  <a:pt x="3461894" y="1450793"/>
                  <a:pt x="3429000" y="1444625"/>
                </a:cubicBezTo>
                <a:cubicBezTo>
                  <a:pt x="3376730" y="1434824"/>
                  <a:pt x="3323212" y="1433565"/>
                  <a:pt x="3270250" y="1428750"/>
                </a:cubicBezTo>
                <a:cubicBezTo>
                  <a:pt x="3014721" y="1405520"/>
                  <a:pt x="3049938" y="1411520"/>
                  <a:pt x="2730500" y="1397000"/>
                </a:cubicBezTo>
                <a:lnTo>
                  <a:pt x="2587625" y="1381125"/>
                </a:lnTo>
                <a:cubicBezTo>
                  <a:pt x="2524192" y="1375084"/>
                  <a:pt x="2460409" y="1372695"/>
                  <a:pt x="2397125" y="1365250"/>
                </a:cubicBezTo>
                <a:cubicBezTo>
                  <a:pt x="2233537" y="1346004"/>
                  <a:pt x="2411531" y="1344822"/>
                  <a:pt x="2190750" y="1333500"/>
                </a:cubicBezTo>
                <a:cubicBezTo>
                  <a:pt x="2026838" y="1325094"/>
                  <a:pt x="1862667" y="1322917"/>
                  <a:pt x="1698625" y="1317625"/>
                </a:cubicBezTo>
                <a:cubicBezTo>
                  <a:pt x="1601198" y="1171485"/>
                  <a:pt x="1757357" y="1398978"/>
                  <a:pt x="1603375" y="1206500"/>
                </a:cubicBezTo>
                <a:cubicBezTo>
                  <a:pt x="1579537" y="1176703"/>
                  <a:pt x="1570402" y="1134145"/>
                  <a:pt x="1539875" y="1111250"/>
                </a:cubicBezTo>
                <a:cubicBezTo>
                  <a:pt x="1458414" y="1050155"/>
                  <a:pt x="1495084" y="1082334"/>
                  <a:pt x="1428750" y="1016000"/>
                </a:cubicBezTo>
                <a:lnTo>
                  <a:pt x="1381125" y="873125"/>
                </a:lnTo>
                <a:cubicBezTo>
                  <a:pt x="1375833" y="857250"/>
                  <a:pt x="1378637" y="835540"/>
                  <a:pt x="1365250" y="825500"/>
                </a:cubicBezTo>
                <a:cubicBezTo>
                  <a:pt x="1344083" y="809625"/>
                  <a:pt x="1321839" y="795094"/>
                  <a:pt x="1301750" y="777875"/>
                </a:cubicBezTo>
                <a:cubicBezTo>
                  <a:pt x="1284704" y="763264"/>
                  <a:pt x="1272394" y="743299"/>
                  <a:pt x="1254125" y="730250"/>
                </a:cubicBezTo>
                <a:cubicBezTo>
                  <a:pt x="1234868" y="716495"/>
                  <a:pt x="1209882" y="712255"/>
                  <a:pt x="1190625" y="698500"/>
                </a:cubicBezTo>
                <a:cubicBezTo>
                  <a:pt x="1172356" y="685451"/>
                  <a:pt x="1160721" y="664658"/>
                  <a:pt x="1143000" y="650875"/>
                </a:cubicBezTo>
                <a:cubicBezTo>
                  <a:pt x="1112879" y="627448"/>
                  <a:pt x="1078610" y="609819"/>
                  <a:pt x="1047750" y="587375"/>
                </a:cubicBezTo>
                <a:cubicBezTo>
                  <a:pt x="1020347" y="567446"/>
                  <a:pt x="995482" y="544205"/>
                  <a:pt x="968375" y="523875"/>
                </a:cubicBezTo>
                <a:cubicBezTo>
                  <a:pt x="931958" y="496563"/>
                  <a:pt x="893667" y="471812"/>
                  <a:pt x="857250" y="444500"/>
                </a:cubicBezTo>
                <a:cubicBezTo>
                  <a:pt x="808983" y="408299"/>
                  <a:pt x="764576" y="366842"/>
                  <a:pt x="714375" y="333375"/>
                </a:cubicBezTo>
                <a:cubicBezTo>
                  <a:pt x="698500" y="322792"/>
                  <a:pt x="681010" y="314301"/>
                  <a:pt x="666750" y="301625"/>
                </a:cubicBezTo>
                <a:cubicBezTo>
                  <a:pt x="612656" y="253541"/>
                  <a:pt x="585640" y="205507"/>
                  <a:pt x="523875" y="174625"/>
                </a:cubicBezTo>
                <a:cubicBezTo>
                  <a:pt x="508908" y="167141"/>
                  <a:pt x="492125" y="164042"/>
                  <a:pt x="476250" y="158750"/>
                </a:cubicBezTo>
                <a:cubicBezTo>
                  <a:pt x="465667" y="142875"/>
                  <a:pt x="456714" y="125782"/>
                  <a:pt x="444500" y="111125"/>
                </a:cubicBezTo>
                <a:cubicBezTo>
                  <a:pt x="422509" y="84736"/>
                  <a:pt x="382305" y="46441"/>
                  <a:pt x="349250" y="31750"/>
                </a:cubicBezTo>
                <a:cubicBezTo>
                  <a:pt x="318667" y="18158"/>
                  <a:pt x="254000" y="0"/>
                  <a:pt x="254000" y="0"/>
                </a:cubicBezTo>
                <a:cubicBezTo>
                  <a:pt x="202866" y="12784"/>
                  <a:pt x="171700" y="15696"/>
                  <a:pt x="127000" y="47625"/>
                </a:cubicBezTo>
                <a:cubicBezTo>
                  <a:pt x="108731" y="60674"/>
                  <a:pt x="95250" y="79375"/>
                  <a:pt x="79375" y="95250"/>
                </a:cubicBezTo>
                <a:cubicBezTo>
                  <a:pt x="50107" y="212323"/>
                  <a:pt x="81559" y="106029"/>
                  <a:pt x="31750" y="222250"/>
                </a:cubicBezTo>
                <a:cubicBezTo>
                  <a:pt x="13444" y="264963"/>
                  <a:pt x="9318" y="302661"/>
                  <a:pt x="0" y="349250"/>
                </a:cubicBezTo>
                <a:cubicBezTo>
                  <a:pt x="5292" y="449792"/>
                  <a:pt x="2853" y="551040"/>
                  <a:pt x="15875" y="650875"/>
                </a:cubicBezTo>
                <a:cubicBezTo>
                  <a:pt x="18936" y="674341"/>
                  <a:pt x="38303" y="692623"/>
                  <a:pt x="47625" y="714375"/>
                </a:cubicBezTo>
                <a:cubicBezTo>
                  <a:pt x="73025" y="773642"/>
                  <a:pt x="53129" y="762319"/>
                  <a:pt x="95250" y="825500"/>
                </a:cubicBezTo>
                <a:cubicBezTo>
                  <a:pt x="114045" y="853693"/>
                  <a:pt x="141317" y="875820"/>
                  <a:pt x="158750" y="904875"/>
                </a:cubicBezTo>
                <a:cubicBezTo>
                  <a:pt x="189189" y="955607"/>
                  <a:pt x="201166" y="1017427"/>
                  <a:pt x="238125" y="1063625"/>
                </a:cubicBezTo>
                <a:cubicBezTo>
                  <a:pt x="290203" y="1128723"/>
                  <a:pt x="363928" y="1226869"/>
                  <a:pt x="428625" y="1270000"/>
                </a:cubicBezTo>
                <a:lnTo>
                  <a:pt x="476250" y="1301750"/>
                </a:lnTo>
                <a:cubicBezTo>
                  <a:pt x="547621" y="1408807"/>
                  <a:pt x="483489" y="1298957"/>
                  <a:pt x="539750" y="1524000"/>
                </a:cubicBezTo>
                <a:cubicBezTo>
                  <a:pt x="546661" y="1551646"/>
                  <a:pt x="562489" y="1576341"/>
                  <a:pt x="571500" y="1603375"/>
                </a:cubicBezTo>
                <a:cubicBezTo>
                  <a:pt x="578399" y="1624073"/>
                  <a:pt x="580476" y="1646177"/>
                  <a:pt x="587375" y="1666875"/>
                </a:cubicBezTo>
                <a:cubicBezTo>
                  <a:pt x="596386" y="1693909"/>
                  <a:pt x="605286" y="1721340"/>
                  <a:pt x="619125" y="1746250"/>
                </a:cubicBezTo>
                <a:cubicBezTo>
                  <a:pt x="641330" y="1786220"/>
                  <a:pt x="671321" y="1823048"/>
                  <a:pt x="714375" y="1841500"/>
                </a:cubicBezTo>
                <a:cubicBezTo>
                  <a:pt x="734429" y="1850095"/>
                  <a:pt x="756708" y="1852083"/>
                  <a:pt x="777875" y="1857375"/>
                </a:cubicBezTo>
                <a:cubicBezTo>
                  <a:pt x="870004" y="1918794"/>
                  <a:pt x="780391" y="1868946"/>
                  <a:pt x="936625" y="1905000"/>
                </a:cubicBezTo>
                <a:cubicBezTo>
                  <a:pt x="969235" y="1912525"/>
                  <a:pt x="998744" y="1932017"/>
                  <a:pt x="1031875" y="1936750"/>
                </a:cubicBezTo>
                <a:cubicBezTo>
                  <a:pt x="1226979" y="1964622"/>
                  <a:pt x="1105655" y="1950291"/>
                  <a:pt x="1397000" y="1968500"/>
                </a:cubicBezTo>
                <a:cubicBezTo>
                  <a:pt x="1566333" y="1957917"/>
                  <a:pt x="1735345" y="1938481"/>
                  <a:pt x="1905000" y="1936750"/>
                </a:cubicBezTo>
                <a:cubicBezTo>
                  <a:pt x="2538882" y="1930282"/>
                  <a:pt x="2780780" y="1944808"/>
                  <a:pt x="3302000" y="1968500"/>
                </a:cubicBezTo>
                <a:cubicBezTo>
                  <a:pt x="3539846" y="2027961"/>
                  <a:pt x="3389599" y="1996475"/>
                  <a:pt x="3921125" y="1968500"/>
                </a:cubicBezTo>
                <a:cubicBezTo>
                  <a:pt x="3937836" y="1967620"/>
                  <a:pt x="3953783" y="1960109"/>
                  <a:pt x="3968750" y="1952625"/>
                </a:cubicBezTo>
                <a:cubicBezTo>
                  <a:pt x="3985815" y="1944092"/>
                  <a:pt x="4000500" y="1931458"/>
                  <a:pt x="4016375" y="1920875"/>
                </a:cubicBezTo>
                <a:cubicBezTo>
                  <a:pt x="4005792" y="1836208"/>
                  <a:pt x="3997933" y="1751156"/>
                  <a:pt x="3984625" y="1666875"/>
                </a:cubicBezTo>
                <a:cubicBezTo>
                  <a:pt x="3982015" y="1650346"/>
                  <a:pt x="3980583" y="1631083"/>
                  <a:pt x="3968750" y="1619250"/>
                </a:cubicBezTo>
                <a:cubicBezTo>
                  <a:pt x="3956917" y="1607417"/>
                  <a:pt x="3936092" y="1610859"/>
                  <a:pt x="3921125" y="1603375"/>
                </a:cubicBezTo>
                <a:cubicBezTo>
                  <a:pt x="3881073" y="1583349"/>
                  <a:pt x="3871281" y="1569406"/>
                  <a:pt x="3841750" y="1539875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45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yntax_tre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25" y="2066924"/>
            <a:ext cx="4121150" cy="3561999"/>
          </a:xfrm>
          <a:prstGeom prst="rect">
            <a:avLst/>
          </a:prstGeom>
        </p:spPr>
      </p:pic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25500" y="715963"/>
            <a:ext cx="7445375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Tree Terminology - </a:t>
            </a:r>
            <a:r>
              <a:rPr lang="en-US" dirty="0" err="1" smtClean="0">
                <a:latin typeface="Century Gothic" charset="0"/>
              </a:rPr>
              <a:t>Subtree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628923"/>
            <a:ext cx="8314267" cy="873477"/>
          </a:xfrm>
        </p:spPr>
        <p:txBody>
          <a:bodyPr/>
          <a:lstStyle/>
          <a:p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Subtree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– the tree corresponding to a child. The child is the root of this tree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19875" y="2873036"/>
            <a:ext cx="1920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tree corresponding to a child is a </a:t>
            </a:r>
            <a:r>
              <a:rPr lang="en-US" dirty="0" err="1" smtClean="0"/>
              <a:t>subtree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7" name="Donut 6"/>
          <p:cNvSpPr/>
          <p:nvPr/>
        </p:nvSpPr>
        <p:spPr>
          <a:xfrm>
            <a:off x="2235200" y="2649755"/>
            <a:ext cx="1025525" cy="1025525"/>
          </a:xfrm>
          <a:prstGeom prst="donut">
            <a:avLst>
              <a:gd name="adj" fmla="val 1094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nut 9"/>
          <p:cNvSpPr/>
          <p:nvPr/>
        </p:nvSpPr>
        <p:spPr>
          <a:xfrm>
            <a:off x="4106862" y="2649755"/>
            <a:ext cx="1025525" cy="1025525"/>
          </a:xfrm>
          <a:prstGeom prst="donut">
            <a:avLst>
              <a:gd name="adj" fmla="val 1094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Frame 1"/>
          <p:cNvSpPr/>
          <p:nvPr/>
        </p:nvSpPr>
        <p:spPr>
          <a:xfrm>
            <a:off x="3111500" y="2889250"/>
            <a:ext cx="3508375" cy="2739673"/>
          </a:xfrm>
          <a:prstGeom prst="frame">
            <a:avLst>
              <a:gd name="adj1" fmla="val 181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2235200" y="2881530"/>
            <a:ext cx="790575" cy="1230095"/>
          </a:xfrm>
          <a:prstGeom prst="frame">
            <a:avLst>
              <a:gd name="adj1" fmla="val 181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7558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57199" y="715963"/>
            <a:ext cx="831426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Tree Terminology – Depth/height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5628923"/>
            <a:ext cx="8314267" cy="87347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Depth(node) – the distance from root to given node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Height – the depth of the lowest leaf: min{depth(node)}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6" name="Picture 5" descr="syntax_tre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25" y="2066924"/>
            <a:ext cx="4121150" cy="356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65875" y="5074925"/>
            <a:ext cx="174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Height: 4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56275" y="3125991"/>
            <a:ext cx="174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Depth of PP: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595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57199" y="715963"/>
            <a:ext cx="8314267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Non-rooted Tree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54" y="1858963"/>
            <a:ext cx="8314267" cy="873477"/>
          </a:xfrm>
        </p:spPr>
        <p:txBody>
          <a:bodyPr/>
          <a:lstStyle/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ree = [1, [2], [[4, 5], 3, [6]]]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2" name="Picture 1" descr="Screen Shot 2014-10-04 at 8.51.3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2343150"/>
            <a:ext cx="3187700" cy="300990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92654" y="5348640"/>
            <a:ext cx="8314267" cy="873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2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123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325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16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Q: What do you notice about this tree?</a:t>
            </a: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A: There are only values at the leaves!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29954432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57199" y="715963"/>
            <a:ext cx="8314267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Non-rooted Tree ADT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54" y="1858963"/>
            <a:ext cx="8314267" cy="873477"/>
          </a:xfrm>
        </p:spPr>
        <p:txBody>
          <a:bodyPr/>
          <a:lstStyle/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ree = [1, [2], [[4, 5], 3, [6]]]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2" name="Picture 1" descr="Screen Shot 2014-10-04 at 8.51.3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338740"/>
            <a:ext cx="3187700" cy="300990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054475" y="2570515"/>
            <a:ext cx="4041775" cy="873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2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123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325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16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indent="0">
              <a:buFont typeface="Wingdings 2" charset="0"/>
              <a:buNone/>
            </a:pPr>
            <a:r>
              <a:rPr lang="en-US" u="sng" dirty="0" smtClean="0">
                <a:solidFill>
                  <a:srgbClr val="4A6300"/>
                </a:solidFill>
                <a:latin typeface="Avenir Book"/>
                <a:cs typeface="Avenir Book"/>
              </a:rPr>
              <a:t>Representation</a:t>
            </a: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Leaves are </a:t>
            </a:r>
            <a:r>
              <a:rPr lang="en-US" b="1" dirty="0" err="1" smtClean="0">
                <a:solidFill>
                  <a:srgbClr val="4A6300"/>
                </a:solidFill>
                <a:latin typeface="Avenir Book"/>
                <a:cs typeface="Avenir Book"/>
              </a:rPr>
              <a:t>ints</a:t>
            </a:r>
            <a:endParaRPr lang="en-US" b="1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every other node is a </a:t>
            </a:r>
            <a:r>
              <a:rPr lang="en-US" b="1" dirty="0" smtClean="0">
                <a:solidFill>
                  <a:srgbClr val="4A6300"/>
                </a:solidFill>
                <a:latin typeface="Avenir Book"/>
                <a:cs typeface="Avenir Book"/>
              </a:rPr>
              <a:t>list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054475" y="4127500"/>
            <a:ext cx="40417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4054475" y="4477103"/>
            <a:ext cx="42799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2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123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325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16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indent="0">
              <a:buFont typeface="Wingdings 2" charset="0"/>
              <a:buNone/>
            </a:pPr>
            <a:r>
              <a:rPr lang="en-US" u="sng" dirty="0" smtClean="0">
                <a:solidFill>
                  <a:srgbClr val="4A6300"/>
                </a:solidFill>
                <a:latin typeface="Avenir Book"/>
                <a:cs typeface="Avenir Book"/>
              </a:rPr>
              <a:t>Use</a:t>
            </a:r>
          </a:p>
          <a:p>
            <a:pPr marL="69850" indent="0">
              <a:buFont typeface="Wingdings 2" charset="0"/>
              <a:buNone/>
            </a:pP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is_leaf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(tree)</a:t>
            </a:r>
          </a:p>
          <a:p>
            <a:pPr marL="69850" indent="0">
              <a:buFont typeface="Wingdings 2" charset="0"/>
              <a:buNone/>
            </a:pP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apply_to_leaves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(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fn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, tree)</a:t>
            </a: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To get values, just return tree</a:t>
            </a:r>
          </a:p>
        </p:txBody>
      </p:sp>
    </p:spTree>
    <p:extLst>
      <p:ext uri="{BB962C8B-B14F-4D97-AF65-F5344CB8AC3E}">
        <p14:creationId xmlns:p14="http://schemas.microsoft.com/office/powerpoint/2010/main" val="637641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57199" y="715963"/>
            <a:ext cx="8314267" cy="1143000"/>
          </a:xfrm>
        </p:spPr>
        <p:txBody>
          <a:bodyPr/>
          <a:lstStyle/>
          <a:p>
            <a:pPr algn="ctr"/>
            <a:r>
              <a:rPr lang="en-US" dirty="0">
                <a:latin typeface="Century Gothic" charset="0"/>
              </a:rPr>
              <a:t>R</a:t>
            </a:r>
            <a:r>
              <a:rPr lang="en-US" dirty="0" smtClean="0">
                <a:latin typeface="Century Gothic" charset="0"/>
              </a:rPr>
              <a:t>ooted Tree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54" y="1858963"/>
            <a:ext cx="8314267" cy="873477"/>
          </a:xfrm>
        </p:spPr>
        <p:txBody>
          <a:bodyPr/>
          <a:lstStyle/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ree =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rooted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(1, [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rooted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(3, [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(4),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(5),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(6)]),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(2)])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92654" y="5348640"/>
            <a:ext cx="8314267" cy="873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2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123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325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16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Q: What do you notice about this tree?</a:t>
            </a: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A: There are values at every node!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pic>
        <p:nvPicPr>
          <p:cNvPr id="5" name="Picture 4" descr="Screen Shot 2014-10-04 at 9.16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375" y="3219450"/>
            <a:ext cx="27305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968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 Shot 2014-10-04 at 9.16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54" y="3473450"/>
            <a:ext cx="2730500" cy="1308100"/>
          </a:xfrm>
          <a:prstGeom prst="rect">
            <a:avLst/>
          </a:prstGeom>
        </p:spPr>
      </p:pic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57199" y="715963"/>
            <a:ext cx="8314267" cy="1143000"/>
          </a:xfrm>
        </p:spPr>
        <p:txBody>
          <a:bodyPr/>
          <a:lstStyle/>
          <a:p>
            <a:pPr algn="ctr"/>
            <a:r>
              <a:rPr lang="en-US" dirty="0">
                <a:latin typeface="Century Gothic" charset="0"/>
              </a:rPr>
              <a:t>R</a:t>
            </a:r>
            <a:r>
              <a:rPr lang="en-US" dirty="0" smtClean="0">
                <a:latin typeface="Century Gothic" charset="0"/>
              </a:rPr>
              <a:t>ooted Tree ADT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54" y="1858963"/>
            <a:ext cx="8314267" cy="873477"/>
          </a:xfrm>
        </p:spPr>
        <p:txBody>
          <a:bodyPr/>
          <a:lstStyle/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tree =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rooted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(1, [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rooted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(3, [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(4),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(5),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(6)]), </a:t>
            </a:r>
            <a:r>
              <a:rPr lang="nl-NL" dirty="0" err="1">
                <a:solidFill>
                  <a:srgbClr val="4A6300"/>
                </a:solidFill>
                <a:latin typeface="Consolas"/>
                <a:cs typeface="Consolas"/>
              </a:rPr>
              <a:t>leaf</a:t>
            </a:r>
            <a:r>
              <a:rPr lang="nl-NL" dirty="0">
                <a:solidFill>
                  <a:srgbClr val="4A6300"/>
                </a:solidFill>
                <a:latin typeface="Consolas"/>
                <a:cs typeface="Consolas"/>
              </a:rPr>
              <a:t>(2)])</a:t>
            </a:r>
            <a:endParaRPr lang="nl-NL" dirty="0">
              <a:solidFill>
                <a:srgbClr val="4A6300"/>
              </a:solidFill>
              <a:latin typeface="Consolas"/>
              <a:cs typeface="Consola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054475" y="2570515"/>
            <a:ext cx="4279900" cy="873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2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123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325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16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indent="0">
              <a:buFont typeface="Wingdings 2" charset="0"/>
              <a:buNone/>
            </a:pPr>
            <a:r>
              <a:rPr lang="en-US" u="sng" dirty="0" smtClean="0">
                <a:solidFill>
                  <a:srgbClr val="4A6300"/>
                </a:solidFill>
                <a:latin typeface="Avenir Book"/>
                <a:cs typeface="Avenir Book"/>
              </a:rPr>
              <a:t>Representation</a:t>
            </a: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Each tree = value + list of children (list of rooted trees)</a:t>
            </a:r>
            <a:endParaRPr lang="en-US" b="1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054475" y="4127500"/>
            <a:ext cx="40417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2476500" y="4345781"/>
            <a:ext cx="6143625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400" kern="1200">
                <a:solidFill>
                  <a:schemeClr val="tx2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39763" indent="-2730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2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20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3pPr>
            <a:lvl4pPr marL="1123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4pPr>
            <a:lvl5pPr marL="1325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charset="0"/>
              <a:buChar char=""/>
              <a:defRPr sz="1600" kern="1200">
                <a:solidFill>
                  <a:schemeClr val="tx2"/>
                </a:solidFill>
                <a:latin typeface="+mn-lt"/>
                <a:ea typeface="ＭＳ Ｐゴシック" charset="0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indent="0">
              <a:buFont typeface="Wingdings 2" charset="0"/>
              <a:buNone/>
            </a:pPr>
            <a:r>
              <a:rPr lang="en-US" u="sng" dirty="0" smtClean="0">
                <a:solidFill>
                  <a:srgbClr val="4A6300"/>
                </a:solidFill>
                <a:latin typeface="Avenir Book"/>
                <a:cs typeface="Avenir Book"/>
              </a:rPr>
              <a:t>Use - Constructors</a:t>
            </a: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rooted(value, branches)</a:t>
            </a:r>
          </a:p>
          <a:p>
            <a:pPr marL="69850" indent="0">
              <a:buFont typeface="Wingdings 2" charset="0"/>
              <a:buNone/>
            </a:pP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leaf(value) # makes branches an empty list</a:t>
            </a:r>
          </a:p>
          <a:p>
            <a:pPr marL="69850" indent="0">
              <a:buFont typeface="Wingdings 2" charset="0"/>
              <a:buNone/>
            </a:pPr>
            <a:r>
              <a:rPr lang="en-US" u="sng" dirty="0" smtClean="0">
                <a:solidFill>
                  <a:srgbClr val="4A6300"/>
                </a:solidFill>
                <a:latin typeface="Avenir Book"/>
                <a:cs typeface="Avenir Book"/>
              </a:rPr>
              <a:t>Use – Selectors: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root(tree)	branches(tree)</a:t>
            </a:r>
          </a:p>
          <a:p>
            <a:pPr marL="69850" indent="0">
              <a:buFont typeface="Wingdings 2" charset="0"/>
              <a:buNone/>
            </a:pPr>
            <a:r>
              <a:rPr lang="en-US" u="sng" dirty="0" smtClean="0">
                <a:solidFill>
                  <a:srgbClr val="4A6300"/>
                </a:solidFill>
                <a:latin typeface="Avenir Book"/>
                <a:cs typeface="Avenir Book"/>
              </a:rPr>
              <a:t>Use – Functions: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is_rooted_leaf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(tree)</a:t>
            </a:r>
            <a:endParaRPr lang="en-US" u="sng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2654" y="4968875"/>
            <a:ext cx="19838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</a:t>
            </a:r>
          </a:p>
          <a:p>
            <a:r>
              <a:rPr lang="en-US" dirty="0" smtClean="0"/>
              <a:t>Selecting is more complicated now!</a:t>
            </a:r>
          </a:p>
        </p:txBody>
      </p:sp>
    </p:spTree>
    <p:extLst>
      <p:ext uri="{BB962C8B-B14F-4D97-AF65-F5344CB8AC3E}">
        <p14:creationId xmlns:p14="http://schemas.microsoft.com/office/powerpoint/2010/main" val="3445117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Closure Property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result of combination can itself be combined using same method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 trees: To create a tree, combine value of list of trees. Now we can put this new tree into another list of trees and value to produce yet another tree!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i.e. Every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subtree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of a tree is a tree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-&gt; You can do </a:t>
            </a: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recursion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so easily now!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5" name="Picture 4" descr="Screen Shot 2014-10-04 at 9.16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3" y="5211233"/>
            <a:ext cx="2730500" cy="13081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754438" y="5131857"/>
            <a:ext cx="1790700" cy="583142"/>
            <a:chOff x="5086350" y="5052483"/>
            <a:chExt cx="1790700" cy="583142"/>
          </a:xfrm>
        </p:grpSpPr>
        <p:sp>
          <p:nvSpPr>
            <p:cNvPr id="2" name="Left-Right Arrow Callout 1"/>
            <p:cNvSpPr/>
            <p:nvPr/>
          </p:nvSpPr>
          <p:spPr>
            <a:xfrm>
              <a:off x="5086350" y="5052483"/>
              <a:ext cx="1790700" cy="583142"/>
            </a:xfrm>
            <a:prstGeom prst="leftRightArrowCallo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521325" y="5131858"/>
              <a:ext cx="952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height</a:t>
              </a:r>
              <a:endParaRPr lang="en-US" dirty="0"/>
            </a:p>
          </p:txBody>
        </p:sp>
      </p:grpSp>
      <p:sp>
        <p:nvSpPr>
          <p:cNvPr id="8" name="Frame 7"/>
          <p:cNvSpPr/>
          <p:nvPr/>
        </p:nvSpPr>
        <p:spPr>
          <a:xfrm>
            <a:off x="505883" y="5131857"/>
            <a:ext cx="2907242" cy="1387475"/>
          </a:xfrm>
          <a:prstGeom prst="frame">
            <a:avLst>
              <a:gd name="adj1" fmla="val 181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743325" y="5813266"/>
            <a:ext cx="1790700" cy="583142"/>
            <a:chOff x="5086350" y="5052483"/>
            <a:chExt cx="1790700" cy="583142"/>
          </a:xfrm>
        </p:grpSpPr>
        <p:sp>
          <p:nvSpPr>
            <p:cNvPr id="11" name="Left-Right Arrow Callout 10"/>
            <p:cNvSpPr/>
            <p:nvPr/>
          </p:nvSpPr>
          <p:spPr>
            <a:xfrm>
              <a:off x="5086350" y="5052483"/>
              <a:ext cx="1790700" cy="583142"/>
            </a:xfrm>
            <a:prstGeom prst="leftRightArrowCallou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21325" y="5131858"/>
              <a:ext cx="952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height</a:t>
              </a:r>
              <a:endParaRPr lang="en-US" dirty="0"/>
            </a:p>
          </p:txBody>
        </p:sp>
      </p:grpSp>
      <p:sp>
        <p:nvSpPr>
          <p:cNvPr id="13" name="Frame 12"/>
          <p:cNvSpPr/>
          <p:nvPr/>
        </p:nvSpPr>
        <p:spPr>
          <a:xfrm>
            <a:off x="610658" y="5722329"/>
            <a:ext cx="1802342" cy="710142"/>
          </a:xfrm>
          <a:prstGeom prst="frame">
            <a:avLst>
              <a:gd name="adj1" fmla="val 1819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59450" y="523554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794375" y="591060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6261100" y="4628091"/>
            <a:ext cx="1790700" cy="583142"/>
            <a:chOff x="5086350" y="5052483"/>
            <a:chExt cx="1790700" cy="583142"/>
          </a:xfrm>
        </p:grpSpPr>
        <p:sp>
          <p:nvSpPr>
            <p:cNvPr id="17" name="Left-Right Arrow Callout 16"/>
            <p:cNvSpPr/>
            <p:nvPr/>
          </p:nvSpPr>
          <p:spPr>
            <a:xfrm>
              <a:off x="5086350" y="5052483"/>
              <a:ext cx="1790700" cy="583142"/>
            </a:xfrm>
            <a:prstGeom prst="leftRightArrowCallou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21325" y="5131858"/>
              <a:ext cx="952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height</a:t>
              </a:r>
              <a:endParaRPr lang="en-US" dirty="0"/>
            </a:p>
          </p:txBody>
        </p:sp>
      </p:grpSp>
      <p:sp>
        <p:nvSpPr>
          <p:cNvPr id="19" name="Frame 18"/>
          <p:cNvSpPr/>
          <p:nvPr/>
        </p:nvSpPr>
        <p:spPr>
          <a:xfrm>
            <a:off x="2555875" y="5580564"/>
            <a:ext cx="648758" cy="531312"/>
          </a:xfrm>
          <a:prstGeom prst="frame">
            <a:avLst>
              <a:gd name="adj1" fmla="val 181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51800" y="470413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698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(Wednesday </a:t>
            </a:r>
            <a:r>
              <a:rPr lang="en-US" dirty="0" smtClean="0">
                <a:latin typeface="Century Gothic" charset="0"/>
              </a:rPr>
              <a:t>10/1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 restrictions on dictionary keys? 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Note that strings can be keys. What does this say about string objects?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 restrictions on dictionary values?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Can I have a dictionary whose value is another dictionary?</a:t>
            </a:r>
            <a:endParaRPr lang="en-US" sz="16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 behavior conditions of a linked list?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the box-and-pointer diagram (if possible) for:</a:t>
            </a:r>
            <a:endParaRPr lang="en-US" sz="18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link(1, 2, 3, 4, None)		3. link(1, link(‘hi’, link(3, None)))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link(1, link(link(2, link(3, None)), link(4, None)))</a:t>
            </a:r>
            <a:endParaRPr lang="en-US" sz="16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functions do we have to add to our linked list to satisfy the sequence abstraction?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are rooted trees different from non-rooted trees? Why might the difference be useful?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What’re the constructors and selectors of the linked list? The rooted tree?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656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15309</TotalTime>
  <Words>1730</Words>
  <Application>Microsoft Macintosh PowerPoint</Application>
  <PresentationFormat>On-screen Show (4:3)</PresentationFormat>
  <Paragraphs>277</Paragraphs>
  <Slides>26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discussion0</vt:lpstr>
      <vt:lpstr>Welcome to CS61A Disc 5 Sect. 29/47 :D</vt:lpstr>
      <vt:lpstr>Section Quiz Logistics</vt:lpstr>
      <vt:lpstr>Section Quiz</vt:lpstr>
      <vt:lpstr>Section Quiz [Solutions]</vt:lpstr>
      <vt:lpstr>Section Quiz [Solutions]</vt:lpstr>
      <vt:lpstr>Anuncios</vt:lpstr>
      <vt:lpstr>5-min Review Recap</vt:lpstr>
      <vt:lpstr>Tip of the Day</vt:lpstr>
      <vt:lpstr>New Way of Running Disc</vt:lpstr>
      <vt:lpstr>List Comprehension</vt:lpstr>
      <vt:lpstr>List Comprehension Examples</vt:lpstr>
      <vt:lpstr>List Comprehension Examples</vt:lpstr>
      <vt:lpstr>Why use list comprehensions?</vt:lpstr>
      <vt:lpstr>Why use list comprehensions?</vt:lpstr>
      <vt:lpstr>Tree Terminology</vt:lpstr>
      <vt:lpstr>Tree Terminology – Parent/Child</vt:lpstr>
      <vt:lpstr>Tree Terminology - Root</vt:lpstr>
      <vt:lpstr>Tree Terminology - Leaf</vt:lpstr>
      <vt:lpstr>Tree Terminology - Subtree</vt:lpstr>
      <vt:lpstr>Tree Terminology – Depth/height</vt:lpstr>
      <vt:lpstr>Non-rooted Tree</vt:lpstr>
      <vt:lpstr>Non-rooted Tree ADT</vt:lpstr>
      <vt:lpstr>Rooted Tree</vt:lpstr>
      <vt:lpstr>Rooted Tree ADT</vt:lpstr>
      <vt:lpstr>Closure Property</vt:lpstr>
      <vt:lpstr>Optional Conceptual Questions (Wednesday 10/1 lecture)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227</cp:revision>
  <dcterms:created xsi:type="dcterms:W3CDTF">2014-08-28T16:21:02Z</dcterms:created>
  <dcterms:modified xsi:type="dcterms:W3CDTF">2014-10-05T04:32:17Z</dcterms:modified>
</cp:coreProperties>
</file>