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44"/>
  </p:notesMasterIdLst>
  <p:handoutMasterIdLst>
    <p:handoutMasterId r:id="rId45"/>
  </p:handoutMasterIdLst>
  <p:sldIdLst>
    <p:sldId id="256" r:id="rId2"/>
    <p:sldId id="268" r:id="rId3"/>
    <p:sldId id="271" r:id="rId4"/>
    <p:sldId id="299" r:id="rId5"/>
    <p:sldId id="302" r:id="rId6"/>
    <p:sldId id="257" r:id="rId7"/>
    <p:sldId id="260" r:id="rId8"/>
    <p:sldId id="300" r:id="rId9"/>
    <p:sldId id="301" r:id="rId10"/>
    <p:sldId id="312" r:id="rId11"/>
    <p:sldId id="273" r:id="rId12"/>
    <p:sldId id="274" r:id="rId13"/>
    <p:sldId id="294" r:id="rId14"/>
    <p:sldId id="295" r:id="rId15"/>
    <p:sldId id="296" r:id="rId16"/>
    <p:sldId id="283" r:id="rId17"/>
    <p:sldId id="313" r:id="rId18"/>
    <p:sldId id="288" r:id="rId19"/>
    <p:sldId id="303" r:id="rId20"/>
    <p:sldId id="289" r:id="rId21"/>
    <p:sldId id="316" r:id="rId22"/>
    <p:sldId id="304" r:id="rId23"/>
    <p:sldId id="305" r:id="rId24"/>
    <p:sldId id="306" r:id="rId25"/>
    <p:sldId id="317" r:id="rId26"/>
    <p:sldId id="318" r:id="rId27"/>
    <p:sldId id="319" r:id="rId28"/>
    <p:sldId id="287" r:id="rId29"/>
    <p:sldId id="285" r:id="rId30"/>
    <p:sldId id="308" r:id="rId31"/>
    <p:sldId id="307" r:id="rId32"/>
    <p:sldId id="309" r:id="rId33"/>
    <p:sldId id="310" r:id="rId34"/>
    <p:sldId id="311" r:id="rId35"/>
    <p:sldId id="262" r:id="rId36"/>
    <p:sldId id="282" r:id="rId37"/>
    <p:sldId id="314" r:id="rId38"/>
    <p:sldId id="320" r:id="rId39"/>
    <p:sldId id="281" r:id="rId40"/>
    <p:sldId id="297" r:id="rId41"/>
    <p:sldId id="315" r:id="rId42"/>
    <p:sldId id="279" r:id="rId4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33"/>
    <a:srgbClr val="804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9" d="100"/>
          <a:sy n="99" d="100"/>
        </p:scale>
        <p:origin x="-712" y="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46" Type="http://schemas.openxmlformats.org/officeDocument/2006/relationships/printerSettings" Target="printerSettings/printerSettings1.bin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5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3D6FA6C3-894D-9342-858C-89781436E0BA}" type="datetimeFigureOut">
              <a:rPr lang="en-US"/>
              <a:pPr>
                <a:defRPr/>
              </a:pPr>
              <a:t>9/15/14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1C915EBA-7225-EA45-954F-AB711B4338E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5512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F11027A8-00FB-C24C-8EBA-1EDF84C5EE30}" type="datetimeFigureOut">
              <a:rPr lang="en-US"/>
              <a:pPr>
                <a:defRPr/>
              </a:pPr>
              <a:t>9/15/14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x-none" noProof="0" smtClean="0"/>
              <a:t>Click to edit Master text styles</a:t>
            </a:r>
          </a:p>
          <a:p>
            <a:pPr lvl="1"/>
            <a:r>
              <a:rPr lang="x-none" noProof="0" smtClean="0"/>
              <a:t>Second level</a:t>
            </a:r>
          </a:p>
          <a:p>
            <a:pPr lvl="2"/>
            <a:r>
              <a:rPr lang="x-none" noProof="0" smtClean="0"/>
              <a:t>Third level</a:t>
            </a:r>
          </a:p>
          <a:p>
            <a:pPr lvl="3"/>
            <a:r>
              <a:rPr lang="x-none" noProof="0" smtClean="0"/>
              <a:t>Fourth level</a:t>
            </a:r>
          </a:p>
          <a:p>
            <a:pPr lvl="4"/>
            <a:r>
              <a:rPr lang="x-none" noProof="0" smtClean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BEB6E1B7-B6E5-514A-9283-C0DC69B17F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435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1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2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7" name="Rectangle 36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8" name="Rectangle 37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4" name="Rectangle 33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5" name="Rectangle 34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1" name="Rectangle 30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6" name="Freeform 5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7" name="Freeform 6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Hexagon 10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Hexagon 16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Freeform 25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3" name="Rectangle 42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4649788" y="-22225"/>
            <a:ext cx="3505200" cy="23129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33365" y="2708476"/>
            <a:ext cx="3313355" cy="170216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33365" y="4421080"/>
            <a:ext cx="3309803" cy="1260629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rgbClr val="42424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 smtClean="0"/>
              <a:t>Click to edit Master subtitle style</a:t>
            </a:r>
            <a:endParaRPr lang="en-US" dirty="0"/>
          </a:p>
        </p:txBody>
      </p:sp>
      <p:sp>
        <p:nvSpPr>
          <p:cNvPr id="47" name="Date Placeholder 3"/>
          <p:cNvSpPr>
            <a:spLocks noGrp="1"/>
          </p:cNvSpPr>
          <p:nvPr>
            <p:ph type="dt" sz="half" idx="10"/>
          </p:nvPr>
        </p:nvSpPr>
        <p:spPr>
          <a:xfrm>
            <a:off x="4738688" y="1516063"/>
            <a:ext cx="2133600" cy="752475"/>
          </a:xfrm>
        </p:spPr>
        <p:txBody>
          <a:bodyPr anchor="b"/>
          <a:lstStyle>
            <a:lvl1pPr algn="l">
              <a:defRPr sz="2400" smtClean="0"/>
            </a:lvl1pPr>
          </a:lstStyle>
          <a:p>
            <a:pPr>
              <a:defRPr/>
            </a:pPr>
            <a:fld id="{6655137A-6FB0-1C4E-94C3-267D0A594E98}" type="datetime4">
              <a:rPr lang="en-US"/>
              <a:pPr>
                <a:defRPr/>
              </a:pPr>
              <a:t>September 15, 2014</a:t>
            </a:fld>
            <a:endParaRPr lang="en-US" dirty="0"/>
          </a:p>
        </p:txBody>
      </p:sp>
      <p:sp>
        <p:nvSpPr>
          <p:cNvPr id="4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03838" y="5719763"/>
            <a:ext cx="2830512" cy="365125"/>
          </a:xfrm>
        </p:spPr>
        <p:txBody>
          <a:bodyPr>
            <a:normAutofit/>
          </a:bodyPr>
          <a:lstStyle>
            <a:lvl1pPr>
              <a:defRPr dirty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9788" y="5719763"/>
            <a:ext cx="642937" cy="365125"/>
          </a:xfrm>
        </p:spPr>
        <p:txBody>
          <a:bodyPr/>
          <a:lstStyle>
            <a:lvl1pPr>
              <a:defRPr smtClean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fld id="{C8AB3673-7F39-5843-8E75-30B1437A0E6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629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F16100-0000-9F4B-9427-59A4B6C5F6E8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115C37-9862-4A4D-8ED0-DA94B4E9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7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8645" y="2900829"/>
            <a:ext cx="6637468" cy="1362075"/>
          </a:xfrm>
        </p:spPr>
        <p:txBody>
          <a:bodyPr/>
          <a:lstStyle>
            <a:lvl1pPr algn="l">
              <a:defRPr sz="4000" b="0" cap="none" baseline="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8645" y="4267200"/>
            <a:ext cx="6637467" cy="1520413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8E6BC0-9B5A-E141-AC34-D53ED23DCC8B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F6B77E-877A-634E-8367-933DCBBB0C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680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1042416" y="2313432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313431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D4F12F-EAF1-5D4C-880F-775AA42497DD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934F99-59E1-674F-B576-6D449172EE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960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2111" y="2316009"/>
            <a:ext cx="305714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721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1837" y="2316010"/>
            <a:ext cx="30557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152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CA0580-2F88-7044-9CC5-C84EE5CA0F77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50751-79D9-1344-AD3D-FA20E34824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893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A403FB-6F30-AC4D-8EDB-8F62E14D9E80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68FC7C-C76F-7B4C-A7EE-E50F653139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4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08429B-D636-EC4D-85FC-9BD3CD488279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5C0BBE-D4FC-4844-8BE2-FB25DC1A1AD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99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5894" y="856527"/>
            <a:ext cx="3090440" cy="5150734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9833" y="2657434"/>
            <a:ext cx="3304572" cy="1463153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6592" y="4136994"/>
            <a:ext cx="3298784" cy="151790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CFDE1A-A3B7-4942-8E99-F13B05783BF1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5198C8-ACE9-D74A-862F-4CCA0EB14A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0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456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4424" y="2660904"/>
            <a:ext cx="3300984" cy="1463040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005208" y="693795"/>
            <a:ext cx="3359623" cy="5468112"/>
          </a:xfrm>
        </p:spPr>
        <p:txBody>
          <a:bodyPr rtlCol="0">
            <a:normAutofit/>
          </a:bodyPr>
          <a:lstStyle>
            <a:lvl1pPr marL="0" indent="0">
              <a:buNone/>
              <a:defRPr sz="3200">
                <a:solidFill>
                  <a:schemeClr val="accent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 smtClean="0"/>
              <a:t>Drag picture to placeholder or click icon to add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4630" y="4133088"/>
            <a:ext cx="3300573" cy="1519561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EDDEC9-34B2-2B47-8562-0DB2DDF36A93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49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0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54C8CE-B679-E249-8A21-F0C3828050E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12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753F03-5748-284E-8EA1-FA16176281C4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80443-B5BA-1441-A0F5-E0E8C82EE8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167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030147"/>
            <a:ext cx="1484453" cy="4780344"/>
          </a:xfrm>
        </p:spPr>
        <p:txBody>
          <a:bodyPr vert="eaVert" anchor="ctr"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53296" y="1030147"/>
            <a:ext cx="5423704" cy="4780344"/>
          </a:xfrm>
        </p:spPr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6883A8-6536-C340-9C9B-990BB2391E14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6EAA6B-3350-4147-9EAD-27A9D5A683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39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41"/>
          <p:cNvGrpSpPr>
            <a:grpSpLocks/>
          </p:cNvGrpSpPr>
          <p:nvPr/>
        </p:nvGrpSpPr>
        <p:grpSpPr bwMode="auto">
          <a:xfrm>
            <a:off x="-304800" y="0"/>
            <a:ext cx="9932988" cy="6858000"/>
            <a:chOff x="-382404" y="0"/>
            <a:chExt cx="9932332" cy="6858000"/>
          </a:xfrm>
        </p:grpSpPr>
        <p:grpSp>
          <p:nvGrpSpPr>
            <p:cNvPr id="103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5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5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6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6373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2033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30618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2540" y="5035550"/>
              <a:ext cx="9144983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2540" y="3467100"/>
              <a:ext cx="9144983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2540" y="5284788"/>
              <a:ext cx="9144983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6793" y="5132388"/>
              <a:ext cx="6982951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5573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19425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8949" y="159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6524" y="32543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2326" y="53832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3969" y="540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542" y="28495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394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09771" y="54117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8820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443" y="15636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997" y="4056063"/>
              <a:ext cx="1242931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997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457200" y="333375"/>
            <a:ext cx="8229600" cy="618648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4560888" y="-22225"/>
            <a:ext cx="3679825" cy="700088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0" name="Title Placeholder 1"/>
          <p:cNvSpPr>
            <a:spLocks noGrp="1"/>
          </p:cNvSpPr>
          <p:nvPr>
            <p:ph type="title"/>
          </p:nvPr>
        </p:nvSpPr>
        <p:spPr bwMode="auto">
          <a:xfrm>
            <a:off x="1042988" y="1027113"/>
            <a:ext cx="70246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42988" y="2324100"/>
            <a:ext cx="6777037" cy="350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7575" y="2238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3356F25-E6A9-6B44-B749-785EDDA8CCD6}" type="datetime4">
              <a:rPr lang="en-US"/>
              <a:pPr>
                <a:defRPr/>
              </a:pPr>
              <a:t>September 15,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1850" y="5851525"/>
            <a:ext cx="350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49788" y="223838"/>
            <a:ext cx="13319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258D96C5-9F30-DE44-9E70-A9B1977192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6" r:id="rId8"/>
    <p:sldLayoutId id="2147483817" r:id="rId9"/>
    <p:sldLayoutId id="2147483813" r:id="rId10"/>
    <p:sldLayoutId id="2147483814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000" kern="1200">
          <a:solidFill>
            <a:schemeClr val="accent1"/>
          </a:solidFill>
          <a:latin typeface="+mj-lt"/>
          <a:ea typeface="ＭＳ Ｐゴシック" charset="0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400" kern="1200">
          <a:solidFill>
            <a:schemeClr val="tx2"/>
          </a:solidFill>
          <a:latin typeface="+mn-lt"/>
          <a:ea typeface="ＭＳ Ｐゴシック" charset="0"/>
          <a:cs typeface="ＭＳ Ｐゴシック" charset="0"/>
        </a:defRPr>
      </a:lvl1pPr>
      <a:lvl2pPr marL="639763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200" kern="1200">
          <a:solidFill>
            <a:schemeClr val="tx2"/>
          </a:solidFill>
          <a:latin typeface="+mn-lt"/>
          <a:ea typeface="ＭＳ Ｐゴシック" charset="0"/>
          <a:cs typeface="+mn-cs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000" kern="1200">
          <a:solidFill>
            <a:schemeClr val="tx2"/>
          </a:solidFill>
          <a:latin typeface="+mn-lt"/>
          <a:ea typeface="ＭＳ Ｐゴシック" charset="0"/>
          <a:cs typeface="+mn-cs"/>
        </a:defRPr>
      </a:lvl3pPr>
      <a:lvl4pPr marL="112395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kern="1200">
          <a:solidFill>
            <a:schemeClr val="tx2"/>
          </a:solidFill>
          <a:latin typeface="+mn-lt"/>
          <a:ea typeface="ＭＳ Ｐゴシック" charset="0"/>
          <a:cs typeface="+mn-cs"/>
        </a:defRPr>
      </a:lvl4pPr>
      <a:lvl5pPr marL="1325563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1600" kern="1200">
          <a:solidFill>
            <a:schemeClr val="tx2"/>
          </a:solidFill>
          <a:latin typeface="+mn-lt"/>
          <a:ea typeface="ＭＳ Ｐゴシック" charset="0"/>
          <a:cs typeface="+mn-cs"/>
        </a:defRPr>
      </a:lvl5pPr>
      <a:lvl6pPr marL="1517904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1719072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1920240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121408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dickson.tsai@berkeley.edu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JP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itle 1"/>
          <p:cNvSpPr>
            <a:spLocks noGrp="1"/>
          </p:cNvSpPr>
          <p:nvPr>
            <p:ph type="ctrTitle"/>
          </p:nvPr>
        </p:nvSpPr>
        <p:spPr>
          <a:xfrm>
            <a:off x="4733925" y="2446338"/>
            <a:ext cx="3313113" cy="1963737"/>
          </a:xfrm>
        </p:spPr>
        <p:txBody>
          <a:bodyPr/>
          <a:lstStyle/>
          <a:p>
            <a:r>
              <a:rPr lang="en-US" dirty="0">
                <a:latin typeface="Century Gothic" charset="0"/>
              </a:rPr>
              <a:t>Welcome to CS61A </a:t>
            </a:r>
            <a:r>
              <a:rPr lang="en-US" dirty="0" smtClean="0">
                <a:latin typeface="Century Gothic" charset="0"/>
              </a:rPr>
              <a:t>Disc </a:t>
            </a:r>
            <a:r>
              <a:rPr lang="en-US" dirty="0">
                <a:latin typeface="Century Gothic" charset="0"/>
              </a:rPr>
              <a:t>3</a:t>
            </a:r>
            <a:r>
              <a:rPr lang="en-US" dirty="0" smtClean="0">
                <a:latin typeface="Century Gothic" charset="0"/>
              </a:rPr>
              <a:t> </a:t>
            </a:r>
            <a:r>
              <a:rPr lang="en-US" dirty="0" smtClean="0">
                <a:latin typeface="Century Gothic" charset="0"/>
              </a:rPr>
              <a:t>Sect. 29</a:t>
            </a:r>
            <a:r>
              <a:rPr lang="en-US" dirty="0">
                <a:latin typeface="Century Gothic" charset="0"/>
              </a:rPr>
              <a:t>/47 :D</a:t>
            </a:r>
          </a:p>
        </p:txBody>
      </p:sp>
      <p:sp>
        <p:nvSpPr>
          <p:cNvPr id="5122" name="Subtitle 2"/>
          <p:cNvSpPr>
            <a:spLocks noGrp="1"/>
          </p:cNvSpPr>
          <p:nvPr>
            <p:ph type="subTitle" idx="1"/>
          </p:nvPr>
        </p:nvSpPr>
        <p:spPr>
          <a:xfrm>
            <a:off x="4733925" y="4421188"/>
            <a:ext cx="3309938" cy="126047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Century Gothic" charset="0"/>
              </a:rPr>
              <a:t>Dickson Tsai</a:t>
            </a:r>
          </a:p>
          <a:p>
            <a:r>
              <a:rPr lang="en-US" dirty="0" smtClean="0">
                <a:latin typeface="Century Gothic" charset="0"/>
                <a:hlinkClick r:id="rId2"/>
              </a:rPr>
              <a:t>dickson.tsai+cs61a@</a:t>
            </a:r>
            <a:r>
              <a:rPr lang="en-US" dirty="0">
                <a:latin typeface="Century Gothic" charset="0"/>
                <a:hlinkClick r:id="rId2"/>
              </a:rPr>
              <a:t>berkeley.edu</a:t>
            </a:r>
            <a:endParaRPr lang="en-US" dirty="0">
              <a:latin typeface="Century Gothic" charset="0"/>
            </a:endParaRPr>
          </a:p>
          <a:p>
            <a:r>
              <a:rPr lang="en-US" dirty="0">
                <a:latin typeface="Century Gothic" charset="0"/>
              </a:rPr>
              <a:t>OH: </a:t>
            </a:r>
            <a:r>
              <a:rPr lang="en-US" dirty="0" err="1">
                <a:latin typeface="Century Gothic" charset="0"/>
              </a:rPr>
              <a:t>Tu</a:t>
            </a:r>
            <a:r>
              <a:rPr lang="en-US" dirty="0">
                <a:latin typeface="Century Gothic" charset="0"/>
              </a:rPr>
              <a:t>, </a:t>
            </a:r>
            <a:r>
              <a:rPr lang="en-US" dirty="0" err="1">
                <a:latin typeface="Century Gothic" charset="0"/>
              </a:rPr>
              <a:t>Th</a:t>
            </a:r>
            <a:r>
              <a:rPr lang="en-US" dirty="0">
                <a:latin typeface="Century Gothic" charset="0"/>
              </a:rPr>
              <a:t> 4-5pm 411 Soda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 bwMode="auto">
          <a:xfrm>
            <a:off x="-282575" y="4425950"/>
            <a:ext cx="4781550" cy="141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857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 smtClean="0">
                <a:solidFill>
                  <a:srgbClr val="424242"/>
                </a:solidFill>
              </a:rPr>
              <a:t>Previous: </a:t>
            </a:r>
            <a:r>
              <a:rPr lang="en-US" dirty="0" smtClean="0">
                <a:solidFill>
                  <a:srgbClr val="424242"/>
                </a:solidFill>
              </a:rPr>
              <a:t>Higher order functions </a:t>
            </a:r>
            <a:r>
              <a:rPr lang="en-US" b="1" dirty="0" smtClean="0">
                <a:solidFill>
                  <a:srgbClr val="424242"/>
                </a:solidFill>
              </a:rPr>
              <a:t>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b="1" dirty="0">
                <a:solidFill>
                  <a:srgbClr val="424242"/>
                </a:solidFill>
              </a:rPr>
              <a:t>Today: </a:t>
            </a:r>
            <a:r>
              <a:rPr lang="en-US" b="1" dirty="0" smtClean="0">
                <a:solidFill>
                  <a:srgbClr val="424242"/>
                </a:solidFill>
              </a:rPr>
              <a:t>Recursion, Tree Recursion </a:t>
            </a:r>
            <a:r>
              <a:rPr lang="en-US" b="1" dirty="0" smtClean="0">
                <a:solidFill>
                  <a:srgbClr val="424242"/>
                </a:solidFill>
              </a:rPr>
              <a:t>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>
                <a:solidFill>
                  <a:srgbClr val="424242"/>
                </a:solidFill>
              </a:rPr>
              <a:t>Next stop: </a:t>
            </a:r>
            <a:r>
              <a:rPr lang="en-US" dirty="0" smtClean="0">
                <a:solidFill>
                  <a:srgbClr val="424242"/>
                </a:solidFill>
              </a:rPr>
              <a:t>Data Abstraction (a new unit!)</a:t>
            </a:r>
            <a:endParaRPr lang="en-US" dirty="0">
              <a:solidFill>
                <a:srgbClr val="424242"/>
              </a:solidFill>
            </a:endParaRPr>
          </a:p>
        </p:txBody>
      </p:sp>
      <p:sp>
        <p:nvSpPr>
          <p:cNvPr id="5124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104F7D4B-5206-4F42-A4A3-937B571AE82A}" type="slidenum">
              <a:rPr lang="en-US">
                <a:solidFill>
                  <a:schemeClr val="accent1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Quiz Logistics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Please take out a piece of paper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Put your name, login (e.g. cs61a-ty), SID, and section number (#47 for 11-12:30 pm, #29 for 6:30-8pm)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Graded on effort: effort = revise your quiz with diff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color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16690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Quiz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can I make your lab/discussion experience more worthwhile?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would Python print?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69749" y="3720028"/>
            <a:ext cx="6196497" cy="2862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/>
                <a:cs typeface="Consolas"/>
              </a:rPr>
              <a:t>&gt;&gt;&gt; </a:t>
            </a:r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foo(x, y):</a:t>
            </a:r>
          </a:p>
          <a:p>
            <a:r>
              <a:rPr lang="en-US" dirty="0" smtClean="0">
                <a:latin typeface="Consolas"/>
                <a:cs typeface="Consolas"/>
              </a:rPr>
              <a:t>...  if x == 0:</a:t>
            </a:r>
          </a:p>
          <a:p>
            <a:r>
              <a:rPr lang="en-US" dirty="0" smtClean="0">
                <a:latin typeface="Consolas"/>
                <a:cs typeface="Consolas"/>
              </a:rPr>
              <a:t>...    return y</a:t>
            </a:r>
          </a:p>
          <a:p>
            <a:r>
              <a:rPr lang="en-US" dirty="0" smtClean="0">
                <a:latin typeface="Consolas"/>
                <a:cs typeface="Consolas"/>
              </a:rPr>
              <a:t>...  print(x % 10)</a:t>
            </a:r>
            <a:endParaRPr lang="en-US" dirty="0" smtClean="0">
              <a:latin typeface="Consolas"/>
              <a:cs typeface="Consolas"/>
            </a:endParaRPr>
          </a:p>
          <a:p>
            <a:r>
              <a:rPr lang="en-US" dirty="0" smtClean="0">
                <a:latin typeface="Consolas"/>
                <a:cs typeface="Consolas"/>
              </a:rPr>
              <a:t>...  return bar(x // 100, y)</a:t>
            </a:r>
          </a:p>
          <a:p>
            <a:r>
              <a:rPr lang="en-US" dirty="0" smtClean="0">
                <a:latin typeface="Consolas"/>
                <a:cs typeface="Consolas"/>
              </a:rPr>
              <a:t>...</a:t>
            </a:r>
          </a:p>
          <a:p>
            <a:r>
              <a:rPr lang="en-US" dirty="0" smtClean="0">
                <a:latin typeface="Consolas"/>
                <a:cs typeface="Consolas"/>
              </a:rPr>
              <a:t>&gt;&gt;&gt; </a:t>
            </a:r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bar(x, y):</a:t>
            </a:r>
          </a:p>
          <a:p>
            <a:r>
              <a:rPr lang="en-US" dirty="0" smtClean="0">
                <a:latin typeface="Consolas"/>
                <a:cs typeface="Consolas"/>
              </a:rPr>
              <a:t>...  return foo(x // 10, y * 10 + x % 10)</a:t>
            </a:r>
          </a:p>
          <a:p>
            <a:r>
              <a:rPr lang="en-US" dirty="0" smtClean="0">
                <a:latin typeface="Consolas"/>
                <a:cs typeface="Consolas"/>
              </a:rPr>
              <a:t>&gt;&gt;&gt; foo(945113, 0)</a:t>
            </a:r>
            <a:endParaRPr lang="en-US" dirty="0">
              <a:latin typeface="Consolas"/>
              <a:cs typeface="Consolas"/>
            </a:endParaRPr>
          </a:p>
          <a:p>
            <a:endParaRPr lang="en-US" dirty="0" smtClean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96526294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</a:t>
            </a:r>
            <a:r>
              <a:rPr lang="en-US" dirty="0" smtClean="0">
                <a:latin typeface="Century Gothic" charset="0"/>
              </a:rPr>
              <a:t>Quiz </a:t>
            </a:r>
            <a:r>
              <a:rPr lang="en-US" dirty="0" smtClean="0">
                <a:solidFill>
                  <a:srgbClr val="FF0000"/>
                </a:solidFill>
                <a:latin typeface="Century Gothic" charset="0"/>
              </a:rPr>
              <a:t>[Solution]</a:t>
            </a:r>
            <a:endParaRPr lang="en-US" dirty="0">
              <a:solidFill>
                <a:srgbClr val="FF0000"/>
              </a:solidFill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would Python print?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69749" y="2655331"/>
            <a:ext cx="619649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/>
                <a:cs typeface="Consolas"/>
              </a:rPr>
              <a:t>&gt;&gt;&gt; </a:t>
            </a:r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foo(x, y):</a:t>
            </a:r>
          </a:p>
          <a:p>
            <a:r>
              <a:rPr lang="en-US" dirty="0" smtClean="0">
                <a:latin typeface="Consolas"/>
                <a:cs typeface="Consolas"/>
              </a:rPr>
              <a:t>...  if x == 0:</a:t>
            </a:r>
          </a:p>
          <a:p>
            <a:r>
              <a:rPr lang="en-US" dirty="0" smtClean="0">
                <a:latin typeface="Consolas"/>
                <a:cs typeface="Consolas"/>
              </a:rPr>
              <a:t>...    return y</a:t>
            </a:r>
          </a:p>
          <a:p>
            <a:r>
              <a:rPr lang="en-US" dirty="0" smtClean="0">
                <a:latin typeface="Consolas"/>
                <a:cs typeface="Consolas"/>
              </a:rPr>
              <a:t>...  print(x % 10)</a:t>
            </a:r>
            <a:endParaRPr lang="en-US" dirty="0" smtClean="0">
              <a:latin typeface="Consolas"/>
              <a:cs typeface="Consolas"/>
            </a:endParaRPr>
          </a:p>
          <a:p>
            <a:r>
              <a:rPr lang="en-US" dirty="0" smtClean="0">
                <a:latin typeface="Consolas"/>
                <a:cs typeface="Consolas"/>
              </a:rPr>
              <a:t>...  return bar(x // 10, y)</a:t>
            </a:r>
          </a:p>
          <a:p>
            <a:r>
              <a:rPr lang="en-US" dirty="0" smtClean="0">
                <a:latin typeface="Consolas"/>
                <a:cs typeface="Consolas"/>
              </a:rPr>
              <a:t>...</a:t>
            </a:r>
          </a:p>
          <a:p>
            <a:r>
              <a:rPr lang="en-US" dirty="0" smtClean="0">
                <a:latin typeface="Consolas"/>
                <a:cs typeface="Consolas"/>
              </a:rPr>
              <a:t>&gt;&gt;&gt; </a:t>
            </a:r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bar(x, y):</a:t>
            </a:r>
          </a:p>
          <a:p>
            <a:r>
              <a:rPr lang="en-US" dirty="0" smtClean="0">
                <a:latin typeface="Consolas"/>
                <a:cs typeface="Consolas"/>
              </a:rPr>
              <a:t>...  return foo(x // 10, y * 10 + x % 10)</a:t>
            </a:r>
          </a:p>
          <a:p>
            <a:r>
              <a:rPr lang="en-US" dirty="0" smtClean="0">
                <a:latin typeface="Consolas"/>
                <a:cs typeface="Consolas"/>
              </a:rPr>
              <a:t>...</a:t>
            </a:r>
            <a:endParaRPr lang="en-US" dirty="0" smtClean="0">
              <a:latin typeface="Consolas"/>
              <a:cs typeface="Consolas"/>
            </a:endParaRPr>
          </a:p>
          <a:p>
            <a:r>
              <a:rPr lang="en-US" dirty="0" smtClean="0">
                <a:latin typeface="Consolas"/>
                <a:cs typeface="Consolas"/>
              </a:rPr>
              <a:t>&gt;&gt;&gt; foo(945113, 0)</a:t>
            </a:r>
          </a:p>
          <a:p>
            <a:r>
              <a:rPr lang="en-US" dirty="0" smtClean="0">
                <a:solidFill>
                  <a:srgbClr val="FF0000"/>
                </a:solidFill>
                <a:latin typeface="Consolas"/>
                <a:cs typeface="Consolas"/>
              </a:rPr>
              <a:t>3</a:t>
            </a:r>
          </a:p>
          <a:p>
            <a:r>
              <a:rPr lang="en-US" dirty="0" smtClean="0">
                <a:solidFill>
                  <a:srgbClr val="FF0000"/>
                </a:solidFill>
                <a:latin typeface="Consolas"/>
                <a:cs typeface="Consolas"/>
              </a:rPr>
              <a:t>1</a:t>
            </a:r>
          </a:p>
          <a:p>
            <a:r>
              <a:rPr lang="en-US" dirty="0" smtClean="0">
                <a:solidFill>
                  <a:srgbClr val="FF0000"/>
                </a:solidFill>
                <a:latin typeface="Consolas"/>
                <a:cs typeface="Consolas"/>
              </a:rPr>
              <a:t>4</a:t>
            </a:r>
          </a:p>
          <a:p>
            <a:r>
              <a:rPr lang="en-US" dirty="0" smtClean="0">
                <a:solidFill>
                  <a:srgbClr val="FF0000"/>
                </a:solidFill>
                <a:latin typeface="Consolas"/>
                <a:cs typeface="Consolas"/>
              </a:rPr>
              <a:t>159</a:t>
            </a:r>
            <a:endParaRPr lang="en-US" dirty="0">
              <a:solidFill>
                <a:srgbClr val="FF0000"/>
              </a:solidFill>
              <a:latin typeface="Consolas"/>
              <a:cs typeface="Consolas"/>
            </a:endParaRPr>
          </a:p>
          <a:p>
            <a:endParaRPr lang="en-US" dirty="0" smtClean="0">
              <a:latin typeface="Consolas"/>
              <a:cs typeface="Consola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85285" y="2937539"/>
            <a:ext cx="26684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Foo prints the ones digit, removes it from x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784411" y="3860869"/>
            <a:ext cx="26684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Bar takes a digit, appends to y, and removes 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09616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</a:t>
            </a:r>
            <a:r>
              <a:rPr lang="en-US" dirty="0" smtClean="0">
                <a:latin typeface="Century Gothic" charset="0"/>
              </a:rPr>
              <a:t>Quiz </a:t>
            </a:r>
            <a:r>
              <a:rPr lang="en-US" dirty="0" smtClean="0">
                <a:solidFill>
                  <a:srgbClr val="FF0000"/>
                </a:solidFill>
                <a:latin typeface="Century Gothic" charset="0"/>
              </a:rPr>
              <a:t>[Solution]</a:t>
            </a:r>
            <a:endParaRPr lang="en-US" dirty="0">
              <a:solidFill>
                <a:srgbClr val="FF0000"/>
              </a:solidFill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would Python print?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69749" y="2655331"/>
            <a:ext cx="619649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/>
                <a:cs typeface="Consolas"/>
              </a:rPr>
              <a:t>&gt;&gt;&gt; </a:t>
            </a:r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foo(x, y):</a:t>
            </a:r>
          </a:p>
          <a:p>
            <a:r>
              <a:rPr lang="en-US" dirty="0" smtClean="0">
                <a:latin typeface="Consolas"/>
                <a:cs typeface="Consolas"/>
              </a:rPr>
              <a:t>...  if x == 0:</a:t>
            </a:r>
          </a:p>
          <a:p>
            <a:r>
              <a:rPr lang="en-US" dirty="0" smtClean="0">
                <a:latin typeface="Consolas"/>
                <a:cs typeface="Consolas"/>
              </a:rPr>
              <a:t>...    return y</a:t>
            </a:r>
          </a:p>
          <a:p>
            <a:r>
              <a:rPr lang="en-US" dirty="0" smtClean="0">
                <a:latin typeface="Consolas"/>
                <a:cs typeface="Consolas"/>
              </a:rPr>
              <a:t>...  print(x % 10)</a:t>
            </a:r>
            <a:endParaRPr lang="en-US" dirty="0" smtClean="0">
              <a:latin typeface="Consolas"/>
              <a:cs typeface="Consolas"/>
            </a:endParaRPr>
          </a:p>
          <a:p>
            <a:r>
              <a:rPr lang="en-US" dirty="0" smtClean="0">
                <a:latin typeface="Consolas"/>
                <a:cs typeface="Consolas"/>
              </a:rPr>
              <a:t>...  return bar(x // 10, y)</a:t>
            </a:r>
          </a:p>
          <a:p>
            <a:r>
              <a:rPr lang="en-US" dirty="0" smtClean="0">
                <a:latin typeface="Consolas"/>
                <a:cs typeface="Consolas"/>
              </a:rPr>
              <a:t>...</a:t>
            </a:r>
          </a:p>
          <a:p>
            <a:r>
              <a:rPr lang="en-US" dirty="0" smtClean="0">
                <a:latin typeface="Consolas"/>
                <a:cs typeface="Consolas"/>
              </a:rPr>
              <a:t>&gt;&gt;&gt; </a:t>
            </a:r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bar(x, y):</a:t>
            </a:r>
          </a:p>
          <a:p>
            <a:r>
              <a:rPr lang="en-US" dirty="0" smtClean="0">
                <a:latin typeface="Consolas"/>
                <a:cs typeface="Consolas"/>
              </a:rPr>
              <a:t>...  return foo(x // 10, y * 10 + x % 10)</a:t>
            </a:r>
          </a:p>
          <a:p>
            <a:r>
              <a:rPr lang="en-US" dirty="0" smtClean="0">
                <a:latin typeface="Consolas"/>
                <a:cs typeface="Consolas"/>
              </a:rPr>
              <a:t>...</a:t>
            </a:r>
            <a:endParaRPr lang="en-US" dirty="0" smtClean="0">
              <a:latin typeface="Consolas"/>
              <a:cs typeface="Consolas"/>
            </a:endParaRPr>
          </a:p>
          <a:p>
            <a:r>
              <a:rPr lang="en-US" dirty="0" smtClean="0">
                <a:latin typeface="Consolas"/>
                <a:cs typeface="Consolas"/>
              </a:rPr>
              <a:t>&gt;&gt;&gt; foo(945113, 0)</a:t>
            </a:r>
          </a:p>
          <a:p>
            <a:r>
              <a:rPr lang="en-US" dirty="0" smtClean="0">
                <a:solidFill>
                  <a:srgbClr val="FF0000"/>
                </a:solidFill>
                <a:latin typeface="Consolas"/>
                <a:cs typeface="Consolas"/>
              </a:rPr>
              <a:t>3</a:t>
            </a:r>
          </a:p>
          <a:p>
            <a:r>
              <a:rPr lang="en-US" dirty="0" smtClean="0">
                <a:solidFill>
                  <a:srgbClr val="FF0000"/>
                </a:solidFill>
                <a:latin typeface="Consolas"/>
                <a:cs typeface="Consolas"/>
              </a:rPr>
              <a:t>1</a:t>
            </a:r>
          </a:p>
          <a:p>
            <a:r>
              <a:rPr lang="en-US" dirty="0" smtClean="0">
                <a:solidFill>
                  <a:srgbClr val="FF0000"/>
                </a:solidFill>
                <a:latin typeface="Consolas"/>
                <a:cs typeface="Consolas"/>
              </a:rPr>
              <a:t>4</a:t>
            </a:r>
          </a:p>
          <a:p>
            <a:r>
              <a:rPr lang="en-US" dirty="0" smtClean="0">
                <a:solidFill>
                  <a:srgbClr val="FF0000"/>
                </a:solidFill>
                <a:latin typeface="Consolas"/>
                <a:cs typeface="Consolas"/>
              </a:rPr>
              <a:t>159</a:t>
            </a:r>
            <a:endParaRPr lang="en-US" dirty="0">
              <a:solidFill>
                <a:srgbClr val="FF0000"/>
              </a:solidFill>
              <a:latin typeface="Consolas"/>
              <a:cs typeface="Consolas"/>
            </a:endParaRPr>
          </a:p>
          <a:p>
            <a:endParaRPr lang="en-US" dirty="0" smtClean="0">
              <a:latin typeface="Consolas"/>
              <a:cs typeface="Consola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85285" y="2937539"/>
            <a:ext cx="26684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Foo prints the ones digit, removes it from x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784411" y="3860869"/>
            <a:ext cx="26684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Bar takes a digit, appends to y, and removes it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4050921" y="5219071"/>
            <a:ext cx="41854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2">
                    <a:lumMod val="50000"/>
                  </a:schemeClr>
                </a:solidFill>
              </a:rPr>
              <a:t>If you know the rules well</a:t>
            </a:r>
            <a:r>
              <a:rPr lang="en-US" dirty="0" smtClean="0"/>
              <a:t>, recursion and HOF execution should not be anything special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014405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entury Gothic" charset="0"/>
              </a:rPr>
              <a:t>Anuncios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Midterm 1 is next Monday 9/22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Hog Project 1 is due tonight for normal credit. Late submission by a day has 2/3 of earned score.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Reminder: My OH are Tuesdays, Thursdays 4-5 PM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 Soda 411</a:t>
            </a:r>
          </a:p>
          <a:p>
            <a:r>
              <a:rPr lang="en-US" b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Review sessions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for the midterm this Saturday and Sunday</a:t>
            </a:r>
          </a:p>
          <a:p>
            <a:r>
              <a:rPr lang="en-US" b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 not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post any of your code on a public-viewable platform online. (e.g.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Github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Pastebin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)</a:t>
            </a:r>
            <a:endParaRPr lang="en-US" b="1" u="sng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solidFill>
                <a:srgbClr val="FEFEFE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Tip of the Day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Trust your functions!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Seen in the section quiz: functions are meant to hide complexity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Recursion is incredibly expressive, because you can think in terms of the behavior and input of your function… when writing the same function!</a:t>
            </a:r>
          </a:p>
          <a:p>
            <a:pPr marL="366713" lvl="1" indent="0">
              <a:buNone/>
            </a:pP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938936" y="4167664"/>
            <a:ext cx="647633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echo(word):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""” Takes in a word, prints the word, then  </a:t>
            </a:r>
            <a:r>
              <a:rPr lang="en-US" b="1" dirty="0" smtClean="0">
                <a:solidFill>
                  <a:srgbClr val="4A6300"/>
                </a:solidFill>
                <a:latin typeface="Consolas"/>
                <a:cs typeface="Consolas"/>
              </a:rPr>
              <a:t>echoes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the </a:t>
            </a: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remaining word"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"”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print(word)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endParaRPr lang="en-US" dirty="0">
              <a:solidFill>
                <a:srgbClr val="4A6300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9354739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Tip of the Day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Trust your functions!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Seen in the section quiz: functions are meant to hide complexity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Recursion is incredibly expressive, because you can think in terms of the behavior and input of your function… when writing the same function!</a:t>
            </a:r>
          </a:p>
          <a:p>
            <a:pPr marL="366713" lvl="1" indent="0">
              <a:buNone/>
            </a:pP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938936" y="4167664"/>
            <a:ext cx="6476332" cy="17543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echo(word):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""” Takes in a word, prints the word, then  </a:t>
            </a:r>
            <a:r>
              <a:rPr lang="en-US" b="1" dirty="0" smtClean="0">
                <a:solidFill>
                  <a:srgbClr val="4A6300"/>
                </a:solidFill>
                <a:latin typeface="Consolas"/>
                <a:cs typeface="Consolas"/>
              </a:rPr>
              <a:t>echoes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the </a:t>
            </a: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remaining word"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"”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print(word)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echo(word[1:])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endParaRPr lang="en-US" dirty="0">
              <a:solidFill>
                <a:srgbClr val="4A6300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01322549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Tip of the Day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Trust your functions!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Seen in the section quiz: functions are meant to hide complexity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Recursion is incredibly expressive, because you can think in terms of the behavior and input of your function… when writing the same function!</a:t>
            </a:r>
          </a:p>
          <a:p>
            <a:pPr marL="366713" lvl="1" indent="0">
              <a:buNone/>
            </a:pP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938936" y="4167664"/>
            <a:ext cx="647633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echo(word):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""” Takes in a word, prints the word, then  </a:t>
            </a:r>
            <a:r>
              <a:rPr lang="en-US" b="1" dirty="0" smtClean="0">
                <a:solidFill>
                  <a:srgbClr val="4A6300"/>
                </a:solidFill>
                <a:latin typeface="Consolas"/>
                <a:cs typeface="Consolas"/>
              </a:rPr>
              <a:t>echoes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the </a:t>
            </a: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remaining word"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"”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if word == “”: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  return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print(word)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echo(word[1:])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endParaRPr lang="en-US" dirty="0">
              <a:solidFill>
                <a:srgbClr val="4A6300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8606941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57199" y="455613"/>
            <a:ext cx="8138353" cy="1143000"/>
          </a:xfrm>
        </p:spPr>
        <p:txBody>
          <a:bodyPr/>
          <a:lstStyle/>
          <a:p>
            <a:r>
              <a:rPr lang="en-US" sz="3600" dirty="0" smtClean="0">
                <a:latin typeface="Century Gothic" charset="0"/>
              </a:rPr>
              <a:t>Recall: Characteristics </a:t>
            </a:r>
            <a:r>
              <a:rPr lang="en-US" sz="3600" dirty="0" smtClean="0">
                <a:latin typeface="Century Gothic" charset="0"/>
              </a:rPr>
              <a:t>of Functions</a:t>
            </a:r>
            <a:endParaRPr lang="en-US" sz="3600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Recall that a function has 3 characteristics: </a:t>
            </a:r>
            <a:r>
              <a:rPr lang="en-US" dirty="0" smtClean="0">
                <a:solidFill>
                  <a:srgbClr val="FF6600"/>
                </a:solidFill>
                <a:latin typeface="Avenir Book"/>
                <a:cs typeface="Avenir Book"/>
              </a:rPr>
              <a:t>domain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, </a:t>
            </a:r>
            <a:r>
              <a:rPr lang="en-US" dirty="0" smtClean="0">
                <a:solidFill>
                  <a:srgbClr val="FF00FF"/>
                </a:solidFill>
                <a:latin typeface="Avenir Book"/>
                <a:cs typeface="Avenir Book"/>
              </a:rPr>
              <a:t>range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, and </a:t>
            </a:r>
            <a:r>
              <a:rPr lang="en-US" dirty="0" smtClean="0">
                <a:solidFill>
                  <a:schemeClr val="bg2">
                    <a:lumMod val="75000"/>
                  </a:schemeClr>
                </a:solidFill>
                <a:latin typeface="Avenir Book"/>
                <a:cs typeface="Avenir Book"/>
              </a:rPr>
              <a:t>behavior</a:t>
            </a:r>
            <a:endParaRPr lang="en-US" dirty="0">
              <a:solidFill>
                <a:schemeClr val="bg2">
                  <a:lumMod val="75000"/>
                </a:schemeClr>
              </a:solidFill>
              <a:latin typeface="Avenir Book"/>
              <a:cs typeface="Avenir Book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Recall from Lab 2 (this is similar but not the same as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make_buzzer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):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“Write a function </a:t>
            </a: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double_maker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 that takes in a one-argument function </a:t>
            </a:r>
            <a:r>
              <a:rPr lang="en-US" dirty="0" err="1" smtClean="0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 and returns a function (double) that takes in one argument and returns the result of calling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twice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on that argument”</a:t>
            </a:r>
            <a:endParaRPr lang="en-US" dirty="0" smtClean="0">
              <a:solidFill>
                <a:srgbClr val="4A6300"/>
              </a:solidFill>
              <a:latin typeface="Consolas"/>
              <a:cs typeface="Consolas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[Discuss] What is the domain, range, and behavior of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double_maker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? What is a best way to draw all that information out visually?</a:t>
            </a:r>
            <a:endParaRPr lang="en-US" dirty="0">
              <a:solidFill>
                <a:srgbClr val="4A6300"/>
              </a:solidFill>
              <a:latin typeface="Avenir Book"/>
              <a:cs typeface="Avenir Book"/>
            </a:endParaRPr>
          </a:p>
          <a:p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74818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“Write a function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double_maker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that takes in a one-argument function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and returns a function (double) that takes in one argument and returns the result of calling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twice on that argument”</a:t>
            </a:r>
            <a:endParaRPr lang="en-US" dirty="0">
              <a:solidFill>
                <a:srgbClr val="4A6300"/>
              </a:solidFill>
              <a:latin typeface="Consolas"/>
              <a:cs typeface="Consolas"/>
            </a:endParaRPr>
          </a:p>
          <a:p>
            <a:r>
              <a:rPr lang="en-US" dirty="0" smtClean="0">
                <a:solidFill>
                  <a:srgbClr val="FF6600"/>
                </a:solidFill>
                <a:latin typeface="Avenir Book"/>
                <a:cs typeface="Avenir Book"/>
              </a:rPr>
              <a:t>Domain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: a one-argument function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func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r>
              <a:rPr lang="en-US" dirty="0" smtClean="0">
                <a:solidFill>
                  <a:schemeClr val="bg2">
                    <a:lumMod val="75000"/>
                  </a:schemeClr>
                </a:solidFill>
                <a:latin typeface="Avenir Book"/>
                <a:cs typeface="Avenir Book"/>
              </a:rPr>
              <a:t>Behavior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: define a function that …</a:t>
            </a:r>
          </a:p>
          <a:p>
            <a:r>
              <a:rPr lang="en-US" dirty="0" smtClean="0">
                <a:solidFill>
                  <a:srgbClr val="FF00FF"/>
                </a:solidFill>
                <a:latin typeface="Avenir Book"/>
                <a:cs typeface="Avenir Book"/>
              </a:rPr>
              <a:t>Range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: that defined function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Domain of returned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fn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: same domain as domain of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func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Behavior: Call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func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 twice on the input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Range: The value of that double function call</a:t>
            </a:r>
            <a:endParaRPr lang="en-US" dirty="0">
              <a:solidFill>
                <a:srgbClr val="4A6300"/>
              </a:solidFill>
              <a:latin typeface="Avenir Book"/>
              <a:cs typeface="Avenir Book"/>
            </a:endParaRPr>
          </a:p>
          <a:p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6770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“Write a function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double_maker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that takes in a one-argument function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and returns a function (double) that takes in one argument and returns the result of calling </a:t>
            </a: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 twice on that argument”</a:t>
            </a:r>
            <a:endParaRPr lang="en-US" dirty="0">
              <a:solidFill>
                <a:srgbClr val="4A6300"/>
              </a:solidFill>
              <a:latin typeface="Consolas"/>
              <a:cs typeface="Consolas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Best way to visualize: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7" name="Left-Right Arrow Callout 6"/>
          <p:cNvSpPr/>
          <p:nvPr/>
        </p:nvSpPr>
        <p:spPr>
          <a:xfrm>
            <a:off x="2132401" y="4725907"/>
            <a:ext cx="3092779" cy="1718211"/>
          </a:xfrm>
          <a:prstGeom prst="leftRightArrowCallout">
            <a:avLst>
              <a:gd name="adj1" fmla="val 25000"/>
              <a:gd name="adj2" fmla="val 25000"/>
              <a:gd name="adj3" fmla="val 25000"/>
              <a:gd name="adj4" fmla="val 59738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Left-Right Arrow Callout 7"/>
          <p:cNvSpPr/>
          <p:nvPr/>
        </p:nvSpPr>
        <p:spPr>
          <a:xfrm>
            <a:off x="5252760" y="4107156"/>
            <a:ext cx="2008558" cy="1216331"/>
          </a:xfrm>
          <a:prstGeom prst="leftRightArrowCallout">
            <a:avLst/>
          </a:prstGeom>
          <a:solidFill>
            <a:srgbClr val="FF00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00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02231" y="4725907"/>
            <a:ext cx="2065498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</a:t>
            </a:r>
            <a:r>
              <a:rPr lang="en-US" dirty="0" err="1" smtClean="0"/>
              <a:t>ouble_maker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Defines a function double</a:t>
            </a:r>
          </a:p>
          <a:p>
            <a:r>
              <a:rPr lang="en-US" dirty="0" smtClean="0"/>
              <a:t>(can look at </a:t>
            </a:r>
            <a:r>
              <a:rPr lang="en-US" dirty="0" err="1" smtClean="0"/>
              <a:t>func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808507" y="4453196"/>
            <a:ext cx="206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ouble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5758" y="4107156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3366FF"/>
                </a:solidFill>
              </a:rPr>
              <a:t>Same domain as </a:t>
            </a:r>
          </a:p>
          <a:p>
            <a:r>
              <a:rPr lang="en-US" sz="1400" dirty="0" err="1" smtClean="0">
                <a:solidFill>
                  <a:srgbClr val="3366FF"/>
                </a:solidFill>
              </a:rPr>
              <a:t>func</a:t>
            </a:r>
            <a:endParaRPr lang="en-US" sz="1400" dirty="0" smtClean="0">
              <a:solidFill>
                <a:srgbClr val="3366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261318" y="4580926"/>
            <a:ext cx="1409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FF0000"/>
                </a:solidFill>
              </a:rPr>
              <a:t>f</a:t>
            </a:r>
            <a:r>
              <a:rPr lang="en-US" sz="1400" dirty="0" err="1" smtClean="0">
                <a:solidFill>
                  <a:srgbClr val="FF0000"/>
                </a:solidFill>
              </a:rPr>
              <a:t>unc</a:t>
            </a:r>
            <a:r>
              <a:rPr lang="en-US" sz="1400" dirty="0" smtClean="0">
                <a:solidFill>
                  <a:srgbClr val="FF0000"/>
                </a:solidFill>
              </a:rPr>
              <a:t>(</a:t>
            </a:r>
            <a:r>
              <a:rPr lang="en-US" sz="1400" dirty="0" err="1" smtClean="0">
                <a:solidFill>
                  <a:srgbClr val="FF0000"/>
                </a:solidFill>
              </a:rPr>
              <a:t>func</a:t>
            </a:r>
            <a:r>
              <a:rPr lang="en-US" sz="1400" dirty="0" smtClean="0">
                <a:solidFill>
                  <a:srgbClr val="FF0000"/>
                </a:solidFill>
              </a:rPr>
              <a:t>(x))</a:t>
            </a:r>
          </a:p>
        </p:txBody>
      </p:sp>
      <p:sp>
        <p:nvSpPr>
          <p:cNvPr id="14" name="Left-Right Arrow Callout 13"/>
          <p:cNvSpPr/>
          <p:nvPr/>
        </p:nvSpPr>
        <p:spPr>
          <a:xfrm>
            <a:off x="793673" y="3844932"/>
            <a:ext cx="2008558" cy="1216331"/>
          </a:xfrm>
          <a:prstGeom prst="leftRightArrowCallout">
            <a:avLst/>
          </a:prstGeom>
          <a:solidFill>
            <a:srgbClr val="FF66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5546" y="3868421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3366FF"/>
                </a:solidFill>
              </a:rPr>
              <a:t>One parameter</a:t>
            </a:r>
          </a:p>
          <a:p>
            <a:r>
              <a:rPr lang="en-US" sz="1400" dirty="0">
                <a:solidFill>
                  <a:srgbClr val="3366FF"/>
                </a:solidFill>
              </a:rPr>
              <a:t>x</a:t>
            </a:r>
            <a:endParaRPr lang="en-US" sz="1400" dirty="0" smtClean="0">
              <a:solidFill>
                <a:srgbClr val="3366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802231" y="3868421"/>
            <a:ext cx="14093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00"/>
                </a:solidFill>
              </a:rPr>
              <a:t>Express output as:</a:t>
            </a:r>
          </a:p>
          <a:p>
            <a:r>
              <a:rPr lang="en-US" sz="1400" dirty="0" err="1" smtClean="0">
                <a:solidFill>
                  <a:srgbClr val="FF0000"/>
                </a:solidFill>
              </a:rPr>
              <a:t>func</a:t>
            </a:r>
            <a:r>
              <a:rPr lang="en-US" sz="1400" dirty="0" smtClean="0">
                <a:solidFill>
                  <a:srgbClr val="FF0000"/>
                </a:solidFill>
              </a:rPr>
              <a:t>(x)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1799" y="3868420"/>
            <a:ext cx="10874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 smtClean="0"/>
              <a:t>func</a:t>
            </a:r>
            <a:endParaRPr lang="en-US" sz="1400" dirty="0" smtClean="0"/>
          </a:p>
          <a:p>
            <a:pPr algn="ctr"/>
            <a:endParaRPr lang="en-US" sz="1400" dirty="0" smtClean="0"/>
          </a:p>
          <a:p>
            <a:pPr algn="ctr"/>
            <a:r>
              <a:rPr lang="en-US" sz="1400" dirty="0" smtClean="0"/>
              <a:t>??? (unknown behavior)</a:t>
            </a:r>
          </a:p>
        </p:txBody>
      </p:sp>
    </p:spTree>
    <p:extLst>
      <p:ext uri="{BB962C8B-B14F-4D97-AF65-F5344CB8AC3E}">
        <p14:creationId xmlns:p14="http://schemas.microsoft.com/office/powerpoint/2010/main" val="93835309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99210" y="3376367"/>
            <a:ext cx="3393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chemeClr val="bg2">
                    <a:lumMod val="75000"/>
                  </a:schemeClr>
                </a:solidFill>
                <a:latin typeface="Consolas"/>
                <a:cs typeface="Consolas"/>
              </a:rPr>
              <a:t>double_maker</a:t>
            </a:r>
            <a:r>
              <a:rPr lang="en-US" dirty="0" smtClean="0">
                <a:latin typeface="Consolas"/>
                <a:cs typeface="Consolas"/>
              </a:rPr>
              <a:t>(</a:t>
            </a:r>
            <a:r>
              <a:rPr lang="en-US" dirty="0" err="1" smtClean="0">
                <a:solidFill>
                  <a:srgbClr val="FF6600"/>
                </a:solidFill>
                <a:latin typeface="Consolas"/>
                <a:cs typeface="Consolas"/>
              </a:rPr>
              <a:t>func</a:t>
            </a:r>
            <a:r>
              <a:rPr lang="en-US" dirty="0" smtClean="0">
                <a:latin typeface="Consolas"/>
                <a:cs typeface="Consolas"/>
              </a:rPr>
              <a:t>):</a:t>
            </a:r>
          </a:p>
          <a:p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 # body of </a:t>
            </a:r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double_maker</a:t>
            </a:r>
            <a:endParaRPr lang="en-US" dirty="0" smtClean="0">
              <a:solidFill>
                <a:srgbClr val="660066"/>
              </a:solidFill>
              <a:latin typeface="Consolas"/>
              <a:cs typeface="Consolas"/>
            </a:endParaRPr>
          </a:p>
          <a:p>
            <a:r>
              <a:rPr lang="en-US" dirty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return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 double</a:t>
            </a:r>
            <a:endParaRPr lang="en-US" dirty="0">
              <a:solidFill>
                <a:srgbClr val="FF00FF"/>
              </a:solidFill>
              <a:latin typeface="Consolas"/>
              <a:cs typeface="Consolas"/>
            </a:endParaRPr>
          </a:p>
        </p:txBody>
      </p:sp>
      <p:sp>
        <p:nvSpPr>
          <p:cNvPr id="14" name="Left-Right Arrow Callout 13"/>
          <p:cNvSpPr/>
          <p:nvPr/>
        </p:nvSpPr>
        <p:spPr>
          <a:xfrm>
            <a:off x="2006431" y="2455288"/>
            <a:ext cx="3092779" cy="1718211"/>
          </a:xfrm>
          <a:prstGeom prst="leftRightArrowCallout">
            <a:avLst>
              <a:gd name="adj1" fmla="val 25000"/>
              <a:gd name="adj2" fmla="val 25000"/>
              <a:gd name="adj3" fmla="val 25000"/>
              <a:gd name="adj4" fmla="val 59738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Left-Right Arrow Callout 14"/>
          <p:cNvSpPr/>
          <p:nvPr/>
        </p:nvSpPr>
        <p:spPr>
          <a:xfrm>
            <a:off x="5126790" y="1836537"/>
            <a:ext cx="2008558" cy="1216331"/>
          </a:xfrm>
          <a:prstGeom prst="leftRightArrowCallout">
            <a:avLst/>
          </a:prstGeom>
          <a:solidFill>
            <a:srgbClr val="FF00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00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76261" y="2455288"/>
            <a:ext cx="2065498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</a:t>
            </a:r>
            <a:r>
              <a:rPr lang="en-US" dirty="0" err="1" smtClean="0"/>
              <a:t>ouble_maker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Defines a function double</a:t>
            </a:r>
          </a:p>
          <a:p>
            <a:r>
              <a:rPr lang="en-US" dirty="0" smtClean="0"/>
              <a:t>(can look at </a:t>
            </a:r>
            <a:r>
              <a:rPr lang="en-US" dirty="0" err="1" smtClean="0"/>
              <a:t>func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5682537" y="2182577"/>
            <a:ext cx="206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ouble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9788" y="1836537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3366FF"/>
                </a:solidFill>
              </a:rPr>
              <a:t>Same domain as </a:t>
            </a:r>
          </a:p>
          <a:p>
            <a:r>
              <a:rPr lang="en-US" sz="1400" dirty="0" err="1" smtClean="0">
                <a:solidFill>
                  <a:srgbClr val="3366FF"/>
                </a:solidFill>
              </a:rPr>
              <a:t>func</a:t>
            </a:r>
            <a:endParaRPr lang="en-US" sz="1400" dirty="0" smtClean="0">
              <a:solidFill>
                <a:srgbClr val="3366FF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5348" y="2310307"/>
            <a:ext cx="1409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804000"/>
                </a:solidFill>
              </a:rPr>
              <a:t>f</a:t>
            </a:r>
            <a:r>
              <a:rPr lang="en-US" sz="1400" dirty="0" err="1" smtClean="0">
                <a:solidFill>
                  <a:srgbClr val="804000"/>
                </a:solidFill>
              </a:rPr>
              <a:t>unc</a:t>
            </a:r>
            <a:r>
              <a:rPr lang="en-US" sz="1400" dirty="0" smtClean="0">
                <a:solidFill>
                  <a:srgbClr val="804000"/>
                </a:solidFill>
              </a:rPr>
              <a:t>(</a:t>
            </a:r>
            <a:r>
              <a:rPr lang="en-US" sz="1400" dirty="0" err="1" smtClean="0">
                <a:solidFill>
                  <a:srgbClr val="804000"/>
                </a:solidFill>
              </a:rPr>
              <a:t>func</a:t>
            </a:r>
            <a:r>
              <a:rPr lang="en-US" sz="1400" dirty="0" smtClean="0">
                <a:solidFill>
                  <a:srgbClr val="804000"/>
                </a:solidFill>
              </a:rPr>
              <a:t>(x))</a:t>
            </a:r>
          </a:p>
        </p:txBody>
      </p:sp>
      <p:sp>
        <p:nvSpPr>
          <p:cNvPr id="20" name="Left-Right Arrow Callout 19"/>
          <p:cNvSpPr/>
          <p:nvPr/>
        </p:nvSpPr>
        <p:spPr>
          <a:xfrm>
            <a:off x="667703" y="1574313"/>
            <a:ext cx="2008558" cy="1216331"/>
          </a:xfrm>
          <a:prstGeom prst="leftRightArrowCallout">
            <a:avLst/>
          </a:prstGeom>
          <a:solidFill>
            <a:srgbClr val="FF66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9576" y="1597802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One parameter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x</a:t>
            </a:r>
            <a:endParaRPr lang="en-US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676261" y="1597802"/>
            <a:ext cx="14093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D0D0D"/>
                </a:solidFill>
              </a:rPr>
              <a:t>Express output as:</a:t>
            </a:r>
          </a:p>
          <a:p>
            <a:r>
              <a:rPr lang="en-US" sz="1400" dirty="0" err="1" smtClean="0">
                <a:solidFill>
                  <a:srgbClr val="0D0D0D"/>
                </a:solidFill>
              </a:rPr>
              <a:t>func</a:t>
            </a:r>
            <a:r>
              <a:rPr lang="en-US" sz="1400" dirty="0" smtClean="0">
                <a:solidFill>
                  <a:srgbClr val="0D0D0D"/>
                </a:solidFill>
              </a:rPr>
              <a:t>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829" y="1597801"/>
            <a:ext cx="10874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 smtClean="0"/>
              <a:t>func</a:t>
            </a:r>
            <a:endParaRPr lang="en-US" sz="1400" dirty="0" smtClean="0"/>
          </a:p>
          <a:p>
            <a:pPr algn="ctr"/>
            <a:endParaRPr lang="en-US" sz="1400" dirty="0" smtClean="0"/>
          </a:p>
          <a:p>
            <a:pPr algn="ctr"/>
            <a:r>
              <a:rPr lang="en-US" sz="1400" dirty="0" smtClean="0"/>
              <a:t>??? (unknown behavior)</a:t>
            </a:r>
          </a:p>
        </p:txBody>
      </p:sp>
    </p:spTree>
    <p:extLst>
      <p:ext uri="{BB962C8B-B14F-4D97-AF65-F5344CB8AC3E}">
        <p14:creationId xmlns:p14="http://schemas.microsoft.com/office/powerpoint/2010/main" val="119476625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99210" y="3376367"/>
            <a:ext cx="33939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chemeClr val="bg2">
                    <a:lumMod val="75000"/>
                  </a:schemeClr>
                </a:solidFill>
                <a:latin typeface="Consolas"/>
                <a:cs typeface="Consolas"/>
              </a:rPr>
              <a:t>double_maker</a:t>
            </a:r>
            <a:r>
              <a:rPr lang="en-US" dirty="0" smtClean="0">
                <a:latin typeface="Consolas"/>
                <a:cs typeface="Consolas"/>
              </a:rPr>
              <a:t>(</a:t>
            </a:r>
            <a:r>
              <a:rPr lang="en-US" dirty="0" err="1" smtClean="0">
                <a:solidFill>
                  <a:srgbClr val="FF6600"/>
                </a:solidFill>
                <a:latin typeface="Consolas"/>
                <a:cs typeface="Consolas"/>
              </a:rPr>
              <a:t>func</a:t>
            </a:r>
            <a:r>
              <a:rPr lang="en-US" dirty="0" smtClean="0">
                <a:latin typeface="Consolas"/>
                <a:cs typeface="Consolas"/>
              </a:rPr>
              <a:t>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>
                <a:solidFill>
                  <a:srgbClr val="FF00FF"/>
                </a:solidFill>
                <a:latin typeface="Consolas"/>
                <a:cs typeface="Consolas"/>
              </a:rPr>
              <a:t>double</a:t>
            </a:r>
            <a:r>
              <a:rPr lang="en-US" dirty="0">
                <a:latin typeface="Consolas"/>
                <a:cs typeface="Consolas"/>
              </a:rPr>
              <a:t>(</a:t>
            </a:r>
            <a:r>
              <a:rPr lang="en-US" dirty="0">
                <a:solidFill>
                  <a:srgbClr val="3366FF"/>
                </a:solidFill>
                <a:latin typeface="Consolas"/>
                <a:cs typeface="Consolas"/>
              </a:rPr>
              <a:t>x</a:t>
            </a:r>
            <a:r>
              <a:rPr lang="en-US" dirty="0">
                <a:latin typeface="Consolas"/>
                <a:cs typeface="Consolas"/>
              </a:rPr>
              <a:t>):</a:t>
            </a:r>
          </a:p>
          <a:p>
            <a:r>
              <a:rPr lang="en-US" dirty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  # body of double</a:t>
            </a:r>
          </a:p>
          <a:p>
            <a:r>
              <a:rPr lang="en-US" dirty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return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 double</a:t>
            </a:r>
            <a:endParaRPr lang="en-US" dirty="0">
              <a:solidFill>
                <a:srgbClr val="FF00FF"/>
              </a:solidFill>
              <a:latin typeface="Consolas"/>
              <a:cs typeface="Consolas"/>
            </a:endParaRPr>
          </a:p>
        </p:txBody>
      </p:sp>
      <p:sp>
        <p:nvSpPr>
          <p:cNvPr id="14" name="Left-Right Arrow Callout 13"/>
          <p:cNvSpPr/>
          <p:nvPr/>
        </p:nvSpPr>
        <p:spPr>
          <a:xfrm>
            <a:off x="2006431" y="2455288"/>
            <a:ext cx="3092779" cy="1718211"/>
          </a:xfrm>
          <a:prstGeom prst="leftRightArrowCallout">
            <a:avLst>
              <a:gd name="adj1" fmla="val 25000"/>
              <a:gd name="adj2" fmla="val 25000"/>
              <a:gd name="adj3" fmla="val 25000"/>
              <a:gd name="adj4" fmla="val 59738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Left-Right Arrow Callout 14"/>
          <p:cNvSpPr/>
          <p:nvPr/>
        </p:nvSpPr>
        <p:spPr>
          <a:xfrm>
            <a:off x="5126790" y="1836537"/>
            <a:ext cx="2008558" cy="1216331"/>
          </a:xfrm>
          <a:prstGeom prst="leftRightArrowCallout">
            <a:avLst/>
          </a:prstGeom>
          <a:solidFill>
            <a:srgbClr val="FF00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00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76261" y="2455288"/>
            <a:ext cx="2065498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</a:t>
            </a:r>
            <a:r>
              <a:rPr lang="en-US" dirty="0" err="1" smtClean="0"/>
              <a:t>ouble_maker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Defines a function double</a:t>
            </a:r>
          </a:p>
          <a:p>
            <a:r>
              <a:rPr lang="en-US" dirty="0" smtClean="0"/>
              <a:t>(can look at </a:t>
            </a:r>
            <a:r>
              <a:rPr lang="en-US" dirty="0" err="1" smtClean="0"/>
              <a:t>func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5682537" y="2182577"/>
            <a:ext cx="206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ouble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9788" y="1836537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3366FF"/>
                </a:solidFill>
              </a:rPr>
              <a:t>Same domain as </a:t>
            </a:r>
          </a:p>
          <a:p>
            <a:r>
              <a:rPr lang="en-US" sz="1400" dirty="0" err="1" smtClean="0">
                <a:solidFill>
                  <a:srgbClr val="3366FF"/>
                </a:solidFill>
              </a:rPr>
              <a:t>func</a:t>
            </a:r>
            <a:endParaRPr lang="en-US" sz="1400" dirty="0" smtClean="0">
              <a:solidFill>
                <a:srgbClr val="3366FF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5348" y="2310307"/>
            <a:ext cx="1409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804000"/>
                </a:solidFill>
              </a:rPr>
              <a:t>f</a:t>
            </a:r>
            <a:r>
              <a:rPr lang="en-US" sz="1400" dirty="0" err="1" smtClean="0">
                <a:solidFill>
                  <a:srgbClr val="804000"/>
                </a:solidFill>
              </a:rPr>
              <a:t>unc</a:t>
            </a:r>
            <a:r>
              <a:rPr lang="en-US" sz="1400" dirty="0" smtClean="0">
                <a:solidFill>
                  <a:srgbClr val="804000"/>
                </a:solidFill>
              </a:rPr>
              <a:t>(</a:t>
            </a:r>
            <a:r>
              <a:rPr lang="en-US" sz="1400" dirty="0" err="1" smtClean="0">
                <a:solidFill>
                  <a:srgbClr val="804000"/>
                </a:solidFill>
              </a:rPr>
              <a:t>func</a:t>
            </a:r>
            <a:r>
              <a:rPr lang="en-US" sz="1400" dirty="0" smtClean="0">
                <a:solidFill>
                  <a:srgbClr val="804000"/>
                </a:solidFill>
              </a:rPr>
              <a:t>(x))</a:t>
            </a:r>
          </a:p>
        </p:txBody>
      </p:sp>
      <p:sp>
        <p:nvSpPr>
          <p:cNvPr id="20" name="Left-Right Arrow Callout 19"/>
          <p:cNvSpPr/>
          <p:nvPr/>
        </p:nvSpPr>
        <p:spPr>
          <a:xfrm>
            <a:off x="667703" y="1574313"/>
            <a:ext cx="2008558" cy="1216331"/>
          </a:xfrm>
          <a:prstGeom prst="leftRightArrowCallout">
            <a:avLst/>
          </a:prstGeom>
          <a:solidFill>
            <a:srgbClr val="FF66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9576" y="1597802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One parameter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x</a:t>
            </a:r>
            <a:endParaRPr lang="en-US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676261" y="1597802"/>
            <a:ext cx="14093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D0D0D"/>
                </a:solidFill>
              </a:rPr>
              <a:t>Express output as:</a:t>
            </a:r>
          </a:p>
          <a:p>
            <a:r>
              <a:rPr lang="en-US" sz="1400" dirty="0" err="1" smtClean="0">
                <a:solidFill>
                  <a:srgbClr val="0D0D0D"/>
                </a:solidFill>
              </a:rPr>
              <a:t>func</a:t>
            </a:r>
            <a:r>
              <a:rPr lang="en-US" sz="1400" dirty="0" smtClean="0">
                <a:solidFill>
                  <a:srgbClr val="0D0D0D"/>
                </a:solidFill>
              </a:rPr>
              <a:t>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829" y="1597801"/>
            <a:ext cx="10874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 smtClean="0"/>
              <a:t>func</a:t>
            </a:r>
            <a:endParaRPr lang="en-US" sz="1400" dirty="0" smtClean="0"/>
          </a:p>
          <a:p>
            <a:pPr algn="ctr"/>
            <a:endParaRPr lang="en-US" sz="1400" dirty="0" smtClean="0"/>
          </a:p>
          <a:p>
            <a:pPr algn="ctr"/>
            <a:r>
              <a:rPr lang="en-US" sz="1400" dirty="0" smtClean="0"/>
              <a:t>??? (unknown behavior)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4235" y="4848864"/>
            <a:ext cx="6413800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Even though getting the domain/range right might not seem to be important, it’s an important step in the right direction. </a:t>
            </a:r>
          </a:p>
          <a:p>
            <a:r>
              <a:rPr lang="en-US" dirty="0" smtClean="0"/>
              <a:t>It’s like aiming your basketball shot. An errant shot has no chance of going in. A straight shot always has more of a chance.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7364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Characteristics of Functions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99210" y="3376367"/>
            <a:ext cx="33939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chemeClr val="bg2">
                    <a:lumMod val="75000"/>
                  </a:schemeClr>
                </a:solidFill>
                <a:latin typeface="Consolas"/>
                <a:cs typeface="Consolas"/>
              </a:rPr>
              <a:t>double_maker</a:t>
            </a:r>
            <a:r>
              <a:rPr lang="en-US" dirty="0" smtClean="0">
                <a:latin typeface="Consolas"/>
                <a:cs typeface="Consolas"/>
              </a:rPr>
              <a:t>(</a:t>
            </a:r>
            <a:r>
              <a:rPr lang="en-US" dirty="0" err="1" smtClean="0">
                <a:solidFill>
                  <a:srgbClr val="FF6600"/>
                </a:solidFill>
                <a:latin typeface="Consolas"/>
                <a:cs typeface="Consolas"/>
              </a:rPr>
              <a:t>func</a:t>
            </a:r>
            <a:r>
              <a:rPr lang="en-US" dirty="0" smtClean="0">
                <a:latin typeface="Consolas"/>
                <a:cs typeface="Consolas"/>
              </a:rPr>
              <a:t>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rgbClr val="660066"/>
                </a:solidFill>
                <a:latin typeface="Consolas"/>
                <a:cs typeface="Consolas"/>
              </a:rPr>
              <a:t>def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>
                <a:solidFill>
                  <a:srgbClr val="FF00FF"/>
                </a:solidFill>
                <a:latin typeface="Consolas"/>
                <a:cs typeface="Consolas"/>
              </a:rPr>
              <a:t>double</a:t>
            </a:r>
            <a:r>
              <a:rPr lang="en-US" dirty="0">
                <a:latin typeface="Consolas"/>
                <a:cs typeface="Consolas"/>
              </a:rPr>
              <a:t>(</a:t>
            </a:r>
            <a:r>
              <a:rPr lang="en-US" dirty="0">
                <a:solidFill>
                  <a:srgbClr val="3366FF"/>
                </a:solidFill>
                <a:latin typeface="Consolas"/>
                <a:cs typeface="Consolas"/>
              </a:rPr>
              <a:t>x</a:t>
            </a:r>
            <a:r>
              <a:rPr lang="en-US" dirty="0">
                <a:latin typeface="Consolas"/>
                <a:cs typeface="Consolas"/>
              </a:rPr>
              <a:t>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  </a:t>
            </a:r>
            <a:r>
              <a:rPr lang="en-US" dirty="0" smtClean="0">
                <a:solidFill>
                  <a:srgbClr val="804000"/>
                </a:solidFill>
                <a:latin typeface="Consolas"/>
                <a:cs typeface="Consolas"/>
              </a:rPr>
              <a:t>return </a:t>
            </a:r>
            <a:r>
              <a:rPr lang="en-US" dirty="0" err="1">
                <a:solidFill>
                  <a:srgbClr val="FF66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latin typeface="Consolas"/>
                <a:cs typeface="Consolas"/>
              </a:rPr>
              <a:t>(</a:t>
            </a:r>
            <a:r>
              <a:rPr lang="en-US" dirty="0" err="1">
                <a:solidFill>
                  <a:srgbClr val="FF6600"/>
                </a:solidFill>
                <a:latin typeface="Consolas"/>
                <a:cs typeface="Consolas"/>
              </a:rPr>
              <a:t>func</a:t>
            </a:r>
            <a:r>
              <a:rPr lang="en-US" dirty="0">
                <a:latin typeface="Consolas"/>
                <a:cs typeface="Consolas"/>
              </a:rPr>
              <a:t>(</a:t>
            </a:r>
            <a:r>
              <a:rPr lang="en-US" dirty="0">
                <a:solidFill>
                  <a:srgbClr val="3366FF"/>
                </a:solidFill>
                <a:latin typeface="Consolas"/>
                <a:cs typeface="Consolas"/>
              </a:rPr>
              <a:t>x</a:t>
            </a:r>
            <a:r>
              <a:rPr lang="en-US" dirty="0" smtClean="0">
                <a:latin typeface="Consolas"/>
                <a:cs typeface="Consolas"/>
              </a:rPr>
              <a:t>))</a:t>
            </a:r>
          </a:p>
          <a:p>
            <a:r>
              <a:rPr lang="en-US" dirty="0">
                <a:solidFill>
                  <a:srgbClr val="660066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660066"/>
                </a:solidFill>
                <a:latin typeface="Consolas"/>
                <a:cs typeface="Consolas"/>
              </a:rPr>
              <a:t> return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 double</a:t>
            </a:r>
            <a:endParaRPr lang="en-US" dirty="0">
              <a:solidFill>
                <a:srgbClr val="FF00FF"/>
              </a:solidFill>
              <a:latin typeface="Consolas"/>
              <a:cs typeface="Consolas"/>
            </a:endParaRPr>
          </a:p>
        </p:txBody>
      </p:sp>
      <p:sp>
        <p:nvSpPr>
          <p:cNvPr id="14" name="Left-Right Arrow Callout 13"/>
          <p:cNvSpPr/>
          <p:nvPr/>
        </p:nvSpPr>
        <p:spPr>
          <a:xfrm>
            <a:off x="2006431" y="2455288"/>
            <a:ext cx="3092779" cy="1718211"/>
          </a:xfrm>
          <a:prstGeom prst="leftRightArrowCallout">
            <a:avLst>
              <a:gd name="adj1" fmla="val 25000"/>
              <a:gd name="adj2" fmla="val 25000"/>
              <a:gd name="adj3" fmla="val 25000"/>
              <a:gd name="adj4" fmla="val 59738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Left-Right Arrow Callout 14"/>
          <p:cNvSpPr/>
          <p:nvPr/>
        </p:nvSpPr>
        <p:spPr>
          <a:xfrm>
            <a:off x="5126790" y="1836537"/>
            <a:ext cx="2008558" cy="1216331"/>
          </a:xfrm>
          <a:prstGeom prst="leftRightArrowCallout">
            <a:avLst/>
          </a:prstGeom>
          <a:solidFill>
            <a:srgbClr val="FF00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00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76261" y="2455288"/>
            <a:ext cx="2065498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</a:t>
            </a:r>
            <a:r>
              <a:rPr lang="en-US" dirty="0" err="1" smtClean="0"/>
              <a:t>ouble_maker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Defines a function double</a:t>
            </a:r>
          </a:p>
          <a:p>
            <a:r>
              <a:rPr lang="en-US" dirty="0" smtClean="0"/>
              <a:t>(can look at </a:t>
            </a:r>
            <a:r>
              <a:rPr lang="en-US" dirty="0" err="1" smtClean="0"/>
              <a:t>func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5682537" y="2182577"/>
            <a:ext cx="206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ouble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9788" y="1836537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3366FF"/>
                </a:solidFill>
              </a:rPr>
              <a:t>Same domain as </a:t>
            </a:r>
          </a:p>
          <a:p>
            <a:r>
              <a:rPr lang="en-US" sz="1400" dirty="0" err="1" smtClean="0">
                <a:solidFill>
                  <a:srgbClr val="3366FF"/>
                </a:solidFill>
              </a:rPr>
              <a:t>func</a:t>
            </a:r>
            <a:endParaRPr lang="en-US" sz="1400" dirty="0" smtClean="0">
              <a:solidFill>
                <a:srgbClr val="3366FF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5348" y="2310307"/>
            <a:ext cx="1409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804000"/>
                </a:solidFill>
              </a:rPr>
              <a:t>f</a:t>
            </a:r>
            <a:r>
              <a:rPr lang="en-US" sz="1400" dirty="0" err="1" smtClean="0">
                <a:solidFill>
                  <a:srgbClr val="804000"/>
                </a:solidFill>
              </a:rPr>
              <a:t>unc</a:t>
            </a:r>
            <a:r>
              <a:rPr lang="en-US" sz="1400" dirty="0" smtClean="0">
                <a:solidFill>
                  <a:srgbClr val="804000"/>
                </a:solidFill>
              </a:rPr>
              <a:t>(</a:t>
            </a:r>
            <a:r>
              <a:rPr lang="en-US" sz="1400" dirty="0" err="1" smtClean="0">
                <a:solidFill>
                  <a:srgbClr val="804000"/>
                </a:solidFill>
              </a:rPr>
              <a:t>func</a:t>
            </a:r>
            <a:r>
              <a:rPr lang="en-US" sz="1400" dirty="0" smtClean="0">
                <a:solidFill>
                  <a:srgbClr val="804000"/>
                </a:solidFill>
              </a:rPr>
              <a:t>(x))</a:t>
            </a:r>
          </a:p>
        </p:txBody>
      </p:sp>
      <p:sp>
        <p:nvSpPr>
          <p:cNvPr id="20" name="Left-Right Arrow Callout 19"/>
          <p:cNvSpPr/>
          <p:nvPr/>
        </p:nvSpPr>
        <p:spPr>
          <a:xfrm>
            <a:off x="667703" y="1574313"/>
            <a:ext cx="2008558" cy="1216331"/>
          </a:xfrm>
          <a:prstGeom prst="leftRightArrowCallout">
            <a:avLst/>
          </a:prstGeom>
          <a:solidFill>
            <a:srgbClr val="FF66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9576" y="1597802"/>
            <a:ext cx="8562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One parameter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x</a:t>
            </a:r>
            <a:endParaRPr lang="en-US" sz="1400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676261" y="1597802"/>
            <a:ext cx="14093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D0D0D"/>
                </a:solidFill>
              </a:rPr>
              <a:t>Express output as:</a:t>
            </a:r>
          </a:p>
          <a:p>
            <a:r>
              <a:rPr lang="en-US" sz="1400" dirty="0" err="1" smtClean="0">
                <a:solidFill>
                  <a:srgbClr val="0D0D0D"/>
                </a:solidFill>
              </a:rPr>
              <a:t>func</a:t>
            </a:r>
            <a:r>
              <a:rPr lang="en-US" sz="1400" dirty="0" smtClean="0">
                <a:solidFill>
                  <a:srgbClr val="0D0D0D"/>
                </a:solidFill>
              </a:rPr>
              <a:t>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829" y="1597801"/>
            <a:ext cx="10874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 smtClean="0"/>
              <a:t>func</a:t>
            </a:r>
            <a:endParaRPr lang="en-US" sz="1400" dirty="0" smtClean="0"/>
          </a:p>
          <a:p>
            <a:pPr algn="ctr"/>
            <a:endParaRPr lang="en-US" sz="1400" dirty="0" smtClean="0"/>
          </a:p>
          <a:p>
            <a:pPr algn="ctr"/>
            <a:r>
              <a:rPr lang="en-US" sz="1400" dirty="0" smtClean="0"/>
              <a:t>??? (unknown behavior)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4235" y="4720587"/>
            <a:ext cx="6413800" cy="1754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double_maker</a:t>
            </a:r>
            <a:r>
              <a:rPr lang="en-US" dirty="0" smtClean="0"/>
              <a:t> can now make functions that we can customize. It combines the power of argument passing and function definitions!</a:t>
            </a:r>
          </a:p>
          <a:p>
            <a:endParaRPr lang="en-US" dirty="0"/>
          </a:p>
          <a:p>
            <a:r>
              <a:rPr lang="en-US" dirty="0" smtClean="0"/>
              <a:t>Now: try writing call expressions for </a:t>
            </a:r>
            <a:r>
              <a:rPr lang="en-US" dirty="0" err="1" smtClean="0"/>
              <a:t>double_maker</a:t>
            </a:r>
            <a:r>
              <a:rPr lang="en-US" dirty="0" smtClean="0"/>
              <a:t> and its output and draw environment diagrams!</a:t>
            </a:r>
          </a:p>
        </p:txBody>
      </p:sp>
    </p:spTree>
    <p:extLst>
      <p:ext uri="{BB962C8B-B14F-4D97-AF65-F5344CB8AC3E}">
        <p14:creationId xmlns:p14="http://schemas.microsoft.com/office/powerpoint/2010/main" val="230542488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347246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Important </a:t>
            </a:r>
            <a:r>
              <a:rPr lang="en-US" dirty="0" smtClean="0">
                <a:latin typeface="Century Gothic" charset="0"/>
              </a:rPr>
              <a:t>Q’s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1531018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the desired behavior of your function?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do 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 (Input)</a:t>
            </a:r>
          </a:p>
          <a:p>
            <a:pPr marL="1098550" lvl="2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Remember that your return value holds values too!</a:t>
            </a:r>
          </a:p>
          <a:p>
            <a:pPr marL="1098550" lvl="2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you have more than # of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params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you need to define helper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1098550" lvl="2" indent="-457200">
              <a:buFont typeface="+mj-lt"/>
              <a:buAutoNum type="arabicPeriod"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Where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should each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start?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How can I reuse the function with smaller input?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I combine the result with the current pieces of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information to solve the problem?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Base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cases: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When should we stop? What to return?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Thinking about these questions </a:t>
            </a:r>
            <a:r>
              <a:rPr lang="en-US" sz="2000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before you code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will save you a lot of time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can see that once you answer these questions thoroughly, the code follows directly (watch the colors in the next few examples).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40039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Goal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Not to memorize the questions. 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Use the questions until you know what to look for in a problem.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39050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</a:t>
            </a:r>
            <a:r>
              <a:rPr lang="en-US" dirty="0" smtClean="0">
                <a:latin typeface="Century Gothic" charset="0"/>
              </a:rPr>
              <a:t>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1 + 2 + 3 + … + n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the desired behavior of your function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do 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can I reuse the function with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simpler input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I combine the result with the current pieces of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information to solve the problem?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Base cases: When should we stop? What to return?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36208"/>
              </p:ext>
            </p:extLst>
          </p:nvPr>
        </p:nvGraphicFramePr>
        <p:xfrm>
          <a:off x="474132" y="3027269"/>
          <a:ext cx="8212151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2151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 up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to n. The desired value can be expressed as </a:t>
                      </a:r>
                      <a:r>
                        <a:rPr lang="en-US" sz="2000" baseline="0" dirty="0" err="1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sum_up_to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(n)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83772"/>
              </p:ext>
            </p:extLst>
          </p:nvPr>
        </p:nvGraphicFramePr>
        <p:xfrm>
          <a:off x="705605" y="3782570"/>
          <a:ext cx="758204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The current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number being summed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Note: the return value takes care of storing the total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19671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</a:t>
            </a:r>
            <a:r>
              <a:rPr lang="en-US" dirty="0" smtClean="0">
                <a:latin typeface="Century Gothic" charset="0"/>
              </a:rPr>
              <a:t>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1 + 2 + 3 + … + n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the desired behavior of your function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do 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can I reuse the function with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simpler input?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I combine the result with the current pieces of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information to solve the problem?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Base cases: When should we stop? What to return?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531060"/>
              </p:ext>
            </p:extLst>
          </p:nvPr>
        </p:nvGraphicFramePr>
        <p:xfrm>
          <a:off x="705605" y="3769742"/>
          <a:ext cx="7582047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 numbers up to (n-1)</a:t>
                      </a:r>
                      <a:endParaRPr lang="en-US" sz="2000" baseline="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409046"/>
              </p:ext>
            </p:extLst>
          </p:nvPr>
        </p:nvGraphicFramePr>
        <p:xfrm>
          <a:off x="705605" y="4807252"/>
          <a:ext cx="7582047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sum_up_to</a:t>
                      </a: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(n-1)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+ n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637356"/>
              </p:ext>
            </p:extLst>
          </p:nvPr>
        </p:nvGraphicFramePr>
        <p:xfrm>
          <a:off x="705605" y="5588209"/>
          <a:ext cx="7582047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When</a:t>
                      </a:r>
                      <a:r>
                        <a:rPr lang="en-US" sz="2000" baseline="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 n = 1, we know that the answer is just 1</a:t>
                      </a:r>
                      <a:endParaRPr lang="en-US" sz="2000" dirty="0" smtClean="0">
                        <a:solidFill>
                          <a:schemeClr val="bg1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3366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465343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3" y="2324100"/>
            <a:ext cx="4477932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Desired behavior: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to keep track of: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Recursive call/reuse of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func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Building up from reuse: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When to end/base case: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438896" y="3535950"/>
            <a:ext cx="463225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6600"/>
                </a:solidFill>
                <a:latin typeface="Consolas"/>
                <a:cs typeface="Consolas"/>
              </a:rPr>
              <a:t>sum_up_to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if n == 1: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return 1</a:t>
            </a:r>
            <a:endParaRPr lang="en-US" sz="2000" dirty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return </a:t>
            </a: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n</a:t>
            </a: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+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00FF"/>
                </a:solidFill>
                <a:latin typeface="Consolas"/>
                <a:cs typeface="Consolas"/>
              </a:rPr>
              <a:t>sum_up_to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(n–1)</a:t>
            </a:r>
            <a:endParaRPr lang="en-US" dirty="0">
              <a:solidFill>
                <a:srgbClr val="FF00FF"/>
              </a:solidFill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769056"/>
              </p:ext>
            </p:extLst>
          </p:nvPr>
        </p:nvGraphicFramePr>
        <p:xfrm>
          <a:off x="474132" y="2763902"/>
          <a:ext cx="4952612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2612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 up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to n. Express as </a:t>
                      </a:r>
                      <a:r>
                        <a:rPr lang="en-US" sz="2000" baseline="0" dirty="0" err="1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sum_up_to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(n)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602221"/>
              </p:ext>
            </p:extLst>
          </p:nvPr>
        </p:nvGraphicFramePr>
        <p:xfrm>
          <a:off x="474132" y="3366071"/>
          <a:ext cx="4323982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3982"/>
              </a:tblGrid>
              <a:tr h="39244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The current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number being summed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566469"/>
              </p:ext>
            </p:extLst>
          </p:nvPr>
        </p:nvGraphicFramePr>
        <p:xfrm>
          <a:off x="474131" y="4221087"/>
          <a:ext cx="3041065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1065"/>
              </a:tblGrid>
              <a:tr h="26336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 numbers up to (n-1)</a:t>
                      </a:r>
                      <a:endParaRPr lang="en-US" sz="2000" baseline="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58447"/>
              </p:ext>
            </p:extLst>
          </p:nvPr>
        </p:nvGraphicFramePr>
        <p:xfrm>
          <a:off x="474131" y="4881915"/>
          <a:ext cx="2963542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3542"/>
              </a:tblGrid>
              <a:tr h="26336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sum_up_to</a:t>
                      </a: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(n-1)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+ n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2131101"/>
              </p:ext>
            </p:extLst>
          </p:nvPr>
        </p:nvGraphicFramePr>
        <p:xfrm>
          <a:off x="474132" y="5588209"/>
          <a:ext cx="5722363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2363"/>
              </a:tblGrid>
              <a:tr h="26336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When</a:t>
                      </a:r>
                      <a:r>
                        <a:rPr lang="en-US" sz="2000" baseline="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 n = 1, we know that the answer is just 1</a:t>
                      </a:r>
                      <a:endParaRPr lang="en-US" sz="2000" dirty="0" smtClean="0">
                        <a:solidFill>
                          <a:schemeClr val="bg1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3366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134789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0142" y="2233676"/>
            <a:ext cx="463225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6600"/>
                </a:solidFill>
                <a:latin typeface="Consolas"/>
                <a:cs typeface="Consolas"/>
              </a:rPr>
              <a:t>sum_up_to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“””Sum from 1 up to n”””</a:t>
            </a:r>
            <a:endParaRPr lang="en-US" sz="20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if n == 1: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return 1</a:t>
            </a:r>
            <a:endParaRPr lang="en-US" sz="2000" dirty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return </a:t>
            </a: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n</a:t>
            </a: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+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00FF"/>
                </a:solidFill>
                <a:latin typeface="Consolas"/>
                <a:cs typeface="Consolas"/>
              </a:rPr>
              <a:t>sum_up_to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(n–1)</a:t>
            </a:r>
            <a:endParaRPr lang="en-US" dirty="0">
              <a:solidFill>
                <a:srgbClr val="FF00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0141" y="4111378"/>
            <a:ext cx="68636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6600"/>
                </a:solidFill>
                <a:latin typeface="Consolas"/>
                <a:cs typeface="Consolas"/>
              </a:rPr>
              <a:t>sum_up_to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if n == 1: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return sum from 1 up to 1</a:t>
            </a:r>
            <a:endParaRPr lang="en-US" sz="2000" dirty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return </a:t>
            </a: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n</a:t>
            </a: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+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sum from 1 up to (n-1)</a:t>
            </a:r>
            <a:endParaRPr lang="en-US" dirty="0">
              <a:solidFill>
                <a:srgbClr val="FF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55924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</a:t>
            </a:r>
            <a:r>
              <a:rPr lang="en-US" dirty="0" smtClean="0">
                <a:latin typeface="Century Gothic" charset="0"/>
              </a:rPr>
              <a:t>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1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+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3 +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5 + …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+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 or 2 + 4 + 6 + … + n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the desired behavior of your function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do 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can I reuse the function with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simpler input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I combine the result with the current pieces of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information to solve the problem?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Base cases: When should we stop? What to return?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185018"/>
              </p:ext>
            </p:extLst>
          </p:nvPr>
        </p:nvGraphicFramePr>
        <p:xfrm>
          <a:off x="474132" y="3027269"/>
          <a:ext cx="8212151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2151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 every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other to n. Expressed desired value as </a:t>
                      </a:r>
                      <a:r>
                        <a:rPr lang="en-US" sz="2000" baseline="0" dirty="0" err="1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sum_every_other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(n)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049824"/>
              </p:ext>
            </p:extLst>
          </p:nvPr>
        </p:nvGraphicFramePr>
        <p:xfrm>
          <a:off x="705605" y="3782570"/>
          <a:ext cx="758204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The current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number being summed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Note: the return value takes care of storing the total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6484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</a:t>
            </a:r>
            <a:r>
              <a:rPr lang="en-US" dirty="0" smtClean="0">
                <a:latin typeface="Century Gothic" charset="0"/>
              </a:rPr>
              <a:t>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1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+ 3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+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5 + …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+ n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the desired behavior of your function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do 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can I reuse the function with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simpler input?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I combine the result with the current pieces of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information to solve the problem?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Base cases: When should we stop? What to return?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920489"/>
              </p:ext>
            </p:extLst>
          </p:nvPr>
        </p:nvGraphicFramePr>
        <p:xfrm>
          <a:off x="705605" y="3769742"/>
          <a:ext cx="7582047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 numbers up to (n-2)</a:t>
                      </a:r>
                      <a:endParaRPr lang="en-US" sz="2000" baseline="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357323"/>
              </p:ext>
            </p:extLst>
          </p:nvPr>
        </p:nvGraphicFramePr>
        <p:xfrm>
          <a:off x="705605" y="4807252"/>
          <a:ext cx="7582047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sum_up_to</a:t>
                      </a: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(n-2)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+ n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5148828"/>
              </p:ext>
            </p:extLst>
          </p:nvPr>
        </p:nvGraphicFramePr>
        <p:xfrm>
          <a:off x="705605" y="5588209"/>
          <a:ext cx="7582047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When</a:t>
                      </a:r>
                      <a:r>
                        <a:rPr lang="en-US" sz="2000" baseline="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 n &lt; 2, we know that the answer is just n</a:t>
                      </a:r>
                      <a:endParaRPr lang="en-US" sz="2000" dirty="0" smtClean="0">
                        <a:solidFill>
                          <a:schemeClr val="bg1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3366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66151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3" y="2324100"/>
            <a:ext cx="4477932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Desired behavior: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to keep track of: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Recursive call/reuse of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func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Building up from reuse: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When to end/base case: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438896" y="3535950"/>
            <a:ext cx="463225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6600"/>
                </a:solidFill>
                <a:latin typeface="Consolas"/>
                <a:cs typeface="Consolas"/>
              </a:rPr>
              <a:t>sum_every_other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if n &lt; 2: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return n</a:t>
            </a:r>
            <a:endParaRPr lang="en-US" sz="2000" dirty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return </a:t>
            </a: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n + \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  	</a:t>
            </a:r>
            <a:r>
              <a:rPr lang="en-US" sz="2000" dirty="0" err="1" smtClean="0">
                <a:solidFill>
                  <a:srgbClr val="FF00FF"/>
                </a:solidFill>
                <a:latin typeface="Consolas"/>
                <a:cs typeface="Consolas"/>
              </a:rPr>
              <a:t>sum_every_other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(n–2)</a:t>
            </a:r>
            <a:endParaRPr lang="en-US" dirty="0">
              <a:solidFill>
                <a:srgbClr val="FF00FF"/>
              </a:solidFill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549736"/>
              </p:ext>
            </p:extLst>
          </p:nvPr>
        </p:nvGraphicFramePr>
        <p:xfrm>
          <a:off x="474132" y="2763902"/>
          <a:ext cx="7595424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5424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 every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other to n. Express as </a:t>
                      </a:r>
                      <a:r>
                        <a:rPr lang="en-US" sz="2000" baseline="0" dirty="0" err="1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sum_every_other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(n)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419596"/>
              </p:ext>
            </p:extLst>
          </p:nvPr>
        </p:nvGraphicFramePr>
        <p:xfrm>
          <a:off x="474132" y="3366071"/>
          <a:ext cx="4323982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3982"/>
              </a:tblGrid>
              <a:tr h="39244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The current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number being summed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2064127"/>
              </p:ext>
            </p:extLst>
          </p:nvPr>
        </p:nvGraphicFramePr>
        <p:xfrm>
          <a:off x="474131" y="4221087"/>
          <a:ext cx="3041065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1065"/>
              </a:tblGrid>
              <a:tr h="26336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 numbers up to (n-2)</a:t>
                      </a:r>
                      <a:endParaRPr lang="en-US" sz="2000" baseline="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5102113"/>
              </p:ext>
            </p:extLst>
          </p:nvPr>
        </p:nvGraphicFramePr>
        <p:xfrm>
          <a:off x="474131" y="4881915"/>
          <a:ext cx="2963542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3542"/>
              </a:tblGrid>
              <a:tr h="26336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sum_up_to</a:t>
                      </a: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(n-2)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+ n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947749"/>
              </p:ext>
            </p:extLst>
          </p:nvPr>
        </p:nvGraphicFramePr>
        <p:xfrm>
          <a:off x="474132" y="5588209"/>
          <a:ext cx="5722363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2363"/>
              </a:tblGrid>
              <a:tr h="26336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When</a:t>
                      </a:r>
                      <a:r>
                        <a:rPr lang="en-US" sz="2000" baseline="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 n &lt; 2, we know that the answer is just n</a:t>
                      </a:r>
                      <a:endParaRPr lang="en-US" sz="2000" dirty="0" smtClean="0">
                        <a:solidFill>
                          <a:schemeClr val="bg1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3366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175833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0141" y="2233676"/>
            <a:ext cx="55806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6600"/>
                </a:solidFill>
                <a:latin typeface="Consolas"/>
                <a:cs typeface="Consolas"/>
              </a:rPr>
              <a:t>sum_every</a:t>
            </a:r>
            <a:r>
              <a:rPr lang="en-US" sz="2000" dirty="0" err="1" smtClean="0">
                <a:solidFill>
                  <a:srgbClr val="FF6600"/>
                </a:solidFill>
                <a:latin typeface="Consolas"/>
                <a:cs typeface="Consolas"/>
              </a:rPr>
              <a:t>_other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“””Sum every other up to n”””</a:t>
            </a:r>
            <a:endParaRPr lang="en-US" sz="20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if n &lt; 2: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return n</a:t>
            </a:r>
            <a:endParaRPr lang="en-US" sz="2000" dirty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return </a:t>
            </a: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n</a:t>
            </a: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+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00FF"/>
                </a:solidFill>
                <a:latin typeface="Consolas"/>
                <a:cs typeface="Consolas"/>
              </a:rPr>
              <a:t>sum_every_other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(n-2)</a:t>
            </a:r>
            <a:endParaRPr lang="en-US" dirty="0">
              <a:solidFill>
                <a:srgbClr val="FF00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0142" y="4111378"/>
            <a:ext cx="71073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6600"/>
                </a:solidFill>
                <a:latin typeface="Consolas"/>
                <a:cs typeface="Consolas"/>
              </a:rPr>
              <a:t>sum_every_other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if n &lt; 2: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return sum every other up to 0, 1</a:t>
            </a:r>
            <a:endParaRPr lang="en-US" sz="2000" dirty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return </a:t>
            </a: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n</a:t>
            </a: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+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sum every other up to (n-2)</a:t>
            </a:r>
            <a:endParaRPr lang="en-US" dirty="0">
              <a:solidFill>
                <a:srgbClr val="FF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944584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26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0141" y="2233676"/>
            <a:ext cx="8313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FF6600"/>
                </a:solidFill>
                <a:latin typeface="Consolas"/>
                <a:cs typeface="Consolas"/>
              </a:rPr>
              <a:t>cascade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“””Print a cascade of n (larger-&gt;smaller-&gt;larger)”””</a:t>
            </a:r>
            <a:endParaRPr lang="en-US" sz="20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if n &lt; 10: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print(n)</a:t>
            </a:r>
            <a:endParaRPr lang="en-US" sz="2000" dirty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else: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  print(n)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  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cascade(n // 10)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FF00FF"/>
                </a:solidFill>
                <a:latin typeface="Consolas"/>
                <a:cs typeface="Consolas"/>
              </a:rPr>
              <a:t>	</a:t>
            </a:r>
            <a:r>
              <a:rPr lang="en-US" sz="2000" dirty="0" smtClean="0">
                <a:solidFill>
                  <a:srgbClr val="74A510"/>
                </a:solidFill>
                <a:latin typeface="Consolas"/>
                <a:cs typeface="Consolas"/>
              </a:rPr>
              <a:t>print(n)</a:t>
            </a:r>
            <a:endParaRPr lang="en-US" sz="2000" dirty="0" smtClean="0">
              <a:solidFill>
                <a:srgbClr val="FF00FF"/>
              </a:solidFill>
              <a:latin typeface="Consolas"/>
              <a:cs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520820" y="2928207"/>
            <a:ext cx="831331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FF6600"/>
                </a:solidFill>
                <a:latin typeface="Consolas"/>
                <a:cs typeface="Consolas"/>
              </a:rPr>
              <a:t>cascade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if n &lt; 10: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print cascade of one digit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(just the current number)</a:t>
            </a:r>
            <a:endParaRPr lang="en-US" sz="2000" dirty="0" smtClean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 else:</a:t>
            </a:r>
          </a:p>
          <a:p>
            <a:pPr marL="366713" lvl="1" indent="0">
              <a:buNone/>
            </a:pP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   print current number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  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print cascade of </a:t>
            </a:r>
            <a:r>
              <a:rPr lang="en-US" sz="2000" dirty="0" err="1" smtClean="0">
                <a:solidFill>
                  <a:srgbClr val="FF00FF"/>
                </a:solidFill>
                <a:latin typeface="Consolas"/>
                <a:cs typeface="Consolas"/>
              </a:rPr>
              <a:t>curr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00FF"/>
                </a:solidFill>
                <a:latin typeface="Consolas"/>
                <a:cs typeface="Consolas"/>
              </a:rPr>
              <a:t>num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 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FF00FF"/>
                </a:solidFill>
                <a:latin typeface="Consolas"/>
                <a:cs typeface="Consolas"/>
              </a:rPr>
              <a:t>	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	w/o ones digit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FF00FF"/>
                </a:solidFill>
                <a:latin typeface="Consolas"/>
                <a:cs typeface="Consolas"/>
              </a:rPr>
              <a:t>	</a:t>
            </a:r>
            <a:r>
              <a:rPr lang="en-US" sz="2000" dirty="0" smtClean="0">
                <a:solidFill>
                  <a:srgbClr val="74A510"/>
                </a:solidFill>
                <a:latin typeface="Consolas"/>
                <a:cs typeface="Consolas"/>
              </a:rPr>
              <a:t>print current number again</a:t>
            </a:r>
            <a:endParaRPr lang="en-US" sz="2000" dirty="0" smtClean="0">
              <a:solidFill>
                <a:srgbClr val="FF00F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5004439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27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4133" y="2170113"/>
            <a:ext cx="831331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FF6600"/>
                </a:solidFill>
                <a:latin typeface="Consolas"/>
                <a:cs typeface="Consolas"/>
              </a:rPr>
              <a:t>cascade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)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dirty="0" smtClean="0">
                <a:solidFill>
                  <a:srgbClr val="3366FF"/>
                </a:solidFill>
                <a:latin typeface="Consolas"/>
                <a:cs typeface="Consolas"/>
              </a:rPr>
              <a:t>  if n &lt; 10:</a:t>
            </a:r>
          </a:p>
          <a:p>
            <a:pPr marL="366713" lvl="1" indent="0">
              <a:buNone/>
            </a:pPr>
            <a:r>
              <a:rPr lang="en-US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3366FF"/>
                </a:solidFill>
                <a:latin typeface="Consolas"/>
                <a:cs typeface="Consolas"/>
              </a:rPr>
              <a:t>   print cascade of one digit</a:t>
            </a:r>
          </a:p>
          <a:p>
            <a:pPr marL="366713" lvl="1" indent="0">
              <a:buNone/>
            </a:pPr>
            <a:r>
              <a:rPr lang="en-US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3366FF"/>
                </a:solidFill>
                <a:latin typeface="Consolas"/>
                <a:cs typeface="Consolas"/>
              </a:rPr>
              <a:t>   (just the current number)</a:t>
            </a:r>
            <a:endParaRPr lang="en-US" dirty="0" smtClean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 else:</a:t>
            </a:r>
          </a:p>
          <a:p>
            <a:pPr marL="366713" lvl="1" indent="0">
              <a:buNone/>
            </a:pPr>
            <a:r>
              <a:rPr lang="en-US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   print current number</a:t>
            </a:r>
          </a:p>
          <a:p>
            <a:pPr marL="366713" lvl="1" indent="0">
              <a:buNone/>
            </a:pPr>
            <a:r>
              <a:rPr lang="en-US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   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print cascade of </a:t>
            </a:r>
            <a:r>
              <a:rPr lang="en-US" dirty="0" err="1" smtClean="0">
                <a:solidFill>
                  <a:srgbClr val="FF00FF"/>
                </a:solidFill>
                <a:latin typeface="Consolas"/>
                <a:cs typeface="Consolas"/>
              </a:rPr>
              <a:t>curr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 </a:t>
            </a:r>
            <a:r>
              <a:rPr lang="en-US" dirty="0" err="1" smtClean="0">
                <a:solidFill>
                  <a:srgbClr val="FF00FF"/>
                </a:solidFill>
                <a:latin typeface="Consolas"/>
                <a:cs typeface="Consolas"/>
              </a:rPr>
              <a:t>num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 </a:t>
            </a:r>
          </a:p>
          <a:p>
            <a:pPr marL="366713" lvl="1" indent="0">
              <a:buNone/>
            </a:pPr>
            <a:r>
              <a:rPr lang="en-US" dirty="0">
                <a:solidFill>
                  <a:srgbClr val="FF00FF"/>
                </a:solidFill>
                <a:latin typeface="Consolas"/>
                <a:cs typeface="Consolas"/>
              </a:rPr>
              <a:t>	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	w/o ones digit</a:t>
            </a:r>
          </a:p>
          <a:p>
            <a:pPr marL="366713" lvl="1" indent="0">
              <a:buNone/>
            </a:pP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    </a:t>
            </a:r>
            <a:r>
              <a:rPr lang="en-US" dirty="0" smtClean="0">
                <a:solidFill>
                  <a:srgbClr val="74A510"/>
                </a:solidFill>
                <a:latin typeface="Consolas"/>
                <a:cs typeface="Consolas"/>
              </a:rPr>
              <a:t>print current number again</a:t>
            </a:r>
            <a:endParaRPr lang="en-US" dirty="0" smtClean="0">
              <a:solidFill>
                <a:srgbClr val="FF00FF"/>
              </a:solidFill>
              <a:latin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4133" y="4826675"/>
            <a:ext cx="83133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dirty="0">
                <a:solidFill>
                  <a:srgbClr val="FF6600"/>
                </a:solidFill>
                <a:latin typeface="Consolas"/>
                <a:cs typeface="Consolas"/>
              </a:rPr>
              <a:t>c</a:t>
            </a:r>
            <a:r>
              <a:rPr lang="en-US" dirty="0" smtClean="0">
                <a:solidFill>
                  <a:srgbClr val="FF6600"/>
                </a:solidFill>
                <a:latin typeface="Consolas"/>
                <a:cs typeface="Consolas"/>
              </a:rPr>
              <a:t>ascade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dirty="0" smtClean="0">
                <a:solidFill>
                  <a:srgbClr val="FF0000"/>
                </a:solidFill>
                <a:latin typeface="Consolas"/>
                <a:cs typeface="Consolas"/>
              </a:rPr>
              <a:t>123</a:t>
            </a:r>
            <a:r>
              <a:rPr lang="en-US" dirty="0" smtClean="0">
                <a:solidFill>
                  <a:srgbClr val="4A6300"/>
                </a:solidFill>
                <a:latin typeface="Consolas"/>
                <a:cs typeface="Consolas"/>
              </a:rPr>
              <a:t>)</a:t>
            </a:r>
          </a:p>
          <a:p>
            <a:pPr marL="366713" lvl="1" indent="0">
              <a:buNone/>
            </a:pPr>
            <a:r>
              <a:rPr lang="en-US" dirty="0" smtClean="0">
                <a:solidFill>
                  <a:srgbClr val="74A510"/>
                </a:solidFill>
                <a:latin typeface="Consolas"/>
                <a:cs typeface="Consolas"/>
              </a:rPr>
              <a:t>123</a:t>
            </a:r>
          </a:p>
          <a:p>
            <a:pPr marL="366713" lvl="1" indent="0">
              <a:buNone/>
            </a:pP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12</a:t>
            </a:r>
          </a:p>
          <a:p>
            <a:pPr marL="366713" lvl="1" indent="0">
              <a:buNone/>
            </a:pPr>
            <a:r>
              <a:rPr lang="en-US" dirty="0" smtClean="0">
                <a:solidFill>
                  <a:srgbClr val="3366FF"/>
                </a:solidFill>
                <a:latin typeface="Consolas"/>
                <a:cs typeface="Consolas"/>
              </a:rPr>
              <a:t>1</a:t>
            </a: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		Solution to smaller problem expressed as </a:t>
            </a:r>
          </a:p>
          <a:p>
            <a:pPr marL="366713" lvl="1" indent="0">
              <a:buNone/>
            </a:pPr>
            <a:r>
              <a:rPr lang="en-US" dirty="0" smtClean="0">
                <a:solidFill>
                  <a:srgbClr val="FF00FF"/>
                </a:solidFill>
                <a:latin typeface="Consolas"/>
                <a:cs typeface="Consolas"/>
              </a:rPr>
              <a:t>12		cascade(123 // 10) -&gt; cascade(12)</a:t>
            </a:r>
          </a:p>
          <a:p>
            <a:pPr marL="366713" lvl="1" indent="0">
              <a:buNone/>
            </a:pPr>
            <a:r>
              <a:rPr lang="en-US" dirty="0" smtClean="0">
                <a:solidFill>
                  <a:srgbClr val="74A510"/>
                </a:solidFill>
                <a:latin typeface="Consolas"/>
                <a:cs typeface="Consolas"/>
              </a:rPr>
              <a:t>123</a:t>
            </a:r>
            <a:endParaRPr lang="en-US" dirty="0" smtClean="0">
              <a:solidFill>
                <a:srgbClr val="74A510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dirty="0" smtClean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endParaRPr lang="en-US" dirty="0" smtClean="0">
              <a:solidFill>
                <a:srgbClr val="FF00FF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9090668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Takeaways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Remember that all your output must match the function’s range. </a:t>
            </a:r>
          </a:p>
          <a:p>
            <a:pPr lvl="1"/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This means your base cases and regular calls. Everything!</a:t>
            </a:r>
          </a:p>
          <a:p>
            <a:pPr lvl="1"/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hailstone. You should always return the number of steps, no matter in base case or regular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func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good way to find base cases is to see where the input to your functions can be problematic.</a:t>
            </a:r>
          </a:p>
          <a:p>
            <a:pPr lvl="1"/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E.g.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sum_every_other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(n-2) is problematic if n-2 &lt; 0!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Call expressions are expressive! You can describe “The 25</a:t>
            </a:r>
            <a:r>
              <a:rPr lang="en-US" sz="2000" baseline="30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fibonacci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number” easily as fib(25).</a:t>
            </a:r>
          </a:p>
          <a:p>
            <a:pPr lvl="1"/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 fact, call expressions express </a:t>
            </a:r>
            <a:r>
              <a:rPr lang="en-US" sz="2000" b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solutions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to the same problem you are trying to solve on smaller input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28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5276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Break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366713" lvl="1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Quote of the day: “the huge tables of square roots used by engineers and schoolchildren prior to the 1970s have now been replaced by a five-line program for Newton’s method running on electronic calculators” – CS188 textbook Artificial Intelligence: A Modern Approach (p. 47)</a:t>
            </a:r>
          </a:p>
          <a:p>
            <a:pPr marL="366713" lvl="1" indent="0">
              <a:buNone/>
            </a:pP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Iterative improvement is simple but powerful!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29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41764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680765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Tre</a:t>
            </a:r>
            <a:r>
              <a:rPr lang="en-US" dirty="0" smtClean="0">
                <a:latin typeface="Century Gothic" charset="0"/>
              </a:rPr>
              <a:t>e Recursion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5528731"/>
            <a:ext cx="8263467" cy="990602"/>
          </a:xfrm>
        </p:spPr>
        <p:txBody>
          <a:bodyPr/>
          <a:lstStyle/>
          <a:p>
            <a:pPr marL="366713" lvl="1" indent="0">
              <a:buNone/>
            </a:pP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r>
              <a:rPr lang="en-US" sz="14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http://</a:t>
            </a:r>
            <a:r>
              <a:rPr lang="en-US" sz="14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upload.wikimedia.org</a:t>
            </a:r>
            <a:r>
              <a:rPr lang="en-US" sz="14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/</a:t>
            </a:r>
            <a:r>
              <a:rPr lang="en-US" sz="14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wikipedia</a:t>
            </a:r>
            <a:r>
              <a:rPr lang="en-US" sz="14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/commons/f/f7/</a:t>
            </a:r>
            <a:r>
              <a:rPr lang="en-US" sz="14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RecursiveTree.JPG</a:t>
            </a:r>
            <a:endParaRPr lang="en-US" sz="14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30</a:t>
            </a:fld>
            <a:endParaRPr lang="en-US">
              <a:solidFill>
                <a:srgbClr val="FEFEFE"/>
              </a:solidFill>
            </a:endParaRPr>
          </a:p>
        </p:txBody>
      </p:sp>
      <p:pic>
        <p:nvPicPr>
          <p:cNvPr id="2" name="Picture 1" descr="RecursiveTree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777" y="1823765"/>
            <a:ext cx="2918923" cy="3848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00094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347246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Tree Recursion Important </a:t>
            </a:r>
            <a:r>
              <a:rPr lang="en-US" dirty="0" smtClean="0">
                <a:latin typeface="Century Gothic" charset="0"/>
              </a:rPr>
              <a:t>Q’s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1531018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the desired behavior of your function?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do 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1098550" lvl="2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Remember that your return value holds values too!</a:t>
            </a:r>
          </a:p>
          <a:p>
            <a:pPr marL="1098550" lvl="2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you have more than # of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params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you need to define helper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1098550" lvl="2" indent="-457200">
              <a:buFont typeface="+mj-lt"/>
              <a:buAutoNum type="arabicPeriod"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Where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should each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start?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How can I reuse the function </a:t>
            </a:r>
            <a:r>
              <a:rPr lang="en-US" sz="2000" b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many times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with 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smaller input?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I combine the result with the current pieces of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information to solve the problem?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Base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cases: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When should we stop? What to return?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Thinking about these questions </a:t>
            </a:r>
            <a:r>
              <a:rPr lang="en-US" sz="2000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before you code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will save you a lot of time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can see that once you answer these questions thoroughly, the code follows directly (watch the colors in the next few examples).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31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93655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Tree Recursion Qs: </a:t>
            </a:r>
            <a:r>
              <a:rPr lang="en-US" dirty="0" smtClean="0">
                <a:latin typeface="Century Gothic" charset="0"/>
              </a:rPr>
              <a:t>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366713" lvl="1" indent="0">
              <a:buNone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Fibonacci numbers: 0, 1, 1, 2, 3, 5, 8, 13, 21, 34, 55, …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the desired behavior of your function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do 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can I reuse the function with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simpler input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I combine the result with the current pieces of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information to solve the problem?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Base cases: When should we stop? What to return?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32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676245"/>
              </p:ext>
            </p:extLst>
          </p:nvPr>
        </p:nvGraphicFramePr>
        <p:xfrm>
          <a:off x="474132" y="3027269"/>
          <a:ext cx="8212151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2151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Fib(n)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should be fib(n-1) + fib(n-2). Expressed as fib(n)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9945928"/>
              </p:ext>
            </p:extLst>
          </p:nvPr>
        </p:nvGraphicFramePr>
        <p:xfrm>
          <a:off x="705605" y="3782570"/>
          <a:ext cx="758204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The current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number being summed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Note: the return value takes care of storing the total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150314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Tree Recursion Qs: </a:t>
            </a:r>
            <a:r>
              <a:rPr lang="en-US" dirty="0" smtClean="0">
                <a:latin typeface="Century Gothic" charset="0"/>
              </a:rPr>
              <a:t>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Fibonacci numbers: 0, 1, 1, 2, 3, 5, 8, 13, 21, 34, 55, …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is the desired behavior of your function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</a:t>
            </a:r>
            <a:r>
              <a:rPr lang="en-US" sz="2000" dirty="0" err="1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do you want to keep track of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</a:t>
            </a: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can I reuse the function with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simpler input?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I combine the result with the current pieces of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information to solve the problem?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Base cases: When should we stop? What to return?</a:t>
            </a: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33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266644"/>
              </p:ext>
            </p:extLst>
          </p:nvPr>
        </p:nvGraphicFramePr>
        <p:xfrm>
          <a:off x="705605" y="3769742"/>
          <a:ext cx="7582047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To calculate fib(n), we need fib(n-1) and fib(n-2)</a:t>
                      </a:r>
                      <a:endParaRPr lang="en-US" sz="2000" baseline="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1383174"/>
              </p:ext>
            </p:extLst>
          </p:nvPr>
        </p:nvGraphicFramePr>
        <p:xfrm>
          <a:off x="705605" y="4807252"/>
          <a:ext cx="7582047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fib(n-1)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+ fib(n-2)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178464"/>
              </p:ext>
            </p:extLst>
          </p:nvPr>
        </p:nvGraphicFramePr>
        <p:xfrm>
          <a:off x="705605" y="5588209"/>
          <a:ext cx="7582047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2047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When</a:t>
                      </a:r>
                      <a:r>
                        <a:rPr lang="en-US" sz="2000" baseline="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 n &lt; 2, we know that the answer is just n</a:t>
                      </a:r>
                      <a:endParaRPr lang="en-US" sz="2000" dirty="0" smtClean="0">
                        <a:solidFill>
                          <a:schemeClr val="bg1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3366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50162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Recursion Qs: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3" y="2324100"/>
            <a:ext cx="4477932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Desired behavior: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Vars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to keep track of: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Recursive call/reuse of 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func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Building up from reuse:</a:t>
            </a:r>
          </a:p>
          <a:p>
            <a:pPr marL="823913" lvl="1" indent="-457200">
              <a:buFont typeface="+mj-lt"/>
              <a:buAutoNum type="arabicPeriod"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When to end/base case:</a:t>
            </a: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366713" lvl="1" indent="0">
              <a:buNone/>
            </a:pPr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34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438896" y="3535950"/>
            <a:ext cx="463225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FF6600"/>
                </a:solidFill>
                <a:latin typeface="Consolas"/>
                <a:cs typeface="Consolas"/>
              </a:rPr>
              <a:t>fib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if n &lt; 2: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return n</a:t>
            </a:r>
            <a:endParaRPr lang="en-US" sz="2000" dirty="0">
              <a:solidFill>
                <a:srgbClr val="3366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return 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fib(n-1)</a:t>
            </a: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+ 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fib(n-2)</a:t>
            </a:r>
            <a:endParaRPr lang="en-US" dirty="0">
              <a:solidFill>
                <a:srgbClr val="FF00FF"/>
              </a:solidFill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607843"/>
              </p:ext>
            </p:extLst>
          </p:nvPr>
        </p:nvGraphicFramePr>
        <p:xfrm>
          <a:off x="474132" y="2763902"/>
          <a:ext cx="8070104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70104"/>
              </a:tblGrid>
              <a:tr h="34429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Fibonacci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number defined by recurrence relation. Express as fib(n)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324091"/>
              </p:ext>
            </p:extLst>
          </p:nvPr>
        </p:nvGraphicFramePr>
        <p:xfrm>
          <a:off x="474132" y="3366071"/>
          <a:ext cx="4323982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3982"/>
              </a:tblGrid>
              <a:tr h="39244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The current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number being summed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7873369"/>
              </p:ext>
            </p:extLst>
          </p:nvPr>
        </p:nvGraphicFramePr>
        <p:xfrm>
          <a:off x="474131" y="4221087"/>
          <a:ext cx="3041065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1065"/>
              </a:tblGrid>
              <a:tr h="26336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fib(n-1), fib(n-2)</a:t>
                      </a:r>
                      <a:endParaRPr lang="en-US" sz="2000" baseline="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FF00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171875"/>
              </p:ext>
            </p:extLst>
          </p:nvPr>
        </p:nvGraphicFramePr>
        <p:xfrm>
          <a:off x="474131" y="4881915"/>
          <a:ext cx="2963542" cy="39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3542"/>
              </a:tblGrid>
              <a:tr h="26336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fib(n-1)</a:t>
                      </a:r>
                      <a:r>
                        <a:rPr lang="en-US" sz="2000" baseline="0" dirty="0" smtClean="0">
                          <a:solidFill>
                            <a:srgbClr val="4A6300"/>
                          </a:solidFill>
                          <a:latin typeface="Avenir Book" charset="0"/>
                          <a:cs typeface="Avenir Book" charset="0"/>
                        </a:rPr>
                        <a:t> + fib(n-2)</a:t>
                      </a:r>
                      <a:endParaRPr lang="en-US" sz="2000" dirty="0" smtClean="0">
                        <a:solidFill>
                          <a:srgbClr val="4A6300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chemeClr val="bg2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765268"/>
              </p:ext>
            </p:extLst>
          </p:nvPr>
        </p:nvGraphicFramePr>
        <p:xfrm>
          <a:off x="474132" y="5588209"/>
          <a:ext cx="5722363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2363"/>
              </a:tblGrid>
              <a:tr h="26336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When</a:t>
                      </a:r>
                      <a:r>
                        <a:rPr lang="en-US" sz="2000" baseline="0" dirty="0" smtClean="0">
                          <a:solidFill>
                            <a:schemeClr val="bg1"/>
                          </a:solidFill>
                          <a:latin typeface="Avenir Book" charset="0"/>
                          <a:cs typeface="Avenir Book" charset="0"/>
                        </a:rPr>
                        <a:t> n &lt; 2, we know that the answer is just n. To be explicit, we can have if n == 0: return 0 ; if n == 1: return 1</a:t>
                      </a:r>
                      <a:endParaRPr lang="en-US" sz="2000" dirty="0" smtClean="0">
                        <a:solidFill>
                          <a:schemeClr val="bg1"/>
                        </a:solidFill>
                        <a:latin typeface="Avenir Book" charset="0"/>
                        <a:cs typeface="Avenir Book" charset="0"/>
                      </a:endParaRPr>
                    </a:p>
                  </a:txBody>
                  <a:tcPr>
                    <a:solidFill>
                      <a:srgbClr val="3366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04906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05523"/>
            <a:ext cx="7024687" cy="893090"/>
          </a:xfrm>
        </p:spPr>
        <p:txBody>
          <a:bodyPr/>
          <a:lstStyle/>
          <a:p>
            <a:r>
              <a:rPr lang="en-US" sz="2800" dirty="0" smtClean="0">
                <a:latin typeface="Century Gothic" charset="0"/>
              </a:rPr>
              <a:t>What Makes Tree Recursion Special?</a:t>
            </a:r>
            <a:endParaRPr lang="en-US" sz="2800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[Class Discussion]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Very easy to explore different branches, because now you can express sub-branches as call expressions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E.g. Give me values for fib(5) and fib(6)! 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E.g. Give me ways to count change for $0.20 with just pennies or $0.15 with nickels + pennies. </a:t>
            </a:r>
          </a:p>
          <a:p>
            <a:pPr lvl="2"/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count_change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(20, [1]), </a:t>
            </a:r>
            <a:r>
              <a:rPr lang="en-US" dirty="0" err="1" smtClean="0">
                <a:solidFill>
                  <a:srgbClr val="4A6300"/>
                </a:solidFill>
                <a:latin typeface="Avenir Book"/>
                <a:cs typeface="Avenir Book"/>
              </a:rPr>
              <a:t>count_change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(15, [5, 1])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Useful when you have to return a value based on the various sub-possibilities/sub-problems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E.g. make a decision or sum up sub-values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Again, expressiveness of call expressions saves the day!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35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878644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Break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36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44347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Iteration </a:t>
            </a:r>
            <a:r>
              <a:rPr lang="en-US" dirty="0" err="1" smtClean="0">
                <a:latin typeface="Century Gothic" charset="0"/>
              </a:rPr>
              <a:t>vs</a:t>
            </a:r>
            <a:r>
              <a:rPr lang="en-US" dirty="0" smtClean="0">
                <a:latin typeface="Century Gothic" charset="0"/>
              </a:rPr>
              <a:t> Recursion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Every time you make a recursive call, you’ll loop through the same code</a:t>
            </a:r>
          </a:p>
          <a:p>
            <a:pPr marL="1098550" lvl="2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More convenient than iteration because parameters will take care of “name-updating” for you</a:t>
            </a:r>
          </a:p>
          <a:p>
            <a:pPr marL="1098550" lvl="2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Also, you have the power to make multiple mini-loops (tree recursion)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Iteration uses a header to stop. Recursion uses base cases to stop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Iterations has current frame to keep track of info. Recursion must use parameters + RV because a new frame is created for each recursive call</a:t>
            </a:r>
          </a:p>
          <a:p>
            <a:pPr marL="823913" lvl="1" indent="-457200">
              <a:buFont typeface="+mj-lt"/>
              <a:buAutoNum type="arabicPeriod"/>
            </a:pP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37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995418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Iteration </a:t>
            </a:r>
            <a:r>
              <a:rPr lang="en-US" dirty="0" err="1" smtClean="0">
                <a:latin typeface="Century Gothic" charset="0"/>
              </a:rPr>
              <a:t>vs</a:t>
            </a:r>
            <a:r>
              <a:rPr lang="en-US" dirty="0" smtClean="0">
                <a:latin typeface="Century Gothic" charset="0"/>
              </a:rPr>
              <a:t> Recursion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38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0141" y="2233676"/>
            <a:ext cx="5580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FF6600"/>
                </a:solidFill>
                <a:latin typeface="Consolas"/>
                <a:cs typeface="Consolas"/>
              </a:rPr>
              <a:t>fact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if n == 0: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</a:t>
            </a:r>
            <a:r>
              <a:rPr lang="en-US" sz="2000" dirty="0" smtClean="0">
                <a:solidFill>
                  <a:srgbClr val="660066"/>
                </a:solidFill>
                <a:latin typeface="Consolas"/>
                <a:cs typeface="Consolas"/>
              </a:rPr>
              <a:t>return 1</a:t>
            </a:r>
            <a:endParaRPr lang="en-US" sz="2000" dirty="0">
              <a:solidFill>
                <a:srgbClr val="660066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FF0000"/>
                </a:solidFill>
                <a:latin typeface="Consolas"/>
                <a:cs typeface="Consolas"/>
              </a:rPr>
              <a:t>return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n</a:t>
            </a: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*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fact(n-1)</a:t>
            </a:r>
            <a:endParaRPr lang="en-US" dirty="0">
              <a:solidFill>
                <a:srgbClr val="FF00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0141" y="4194906"/>
            <a:ext cx="55806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20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2000" dirty="0" err="1" smtClean="0">
                <a:solidFill>
                  <a:srgbClr val="FF6600"/>
                </a:solidFill>
                <a:latin typeface="Consolas"/>
                <a:cs typeface="Consolas"/>
              </a:rPr>
              <a:t>fact_iter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)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:</a:t>
            </a:r>
          </a:p>
          <a:p>
            <a:pPr marL="366713" lvl="1" indent="0">
              <a:buNone/>
            </a:pPr>
            <a:r>
              <a:rPr lang="en-US" sz="2000" dirty="0" smtClean="0">
                <a:solidFill>
                  <a:srgbClr val="FF00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660066"/>
                </a:solidFill>
                <a:latin typeface="Consolas"/>
                <a:cs typeface="Consolas"/>
              </a:rPr>
              <a:t>total = 1</a:t>
            </a:r>
            <a:endParaRPr lang="en-US" sz="2000" dirty="0" smtClean="0">
              <a:solidFill>
                <a:srgbClr val="660066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while n &gt; 0: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chemeClr val="bg2">
                    <a:lumMod val="50000"/>
                  </a:schemeClr>
                </a:solidFill>
                <a:latin typeface="Consolas"/>
                <a:cs typeface="Consolas"/>
              </a:rPr>
              <a:t>   total *= n</a:t>
            </a:r>
          </a:p>
          <a:p>
            <a:pPr marL="366713" lvl="1" indent="0">
              <a:buNone/>
            </a:pPr>
            <a:r>
              <a:rPr lang="en-US" sz="2000" dirty="0">
                <a:solidFill>
                  <a:srgbClr val="3366FF"/>
                </a:solidFill>
                <a:latin typeface="Consolas"/>
                <a:cs typeface="Consolas"/>
              </a:rPr>
              <a:t> </a:t>
            </a:r>
            <a:r>
              <a:rPr lang="en-US" sz="2000" dirty="0" smtClean="0">
                <a:solidFill>
                  <a:srgbClr val="3366FF"/>
                </a:solidFill>
                <a:latin typeface="Consolas"/>
                <a:cs typeface="Consolas"/>
              </a:rPr>
              <a:t>   </a:t>
            </a:r>
            <a:r>
              <a:rPr lang="en-US" sz="2000" dirty="0" smtClean="0">
                <a:solidFill>
                  <a:srgbClr val="FF00FF"/>
                </a:solidFill>
                <a:latin typeface="Consolas"/>
                <a:cs typeface="Consolas"/>
              </a:rPr>
              <a:t>n -= 1</a:t>
            </a:r>
            <a:endParaRPr lang="en-US" sz="2000" dirty="0">
              <a:solidFill>
                <a:srgbClr val="FF00FF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2000" dirty="0">
                <a:solidFill>
                  <a:srgbClr val="4A6300"/>
                </a:solidFill>
                <a:latin typeface="Consolas"/>
                <a:cs typeface="Consolas"/>
              </a:rPr>
              <a:t> 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return </a:t>
            </a:r>
            <a:r>
              <a:rPr lang="en-US" sz="2000" dirty="0" smtClean="0">
                <a:solidFill>
                  <a:srgbClr val="FF0000"/>
                </a:solidFill>
                <a:latin typeface="Consolas"/>
                <a:cs typeface="Consolas"/>
              </a:rPr>
              <a:t>total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400410" y="2233676"/>
            <a:ext cx="433718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Keep track:</a:t>
            </a:r>
          </a:p>
          <a:p>
            <a:r>
              <a:rPr lang="en-US" sz="1600" dirty="0"/>
              <a:t> </a:t>
            </a:r>
            <a:r>
              <a:rPr lang="en-US" sz="1600" dirty="0" smtClean="0"/>
              <a:t> n – current number</a:t>
            </a:r>
          </a:p>
          <a:p>
            <a:r>
              <a:rPr lang="en-US" sz="1600" dirty="0"/>
              <a:t> </a:t>
            </a:r>
            <a:r>
              <a:rPr lang="en-US" sz="1600" dirty="0" smtClean="0"/>
              <a:t> RV – total</a:t>
            </a:r>
          </a:p>
          <a:p>
            <a:r>
              <a:rPr lang="en-US" sz="1600" dirty="0" smtClean="0"/>
              <a:t>Loop:</a:t>
            </a:r>
          </a:p>
          <a:p>
            <a:r>
              <a:rPr lang="en-US" sz="1600" dirty="0"/>
              <a:t> </a:t>
            </a:r>
            <a:r>
              <a:rPr lang="en-US" sz="1600" dirty="0" smtClean="0"/>
              <a:t> Next iteration: n = n – 1</a:t>
            </a:r>
          </a:p>
          <a:p>
            <a:r>
              <a:rPr lang="en-US" sz="1600" dirty="0" smtClean="0"/>
              <a:t>Stop/Loop until:</a:t>
            </a:r>
          </a:p>
          <a:p>
            <a:r>
              <a:rPr lang="en-US" sz="1600" dirty="0"/>
              <a:t> </a:t>
            </a:r>
            <a:r>
              <a:rPr lang="en-US" sz="1600" dirty="0" smtClean="0"/>
              <a:t> When n == 0. Then return what</a:t>
            </a:r>
          </a:p>
          <a:p>
            <a:r>
              <a:rPr lang="en-US" sz="1600" dirty="0"/>
              <a:t> </a:t>
            </a:r>
            <a:r>
              <a:rPr lang="en-US" sz="1600" dirty="0" smtClean="0"/>
              <a:t> the RV should start with </a:t>
            </a:r>
            <a:endParaRPr lang="en-US"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4400410" y="4425677"/>
            <a:ext cx="433718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Keep track:</a:t>
            </a:r>
          </a:p>
          <a:p>
            <a:r>
              <a:rPr lang="en-US" sz="1600" dirty="0"/>
              <a:t> </a:t>
            </a:r>
            <a:r>
              <a:rPr lang="en-US" sz="1600" dirty="0" smtClean="0"/>
              <a:t> n – current number</a:t>
            </a:r>
          </a:p>
          <a:p>
            <a:r>
              <a:rPr lang="en-US" sz="1600" dirty="0"/>
              <a:t> </a:t>
            </a:r>
            <a:r>
              <a:rPr lang="en-US" sz="1600" dirty="0" smtClean="0"/>
              <a:t> total – total</a:t>
            </a:r>
          </a:p>
          <a:p>
            <a:r>
              <a:rPr lang="en-US" sz="1600" dirty="0" smtClean="0"/>
              <a:t>Loop:</a:t>
            </a:r>
          </a:p>
          <a:p>
            <a:r>
              <a:rPr lang="en-US" sz="1600" dirty="0"/>
              <a:t> </a:t>
            </a:r>
            <a:r>
              <a:rPr lang="en-US" sz="1600" dirty="0" smtClean="0"/>
              <a:t> Next iteration: n = n – 1</a:t>
            </a:r>
          </a:p>
          <a:p>
            <a:r>
              <a:rPr lang="en-US" sz="1600" dirty="0" smtClean="0"/>
              <a:t>Loop while:</a:t>
            </a:r>
          </a:p>
          <a:p>
            <a:r>
              <a:rPr lang="en-US" sz="1600" dirty="0"/>
              <a:t> </a:t>
            </a:r>
            <a:r>
              <a:rPr lang="en-US" sz="1600" dirty="0" smtClean="0"/>
              <a:t> n &gt; 0. Then return the accumulated result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62168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347246"/>
            <a:ext cx="8263466" cy="1143000"/>
          </a:xfrm>
        </p:spPr>
        <p:txBody>
          <a:bodyPr/>
          <a:lstStyle/>
          <a:p>
            <a:pPr algn="ctr"/>
            <a:r>
              <a:rPr lang="en-US" dirty="0" err="1" smtClean="0">
                <a:latin typeface="Century Gothic" charset="0"/>
              </a:rPr>
              <a:t>Env</a:t>
            </a:r>
            <a:r>
              <a:rPr lang="en-US" dirty="0" smtClean="0">
                <a:latin typeface="Century Gothic" charset="0"/>
              </a:rPr>
              <a:t> Diagram </a:t>
            </a:r>
            <a:r>
              <a:rPr lang="en-US" dirty="0" smtClean="0">
                <a:latin typeface="Century Gothic" charset="0"/>
              </a:rPr>
              <a:t>Rules </a:t>
            </a:r>
            <a:r>
              <a:rPr lang="en-US" sz="2000" dirty="0" smtClean="0">
                <a:latin typeface="Century Gothic" charset="0"/>
              </a:rPr>
              <a:t>Source: Andrew Huang</a:t>
            </a:r>
            <a:endParaRPr lang="en-US" sz="2000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39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18433" y="1503074"/>
            <a:ext cx="7838631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Creating a function using </a:t>
            </a:r>
            <a:r>
              <a:rPr lang="en-US" sz="1600" dirty="0" err="1" smtClean="0"/>
              <a:t>def</a:t>
            </a:r>
            <a:r>
              <a:rPr lang="en-US" sz="1600" dirty="0" smtClean="0"/>
              <a:t>/lambda:</a:t>
            </a:r>
            <a:endParaRPr lang="en-US" sz="16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Draw </a:t>
            </a:r>
            <a:r>
              <a:rPr lang="en-US" sz="1600" dirty="0" err="1" smtClean="0"/>
              <a:t>func</a:t>
            </a:r>
            <a:r>
              <a:rPr lang="en-US" sz="1600" dirty="0" smtClean="0"/>
              <a:t> &lt;name&gt;(&lt;param1&gt;, &lt;param2&gt;, …) [parent=?]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The parent of the function is the current frame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For </a:t>
            </a:r>
            <a:r>
              <a:rPr lang="en-US" sz="1600" dirty="0" err="1" smtClean="0"/>
              <a:t>def</a:t>
            </a:r>
            <a:r>
              <a:rPr lang="en-US" sz="1600" dirty="0" smtClean="0"/>
              <a:t> only: bind this function to the same name in the current frame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r>
              <a:rPr lang="en-US" sz="1600" dirty="0" smtClean="0"/>
              <a:t>Calling user-defined functions: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operator and operands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Create a new frame. Label the frame with the info from the function object &lt;name&gt; [parent=?]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Bind the formal parameters to the arguments (values of operands)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body with new frame as current frame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Return back </a:t>
            </a:r>
            <a:r>
              <a:rPr lang="en-US" sz="1600" dirty="0" smtClean="0"/>
              <a:t>to the </a:t>
            </a:r>
            <a:r>
              <a:rPr lang="en-US" sz="1600" dirty="0" smtClean="0"/>
              <a:t>frame that called the function</a:t>
            </a:r>
          </a:p>
          <a:p>
            <a:pPr marL="342900" indent="-342900">
              <a:buAutoNum type="arabicPeriod"/>
            </a:pPr>
            <a:endParaRPr lang="en-US" sz="1600" dirty="0"/>
          </a:p>
          <a:p>
            <a:r>
              <a:rPr lang="en-US" sz="1600" dirty="0" smtClean="0"/>
              <a:t>Assignment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RHS 2. Bind name on LHS to value </a:t>
            </a:r>
            <a:r>
              <a:rPr lang="en-US" sz="1600" dirty="0" smtClean="0"/>
              <a:t>on </a:t>
            </a:r>
            <a:r>
              <a:rPr lang="en-US" sz="1600" dirty="0" smtClean="0"/>
              <a:t>RHS in current frame</a:t>
            </a:r>
          </a:p>
          <a:p>
            <a:pPr marL="342900" indent="-342900">
              <a:buAutoNum type="arabicPeriod"/>
            </a:pPr>
            <a:endParaRPr lang="en-US" sz="1600" dirty="0"/>
          </a:p>
          <a:p>
            <a:r>
              <a:rPr lang="en-US" sz="1600" dirty="0" smtClean="0"/>
              <a:t>Lookup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Start at current frame. If name is there, great! If not, go to the </a:t>
            </a:r>
            <a:r>
              <a:rPr lang="en-US" sz="1600" b="1" u="sng" dirty="0" smtClean="0"/>
              <a:t>parent</a:t>
            </a:r>
            <a:r>
              <a:rPr lang="en-US" sz="1600" dirty="0" smtClean="0"/>
              <a:t> </a:t>
            </a:r>
            <a:r>
              <a:rPr lang="en-US" sz="1600" dirty="0" smtClean="0"/>
              <a:t>frame. Keep going until you cannot find the name in the global frame.</a:t>
            </a:r>
            <a:endParaRPr lang="en-US" sz="1600" dirty="0" smtClean="0"/>
          </a:p>
        </p:txBody>
      </p:sp>
    </p:spTree>
    <p:extLst>
      <p:ext uri="{BB962C8B-B14F-4D97-AF65-F5344CB8AC3E}">
        <p14:creationId xmlns:p14="http://schemas.microsoft.com/office/powerpoint/2010/main" val="400794891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err="1" smtClean="0">
                <a:latin typeface="Century Gothic" charset="0"/>
              </a:rPr>
              <a:t>Env</a:t>
            </a:r>
            <a:r>
              <a:rPr lang="en-US" dirty="0" smtClean="0">
                <a:latin typeface="Century Gothic" charset="0"/>
              </a:rPr>
              <a:t> Diagram Rules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Don’t follow your intuition, because you have never seen rules like these (unless you programmed before, kudos!)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Follow these rules until you get the right intuition.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Env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diagrams are fun! They just take time to master. 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Some sacrifice now will be rewarding in the long run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  <a:sym typeface="Wingdings"/>
              </a:rPr>
              <a:t>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  <a:sym typeface="Wingdings"/>
              </a:rPr>
              <a:t>Now let’s look at the rules again.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40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030856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347246"/>
            <a:ext cx="8263466" cy="1143000"/>
          </a:xfrm>
        </p:spPr>
        <p:txBody>
          <a:bodyPr/>
          <a:lstStyle/>
          <a:p>
            <a:pPr algn="ctr"/>
            <a:r>
              <a:rPr lang="en-US" dirty="0" err="1" smtClean="0">
                <a:latin typeface="Century Gothic" charset="0"/>
              </a:rPr>
              <a:t>Env</a:t>
            </a:r>
            <a:r>
              <a:rPr lang="en-US" dirty="0" smtClean="0">
                <a:latin typeface="Century Gothic" charset="0"/>
              </a:rPr>
              <a:t> Diagram </a:t>
            </a:r>
            <a:r>
              <a:rPr lang="en-US" dirty="0" smtClean="0">
                <a:latin typeface="Century Gothic" charset="0"/>
              </a:rPr>
              <a:t>Rules </a:t>
            </a:r>
            <a:r>
              <a:rPr lang="en-US" sz="2000" dirty="0" smtClean="0">
                <a:latin typeface="Century Gothic" charset="0"/>
              </a:rPr>
              <a:t>Source: Andrew Huang</a:t>
            </a:r>
            <a:endParaRPr lang="en-US" sz="2000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41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18433" y="1503074"/>
            <a:ext cx="7838631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Creating a function using </a:t>
            </a:r>
            <a:r>
              <a:rPr lang="en-US" sz="1600" dirty="0" err="1" smtClean="0"/>
              <a:t>def</a:t>
            </a:r>
            <a:r>
              <a:rPr lang="en-US" sz="1600" dirty="0" smtClean="0"/>
              <a:t>/lambda:</a:t>
            </a:r>
            <a:endParaRPr lang="en-US" sz="16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Draw </a:t>
            </a:r>
            <a:r>
              <a:rPr lang="en-US" sz="1600" dirty="0" err="1" smtClean="0"/>
              <a:t>func</a:t>
            </a:r>
            <a:r>
              <a:rPr lang="en-US" sz="1600" dirty="0" smtClean="0"/>
              <a:t> &lt;name&gt;(&lt;param1&gt;, &lt;param2&gt;, …) [parent=?]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The parent of the function is the current frame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 smtClean="0"/>
              <a:t>For </a:t>
            </a:r>
            <a:r>
              <a:rPr lang="en-US" sz="1600" dirty="0" err="1" smtClean="0"/>
              <a:t>def</a:t>
            </a:r>
            <a:r>
              <a:rPr lang="en-US" sz="1600" dirty="0" smtClean="0"/>
              <a:t> only: bind this function to the same name in the current frame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r>
              <a:rPr lang="en-US" sz="1600" dirty="0" smtClean="0"/>
              <a:t>Calling user-defined functions: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operator and operands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Create a new frame. Label the frame with the info from the function object &lt;name&gt; [parent=?]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Bind the formal parameters to the arguments (values of operands)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body with new frame as current frame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Return back </a:t>
            </a:r>
            <a:r>
              <a:rPr lang="en-US" sz="1600" dirty="0" smtClean="0"/>
              <a:t>to the </a:t>
            </a:r>
            <a:r>
              <a:rPr lang="en-US" sz="1600" dirty="0" smtClean="0"/>
              <a:t>frame that called the function</a:t>
            </a:r>
          </a:p>
          <a:p>
            <a:pPr marL="342900" indent="-342900">
              <a:buAutoNum type="arabicPeriod"/>
            </a:pPr>
            <a:endParaRPr lang="en-US" sz="1600" dirty="0"/>
          </a:p>
          <a:p>
            <a:r>
              <a:rPr lang="en-US" sz="1600" dirty="0" smtClean="0"/>
              <a:t>Assignment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Evaluate the RHS 2. Bind name on LHS to value </a:t>
            </a:r>
            <a:r>
              <a:rPr lang="en-US" sz="1600" dirty="0" smtClean="0"/>
              <a:t>on </a:t>
            </a:r>
            <a:r>
              <a:rPr lang="en-US" sz="1600" dirty="0" smtClean="0"/>
              <a:t>RHS in current frame</a:t>
            </a:r>
          </a:p>
          <a:p>
            <a:pPr marL="342900" indent="-342900">
              <a:buAutoNum type="arabicPeriod"/>
            </a:pPr>
            <a:endParaRPr lang="en-US" sz="1600" dirty="0"/>
          </a:p>
          <a:p>
            <a:r>
              <a:rPr lang="en-US" sz="1600" dirty="0" smtClean="0"/>
              <a:t>Lookup</a:t>
            </a:r>
          </a:p>
          <a:p>
            <a:pPr marL="342900" indent="-342900">
              <a:buAutoNum type="arabicPeriod"/>
            </a:pPr>
            <a:r>
              <a:rPr lang="en-US" sz="1600" dirty="0" smtClean="0"/>
              <a:t>Start at current frame. If name is there, great! If not, go to the </a:t>
            </a:r>
            <a:r>
              <a:rPr lang="en-US" sz="1600" b="1" u="sng" dirty="0" smtClean="0"/>
              <a:t>parent</a:t>
            </a:r>
            <a:r>
              <a:rPr lang="en-US" sz="1600" dirty="0" smtClean="0"/>
              <a:t> </a:t>
            </a:r>
            <a:r>
              <a:rPr lang="en-US" sz="1600" dirty="0" smtClean="0"/>
              <a:t>frame. Keep going until you cannot find the name in the global frame.</a:t>
            </a:r>
            <a:endParaRPr lang="en-US" sz="1600" dirty="0" smtClean="0"/>
          </a:p>
        </p:txBody>
      </p:sp>
    </p:spTree>
    <p:extLst>
      <p:ext uri="{BB962C8B-B14F-4D97-AF65-F5344CB8AC3E}">
        <p14:creationId xmlns:p14="http://schemas.microsoft.com/office/powerpoint/2010/main" val="239520777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1027113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Optional Conceptual Questions (Wednesday 9/</a:t>
            </a:r>
            <a:r>
              <a:rPr lang="en-US" dirty="0" smtClean="0">
                <a:latin typeface="Century Gothic" charset="0"/>
              </a:rPr>
              <a:t>17 </a:t>
            </a:r>
            <a:r>
              <a:rPr lang="en-US" dirty="0" smtClean="0">
                <a:latin typeface="Century Gothic" charset="0"/>
              </a:rPr>
              <a:t>lecture)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 cascade, why does the first print function print in decreasing order and why does the second one print in increasing order? Please explain using an environment diagram.</a:t>
            </a:r>
            <a:endParaRPr lang="en-US" sz="18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823913" lvl="1" indent="-457200">
              <a:buFont typeface="+mj-lt"/>
              <a:buAutoNum type="arabicPeriod"/>
            </a:pP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print(n)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cascade(n // 10)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print(n)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would you summarize the behavior of cascade? Now write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pseudocode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for cascade, replacing the recursive call with the behavior summary you came up with. Compare it with the actual output.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makes tree recursion a special case of recursion? Why is tree recursion useful?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count_partitions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what are the two simpler instances of the problem? How can you express the solution to those simpler instances using call expressions with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count_partitions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  <a:endParaRPr lang="en-US" sz="18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42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95540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iscussion0">
  <a:themeElements>
    <a:clrScheme name="Austin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Austin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tin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discussion0.ppt</Template>
  <TotalTime>11105</TotalTime>
  <Words>4213</Words>
  <Application>Microsoft Macintosh PowerPoint</Application>
  <PresentationFormat>On-screen Show (4:3)</PresentationFormat>
  <Paragraphs>591</Paragraphs>
  <Slides>42</Slides>
  <Notes>41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3" baseType="lpstr">
      <vt:lpstr>discussion0</vt:lpstr>
      <vt:lpstr>Welcome to CS61A Disc 3 Sect. 29/47 :D</vt:lpstr>
      <vt:lpstr>Section Quiz Logistics</vt:lpstr>
      <vt:lpstr>Section Quiz</vt:lpstr>
      <vt:lpstr>Section Quiz [Solution]</vt:lpstr>
      <vt:lpstr>Section Quiz [Solution]</vt:lpstr>
      <vt:lpstr>Anuncios</vt:lpstr>
      <vt:lpstr>Tip of the Day</vt:lpstr>
      <vt:lpstr>Tip of the Day</vt:lpstr>
      <vt:lpstr>Tip of the Day</vt:lpstr>
      <vt:lpstr>Recall: Characteristics of Functions</vt:lpstr>
      <vt:lpstr>Characteristics of Functions</vt:lpstr>
      <vt:lpstr>Characteristics of Functions</vt:lpstr>
      <vt:lpstr>Characteristics of Functions</vt:lpstr>
      <vt:lpstr>Characteristics of Functions</vt:lpstr>
      <vt:lpstr>Characteristics of Functions</vt:lpstr>
      <vt:lpstr>Recursion Important Q’s</vt:lpstr>
      <vt:lpstr>Goal</vt:lpstr>
      <vt:lpstr>Recursion Qs: Example</vt:lpstr>
      <vt:lpstr>Recursion Qs: Example</vt:lpstr>
      <vt:lpstr>Recursion Qs: Example</vt:lpstr>
      <vt:lpstr>Recursion Qs: Example</vt:lpstr>
      <vt:lpstr>Recursion Qs: Example</vt:lpstr>
      <vt:lpstr>Recursion Qs: Example</vt:lpstr>
      <vt:lpstr>Recursion Qs: Example</vt:lpstr>
      <vt:lpstr>Recursion Qs: Example</vt:lpstr>
      <vt:lpstr>Recursion Qs: Example</vt:lpstr>
      <vt:lpstr>Recursion Qs: Example</vt:lpstr>
      <vt:lpstr>Recursion Takeaways</vt:lpstr>
      <vt:lpstr>Break</vt:lpstr>
      <vt:lpstr>Tree Recursion</vt:lpstr>
      <vt:lpstr>Tree Recursion Important Q’s</vt:lpstr>
      <vt:lpstr>Tree Recursion Qs: Example</vt:lpstr>
      <vt:lpstr>Tree Recursion Qs: Example</vt:lpstr>
      <vt:lpstr>Recursion Qs: Example</vt:lpstr>
      <vt:lpstr>What Makes Tree Recursion Special?</vt:lpstr>
      <vt:lpstr>Break</vt:lpstr>
      <vt:lpstr>Iteration vs Recursion</vt:lpstr>
      <vt:lpstr>Iteration vs Recursion</vt:lpstr>
      <vt:lpstr>Env Diagram Rules Source: Andrew Huang</vt:lpstr>
      <vt:lpstr>Env Diagram Rules</vt:lpstr>
      <vt:lpstr>Env Diagram Rules Source: Andrew Huang</vt:lpstr>
      <vt:lpstr>Optional Conceptual Questions (Wednesday 9/17 lecture)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CS61A Section 47 :D</dc:title>
  <dc:creator>Dickson Tsai</dc:creator>
  <cp:lastModifiedBy>Dickson Tsai</cp:lastModifiedBy>
  <cp:revision>150</cp:revision>
  <dcterms:created xsi:type="dcterms:W3CDTF">2014-08-28T16:21:02Z</dcterms:created>
  <dcterms:modified xsi:type="dcterms:W3CDTF">2014-09-18T04:35:31Z</dcterms:modified>
</cp:coreProperties>
</file>