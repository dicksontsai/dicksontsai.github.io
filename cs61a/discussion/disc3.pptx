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45"/>
  </p:notesMasterIdLst>
  <p:handoutMasterIdLst>
    <p:handoutMasterId r:id="rId46"/>
  </p:handoutMasterIdLst>
  <p:sldIdLst>
    <p:sldId id="256" r:id="rId2"/>
    <p:sldId id="268" r:id="rId3"/>
    <p:sldId id="271" r:id="rId4"/>
    <p:sldId id="299" r:id="rId5"/>
    <p:sldId id="302" r:id="rId6"/>
    <p:sldId id="257" r:id="rId7"/>
    <p:sldId id="260" r:id="rId8"/>
    <p:sldId id="300" r:id="rId9"/>
    <p:sldId id="301" r:id="rId10"/>
    <p:sldId id="312" r:id="rId11"/>
    <p:sldId id="273" r:id="rId12"/>
    <p:sldId id="274" r:id="rId13"/>
    <p:sldId id="294" r:id="rId14"/>
    <p:sldId id="295" r:id="rId15"/>
    <p:sldId id="296" r:id="rId16"/>
    <p:sldId id="283" r:id="rId17"/>
    <p:sldId id="313" r:id="rId18"/>
    <p:sldId id="288" r:id="rId19"/>
    <p:sldId id="303" r:id="rId20"/>
    <p:sldId id="289" r:id="rId21"/>
    <p:sldId id="316" r:id="rId22"/>
    <p:sldId id="304" r:id="rId23"/>
    <p:sldId id="305" r:id="rId24"/>
    <p:sldId id="306" r:id="rId25"/>
    <p:sldId id="317" r:id="rId26"/>
    <p:sldId id="318" r:id="rId27"/>
    <p:sldId id="319" r:id="rId28"/>
    <p:sldId id="287" r:id="rId29"/>
    <p:sldId id="285" r:id="rId30"/>
    <p:sldId id="308" r:id="rId31"/>
    <p:sldId id="307" r:id="rId32"/>
    <p:sldId id="309" r:id="rId33"/>
    <p:sldId id="310" r:id="rId34"/>
    <p:sldId id="311" r:id="rId35"/>
    <p:sldId id="262" r:id="rId36"/>
    <p:sldId id="282" r:id="rId37"/>
    <p:sldId id="314" r:id="rId38"/>
    <p:sldId id="320" r:id="rId39"/>
    <p:sldId id="281" r:id="rId40"/>
    <p:sldId id="297" r:id="rId41"/>
    <p:sldId id="315" r:id="rId42"/>
    <p:sldId id="279" r:id="rId43"/>
    <p:sldId id="321" r:id="rId4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entury Gothic"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entury Gothic"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entury Gothic"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entury Gothic"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entury Gothic" charset="0"/>
        <a:ea typeface="ＭＳ Ｐゴシック" charset="0"/>
        <a:cs typeface="ＭＳ Ｐゴシック" charset="0"/>
      </a:defRPr>
    </a:lvl5pPr>
    <a:lvl6pPr marL="2286000" algn="l" defTabSz="457200" rtl="0" eaLnBrk="1" latinLnBrk="0" hangingPunct="1">
      <a:defRPr kern="1200">
        <a:solidFill>
          <a:schemeClr val="tx1"/>
        </a:solidFill>
        <a:latin typeface="Century Gothic" charset="0"/>
        <a:ea typeface="ＭＳ Ｐゴシック" charset="0"/>
        <a:cs typeface="ＭＳ Ｐゴシック" charset="0"/>
      </a:defRPr>
    </a:lvl6pPr>
    <a:lvl7pPr marL="2743200" algn="l" defTabSz="457200" rtl="0" eaLnBrk="1" latinLnBrk="0" hangingPunct="1">
      <a:defRPr kern="1200">
        <a:solidFill>
          <a:schemeClr val="tx1"/>
        </a:solidFill>
        <a:latin typeface="Century Gothic" charset="0"/>
        <a:ea typeface="ＭＳ Ｐゴシック" charset="0"/>
        <a:cs typeface="ＭＳ Ｐゴシック" charset="0"/>
      </a:defRPr>
    </a:lvl7pPr>
    <a:lvl8pPr marL="3200400" algn="l" defTabSz="457200" rtl="0" eaLnBrk="1" latinLnBrk="0" hangingPunct="1">
      <a:defRPr kern="1200">
        <a:solidFill>
          <a:schemeClr val="tx1"/>
        </a:solidFill>
        <a:latin typeface="Century Gothic" charset="0"/>
        <a:ea typeface="ＭＳ Ｐゴシック" charset="0"/>
        <a:cs typeface="ＭＳ Ｐゴシック" charset="0"/>
      </a:defRPr>
    </a:lvl8pPr>
    <a:lvl9pPr marL="3657600" algn="l" defTabSz="457200" rtl="0" eaLnBrk="1" latinLnBrk="0" hangingPunct="1">
      <a:defRPr kern="1200">
        <a:solidFill>
          <a:schemeClr val="tx1"/>
        </a:solidFill>
        <a:latin typeface="Century Gothic" charset="0"/>
        <a:ea typeface="ＭＳ Ｐゴシック" charset="0"/>
        <a:cs typeface="ＭＳ Ｐゴシック"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804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9" d="100"/>
          <a:sy n="99" d="100"/>
        </p:scale>
        <p:origin x="-408" y="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handoutMaster" Target="handoutMasters/handoutMaster1.xml"/><Relationship Id="rId47" Type="http://schemas.openxmlformats.org/officeDocument/2006/relationships/printerSettings" Target="printerSettings/printerSettings1.bin"/><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3D6FA6C3-894D-9342-858C-89781436E0BA}" type="datetimeFigureOut">
              <a:rPr lang="en-US"/>
              <a:pPr>
                <a:defRPr/>
              </a:pPr>
              <a:t>9/25/14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1C915EBA-7225-EA45-954F-AB711B4338E5}" type="slidenum">
              <a:rPr lang="en-US"/>
              <a:pPr>
                <a:defRPr/>
              </a:pPr>
              <a:t>‹#›</a:t>
            </a:fld>
            <a:endParaRPr lang="en-US"/>
          </a:p>
        </p:txBody>
      </p:sp>
    </p:spTree>
    <p:extLst>
      <p:ext uri="{BB962C8B-B14F-4D97-AF65-F5344CB8AC3E}">
        <p14:creationId xmlns:p14="http://schemas.microsoft.com/office/powerpoint/2010/main" val="19365512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F11027A8-00FB-C24C-8EBA-1EDF84C5EE30}" type="datetimeFigureOut">
              <a:rPr lang="en-US"/>
              <a:pPr>
                <a:defRPr/>
              </a:pPr>
              <a:t>9/25/14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noProof="0" smtClean="0"/>
              <a:t>Click to edit Master text styles</a:t>
            </a:r>
          </a:p>
          <a:p>
            <a:pPr lvl="1"/>
            <a:r>
              <a:rPr lang="x-none" noProof="0" smtClean="0"/>
              <a:t>Second level</a:t>
            </a:r>
          </a:p>
          <a:p>
            <a:pPr lvl="2"/>
            <a:r>
              <a:rPr lang="x-none" noProof="0" smtClean="0"/>
              <a:t>Third level</a:t>
            </a:r>
          </a:p>
          <a:p>
            <a:pPr lvl="3"/>
            <a:r>
              <a:rPr lang="x-none" noProof="0" smtClean="0"/>
              <a:t>Fourth level</a:t>
            </a:r>
          </a:p>
          <a:p>
            <a:pPr lvl="4"/>
            <a:r>
              <a:rPr lang="x-none"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BEB6E1B7-B6E5-514A-9283-C0DC69B17F88}" type="slidenum">
              <a:rPr lang="en-US"/>
              <a:pPr>
                <a:defRPr/>
              </a:pPr>
              <a:t>‹#›</a:t>
            </a:fld>
            <a:endParaRPr lang="en-US"/>
          </a:p>
        </p:txBody>
      </p:sp>
    </p:spTree>
    <p:extLst>
      <p:ext uri="{BB962C8B-B14F-4D97-AF65-F5344CB8AC3E}">
        <p14:creationId xmlns:p14="http://schemas.microsoft.com/office/powerpoint/2010/main" val="2690243513"/>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fontAlgn="base">
      <a:spcBef>
        <a:spcPct val="30000"/>
      </a:spcBef>
      <a:spcAft>
        <a:spcPct val="0"/>
      </a:spcAft>
      <a:defRPr sz="1200" kern="1200">
        <a:solidFill>
          <a:schemeClr val="tx1"/>
        </a:solidFill>
        <a:latin typeface="+mn-lt"/>
        <a:ea typeface="ＭＳ Ｐゴシック" charset="0"/>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0"/>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0"/>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a:t>
            </a:fld>
            <a:endParaRPr lang="en-US">
              <a:latin typeface="Calibri"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a:t>
            </a:fld>
            <a:endParaRPr lang="en-US">
              <a:latin typeface="Calibri"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4</a:t>
            </a:fld>
            <a:endParaRPr lang="en-US">
              <a:latin typeface="Calibri"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5</a:t>
            </a:fld>
            <a:endParaRPr lang="en-US">
              <a:latin typeface="Calibri"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6</a:t>
            </a:fld>
            <a:endParaRPr lang="en-US">
              <a:latin typeface="Calibri"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7</a:t>
            </a:fld>
            <a:endParaRPr lang="en-US">
              <a:latin typeface="Calibri"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8</a:t>
            </a:fld>
            <a:endParaRPr lang="en-US">
              <a:latin typeface="Calibri"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9</a:t>
            </a:fld>
            <a:endParaRPr lang="en-US">
              <a:latin typeface="Calibri"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10</a:t>
            </a:fld>
            <a:endParaRPr lang="en-US">
              <a:latin typeface="Calibri"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11</a:t>
            </a:fld>
            <a:endParaRPr lang="en-US">
              <a:latin typeface="Calibri"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12</a:t>
            </a:fld>
            <a:endParaRPr lang="en-US">
              <a:latin typeface="Calibri"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13</a:t>
            </a:fld>
            <a:endParaRPr lang="en-US">
              <a:latin typeface="Calibri"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14</a:t>
            </a:fld>
            <a:endParaRPr lang="en-US">
              <a:latin typeface="Calibri"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15</a:t>
            </a:fld>
            <a:endParaRPr lang="en-US">
              <a:latin typeface="Calibri"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16</a:t>
            </a:fld>
            <a:endParaRPr lang="en-US">
              <a:latin typeface="Calibri"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17</a:t>
            </a:fld>
            <a:endParaRPr lang="en-US">
              <a:latin typeface="Calibri"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18</a:t>
            </a:fld>
            <a:endParaRPr lang="en-US">
              <a:latin typeface="Calibri"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19</a:t>
            </a:fld>
            <a:endParaRPr lang="en-US">
              <a:latin typeface="Calibri"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20</a:t>
            </a:fld>
            <a:endParaRPr lang="en-US">
              <a:latin typeface="Calibri"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21</a:t>
            </a:fld>
            <a:endParaRPr lang="en-US">
              <a:latin typeface="Calibri"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22</a:t>
            </a:fld>
            <a:endParaRPr lang="en-US">
              <a:latin typeface="Calibri"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23</a:t>
            </a:fld>
            <a:endParaRPr lang="en-US">
              <a:latin typeface="Calibri"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24</a:t>
            </a:fld>
            <a:endParaRPr lang="en-US">
              <a:latin typeface="Calibri"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25</a:t>
            </a:fld>
            <a:endParaRPr lang="en-US">
              <a:latin typeface="Calibri"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26</a:t>
            </a:fld>
            <a:endParaRPr lang="en-US">
              <a:latin typeface="Calibri"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27</a:t>
            </a:fld>
            <a:endParaRPr lang="en-US">
              <a:latin typeface="Calibri"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28</a:t>
            </a:fld>
            <a:endParaRPr lang="en-US">
              <a:latin typeface="Calibri"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29</a:t>
            </a:fld>
            <a:endParaRPr lang="en-US">
              <a:latin typeface="Calibri"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30</a:t>
            </a:fld>
            <a:endParaRPr lang="en-US">
              <a:latin typeface="Calibri"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31</a:t>
            </a:fld>
            <a:endParaRPr lang="en-US">
              <a:latin typeface="Calibri"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32</a:t>
            </a:fld>
            <a:endParaRPr lang="en-US">
              <a:latin typeface="Calibri"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33</a:t>
            </a:fld>
            <a:endParaRPr lang="en-US">
              <a:latin typeface="Calibri"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34</a:t>
            </a:fld>
            <a:endParaRPr lang="en-US">
              <a:latin typeface="Calibri"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35</a:t>
            </a:fld>
            <a:endParaRPr lang="en-US">
              <a:latin typeface="Calibri"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36</a:t>
            </a:fld>
            <a:endParaRPr lang="en-US">
              <a:latin typeface="Calibri"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37</a:t>
            </a:fld>
            <a:endParaRPr lang="en-US">
              <a:latin typeface="Calibri"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38</a:t>
            </a:fld>
            <a:endParaRPr lang="en-US">
              <a:latin typeface="Calibri"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39</a:t>
            </a:fld>
            <a:endParaRPr lang="en-US">
              <a:latin typeface="Calibri"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40</a:t>
            </a:fld>
            <a:endParaRPr lang="en-US">
              <a:latin typeface="Calibri"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41</a:t>
            </a:fld>
            <a:endParaRPr lang="en-US">
              <a:latin typeface="Calibri"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42</a:t>
            </a:fld>
            <a:endParaRPr lang="en-US">
              <a:latin typeface="Calibri"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5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D925DA98-8938-FA4F-B19D-C0BD4794D78C}" type="slidenum">
              <a:rPr lang="en-US">
                <a:latin typeface="Calibri" charset="0"/>
              </a:rPr>
              <a:pPr fontAlgn="base">
                <a:spcBef>
                  <a:spcPct val="0"/>
                </a:spcBef>
                <a:spcAft>
                  <a:spcPct val="0"/>
                </a:spcAft>
              </a:pPr>
              <a:t>43</a:t>
            </a:fld>
            <a:endParaRPr lang="en-US">
              <a:latin typeface="Calibri"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60"/>
          <p:cNvGrpSpPr>
            <a:grpSpLocks/>
          </p:cNvGrpSpPr>
          <p:nvPr/>
        </p:nvGrpSpPr>
        <p:grpSpPr bwMode="auto">
          <a:xfrm>
            <a:off x="-382588" y="0"/>
            <a:ext cx="9932988" cy="6858000"/>
            <a:chOff x="-382404" y="0"/>
            <a:chExt cx="9932332" cy="6858000"/>
          </a:xfrm>
        </p:grpSpPr>
        <p:grpSp>
          <p:nvGrpSpPr>
            <p:cNvPr id="5" name="Group 44"/>
            <p:cNvGrpSpPr>
              <a:grpSpLocks/>
            </p:cNvGrpSpPr>
            <p:nvPr/>
          </p:nvGrpSpPr>
          <p:grpSpPr bwMode="auto">
            <a:xfrm>
              <a:off x="0" y="0"/>
              <a:ext cx="9144000" cy="6858000"/>
              <a:chOff x="0" y="0"/>
              <a:chExt cx="9144000" cy="6858000"/>
            </a:xfrm>
          </p:grpSpPr>
          <p:grpSp>
            <p:nvGrpSpPr>
              <p:cNvPr id="28" name="Group 4"/>
              <p:cNvGrpSpPr>
                <a:grpSpLocks/>
              </p:cNvGrpSpPr>
              <p:nvPr/>
            </p:nvGrpSpPr>
            <p:grpSpPr bwMode="auto">
              <a:xfrm>
                <a:off x="0" y="0"/>
                <a:ext cx="2514600" cy="6858000"/>
                <a:chOff x="0" y="0"/>
                <a:chExt cx="2514600" cy="6858000"/>
              </a:xfrm>
            </p:grpSpPr>
            <p:sp>
              <p:nvSpPr>
                <p:cNvPr id="40" name="Rectangle 39"/>
                <p:cNvSpPr/>
                <p:nvPr/>
              </p:nvSpPr>
              <p:spPr>
                <a:xfrm>
                  <a:off x="914499"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1" name="Rectangle 2"/>
                <p:cNvSpPr/>
                <p:nvPr/>
              </p:nvSpPr>
              <p:spPr>
                <a:xfrm>
                  <a:off x="159"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2" name="Rectangle 3"/>
                <p:cNvSpPr/>
                <p:nvPr/>
              </p:nvSpPr>
              <p:spPr>
                <a:xfrm>
                  <a:off x="228744"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29" name="Group 5"/>
              <p:cNvGrpSpPr>
                <a:grpSpLocks/>
              </p:cNvGrpSpPr>
              <p:nvPr/>
            </p:nvGrpSpPr>
            <p:grpSpPr bwMode="auto">
              <a:xfrm>
                <a:off x="422910" y="0"/>
                <a:ext cx="2514600" cy="6858000"/>
                <a:chOff x="0" y="0"/>
                <a:chExt cx="2514600" cy="6858000"/>
              </a:xfrm>
            </p:grpSpPr>
            <p:sp>
              <p:nvSpPr>
                <p:cNvPr id="37" name="Rectangle 36"/>
                <p:cNvSpPr/>
                <p:nvPr/>
              </p:nvSpPr>
              <p:spPr>
                <a:xfrm>
                  <a:off x="913836"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8" name="Rectangle 37"/>
                <p:cNvSpPr/>
                <p:nvPr/>
              </p:nvSpPr>
              <p:spPr>
                <a:xfrm>
                  <a:off x="-504"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a:xfrm>
                  <a:off x="228081"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30" name="Group 9"/>
              <p:cNvGrpSpPr>
                <a:grpSpLocks/>
              </p:cNvGrpSpPr>
              <p:nvPr/>
            </p:nvGrpSpPr>
            <p:grpSpPr bwMode="auto">
              <a:xfrm rot="10800000">
                <a:off x="6629400" y="0"/>
                <a:ext cx="2514600" cy="6858000"/>
                <a:chOff x="0" y="0"/>
                <a:chExt cx="2514600" cy="6858000"/>
              </a:xfrm>
            </p:grpSpPr>
            <p:sp>
              <p:nvSpPr>
                <p:cNvPr id="34" name="Rectangle 33"/>
                <p:cNvSpPr/>
                <p:nvPr/>
              </p:nvSpPr>
              <p:spPr>
                <a:xfrm>
                  <a:off x="916372" y="1587"/>
                  <a:ext cx="1600094"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a:off x="2032" y="1587"/>
                  <a:ext cx="45717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 name="Rectangle 35"/>
                <p:cNvSpPr/>
                <p:nvPr/>
              </p:nvSpPr>
              <p:spPr>
                <a:xfrm>
                  <a:off x="230617" y="1587"/>
                  <a:ext cx="76195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1" name="Rectangle 30"/>
              <p:cNvSpPr/>
              <p:nvPr/>
            </p:nvSpPr>
            <p:spPr>
              <a:xfrm>
                <a:off x="3809907" y="0"/>
                <a:ext cx="281921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a:off x="2895568"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a:off x="3124153"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6" name="Freeform 5"/>
            <p:cNvSpPr/>
            <p:nvPr/>
          </p:nvSpPr>
          <p:spPr>
            <a:xfrm>
              <a:off x="-12540" y="5035550"/>
              <a:ext cx="9144984" cy="1174750"/>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7" name="Freeform 6"/>
            <p:cNvSpPr/>
            <p:nvPr/>
          </p:nvSpPr>
          <p:spPr>
            <a:xfrm>
              <a:off x="-12540" y="3467100"/>
              <a:ext cx="9144984" cy="890588"/>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8" name="Freeform 7"/>
            <p:cNvSpPr/>
            <p:nvPr/>
          </p:nvSpPr>
          <p:spPr>
            <a:xfrm>
              <a:off x="-23653" y="5640388"/>
              <a:ext cx="3004940" cy="1211262"/>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9" name="Freeform 8"/>
            <p:cNvSpPr/>
            <p:nvPr/>
          </p:nvSpPr>
          <p:spPr>
            <a:xfrm>
              <a:off x="-12540" y="5284788"/>
              <a:ext cx="9144984" cy="1477962"/>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0" name="Freeform 9"/>
            <p:cNvSpPr/>
            <p:nvPr/>
          </p:nvSpPr>
          <p:spPr>
            <a:xfrm>
              <a:off x="2136793" y="5132388"/>
              <a:ext cx="6982952" cy="171926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1" name="Hexagon 10"/>
            <p:cNvSpPr/>
            <p:nvPr/>
          </p:nvSpPr>
          <p:spPr>
            <a:xfrm rot="1800000">
              <a:off x="2995574" y="2859088"/>
              <a:ext cx="1601681"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Hexagon 11"/>
            <p:cNvSpPr/>
            <p:nvPr/>
          </p:nvSpPr>
          <p:spPr>
            <a:xfrm rot="1800000">
              <a:off x="3719426" y="412591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Hexagon 12"/>
            <p:cNvSpPr/>
            <p:nvPr/>
          </p:nvSpPr>
          <p:spPr>
            <a:xfrm rot="1800000">
              <a:off x="3728950" y="1592263"/>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Hexagon 13"/>
            <p:cNvSpPr/>
            <p:nvPr/>
          </p:nvSpPr>
          <p:spPr>
            <a:xfrm rot="1800000">
              <a:off x="2976525" y="325438"/>
              <a:ext cx="1601681" cy="1389062"/>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Hexagon 14"/>
            <p:cNvSpPr/>
            <p:nvPr/>
          </p:nvSpPr>
          <p:spPr>
            <a:xfrm rot="1800000">
              <a:off x="4462327" y="5383213"/>
              <a:ext cx="1601681" cy="1389062"/>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Freeform 15"/>
            <p:cNvSpPr/>
            <p:nvPr/>
          </p:nvSpPr>
          <p:spPr>
            <a:xfrm rot="1800000">
              <a:off x="-382404" y="4202113"/>
              <a:ext cx="1261980"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Hexagon 16"/>
            <p:cNvSpPr/>
            <p:nvPr/>
          </p:nvSpPr>
          <p:spPr>
            <a:xfrm rot="1800000">
              <a:off x="23970" y="540226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Hexagon 17"/>
            <p:cNvSpPr/>
            <p:nvPr/>
          </p:nvSpPr>
          <p:spPr>
            <a:xfrm rot="1800000">
              <a:off x="52543" y="2849563"/>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Hexagon 18"/>
            <p:cNvSpPr/>
            <p:nvPr/>
          </p:nvSpPr>
          <p:spPr>
            <a:xfrm rot="1800000">
              <a:off x="776395" y="412591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Hexagon 19"/>
            <p:cNvSpPr/>
            <p:nvPr/>
          </p:nvSpPr>
          <p:spPr>
            <a:xfrm rot="1800000">
              <a:off x="1509772" y="5411788"/>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Hexagon 20"/>
            <p:cNvSpPr/>
            <p:nvPr/>
          </p:nvSpPr>
          <p:spPr>
            <a:xfrm rot="1800000">
              <a:off x="1528821" y="2859088"/>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Hexagon 21"/>
            <p:cNvSpPr/>
            <p:nvPr/>
          </p:nvSpPr>
          <p:spPr>
            <a:xfrm rot="1800000">
              <a:off x="795444" y="1563688"/>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Hexagon 22"/>
            <p:cNvSpPr/>
            <p:nvPr/>
          </p:nvSpPr>
          <p:spPr>
            <a:xfrm rot="1800000">
              <a:off x="6806909" y="4144963"/>
              <a:ext cx="1600094"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 name="Hexagon 23"/>
            <p:cNvSpPr/>
            <p:nvPr/>
          </p:nvSpPr>
          <p:spPr>
            <a:xfrm rot="1800000">
              <a:off x="7549810" y="5421313"/>
              <a:ext cx="1600094"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Hexagon 24"/>
            <p:cNvSpPr/>
            <p:nvPr/>
          </p:nvSpPr>
          <p:spPr>
            <a:xfrm rot="1800000">
              <a:off x="7549810" y="2868613"/>
              <a:ext cx="1600094"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6" name="Freeform 25"/>
            <p:cNvSpPr/>
            <p:nvPr/>
          </p:nvSpPr>
          <p:spPr>
            <a:xfrm rot="1800000">
              <a:off x="8306998" y="4056063"/>
              <a:ext cx="1242930"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7" name="Freeform 26"/>
            <p:cNvSpPr/>
            <p:nvPr/>
          </p:nvSpPr>
          <p:spPr>
            <a:xfrm rot="1800000">
              <a:off x="8306998" y="1511300"/>
              <a:ext cx="1241343" cy="1389063"/>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43" name="Rectangle 42"/>
          <p:cNvSpPr/>
          <p:nvPr/>
        </p:nvSpPr>
        <p:spPr>
          <a:xfrm>
            <a:off x="4560888" y="-22225"/>
            <a:ext cx="3679825" cy="6272213"/>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4" name="Rectangle 43"/>
          <p:cNvSpPr/>
          <p:nvPr/>
        </p:nvSpPr>
        <p:spPr>
          <a:xfrm>
            <a:off x="4649788" y="-22225"/>
            <a:ext cx="3505200" cy="23129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5" name="Rectangle 44"/>
          <p:cNvSpPr/>
          <p:nvPr/>
        </p:nvSpPr>
        <p:spPr>
          <a:xfrm>
            <a:off x="4651375" y="6088063"/>
            <a:ext cx="3505200" cy="82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6" name="Rectangle 45"/>
          <p:cNvSpPr/>
          <p:nvPr/>
        </p:nvSpPr>
        <p:spPr>
          <a:xfrm>
            <a:off x="4651375" y="6088063"/>
            <a:ext cx="3505200" cy="82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x-none"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smtClean="0"/>
              <a:t>Click to edit Master subtitle style</a:t>
            </a:r>
            <a:endParaRPr lang="en-US" dirty="0"/>
          </a:p>
        </p:txBody>
      </p:sp>
      <p:sp>
        <p:nvSpPr>
          <p:cNvPr id="47" name="Date Placeholder 3"/>
          <p:cNvSpPr>
            <a:spLocks noGrp="1"/>
          </p:cNvSpPr>
          <p:nvPr>
            <p:ph type="dt" sz="half" idx="10"/>
          </p:nvPr>
        </p:nvSpPr>
        <p:spPr>
          <a:xfrm>
            <a:off x="4738688" y="1516063"/>
            <a:ext cx="2133600" cy="752475"/>
          </a:xfrm>
        </p:spPr>
        <p:txBody>
          <a:bodyPr anchor="b"/>
          <a:lstStyle>
            <a:lvl1pPr algn="l">
              <a:defRPr sz="2400" smtClean="0"/>
            </a:lvl1pPr>
          </a:lstStyle>
          <a:p>
            <a:pPr>
              <a:defRPr/>
            </a:pPr>
            <a:fld id="{6655137A-6FB0-1C4E-94C3-267D0A594E98}" type="datetime4">
              <a:rPr lang="en-US"/>
              <a:pPr>
                <a:defRPr/>
              </a:pPr>
              <a:t>September 25, 2014</a:t>
            </a:fld>
            <a:endParaRPr lang="en-US" dirty="0"/>
          </a:p>
        </p:txBody>
      </p:sp>
      <p:sp>
        <p:nvSpPr>
          <p:cNvPr id="48" name="Footer Placeholder 4"/>
          <p:cNvSpPr>
            <a:spLocks noGrp="1"/>
          </p:cNvSpPr>
          <p:nvPr>
            <p:ph type="ftr" sz="quarter" idx="11"/>
          </p:nvPr>
        </p:nvSpPr>
        <p:spPr>
          <a:xfrm>
            <a:off x="5303838" y="5719763"/>
            <a:ext cx="2830512" cy="365125"/>
          </a:xfrm>
        </p:spPr>
        <p:txBody>
          <a:bodyPr>
            <a:normAutofit/>
          </a:bodyPr>
          <a:lstStyle>
            <a:lvl1pPr>
              <a:defRPr dirty="0">
                <a:solidFill>
                  <a:schemeClr val="accent1"/>
                </a:solidFill>
              </a:defRPr>
            </a:lvl1pPr>
          </a:lstStyle>
          <a:p>
            <a:pPr>
              <a:defRPr/>
            </a:pPr>
            <a:endParaRPr lang="en-US"/>
          </a:p>
        </p:txBody>
      </p:sp>
      <p:sp>
        <p:nvSpPr>
          <p:cNvPr id="49" name="Slide Number Placeholder 5"/>
          <p:cNvSpPr>
            <a:spLocks noGrp="1"/>
          </p:cNvSpPr>
          <p:nvPr>
            <p:ph type="sldNum" sz="quarter" idx="12"/>
          </p:nvPr>
        </p:nvSpPr>
        <p:spPr>
          <a:xfrm>
            <a:off x="4649788" y="5719763"/>
            <a:ext cx="642937" cy="365125"/>
          </a:xfrm>
        </p:spPr>
        <p:txBody>
          <a:bodyPr/>
          <a:lstStyle>
            <a:lvl1pPr>
              <a:defRPr smtClean="0">
                <a:solidFill>
                  <a:schemeClr val="accent1"/>
                </a:solidFill>
              </a:defRPr>
            </a:lvl1pPr>
          </a:lstStyle>
          <a:p>
            <a:pPr>
              <a:defRPr/>
            </a:pPr>
            <a:fld id="{C8AB3673-7F39-5843-8E75-30B1437A0E6E}" type="slidenum">
              <a:rPr lang="en-US"/>
              <a:pPr>
                <a:defRPr/>
              </a:pPr>
              <a:t>‹#›</a:t>
            </a:fld>
            <a:endParaRPr lang="en-US" dirty="0"/>
          </a:p>
        </p:txBody>
      </p:sp>
    </p:spTree>
    <p:extLst>
      <p:ext uri="{BB962C8B-B14F-4D97-AF65-F5344CB8AC3E}">
        <p14:creationId xmlns:p14="http://schemas.microsoft.com/office/powerpoint/2010/main" val="1213629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Content Placeholder 2"/>
          <p:cNvSpPr>
            <a:spLocks noGrp="1"/>
          </p:cNvSpPr>
          <p:nvPr>
            <p:ph idx="1"/>
          </p:nvPr>
        </p:nvSpPr>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CF16100-0000-9F4B-9427-59A4B6C5F6E8}" type="datetime4">
              <a:rPr lang="en-US"/>
              <a:pPr>
                <a:defRPr/>
              </a:pPr>
              <a:t>September 25, 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3115C37-9862-4A4D-8ED0-DA94B4E9ED92}" type="slidenum">
              <a:rPr lang="en-US"/>
              <a:pPr>
                <a:defRPr/>
              </a:pPr>
              <a:t>‹#›</a:t>
            </a:fld>
            <a:endParaRPr lang="en-US"/>
          </a:p>
        </p:txBody>
      </p:sp>
    </p:spTree>
    <p:extLst>
      <p:ext uri="{BB962C8B-B14F-4D97-AF65-F5344CB8AC3E}">
        <p14:creationId xmlns:p14="http://schemas.microsoft.com/office/powerpoint/2010/main" val="84870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lstStyle>
            <a:lvl1pPr algn="l">
              <a:defRPr sz="4000" b="0" cap="none" baseline="0"/>
            </a:lvl1pPr>
          </a:lstStyle>
          <a:p>
            <a:r>
              <a:rPr lang="x-none"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C08E6BC0-9B5A-E141-AC34-D53ED23DCC8B}" type="datetime4">
              <a:rPr lang="en-US"/>
              <a:pPr>
                <a:defRPr/>
              </a:pPr>
              <a:t>September 25, 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BF6B77E-877A-634E-8367-933DCBBB0CF0}" type="slidenum">
              <a:rPr lang="en-US"/>
              <a:pPr>
                <a:defRPr/>
              </a:pPr>
              <a:t>‹#›</a:t>
            </a:fld>
            <a:endParaRPr lang="en-US"/>
          </a:p>
        </p:txBody>
      </p:sp>
    </p:spTree>
    <p:extLst>
      <p:ext uri="{BB962C8B-B14F-4D97-AF65-F5344CB8AC3E}">
        <p14:creationId xmlns:p14="http://schemas.microsoft.com/office/powerpoint/2010/main" val="513680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5" name="Date Placeholder 3"/>
          <p:cNvSpPr>
            <a:spLocks noGrp="1"/>
          </p:cNvSpPr>
          <p:nvPr>
            <p:ph type="dt" sz="half" idx="15"/>
          </p:nvPr>
        </p:nvSpPr>
        <p:spPr/>
        <p:txBody>
          <a:bodyPr/>
          <a:lstStyle>
            <a:lvl1pPr>
              <a:defRPr/>
            </a:lvl1pPr>
          </a:lstStyle>
          <a:p>
            <a:pPr>
              <a:defRPr/>
            </a:pPr>
            <a:fld id="{C2D4F12F-EAF1-5D4C-880F-775AA42497DD}" type="datetime4">
              <a:rPr lang="en-US"/>
              <a:pPr>
                <a:defRPr/>
              </a:pPr>
              <a:t>September 25, 2014</a:t>
            </a:fld>
            <a:endParaRPr lang="en-US"/>
          </a:p>
        </p:txBody>
      </p:sp>
      <p:sp>
        <p:nvSpPr>
          <p:cNvPr id="6" name="Footer Placeholder 4"/>
          <p:cNvSpPr>
            <a:spLocks noGrp="1"/>
          </p:cNvSpPr>
          <p:nvPr>
            <p:ph type="ftr" sz="quarter" idx="16"/>
          </p:nvPr>
        </p:nvSpPr>
        <p:spPr/>
        <p:txBody>
          <a:bodyPr/>
          <a:lstStyle>
            <a:lvl1pPr>
              <a:defRPr/>
            </a:lvl1pPr>
          </a:lstStyle>
          <a:p>
            <a:pPr>
              <a:defRPr/>
            </a:pPr>
            <a:endParaRPr lang="en-US"/>
          </a:p>
        </p:txBody>
      </p:sp>
      <p:sp>
        <p:nvSpPr>
          <p:cNvPr id="7" name="Slide Number Placeholder 5"/>
          <p:cNvSpPr>
            <a:spLocks noGrp="1"/>
          </p:cNvSpPr>
          <p:nvPr>
            <p:ph type="sldNum" sz="quarter" idx="17"/>
          </p:nvPr>
        </p:nvSpPr>
        <p:spPr/>
        <p:txBody>
          <a:bodyPr/>
          <a:lstStyle>
            <a:lvl1pPr>
              <a:defRPr/>
            </a:lvl1pPr>
          </a:lstStyle>
          <a:p>
            <a:pPr>
              <a:defRPr/>
            </a:pPr>
            <a:fld id="{E4934F99-59E1-674F-B576-6D449172EE34}" type="slidenum">
              <a:rPr lang="en-US"/>
              <a:pPr>
                <a:defRPr/>
              </a:pPr>
              <a:t>‹#›</a:t>
            </a:fld>
            <a:endParaRPr lang="en-US"/>
          </a:p>
        </p:txBody>
      </p:sp>
    </p:spTree>
    <p:extLst>
      <p:ext uri="{BB962C8B-B14F-4D97-AF65-F5344CB8AC3E}">
        <p14:creationId xmlns:p14="http://schemas.microsoft.com/office/powerpoint/2010/main" val="1999960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AFCA0580-2F88-7044-9CC5-C84EE5CA0F77}" type="datetime4">
              <a:rPr lang="en-US"/>
              <a:pPr>
                <a:defRPr/>
              </a:pPr>
              <a:t>September 25, 2014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D650751-79D9-1344-AD3D-FA20E34824CC}" type="slidenum">
              <a:rPr lang="en-US"/>
              <a:pPr>
                <a:defRPr/>
              </a:pPr>
              <a:t>‹#›</a:t>
            </a:fld>
            <a:endParaRPr lang="en-US"/>
          </a:p>
        </p:txBody>
      </p:sp>
    </p:spTree>
    <p:extLst>
      <p:ext uri="{BB962C8B-B14F-4D97-AF65-F5344CB8AC3E}">
        <p14:creationId xmlns:p14="http://schemas.microsoft.com/office/powerpoint/2010/main" val="3992893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8A403FB-6F30-AC4D-8EDB-8F62E14D9E80}" type="datetime4">
              <a:rPr lang="en-US"/>
              <a:pPr>
                <a:defRPr/>
              </a:pPr>
              <a:t>September 25, 2014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2468FC7C-C76F-7B4C-A7EE-E50F65313949}" type="slidenum">
              <a:rPr lang="en-US"/>
              <a:pPr>
                <a:defRPr/>
              </a:pPr>
              <a:t>‹#›</a:t>
            </a:fld>
            <a:endParaRPr lang="en-US"/>
          </a:p>
        </p:txBody>
      </p:sp>
    </p:spTree>
    <p:extLst>
      <p:ext uri="{BB962C8B-B14F-4D97-AF65-F5344CB8AC3E}">
        <p14:creationId xmlns:p14="http://schemas.microsoft.com/office/powerpoint/2010/main" val="3457245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F08429B-D636-EC4D-85FC-9BD3CD488279}" type="datetime4">
              <a:rPr lang="en-US"/>
              <a:pPr>
                <a:defRPr/>
              </a:pPr>
              <a:t>September 25, 2014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85C0BBE-D4FC-4844-8BE2-FB25DC1A1ADE}" type="slidenum">
              <a:rPr lang="en-US"/>
              <a:pPr>
                <a:defRPr/>
              </a:pPr>
              <a:t>‹#›</a:t>
            </a:fld>
            <a:endParaRPr lang="en-US"/>
          </a:p>
        </p:txBody>
      </p:sp>
    </p:spTree>
    <p:extLst>
      <p:ext uri="{BB962C8B-B14F-4D97-AF65-F5344CB8AC3E}">
        <p14:creationId xmlns:p14="http://schemas.microsoft.com/office/powerpoint/2010/main" val="1667995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5" name="Group 60"/>
          <p:cNvGrpSpPr>
            <a:grpSpLocks/>
          </p:cNvGrpSpPr>
          <p:nvPr/>
        </p:nvGrpSpPr>
        <p:grpSpPr bwMode="auto">
          <a:xfrm>
            <a:off x="-382588" y="0"/>
            <a:ext cx="9932988" cy="6858000"/>
            <a:chOff x="-382404" y="0"/>
            <a:chExt cx="9932332" cy="6858000"/>
          </a:xfrm>
        </p:grpSpPr>
        <p:grpSp>
          <p:nvGrpSpPr>
            <p:cNvPr id="6" name="Group 61"/>
            <p:cNvGrpSpPr>
              <a:grpSpLocks/>
            </p:cNvGrpSpPr>
            <p:nvPr/>
          </p:nvGrpSpPr>
          <p:grpSpPr bwMode="auto">
            <a:xfrm>
              <a:off x="0" y="0"/>
              <a:ext cx="9144000" cy="6858000"/>
              <a:chOff x="0" y="0"/>
              <a:chExt cx="9144000" cy="6858000"/>
            </a:xfrm>
          </p:grpSpPr>
          <p:grpSp>
            <p:nvGrpSpPr>
              <p:cNvPr id="29" name="Group 4"/>
              <p:cNvGrpSpPr>
                <a:grpSpLocks/>
              </p:cNvGrpSpPr>
              <p:nvPr/>
            </p:nvGrpSpPr>
            <p:grpSpPr bwMode="auto">
              <a:xfrm>
                <a:off x="0" y="0"/>
                <a:ext cx="2514600" cy="6858000"/>
                <a:chOff x="0" y="0"/>
                <a:chExt cx="2514600" cy="6858000"/>
              </a:xfrm>
            </p:grpSpPr>
            <p:sp>
              <p:nvSpPr>
                <p:cNvPr id="41" name="Rectangle 40"/>
                <p:cNvSpPr/>
                <p:nvPr/>
              </p:nvSpPr>
              <p:spPr>
                <a:xfrm>
                  <a:off x="914499"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2" name="Rectangle 2"/>
                <p:cNvSpPr/>
                <p:nvPr/>
              </p:nvSpPr>
              <p:spPr>
                <a:xfrm>
                  <a:off x="159"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3" name="Rectangle 3"/>
                <p:cNvSpPr/>
                <p:nvPr/>
              </p:nvSpPr>
              <p:spPr>
                <a:xfrm>
                  <a:off x="228744"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30" name="Group 5"/>
              <p:cNvGrpSpPr>
                <a:grpSpLocks/>
              </p:cNvGrpSpPr>
              <p:nvPr/>
            </p:nvGrpSpPr>
            <p:grpSpPr bwMode="auto">
              <a:xfrm>
                <a:off x="422910" y="0"/>
                <a:ext cx="2514600" cy="6858000"/>
                <a:chOff x="0" y="0"/>
                <a:chExt cx="2514600" cy="6858000"/>
              </a:xfrm>
            </p:grpSpPr>
            <p:sp>
              <p:nvSpPr>
                <p:cNvPr id="38" name="Rectangle 37"/>
                <p:cNvSpPr/>
                <p:nvPr/>
              </p:nvSpPr>
              <p:spPr>
                <a:xfrm>
                  <a:off x="913836"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a:xfrm>
                  <a:off x="-504"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 name="Rectangle 39"/>
                <p:cNvSpPr/>
                <p:nvPr/>
              </p:nvSpPr>
              <p:spPr>
                <a:xfrm>
                  <a:off x="228081"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31" name="Group 9"/>
              <p:cNvGrpSpPr>
                <a:grpSpLocks/>
              </p:cNvGrpSpPr>
              <p:nvPr/>
            </p:nvGrpSpPr>
            <p:grpSpPr bwMode="auto">
              <a:xfrm rot="10800000">
                <a:off x="6629400" y="0"/>
                <a:ext cx="2514600" cy="6858000"/>
                <a:chOff x="0" y="0"/>
                <a:chExt cx="2514600" cy="6858000"/>
              </a:xfrm>
            </p:grpSpPr>
            <p:sp>
              <p:nvSpPr>
                <p:cNvPr id="35" name="Rectangle 34"/>
                <p:cNvSpPr/>
                <p:nvPr/>
              </p:nvSpPr>
              <p:spPr>
                <a:xfrm>
                  <a:off x="916372" y="1587"/>
                  <a:ext cx="1600094"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 name="Rectangle 35"/>
                <p:cNvSpPr/>
                <p:nvPr/>
              </p:nvSpPr>
              <p:spPr>
                <a:xfrm>
                  <a:off x="2032" y="1587"/>
                  <a:ext cx="45717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7" name="Rectangle 36"/>
                <p:cNvSpPr/>
                <p:nvPr/>
              </p:nvSpPr>
              <p:spPr>
                <a:xfrm>
                  <a:off x="230617" y="1587"/>
                  <a:ext cx="76195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2" name="Rectangle 31"/>
              <p:cNvSpPr/>
              <p:nvPr/>
            </p:nvSpPr>
            <p:spPr>
              <a:xfrm>
                <a:off x="3809907" y="0"/>
                <a:ext cx="281921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a:off x="2895568"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Rectangle 33"/>
              <p:cNvSpPr/>
              <p:nvPr/>
            </p:nvSpPr>
            <p:spPr>
              <a:xfrm>
                <a:off x="3124153"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7" name="Freeform 6"/>
            <p:cNvSpPr/>
            <p:nvPr/>
          </p:nvSpPr>
          <p:spPr>
            <a:xfrm>
              <a:off x="-12540" y="5035550"/>
              <a:ext cx="9144984" cy="1174750"/>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8" name="Freeform 7"/>
            <p:cNvSpPr/>
            <p:nvPr/>
          </p:nvSpPr>
          <p:spPr>
            <a:xfrm>
              <a:off x="-12540" y="3467100"/>
              <a:ext cx="9144984" cy="890588"/>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9" name="Freeform 8"/>
            <p:cNvSpPr/>
            <p:nvPr/>
          </p:nvSpPr>
          <p:spPr>
            <a:xfrm>
              <a:off x="-23653" y="5640388"/>
              <a:ext cx="3004940" cy="1211262"/>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0" name="Freeform 9"/>
            <p:cNvSpPr/>
            <p:nvPr/>
          </p:nvSpPr>
          <p:spPr>
            <a:xfrm>
              <a:off x="-12540" y="5284788"/>
              <a:ext cx="9144984" cy="1477962"/>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1" name="Freeform 10"/>
            <p:cNvSpPr/>
            <p:nvPr/>
          </p:nvSpPr>
          <p:spPr>
            <a:xfrm>
              <a:off x="2136793" y="5132388"/>
              <a:ext cx="6982952" cy="171926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2" name="Hexagon 11"/>
            <p:cNvSpPr/>
            <p:nvPr/>
          </p:nvSpPr>
          <p:spPr>
            <a:xfrm rot="1800000">
              <a:off x="2995574" y="2859088"/>
              <a:ext cx="1601681"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Hexagon 12"/>
            <p:cNvSpPr/>
            <p:nvPr/>
          </p:nvSpPr>
          <p:spPr>
            <a:xfrm rot="1800000">
              <a:off x="3719426" y="412591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Hexagon 13"/>
            <p:cNvSpPr/>
            <p:nvPr/>
          </p:nvSpPr>
          <p:spPr>
            <a:xfrm rot="1800000">
              <a:off x="3728950" y="1592263"/>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Hexagon 14"/>
            <p:cNvSpPr/>
            <p:nvPr/>
          </p:nvSpPr>
          <p:spPr>
            <a:xfrm rot="1800000">
              <a:off x="2976525" y="325438"/>
              <a:ext cx="1601681" cy="1389062"/>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Hexagon 15"/>
            <p:cNvSpPr/>
            <p:nvPr/>
          </p:nvSpPr>
          <p:spPr>
            <a:xfrm rot="1800000">
              <a:off x="4462327" y="5383213"/>
              <a:ext cx="1601681" cy="1389062"/>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Freeform 16"/>
            <p:cNvSpPr/>
            <p:nvPr/>
          </p:nvSpPr>
          <p:spPr>
            <a:xfrm rot="1800000">
              <a:off x="-382404" y="4202113"/>
              <a:ext cx="1261980"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Hexagon 17"/>
            <p:cNvSpPr/>
            <p:nvPr/>
          </p:nvSpPr>
          <p:spPr>
            <a:xfrm rot="1800000">
              <a:off x="23970" y="540226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Hexagon 18"/>
            <p:cNvSpPr/>
            <p:nvPr/>
          </p:nvSpPr>
          <p:spPr>
            <a:xfrm rot="1800000">
              <a:off x="52543" y="2849563"/>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Hexagon 19"/>
            <p:cNvSpPr/>
            <p:nvPr/>
          </p:nvSpPr>
          <p:spPr>
            <a:xfrm rot="1800000">
              <a:off x="776395" y="412591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Hexagon 20"/>
            <p:cNvSpPr/>
            <p:nvPr/>
          </p:nvSpPr>
          <p:spPr>
            <a:xfrm rot="1800000">
              <a:off x="1509772" y="5411788"/>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Hexagon 21"/>
            <p:cNvSpPr/>
            <p:nvPr/>
          </p:nvSpPr>
          <p:spPr>
            <a:xfrm rot="1800000">
              <a:off x="1528821" y="2859088"/>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Hexagon 22"/>
            <p:cNvSpPr/>
            <p:nvPr/>
          </p:nvSpPr>
          <p:spPr>
            <a:xfrm rot="1800000">
              <a:off x="795444" y="1563688"/>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 name="Hexagon 23"/>
            <p:cNvSpPr/>
            <p:nvPr/>
          </p:nvSpPr>
          <p:spPr>
            <a:xfrm rot="1800000">
              <a:off x="6806909" y="4144963"/>
              <a:ext cx="1600094"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Hexagon 24"/>
            <p:cNvSpPr/>
            <p:nvPr/>
          </p:nvSpPr>
          <p:spPr>
            <a:xfrm rot="1800000">
              <a:off x="7549810" y="5421313"/>
              <a:ext cx="1600094"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6" name="Hexagon 25"/>
            <p:cNvSpPr/>
            <p:nvPr/>
          </p:nvSpPr>
          <p:spPr>
            <a:xfrm rot="1800000">
              <a:off x="7549810" y="2868613"/>
              <a:ext cx="1600094"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7" name="Freeform 26"/>
            <p:cNvSpPr/>
            <p:nvPr/>
          </p:nvSpPr>
          <p:spPr>
            <a:xfrm rot="1800000">
              <a:off x="8306998" y="4056063"/>
              <a:ext cx="1242930"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8" name="Freeform 27"/>
            <p:cNvSpPr/>
            <p:nvPr/>
          </p:nvSpPr>
          <p:spPr>
            <a:xfrm rot="1800000">
              <a:off x="8306998" y="1511300"/>
              <a:ext cx="1241343" cy="1389063"/>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44" name="Rectangle 43"/>
          <p:cNvSpPr/>
          <p:nvPr/>
        </p:nvSpPr>
        <p:spPr>
          <a:xfrm>
            <a:off x="4560888" y="-22225"/>
            <a:ext cx="3679825" cy="6272213"/>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5" name="Rectangle 44"/>
          <p:cNvSpPr/>
          <p:nvPr/>
        </p:nvSpPr>
        <p:spPr>
          <a:xfrm>
            <a:off x="4649788" y="-22225"/>
            <a:ext cx="3505200" cy="6238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6" name="Rectangle 45"/>
          <p:cNvSpPr/>
          <p:nvPr/>
        </p:nvSpPr>
        <p:spPr>
          <a:xfrm>
            <a:off x="904875" y="601663"/>
            <a:ext cx="3562350" cy="564832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7" name="Rectangle 46"/>
          <p:cNvSpPr/>
          <p:nvPr/>
        </p:nvSpPr>
        <p:spPr>
          <a:xfrm>
            <a:off x="4651375" y="6088063"/>
            <a:ext cx="3505200" cy="82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2" name="Title 1"/>
          <p:cNvSpPr>
            <a:spLocks noGrp="1"/>
          </p:cNvSpPr>
          <p:nvPr>
            <p:ph type="title"/>
          </p:nvPr>
        </p:nvSpPr>
        <p:spPr>
          <a:xfrm>
            <a:off x="4739833" y="2657434"/>
            <a:ext cx="3304572" cy="1463153"/>
          </a:xfrm>
        </p:spPr>
        <p:txBody>
          <a:bodyPr>
            <a:normAutofit/>
          </a:bodyPr>
          <a:lstStyle>
            <a:lvl1pPr algn="l">
              <a:defRPr sz="2800" b="0"/>
            </a:lvl1pPr>
          </a:lstStyle>
          <a:p>
            <a:r>
              <a:rPr lang="x-none"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48" name="Date Placeholder 4"/>
          <p:cNvSpPr>
            <a:spLocks noGrp="1"/>
          </p:cNvSpPr>
          <p:nvPr>
            <p:ph type="dt" sz="half" idx="10"/>
          </p:nvPr>
        </p:nvSpPr>
        <p:spPr/>
        <p:txBody>
          <a:bodyPr/>
          <a:lstStyle>
            <a:lvl1pPr>
              <a:defRPr/>
            </a:lvl1pPr>
          </a:lstStyle>
          <a:p>
            <a:pPr>
              <a:defRPr/>
            </a:pPr>
            <a:fld id="{4BCFDE1A-A3B7-4942-8E99-F13B05783BF1}" type="datetime4">
              <a:rPr lang="en-US"/>
              <a:pPr>
                <a:defRPr/>
              </a:pPr>
              <a:t>September 25, 2014</a:t>
            </a:fld>
            <a:endParaRPr lang="en-US"/>
          </a:p>
        </p:txBody>
      </p:sp>
      <p:sp>
        <p:nvSpPr>
          <p:cNvPr id="49" name="Slide Number Placeholder 6"/>
          <p:cNvSpPr>
            <a:spLocks noGrp="1"/>
          </p:cNvSpPr>
          <p:nvPr>
            <p:ph type="sldNum" sz="quarter" idx="11"/>
          </p:nvPr>
        </p:nvSpPr>
        <p:spPr/>
        <p:txBody>
          <a:bodyPr/>
          <a:lstStyle>
            <a:lvl1pPr>
              <a:defRPr/>
            </a:lvl1pPr>
          </a:lstStyle>
          <a:p>
            <a:pPr>
              <a:defRPr/>
            </a:pPr>
            <a:fld id="{785198C8-ACE9-D74A-862F-4CCA0EB14A8D}" type="slidenum">
              <a:rPr lang="en-US"/>
              <a:pPr>
                <a:defRPr/>
              </a:pPr>
              <a:t>‹#›</a:t>
            </a:fld>
            <a:endParaRPr lang="en-US"/>
          </a:p>
        </p:txBody>
      </p:sp>
      <p:sp>
        <p:nvSpPr>
          <p:cNvPr id="50" name="Footer Placeholder 5"/>
          <p:cNvSpPr>
            <a:spLocks noGrp="1"/>
          </p:cNvSpPr>
          <p:nvPr>
            <p:ph type="ftr" sz="quarter" idx="12"/>
          </p:nvPr>
        </p:nvSpPr>
        <p:spPr>
          <a:xfrm>
            <a:off x="4641850" y="5724525"/>
            <a:ext cx="3492500" cy="365125"/>
          </a:xfrm>
        </p:spPr>
        <p:txBody>
          <a:bodyPr>
            <a:normAutofit/>
          </a:bodyPr>
          <a:lstStyle>
            <a:lvl1pPr>
              <a:defRPr/>
            </a:lvl1pPr>
          </a:lstStyle>
          <a:p>
            <a:pPr>
              <a:defRPr/>
            </a:pPr>
            <a:endParaRPr lang="en-US"/>
          </a:p>
        </p:txBody>
      </p:sp>
    </p:spTree>
    <p:extLst>
      <p:ext uri="{BB962C8B-B14F-4D97-AF65-F5344CB8AC3E}">
        <p14:creationId xmlns:p14="http://schemas.microsoft.com/office/powerpoint/2010/main" val="4145456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5" name="Group 60"/>
          <p:cNvGrpSpPr>
            <a:grpSpLocks/>
          </p:cNvGrpSpPr>
          <p:nvPr/>
        </p:nvGrpSpPr>
        <p:grpSpPr bwMode="auto">
          <a:xfrm>
            <a:off x="-382588" y="0"/>
            <a:ext cx="9932988" cy="6858000"/>
            <a:chOff x="-382404" y="0"/>
            <a:chExt cx="9932332" cy="6858000"/>
          </a:xfrm>
        </p:grpSpPr>
        <p:grpSp>
          <p:nvGrpSpPr>
            <p:cNvPr id="6" name="Group 61"/>
            <p:cNvGrpSpPr>
              <a:grpSpLocks/>
            </p:cNvGrpSpPr>
            <p:nvPr/>
          </p:nvGrpSpPr>
          <p:grpSpPr bwMode="auto">
            <a:xfrm>
              <a:off x="0" y="0"/>
              <a:ext cx="9144000" cy="6858000"/>
              <a:chOff x="0" y="0"/>
              <a:chExt cx="9144000" cy="6858000"/>
            </a:xfrm>
          </p:grpSpPr>
          <p:grpSp>
            <p:nvGrpSpPr>
              <p:cNvPr id="29" name="Group 4"/>
              <p:cNvGrpSpPr>
                <a:grpSpLocks/>
              </p:cNvGrpSpPr>
              <p:nvPr/>
            </p:nvGrpSpPr>
            <p:grpSpPr bwMode="auto">
              <a:xfrm>
                <a:off x="0" y="0"/>
                <a:ext cx="2514600" cy="6858000"/>
                <a:chOff x="0" y="0"/>
                <a:chExt cx="2514600" cy="6858000"/>
              </a:xfrm>
            </p:grpSpPr>
            <p:sp>
              <p:nvSpPr>
                <p:cNvPr id="41" name="Rectangle 40"/>
                <p:cNvSpPr/>
                <p:nvPr/>
              </p:nvSpPr>
              <p:spPr>
                <a:xfrm>
                  <a:off x="914499"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2" name="Rectangle 2"/>
                <p:cNvSpPr/>
                <p:nvPr/>
              </p:nvSpPr>
              <p:spPr>
                <a:xfrm>
                  <a:off x="159"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3" name="Rectangle 3"/>
                <p:cNvSpPr/>
                <p:nvPr/>
              </p:nvSpPr>
              <p:spPr>
                <a:xfrm>
                  <a:off x="228744"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30" name="Group 5"/>
              <p:cNvGrpSpPr>
                <a:grpSpLocks/>
              </p:cNvGrpSpPr>
              <p:nvPr/>
            </p:nvGrpSpPr>
            <p:grpSpPr bwMode="auto">
              <a:xfrm>
                <a:off x="422910" y="0"/>
                <a:ext cx="2514600" cy="6858000"/>
                <a:chOff x="0" y="0"/>
                <a:chExt cx="2514600" cy="6858000"/>
              </a:xfrm>
            </p:grpSpPr>
            <p:sp>
              <p:nvSpPr>
                <p:cNvPr id="38" name="Rectangle 37"/>
                <p:cNvSpPr/>
                <p:nvPr/>
              </p:nvSpPr>
              <p:spPr>
                <a:xfrm>
                  <a:off x="913836"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a:xfrm>
                  <a:off x="-504"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 name="Rectangle 39"/>
                <p:cNvSpPr/>
                <p:nvPr/>
              </p:nvSpPr>
              <p:spPr>
                <a:xfrm>
                  <a:off x="228081"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31" name="Group 9"/>
              <p:cNvGrpSpPr>
                <a:grpSpLocks/>
              </p:cNvGrpSpPr>
              <p:nvPr/>
            </p:nvGrpSpPr>
            <p:grpSpPr bwMode="auto">
              <a:xfrm rot="10800000">
                <a:off x="6629400" y="0"/>
                <a:ext cx="2514600" cy="6858000"/>
                <a:chOff x="0" y="0"/>
                <a:chExt cx="2514600" cy="6858000"/>
              </a:xfrm>
            </p:grpSpPr>
            <p:sp>
              <p:nvSpPr>
                <p:cNvPr id="35" name="Rectangle 34"/>
                <p:cNvSpPr/>
                <p:nvPr/>
              </p:nvSpPr>
              <p:spPr>
                <a:xfrm>
                  <a:off x="916372" y="1587"/>
                  <a:ext cx="1600094"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 name="Rectangle 35"/>
                <p:cNvSpPr/>
                <p:nvPr/>
              </p:nvSpPr>
              <p:spPr>
                <a:xfrm>
                  <a:off x="2032" y="1587"/>
                  <a:ext cx="45717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7" name="Rectangle 36"/>
                <p:cNvSpPr/>
                <p:nvPr/>
              </p:nvSpPr>
              <p:spPr>
                <a:xfrm>
                  <a:off x="230617" y="1587"/>
                  <a:ext cx="76195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2" name="Rectangle 31"/>
              <p:cNvSpPr/>
              <p:nvPr/>
            </p:nvSpPr>
            <p:spPr>
              <a:xfrm>
                <a:off x="3809907" y="0"/>
                <a:ext cx="281921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a:off x="2895568"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Rectangle 33"/>
              <p:cNvSpPr/>
              <p:nvPr/>
            </p:nvSpPr>
            <p:spPr>
              <a:xfrm>
                <a:off x="3124153"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7" name="Freeform 6"/>
            <p:cNvSpPr/>
            <p:nvPr/>
          </p:nvSpPr>
          <p:spPr>
            <a:xfrm>
              <a:off x="-12540" y="5035550"/>
              <a:ext cx="9144984" cy="1174750"/>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8" name="Freeform 7"/>
            <p:cNvSpPr/>
            <p:nvPr/>
          </p:nvSpPr>
          <p:spPr>
            <a:xfrm>
              <a:off x="-12540" y="3467100"/>
              <a:ext cx="9144984" cy="890588"/>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9" name="Freeform 8"/>
            <p:cNvSpPr/>
            <p:nvPr/>
          </p:nvSpPr>
          <p:spPr>
            <a:xfrm>
              <a:off x="-23653" y="5640388"/>
              <a:ext cx="3004940" cy="1211262"/>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0" name="Freeform 9"/>
            <p:cNvSpPr/>
            <p:nvPr/>
          </p:nvSpPr>
          <p:spPr>
            <a:xfrm>
              <a:off x="-12540" y="5284788"/>
              <a:ext cx="9144984" cy="1477962"/>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1" name="Freeform 10"/>
            <p:cNvSpPr/>
            <p:nvPr/>
          </p:nvSpPr>
          <p:spPr>
            <a:xfrm>
              <a:off x="2136793" y="5132388"/>
              <a:ext cx="6982952" cy="171926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2" name="Hexagon 11"/>
            <p:cNvSpPr/>
            <p:nvPr/>
          </p:nvSpPr>
          <p:spPr>
            <a:xfrm rot="1800000">
              <a:off x="2995574" y="2859088"/>
              <a:ext cx="1601681"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Hexagon 12"/>
            <p:cNvSpPr/>
            <p:nvPr/>
          </p:nvSpPr>
          <p:spPr>
            <a:xfrm rot="1800000">
              <a:off x="3719426" y="412591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Hexagon 13"/>
            <p:cNvSpPr/>
            <p:nvPr/>
          </p:nvSpPr>
          <p:spPr>
            <a:xfrm rot="1800000">
              <a:off x="3728950" y="1592263"/>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Hexagon 14"/>
            <p:cNvSpPr/>
            <p:nvPr/>
          </p:nvSpPr>
          <p:spPr>
            <a:xfrm rot="1800000">
              <a:off x="2976525" y="325438"/>
              <a:ext cx="1601681" cy="1389062"/>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Hexagon 15"/>
            <p:cNvSpPr/>
            <p:nvPr/>
          </p:nvSpPr>
          <p:spPr>
            <a:xfrm rot="1800000">
              <a:off x="4462327" y="5383213"/>
              <a:ext cx="1601681" cy="1389062"/>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Freeform 16"/>
            <p:cNvSpPr/>
            <p:nvPr/>
          </p:nvSpPr>
          <p:spPr>
            <a:xfrm rot="1800000">
              <a:off x="-382404" y="4202113"/>
              <a:ext cx="1261980"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Hexagon 17"/>
            <p:cNvSpPr/>
            <p:nvPr/>
          </p:nvSpPr>
          <p:spPr>
            <a:xfrm rot="1800000">
              <a:off x="23970" y="540226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Hexagon 18"/>
            <p:cNvSpPr/>
            <p:nvPr/>
          </p:nvSpPr>
          <p:spPr>
            <a:xfrm rot="1800000">
              <a:off x="52543" y="2849563"/>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Hexagon 19"/>
            <p:cNvSpPr/>
            <p:nvPr/>
          </p:nvSpPr>
          <p:spPr>
            <a:xfrm rot="1800000">
              <a:off x="776395" y="4125913"/>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Hexagon 20"/>
            <p:cNvSpPr/>
            <p:nvPr/>
          </p:nvSpPr>
          <p:spPr>
            <a:xfrm rot="1800000">
              <a:off x="1509772" y="5411788"/>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Hexagon 21"/>
            <p:cNvSpPr/>
            <p:nvPr/>
          </p:nvSpPr>
          <p:spPr>
            <a:xfrm rot="1800000">
              <a:off x="1528821" y="2859088"/>
              <a:ext cx="1601681"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Hexagon 22"/>
            <p:cNvSpPr/>
            <p:nvPr/>
          </p:nvSpPr>
          <p:spPr>
            <a:xfrm rot="1800000">
              <a:off x="795444" y="1563688"/>
              <a:ext cx="1601681"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 name="Hexagon 23"/>
            <p:cNvSpPr/>
            <p:nvPr/>
          </p:nvSpPr>
          <p:spPr>
            <a:xfrm rot="1800000">
              <a:off x="6806909" y="4144963"/>
              <a:ext cx="1600094"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Hexagon 24"/>
            <p:cNvSpPr/>
            <p:nvPr/>
          </p:nvSpPr>
          <p:spPr>
            <a:xfrm rot="1800000">
              <a:off x="7549810" y="5421313"/>
              <a:ext cx="1600094"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6" name="Hexagon 25"/>
            <p:cNvSpPr/>
            <p:nvPr/>
          </p:nvSpPr>
          <p:spPr>
            <a:xfrm rot="1800000">
              <a:off x="7549810" y="2868613"/>
              <a:ext cx="1600094"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7" name="Freeform 26"/>
            <p:cNvSpPr/>
            <p:nvPr/>
          </p:nvSpPr>
          <p:spPr>
            <a:xfrm rot="1800000">
              <a:off x="8306998" y="4056063"/>
              <a:ext cx="1242930"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8" name="Freeform 27"/>
            <p:cNvSpPr/>
            <p:nvPr/>
          </p:nvSpPr>
          <p:spPr>
            <a:xfrm rot="1800000">
              <a:off x="8306998" y="1511300"/>
              <a:ext cx="1241343" cy="1389063"/>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44" name="Rectangle 43"/>
          <p:cNvSpPr/>
          <p:nvPr/>
        </p:nvSpPr>
        <p:spPr>
          <a:xfrm>
            <a:off x="4560888" y="-22225"/>
            <a:ext cx="3679825" cy="6272213"/>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5" name="Rectangle 44"/>
          <p:cNvSpPr/>
          <p:nvPr/>
        </p:nvSpPr>
        <p:spPr>
          <a:xfrm>
            <a:off x="4649788" y="-22225"/>
            <a:ext cx="3505200" cy="6238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6" name="Rectangle 45"/>
          <p:cNvSpPr/>
          <p:nvPr/>
        </p:nvSpPr>
        <p:spPr>
          <a:xfrm>
            <a:off x="904875" y="601663"/>
            <a:ext cx="3562350" cy="564832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7" name="Rectangle 46"/>
          <p:cNvSpPr/>
          <p:nvPr/>
        </p:nvSpPr>
        <p:spPr>
          <a:xfrm>
            <a:off x="4651375" y="6088063"/>
            <a:ext cx="3505200" cy="82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4734424" y="2660904"/>
            <a:ext cx="3300984" cy="1463040"/>
          </a:xfrm>
        </p:spPr>
        <p:txBody>
          <a:bodyPr>
            <a:normAutofit/>
          </a:bodyPr>
          <a:lstStyle>
            <a:lvl1pPr algn="l">
              <a:defRPr sz="2800" b="0"/>
            </a:lvl1pPr>
          </a:lstStyle>
          <a:p>
            <a:r>
              <a:rPr lang="x-none"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rtlCol="0">
            <a:normAutofit/>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x-none" noProof="0" smtClean="0"/>
              <a:t>Drag picture to placeholder or click icon to add</a:t>
            </a:r>
            <a:endParaRPr lang="en-US" noProof="0"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48" name="Date Placeholder 4"/>
          <p:cNvSpPr>
            <a:spLocks noGrp="1"/>
          </p:cNvSpPr>
          <p:nvPr>
            <p:ph type="dt" sz="half" idx="10"/>
          </p:nvPr>
        </p:nvSpPr>
        <p:spPr/>
        <p:txBody>
          <a:bodyPr/>
          <a:lstStyle>
            <a:lvl1pPr>
              <a:defRPr/>
            </a:lvl1pPr>
          </a:lstStyle>
          <a:p>
            <a:pPr>
              <a:defRPr/>
            </a:pPr>
            <a:fld id="{9AEDDEC9-34B2-2B47-8562-0DB2DDF36A93}" type="datetime4">
              <a:rPr lang="en-US"/>
              <a:pPr>
                <a:defRPr/>
              </a:pPr>
              <a:t>September 25, 2014</a:t>
            </a:fld>
            <a:endParaRPr lang="en-US"/>
          </a:p>
        </p:txBody>
      </p:sp>
      <p:sp>
        <p:nvSpPr>
          <p:cNvPr id="49" name="Footer Placeholder 5"/>
          <p:cNvSpPr>
            <a:spLocks noGrp="1"/>
          </p:cNvSpPr>
          <p:nvPr>
            <p:ph type="ftr" sz="quarter" idx="11"/>
          </p:nvPr>
        </p:nvSpPr>
        <p:spPr>
          <a:xfrm>
            <a:off x="4641850" y="5724525"/>
            <a:ext cx="3492500" cy="365125"/>
          </a:xfrm>
        </p:spPr>
        <p:txBody>
          <a:bodyPr>
            <a:normAutofit/>
          </a:bodyPr>
          <a:lstStyle>
            <a:lvl1pPr>
              <a:defRPr/>
            </a:lvl1pPr>
          </a:lstStyle>
          <a:p>
            <a:pPr>
              <a:defRPr/>
            </a:pPr>
            <a:endParaRPr lang="en-US"/>
          </a:p>
        </p:txBody>
      </p:sp>
      <p:sp>
        <p:nvSpPr>
          <p:cNvPr id="50" name="Slide Number Placeholder 6"/>
          <p:cNvSpPr>
            <a:spLocks noGrp="1"/>
          </p:cNvSpPr>
          <p:nvPr>
            <p:ph type="sldNum" sz="quarter" idx="12"/>
          </p:nvPr>
        </p:nvSpPr>
        <p:spPr/>
        <p:txBody>
          <a:bodyPr/>
          <a:lstStyle>
            <a:lvl1pPr>
              <a:defRPr/>
            </a:lvl1pPr>
          </a:lstStyle>
          <a:p>
            <a:pPr>
              <a:defRPr/>
            </a:pPr>
            <a:fld id="{4B54C8CE-B679-E249-8A21-F0C3828050EA}" type="slidenum">
              <a:rPr lang="en-US"/>
              <a:pPr>
                <a:defRPr/>
              </a:pPr>
              <a:t>‹#›</a:t>
            </a:fld>
            <a:endParaRPr lang="en-US"/>
          </a:p>
        </p:txBody>
      </p:sp>
    </p:spTree>
    <p:extLst>
      <p:ext uri="{BB962C8B-B14F-4D97-AF65-F5344CB8AC3E}">
        <p14:creationId xmlns:p14="http://schemas.microsoft.com/office/powerpoint/2010/main" val="2255312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E753F03-5748-284E-8EA1-FA16176281C4}" type="datetime4">
              <a:rPr lang="en-US"/>
              <a:pPr>
                <a:defRPr/>
              </a:pPr>
              <a:t>September 25, 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7A80443-B5BA-1441-A0F5-E0E8C82EE85F}" type="slidenum">
              <a:rPr lang="en-US"/>
              <a:pPr>
                <a:defRPr/>
              </a:pPr>
              <a:t>‹#›</a:t>
            </a:fld>
            <a:endParaRPr lang="en-US"/>
          </a:p>
        </p:txBody>
      </p:sp>
    </p:spTree>
    <p:extLst>
      <p:ext uri="{BB962C8B-B14F-4D97-AF65-F5344CB8AC3E}">
        <p14:creationId xmlns:p14="http://schemas.microsoft.com/office/powerpoint/2010/main" val="3500167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x-none"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E6883A8-6536-C340-9C9B-990BB2391E14}" type="datetime4">
              <a:rPr lang="en-US"/>
              <a:pPr>
                <a:defRPr/>
              </a:pPr>
              <a:t>September 25, 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6EAA6B-3350-4147-9EAD-27A9D5A68388}" type="slidenum">
              <a:rPr lang="en-US"/>
              <a:pPr>
                <a:defRPr/>
              </a:pPr>
              <a:t>‹#›</a:t>
            </a:fld>
            <a:endParaRPr lang="en-US"/>
          </a:p>
        </p:txBody>
      </p:sp>
    </p:spTree>
    <p:extLst>
      <p:ext uri="{BB962C8B-B14F-4D97-AF65-F5344CB8AC3E}">
        <p14:creationId xmlns:p14="http://schemas.microsoft.com/office/powerpoint/2010/main" val="376403965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1026" name="Group 41"/>
          <p:cNvGrpSpPr>
            <a:grpSpLocks/>
          </p:cNvGrpSpPr>
          <p:nvPr/>
        </p:nvGrpSpPr>
        <p:grpSpPr bwMode="auto">
          <a:xfrm>
            <a:off x="-304800" y="0"/>
            <a:ext cx="9932988" cy="6858000"/>
            <a:chOff x="-382404" y="0"/>
            <a:chExt cx="9932332" cy="6858000"/>
          </a:xfrm>
        </p:grpSpPr>
        <p:grpSp>
          <p:nvGrpSpPr>
            <p:cNvPr id="1035" name="Group 44"/>
            <p:cNvGrpSpPr>
              <a:grpSpLocks/>
            </p:cNvGrpSpPr>
            <p:nvPr/>
          </p:nvGrpSpPr>
          <p:grpSpPr bwMode="auto">
            <a:xfrm>
              <a:off x="0" y="0"/>
              <a:ext cx="9144000" cy="6858000"/>
              <a:chOff x="0" y="0"/>
              <a:chExt cx="9144000" cy="6858000"/>
            </a:xfrm>
          </p:grpSpPr>
          <p:grpSp>
            <p:nvGrpSpPr>
              <p:cNvPr id="1058" name="Group 4"/>
              <p:cNvGrpSpPr>
                <a:grpSpLocks/>
              </p:cNvGrpSpPr>
              <p:nvPr/>
            </p:nvGrpSpPr>
            <p:grpSpPr bwMode="auto">
              <a:xfrm>
                <a:off x="0" y="0"/>
                <a:ext cx="2514600" cy="6858000"/>
                <a:chOff x="0" y="0"/>
                <a:chExt cx="2514600" cy="6858000"/>
              </a:xfrm>
            </p:grpSpPr>
            <p:sp>
              <p:nvSpPr>
                <p:cNvPr id="113" name="Rectangle 112"/>
                <p:cNvSpPr/>
                <p:nvPr/>
              </p:nvSpPr>
              <p:spPr>
                <a:xfrm>
                  <a:off x="914499"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4" name="Rectangle 2"/>
                <p:cNvSpPr/>
                <p:nvPr/>
              </p:nvSpPr>
              <p:spPr>
                <a:xfrm>
                  <a:off x="159"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5" name="Rectangle 3"/>
                <p:cNvSpPr/>
                <p:nvPr/>
              </p:nvSpPr>
              <p:spPr>
                <a:xfrm>
                  <a:off x="228744"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59" name="Group 5"/>
              <p:cNvGrpSpPr>
                <a:grpSpLocks/>
              </p:cNvGrpSpPr>
              <p:nvPr/>
            </p:nvGrpSpPr>
            <p:grpSpPr bwMode="auto">
              <a:xfrm>
                <a:off x="422910" y="0"/>
                <a:ext cx="2514600" cy="6858000"/>
                <a:chOff x="0" y="0"/>
                <a:chExt cx="2514600" cy="6858000"/>
              </a:xfrm>
            </p:grpSpPr>
            <p:sp>
              <p:nvSpPr>
                <p:cNvPr id="110" name="Rectangle 109"/>
                <p:cNvSpPr/>
                <p:nvPr/>
              </p:nvSpPr>
              <p:spPr>
                <a:xfrm>
                  <a:off x="913836" y="0"/>
                  <a:ext cx="160009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1" name="Rectangle 110"/>
                <p:cNvSpPr/>
                <p:nvPr/>
              </p:nvSpPr>
              <p:spPr>
                <a:xfrm>
                  <a:off x="-504"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2" name="Rectangle 111"/>
                <p:cNvSpPr/>
                <p:nvPr/>
              </p:nvSpPr>
              <p:spPr>
                <a:xfrm>
                  <a:off x="228081"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60" name="Group 9"/>
              <p:cNvGrpSpPr>
                <a:grpSpLocks/>
              </p:cNvGrpSpPr>
              <p:nvPr/>
            </p:nvGrpSpPr>
            <p:grpSpPr bwMode="auto">
              <a:xfrm rot="10800000">
                <a:off x="6629400" y="0"/>
                <a:ext cx="2514600" cy="6858000"/>
                <a:chOff x="0" y="0"/>
                <a:chExt cx="2514600" cy="6858000"/>
              </a:xfrm>
            </p:grpSpPr>
            <p:sp>
              <p:nvSpPr>
                <p:cNvPr id="107" name="Rectangle 106"/>
                <p:cNvSpPr/>
                <p:nvPr/>
              </p:nvSpPr>
              <p:spPr>
                <a:xfrm>
                  <a:off x="916373" y="1587"/>
                  <a:ext cx="1600094"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8" name="Rectangle 107"/>
                <p:cNvSpPr/>
                <p:nvPr/>
              </p:nvSpPr>
              <p:spPr>
                <a:xfrm>
                  <a:off x="2033" y="1587"/>
                  <a:ext cx="45717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9" name="Rectangle 108"/>
                <p:cNvSpPr/>
                <p:nvPr/>
              </p:nvSpPr>
              <p:spPr>
                <a:xfrm>
                  <a:off x="230618" y="1587"/>
                  <a:ext cx="761950" cy="6858001"/>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04" name="Rectangle 103"/>
              <p:cNvSpPr/>
              <p:nvPr/>
            </p:nvSpPr>
            <p:spPr>
              <a:xfrm>
                <a:off x="3809907" y="0"/>
                <a:ext cx="2819214"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5" name="Rectangle 104"/>
              <p:cNvSpPr/>
              <p:nvPr/>
            </p:nvSpPr>
            <p:spPr>
              <a:xfrm>
                <a:off x="2895568" y="0"/>
                <a:ext cx="45717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6" name="Rectangle 105"/>
              <p:cNvSpPr/>
              <p:nvPr/>
            </p:nvSpPr>
            <p:spPr>
              <a:xfrm>
                <a:off x="3124153" y="0"/>
                <a:ext cx="76195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44" name="Freeform 43"/>
            <p:cNvSpPr/>
            <p:nvPr/>
          </p:nvSpPr>
          <p:spPr>
            <a:xfrm>
              <a:off x="-12540" y="5035550"/>
              <a:ext cx="9144983" cy="1174750"/>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45" name="Freeform 44"/>
            <p:cNvSpPr/>
            <p:nvPr/>
          </p:nvSpPr>
          <p:spPr>
            <a:xfrm>
              <a:off x="-12540" y="3467100"/>
              <a:ext cx="9144983" cy="890588"/>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46" name="Freeform 45"/>
            <p:cNvSpPr/>
            <p:nvPr/>
          </p:nvSpPr>
          <p:spPr>
            <a:xfrm>
              <a:off x="-23653" y="5640388"/>
              <a:ext cx="3004940" cy="1211262"/>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47" name="Freeform 46"/>
            <p:cNvSpPr/>
            <p:nvPr/>
          </p:nvSpPr>
          <p:spPr>
            <a:xfrm>
              <a:off x="-12540" y="5284788"/>
              <a:ext cx="9144983" cy="1477962"/>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49" name="Freeform 48"/>
            <p:cNvSpPr/>
            <p:nvPr/>
          </p:nvSpPr>
          <p:spPr>
            <a:xfrm>
              <a:off x="2136793" y="5132388"/>
              <a:ext cx="6982951" cy="171926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50" name="Hexagon 49"/>
            <p:cNvSpPr/>
            <p:nvPr/>
          </p:nvSpPr>
          <p:spPr>
            <a:xfrm rot="1800000">
              <a:off x="2995573" y="2859088"/>
              <a:ext cx="1601682"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1" name="Hexagon 50"/>
            <p:cNvSpPr/>
            <p:nvPr/>
          </p:nvSpPr>
          <p:spPr>
            <a:xfrm rot="1800000">
              <a:off x="3719425" y="4125913"/>
              <a:ext cx="1601682"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2" name="Hexagon 51"/>
            <p:cNvSpPr/>
            <p:nvPr/>
          </p:nvSpPr>
          <p:spPr>
            <a:xfrm rot="1800000">
              <a:off x="3728949" y="1592263"/>
              <a:ext cx="1601682"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3" name="Hexagon 52"/>
            <p:cNvSpPr/>
            <p:nvPr/>
          </p:nvSpPr>
          <p:spPr>
            <a:xfrm rot="1800000">
              <a:off x="2976524" y="325438"/>
              <a:ext cx="1601682" cy="1389062"/>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4" name="Hexagon 53"/>
            <p:cNvSpPr/>
            <p:nvPr/>
          </p:nvSpPr>
          <p:spPr>
            <a:xfrm rot="1800000">
              <a:off x="4462326" y="5383213"/>
              <a:ext cx="1601682" cy="1389062"/>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5" name="Freeform 54"/>
            <p:cNvSpPr/>
            <p:nvPr/>
          </p:nvSpPr>
          <p:spPr>
            <a:xfrm rot="1800000">
              <a:off x="-382404" y="4202113"/>
              <a:ext cx="1261980"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6" name="Hexagon 55"/>
            <p:cNvSpPr/>
            <p:nvPr/>
          </p:nvSpPr>
          <p:spPr>
            <a:xfrm rot="1800000">
              <a:off x="23969" y="5402263"/>
              <a:ext cx="1601682"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7" name="Hexagon 56"/>
            <p:cNvSpPr/>
            <p:nvPr/>
          </p:nvSpPr>
          <p:spPr>
            <a:xfrm rot="1800000">
              <a:off x="52542" y="2849563"/>
              <a:ext cx="1601682"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8" name="Hexagon 57"/>
            <p:cNvSpPr/>
            <p:nvPr/>
          </p:nvSpPr>
          <p:spPr>
            <a:xfrm rot="1800000">
              <a:off x="776394" y="4125913"/>
              <a:ext cx="1601682"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9" name="Hexagon 58"/>
            <p:cNvSpPr/>
            <p:nvPr/>
          </p:nvSpPr>
          <p:spPr>
            <a:xfrm rot="1800000">
              <a:off x="1509771" y="5411788"/>
              <a:ext cx="1601682"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0" name="Hexagon 59"/>
            <p:cNvSpPr/>
            <p:nvPr/>
          </p:nvSpPr>
          <p:spPr>
            <a:xfrm rot="1800000">
              <a:off x="1528820" y="2859088"/>
              <a:ext cx="1601682"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5" name="Hexagon 94"/>
            <p:cNvSpPr/>
            <p:nvPr/>
          </p:nvSpPr>
          <p:spPr>
            <a:xfrm rot="1800000">
              <a:off x="795443" y="1563688"/>
              <a:ext cx="1601682"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6" name="Hexagon 95"/>
            <p:cNvSpPr/>
            <p:nvPr/>
          </p:nvSpPr>
          <p:spPr>
            <a:xfrm rot="1800000">
              <a:off x="6806909" y="4144963"/>
              <a:ext cx="1600094" cy="1389062"/>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7" name="Hexagon 96"/>
            <p:cNvSpPr/>
            <p:nvPr/>
          </p:nvSpPr>
          <p:spPr>
            <a:xfrm rot="1800000">
              <a:off x="7549810" y="5421313"/>
              <a:ext cx="1600094" cy="1389062"/>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8" name="Hexagon 97"/>
            <p:cNvSpPr/>
            <p:nvPr/>
          </p:nvSpPr>
          <p:spPr>
            <a:xfrm rot="1800000">
              <a:off x="7549810" y="2868613"/>
              <a:ext cx="1600094" cy="1389062"/>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9" name="Freeform 98"/>
            <p:cNvSpPr/>
            <p:nvPr/>
          </p:nvSpPr>
          <p:spPr>
            <a:xfrm rot="1800000">
              <a:off x="8306997" y="4056063"/>
              <a:ext cx="1242931" cy="1387475"/>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Freeform 99"/>
            <p:cNvSpPr/>
            <p:nvPr/>
          </p:nvSpPr>
          <p:spPr>
            <a:xfrm rot="1800000">
              <a:off x="8306997" y="1511300"/>
              <a:ext cx="1241343" cy="1389063"/>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66" name="Rectangle 65"/>
          <p:cNvSpPr/>
          <p:nvPr/>
        </p:nvSpPr>
        <p:spPr>
          <a:xfrm>
            <a:off x="457200" y="333375"/>
            <a:ext cx="8229600" cy="618648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0" name="Rectangle 69"/>
          <p:cNvSpPr/>
          <p:nvPr/>
        </p:nvSpPr>
        <p:spPr>
          <a:xfrm>
            <a:off x="4560888" y="-22225"/>
            <a:ext cx="3679825" cy="700088"/>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1" name="Rectangle 70"/>
          <p:cNvSpPr/>
          <p:nvPr/>
        </p:nvSpPr>
        <p:spPr>
          <a:xfrm>
            <a:off x="4649788" y="-22225"/>
            <a:ext cx="3505200" cy="6238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30" name="Title Placeholder 1"/>
          <p:cNvSpPr>
            <a:spLocks noGrp="1"/>
          </p:cNvSpPr>
          <p:nvPr>
            <p:ph type="title"/>
          </p:nvPr>
        </p:nvSpPr>
        <p:spPr bwMode="auto">
          <a:xfrm>
            <a:off x="1042988" y="1027113"/>
            <a:ext cx="70246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b" anchorCtr="0" compatLnSpc="1">
            <a:prstTxWarp prst="textNoShape">
              <a:avLst/>
            </a:prstTxWarp>
          </a:bodyPr>
          <a:lstStyle/>
          <a:p>
            <a:pPr lvl="0"/>
            <a:r>
              <a:rPr lang="x-none" smtClean="0"/>
              <a:t>Click to edit Master title style</a:t>
            </a:r>
            <a:endParaRPr lang="en-US"/>
          </a:p>
        </p:txBody>
      </p:sp>
      <p:sp>
        <p:nvSpPr>
          <p:cNvPr id="1031" name="Text Placeholder 2"/>
          <p:cNvSpPr>
            <a:spLocks noGrp="1"/>
          </p:cNvSpPr>
          <p:nvPr>
            <p:ph type="body" idx="1"/>
          </p:nvPr>
        </p:nvSpPr>
        <p:spPr bwMode="auto">
          <a:xfrm>
            <a:off x="1042988" y="2324100"/>
            <a:ext cx="6777037"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Date Placeholder 3"/>
          <p:cNvSpPr>
            <a:spLocks noGrp="1"/>
          </p:cNvSpPr>
          <p:nvPr>
            <p:ph type="dt" sz="half" idx="2"/>
          </p:nvPr>
        </p:nvSpPr>
        <p:spPr>
          <a:xfrm>
            <a:off x="5997575" y="223838"/>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rgbClr val="FEFEFE"/>
                </a:solidFill>
                <a:latin typeface="+mn-lt"/>
                <a:ea typeface="+mn-ea"/>
                <a:cs typeface="+mn-cs"/>
              </a:defRPr>
            </a:lvl1pPr>
          </a:lstStyle>
          <a:p>
            <a:pPr>
              <a:defRPr/>
            </a:pPr>
            <a:fld id="{03356F25-E6A9-6B44-B749-785EDDA8CCD6}" type="datetime4">
              <a:rPr lang="en-US"/>
              <a:pPr>
                <a:defRPr/>
              </a:pPr>
              <a:t>September 25, 2014</a:t>
            </a:fld>
            <a:endParaRPr lang="en-US"/>
          </a:p>
        </p:txBody>
      </p:sp>
      <p:sp>
        <p:nvSpPr>
          <p:cNvPr id="5" name="Footer Placeholder 4"/>
          <p:cNvSpPr>
            <a:spLocks noGrp="1"/>
          </p:cNvSpPr>
          <p:nvPr>
            <p:ph type="ftr" sz="quarter" idx="3"/>
          </p:nvPr>
        </p:nvSpPr>
        <p:spPr>
          <a:xfrm>
            <a:off x="4641850" y="5851525"/>
            <a:ext cx="3502025" cy="365125"/>
          </a:xfrm>
          <a:prstGeom prst="rect">
            <a:avLst/>
          </a:prstGeom>
        </p:spPr>
        <p:txBody>
          <a:bodyPr vert="horz" lIns="91440" tIns="45720" rIns="91440" bIns="45720" rtlCol="0" anchor="ctr"/>
          <a:lstStyle>
            <a:lvl1pPr algn="r" fontAlgn="auto">
              <a:spcBef>
                <a:spcPts val="0"/>
              </a:spcBef>
              <a:spcAft>
                <a:spcPts val="0"/>
              </a:spcAft>
              <a:defRPr sz="1200" dirty="0">
                <a:solidFill>
                  <a:schemeClr val="accent1"/>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4649788" y="223838"/>
            <a:ext cx="1331912"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EFEFE"/>
                </a:solidFill>
                <a:latin typeface="+mn-lt"/>
                <a:ea typeface="+mn-ea"/>
                <a:cs typeface="+mn-cs"/>
              </a:defRPr>
            </a:lvl1pPr>
          </a:lstStyle>
          <a:p>
            <a:pPr>
              <a:defRPr/>
            </a:pPr>
            <a:fld id="{258D96C5-9F30-DE44-9E70-A9B1977192C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5" r:id="rId1"/>
    <p:sldLayoutId id="2147483807" r:id="rId2"/>
    <p:sldLayoutId id="2147483808" r:id="rId3"/>
    <p:sldLayoutId id="2147483809" r:id="rId4"/>
    <p:sldLayoutId id="2147483810" r:id="rId5"/>
    <p:sldLayoutId id="2147483811" r:id="rId6"/>
    <p:sldLayoutId id="2147483812" r:id="rId7"/>
    <p:sldLayoutId id="2147483816" r:id="rId8"/>
    <p:sldLayoutId id="2147483817" r:id="rId9"/>
    <p:sldLayoutId id="2147483813" r:id="rId10"/>
    <p:sldLayoutId id="2147483814" r:id="rId11"/>
  </p:sldLayoutIdLst>
  <p:hf hdr="0" ftr="0" dt="0"/>
  <p:txStyles>
    <p:titleStyle>
      <a:lvl1pPr algn="l" rtl="0" eaLnBrk="1" fontAlgn="base" hangingPunct="1">
        <a:spcBef>
          <a:spcPct val="0"/>
        </a:spcBef>
        <a:spcAft>
          <a:spcPct val="0"/>
        </a:spcAft>
        <a:defRPr sz="4000" kern="1200">
          <a:solidFill>
            <a:schemeClr val="accent1"/>
          </a:solidFill>
          <a:latin typeface="+mj-lt"/>
          <a:ea typeface="ＭＳ Ｐゴシック" charset="0"/>
          <a:cs typeface="ＭＳ Ｐゴシック" charset="0"/>
        </a:defRPr>
      </a:lvl1pPr>
      <a:lvl2pPr algn="l" rtl="0" eaLnBrk="1" fontAlgn="base" hangingPunct="1">
        <a:spcBef>
          <a:spcPct val="0"/>
        </a:spcBef>
        <a:spcAft>
          <a:spcPct val="0"/>
        </a:spcAft>
        <a:defRPr sz="4000">
          <a:solidFill>
            <a:schemeClr val="accent1"/>
          </a:solidFill>
          <a:latin typeface="Century Gothic" charset="0"/>
          <a:ea typeface="ＭＳ Ｐゴシック" charset="0"/>
          <a:cs typeface="ＭＳ Ｐゴシック" charset="0"/>
        </a:defRPr>
      </a:lvl2pPr>
      <a:lvl3pPr algn="l" rtl="0" eaLnBrk="1" fontAlgn="base" hangingPunct="1">
        <a:spcBef>
          <a:spcPct val="0"/>
        </a:spcBef>
        <a:spcAft>
          <a:spcPct val="0"/>
        </a:spcAft>
        <a:defRPr sz="4000">
          <a:solidFill>
            <a:schemeClr val="accent1"/>
          </a:solidFill>
          <a:latin typeface="Century Gothic" charset="0"/>
          <a:ea typeface="ＭＳ Ｐゴシック" charset="0"/>
          <a:cs typeface="ＭＳ Ｐゴシック" charset="0"/>
        </a:defRPr>
      </a:lvl3pPr>
      <a:lvl4pPr algn="l" rtl="0" eaLnBrk="1" fontAlgn="base" hangingPunct="1">
        <a:spcBef>
          <a:spcPct val="0"/>
        </a:spcBef>
        <a:spcAft>
          <a:spcPct val="0"/>
        </a:spcAft>
        <a:defRPr sz="4000">
          <a:solidFill>
            <a:schemeClr val="accent1"/>
          </a:solidFill>
          <a:latin typeface="Century Gothic" charset="0"/>
          <a:ea typeface="ＭＳ Ｐゴシック" charset="0"/>
          <a:cs typeface="ＭＳ Ｐゴシック" charset="0"/>
        </a:defRPr>
      </a:lvl4pPr>
      <a:lvl5pPr algn="l" rtl="0" eaLnBrk="1" fontAlgn="base" hangingPunct="1">
        <a:spcBef>
          <a:spcPct val="0"/>
        </a:spcBef>
        <a:spcAft>
          <a:spcPct val="0"/>
        </a:spcAft>
        <a:defRPr sz="4000">
          <a:solidFill>
            <a:schemeClr val="accent1"/>
          </a:solidFill>
          <a:latin typeface="Century Gothic" charset="0"/>
          <a:ea typeface="ＭＳ Ｐゴシック" charset="0"/>
          <a:cs typeface="ＭＳ Ｐゴシック"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3050" algn="l" rtl="0" eaLnBrk="1" fontAlgn="base" hangingPunct="1">
        <a:spcBef>
          <a:spcPct val="20000"/>
        </a:spcBef>
        <a:spcAft>
          <a:spcPct val="0"/>
        </a:spcAft>
        <a:buClr>
          <a:schemeClr val="accent1"/>
        </a:buClr>
        <a:buSzPct val="76000"/>
        <a:buFont typeface="Wingdings 2" charset="0"/>
        <a:buChar char=""/>
        <a:defRPr sz="2400" kern="1200">
          <a:solidFill>
            <a:schemeClr val="tx2"/>
          </a:solidFill>
          <a:latin typeface="+mn-lt"/>
          <a:ea typeface="ＭＳ Ｐゴシック" charset="0"/>
          <a:cs typeface="ＭＳ Ｐゴシック" charset="0"/>
        </a:defRPr>
      </a:lvl1pPr>
      <a:lvl2pPr marL="639763" indent="-273050" algn="l" rtl="0" eaLnBrk="1" fontAlgn="base" hangingPunct="1">
        <a:spcBef>
          <a:spcPct val="20000"/>
        </a:spcBef>
        <a:spcAft>
          <a:spcPct val="0"/>
        </a:spcAft>
        <a:buClr>
          <a:schemeClr val="accent1"/>
        </a:buClr>
        <a:buSzPct val="76000"/>
        <a:buFont typeface="Wingdings 2" charset="0"/>
        <a:buChar char=""/>
        <a:defRPr sz="2200" kern="1200">
          <a:solidFill>
            <a:schemeClr val="tx2"/>
          </a:solidFill>
          <a:latin typeface="+mn-lt"/>
          <a:ea typeface="ＭＳ Ｐゴシック" charset="0"/>
          <a:cs typeface="+mn-cs"/>
        </a:defRPr>
      </a:lvl2pPr>
      <a:lvl3pPr marL="914400" indent="-228600" algn="l" rtl="0" eaLnBrk="1" fontAlgn="base" hangingPunct="1">
        <a:spcBef>
          <a:spcPct val="20000"/>
        </a:spcBef>
        <a:spcAft>
          <a:spcPct val="0"/>
        </a:spcAft>
        <a:buClr>
          <a:schemeClr val="accent1"/>
        </a:buClr>
        <a:buSzPct val="76000"/>
        <a:buFont typeface="Wingdings 2" charset="0"/>
        <a:buChar char=""/>
        <a:defRPr sz="2000" kern="1200">
          <a:solidFill>
            <a:schemeClr val="tx2"/>
          </a:solidFill>
          <a:latin typeface="+mn-lt"/>
          <a:ea typeface="ＭＳ Ｐゴシック" charset="0"/>
          <a:cs typeface="+mn-cs"/>
        </a:defRPr>
      </a:lvl3pPr>
      <a:lvl4pPr marL="1123950" indent="-228600" algn="l" rtl="0" eaLnBrk="1" fontAlgn="base" hangingPunct="1">
        <a:spcBef>
          <a:spcPct val="20000"/>
        </a:spcBef>
        <a:spcAft>
          <a:spcPct val="0"/>
        </a:spcAft>
        <a:buClr>
          <a:schemeClr val="accent1"/>
        </a:buClr>
        <a:buSzPct val="76000"/>
        <a:buFont typeface="Wingdings 2" charset="0"/>
        <a:buChar char=""/>
        <a:defRPr kern="1200">
          <a:solidFill>
            <a:schemeClr val="tx2"/>
          </a:solidFill>
          <a:latin typeface="+mn-lt"/>
          <a:ea typeface="ＭＳ Ｐゴシック" charset="0"/>
          <a:cs typeface="+mn-cs"/>
        </a:defRPr>
      </a:lvl4pPr>
      <a:lvl5pPr marL="1325563" indent="-228600" algn="l" rtl="0" eaLnBrk="1" fontAlgn="base" hangingPunct="1">
        <a:spcBef>
          <a:spcPct val="20000"/>
        </a:spcBef>
        <a:spcAft>
          <a:spcPct val="0"/>
        </a:spcAft>
        <a:buClr>
          <a:schemeClr val="accent1"/>
        </a:buClr>
        <a:buSzPct val="76000"/>
        <a:buFont typeface="Wingdings 2" charset="0"/>
        <a:buChar char=""/>
        <a:defRPr sz="1600" kern="1200">
          <a:solidFill>
            <a:schemeClr val="tx2"/>
          </a:solidFill>
          <a:latin typeface="+mn-lt"/>
          <a:ea typeface="ＭＳ Ｐゴシック" charset="0"/>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dickson.tsai@berkeley.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1"/>
          <p:cNvSpPr>
            <a:spLocks noGrp="1"/>
          </p:cNvSpPr>
          <p:nvPr>
            <p:ph type="ctrTitle"/>
          </p:nvPr>
        </p:nvSpPr>
        <p:spPr>
          <a:xfrm>
            <a:off x="4733925" y="2446338"/>
            <a:ext cx="3313113" cy="1963737"/>
          </a:xfrm>
        </p:spPr>
        <p:txBody>
          <a:bodyPr/>
          <a:lstStyle/>
          <a:p>
            <a:r>
              <a:rPr lang="en-US" dirty="0">
                <a:latin typeface="Century Gothic" charset="0"/>
              </a:rPr>
              <a:t>Welcome to CS61A </a:t>
            </a:r>
            <a:r>
              <a:rPr lang="en-US" dirty="0" smtClean="0">
                <a:latin typeface="Century Gothic" charset="0"/>
              </a:rPr>
              <a:t>Disc </a:t>
            </a:r>
            <a:r>
              <a:rPr lang="en-US" dirty="0">
                <a:latin typeface="Century Gothic" charset="0"/>
              </a:rPr>
              <a:t>3</a:t>
            </a:r>
            <a:r>
              <a:rPr lang="en-US" dirty="0" smtClean="0">
                <a:latin typeface="Century Gothic" charset="0"/>
              </a:rPr>
              <a:t> Sect. 29</a:t>
            </a:r>
            <a:r>
              <a:rPr lang="en-US" dirty="0">
                <a:latin typeface="Century Gothic" charset="0"/>
              </a:rPr>
              <a:t>/47 :D</a:t>
            </a:r>
          </a:p>
        </p:txBody>
      </p:sp>
      <p:sp>
        <p:nvSpPr>
          <p:cNvPr id="5122" name="Subtitle 2"/>
          <p:cNvSpPr>
            <a:spLocks noGrp="1"/>
          </p:cNvSpPr>
          <p:nvPr>
            <p:ph type="subTitle" idx="1"/>
          </p:nvPr>
        </p:nvSpPr>
        <p:spPr>
          <a:xfrm>
            <a:off x="4733925" y="4421188"/>
            <a:ext cx="3309938" cy="1260475"/>
          </a:xfrm>
        </p:spPr>
        <p:txBody>
          <a:bodyPr>
            <a:normAutofit lnSpcReduction="10000"/>
          </a:bodyPr>
          <a:lstStyle/>
          <a:p>
            <a:r>
              <a:rPr lang="en-US" dirty="0">
                <a:latin typeface="Century Gothic" charset="0"/>
              </a:rPr>
              <a:t>Dickson Tsai</a:t>
            </a:r>
          </a:p>
          <a:p>
            <a:r>
              <a:rPr lang="en-US" dirty="0" smtClean="0">
                <a:latin typeface="Century Gothic" charset="0"/>
                <a:hlinkClick r:id="rId2"/>
              </a:rPr>
              <a:t>dickson.tsai+cs61a@</a:t>
            </a:r>
            <a:r>
              <a:rPr lang="en-US" dirty="0">
                <a:latin typeface="Century Gothic" charset="0"/>
                <a:hlinkClick r:id="rId2"/>
              </a:rPr>
              <a:t>berkeley.edu</a:t>
            </a:r>
            <a:endParaRPr lang="en-US" dirty="0">
              <a:latin typeface="Century Gothic" charset="0"/>
            </a:endParaRPr>
          </a:p>
          <a:p>
            <a:r>
              <a:rPr lang="en-US" dirty="0">
                <a:latin typeface="Century Gothic" charset="0"/>
              </a:rPr>
              <a:t>OH: </a:t>
            </a:r>
            <a:r>
              <a:rPr lang="en-US" dirty="0" err="1">
                <a:latin typeface="Century Gothic" charset="0"/>
              </a:rPr>
              <a:t>Tu</a:t>
            </a:r>
            <a:r>
              <a:rPr lang="en-US" dirty="0">
                <a:latin typeface="Century Gothic" charset="0"/>
              </a:rPr>
              <a:t>, </a:t>
            </a:r>
            <a:r>
              <a:rPr lang="en-US" dirty="0" err="1">
                <a:latin typeface="Century Gothic" charset="0"/>
              </a:rPr>
              <a:t>Th</a:t>
            </a:r>
            <a:r>
              <a:rPr lang="en-US" dirty="0">
                <a:latin typeface="Century Gothic" charset="0"/>
              </a:rPr>
              <a:t> 4-5pm 411 Soda</a:t>
            </a:r>
          </a:p>
        </p:txBody>
      </p:sp>
      <p:sp>
        <p:nvSpPr>
          <p:cNvPr id="4" name="Subtitle 2"/>
          <p:cNvSpPr txBox="1">
            <a:spLocks/>
          </p:cNvSpPr>
          <p:nvPr/>
        </p:nvSpPr>
        <p:spPr bwMode="auto">
          <a:xfrm>
            <a:off x="-282575" y="4425950"/>
            <a:ext cx="4781550"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a:spcBef>
                <a:spcPct val="20000"/>
              </a:spcBef>
              <a:buClr>
                <a:schemeClr val="accent1"/>
              </a:buClr>
              <a:buSzPct val="76000"/>
              <a:buFont typeface="Arial" charset="0"/>
              <a:buChar char="•"/>
            </a:pPr>
            <a:r>
              <a:rPr lang="en-US" dirty="0" smtClean="0">
                <a:solidFill>
                  <a:srgbClr val="424242"/>
                </a:solidFill>
              </a:rPr>
              <a:t>Previous: Higher order functions </a:t>
            </a:r>
            <a:r>
              <a:rPr lang="en-US" b="1" dirty="0" smtClean="0">
                <a:solidFill>
                  <a:srgbClr val="424242"/>
                </a:solidFill>
              </a:rPr>
              <a:t>&gt;</a:t>
            </a:r>
            <a:r>
              <a:rPr lang="en-US" b="1" dirty="0">
                <a:solidFill>
                  <a:srgbClr val="424242"/>
                </a:solidFill>
              </a:rPr>
              <a:t>&gt;&gt;</a:t>
            </a:r>
          </a:p>
          <a:p>
            <a:pPr>
              <a:spcBef>
                <a:spcPct val="20000"/>
              </a:spcBef>
              <a:buClr>
                <a:schemeClr val="accent1"/>
              </a:buClr>
              <a:buSzPct val="76000"/>
              <a:buFont typeface="Arial" charset="0"/>
              <a:buChar char="•"/>
            </a:pPr>
            <a:r>
              <a:rPr lang="en-US" b="1" dirty="0">
                <a:solidFill>
                  <a:srgbClr val="424242"/>
                </a:solidFill>
              </a:rPr>
              <a:t>Today: </a:t>
            </a:r>
            <a:r>
              <a:rPr lang="en-US" b="1" dirty="0" smtClean="0">
                <a:solidFill>
                  <a:srgbClr val="424242"/>
                </a:solidFill>
              </a:rPr>
              <a:t>Recursion, Tree Recursion &gt;</a:t>
            </a:r>
            <a:r>
              <a:rPr lang="en-US" b="1" dirty="0">
                <a:solidFill>
                  <a:srgbClr val="424242"/>
                </a:solidFill>
              </a:rPr>
              <a:t>&gt;&gt;</a:t>
            </a:r>
          </a:p>
          <a:p>
            <a:pPr>
              <a:spcBef>
                <a:spcPct val="20000"/>
              </a:spcBef>
              <a:buClr>
                <a:schemeClr val="accent1"/>
              </a:buClr>
              <a:buSzPct val="76000"/>
              <a:buFont typeface="Arial" charset="0"/>
              <a:buChar char="•"/>
            </a:pPr>
            <a:r>
              <a:rPr lang="en-US" dirty="0">
                <a:solidFill>
                  <a:srgbClr val="424242"/>
                </a:solidFill>
              </a:rPr>
              <a:t>Next stop: </a:t>
            </a:r>
            <a:r>
              <a:rPr lang="en-US" dirty="0" smtClean="0">
                <a:solidFill>
                  <a:srgbClr val="424242"/>
                </a:solidFill>
              </a:rPr>
              <a:t>Data Abstraction (a new unit!)</a:t>
            </a:r>
            <a:endParaRPr lang="en-US" dirty="0">
              <a:solidFill>
                <a:srgbClr val="424242"/>
              </a:solidFill>
            </a:endParaRPr>
          </a:p>
        </p:txBody>
      </p:sp>
      <p:sp>
        <p:nvSpPr>
          <p:cNvPr id="512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104F7D4B-5206-4F42-A4A3-937B571AE82A}" type="slidenum">
              <a:rPr lang="en-US">
                <a:solidFill>
                  <a:schemeClr val="accent1"/>
                </a:solidFill>
              </a:rPr>
              <a:pPr fontAlgn="base">
                <a:spcBef>
                  <a:spcPct val="0"/>
                </a:spcBef>
                <a:spcAft>
                  <a:spcPct val="0"/>
                </a:spcAft>
              </a:pPr>
              <a:t>1</a:t>
            </a:fld>
            <a:endParaRPr lang="en-US">
              <a:solidFill>
                <a:schemeClr val="accent1"/>
              </a:solidFill>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p:tgtEl>
                                          <p:spTgt spid="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p:tgtEl>
                                          <p:spTgt spid="4">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p:tgtEl>
                                          <p:spTgt spid="4">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US" dirty="0" smtClean="0">
                <a:latin typeface="Century Gothic" charset="0"/>
              </a:rPr>
              <a:t>Section Quiz Logistics</a:t>
            </a:r>
            <a:endParaRPr lang="en-US" dirty="0">
              <a:latin typeface="Century Gothic" charset="0"/>
            </a:endParaRPr>
          </a:p>
        </p:txBody>
      </p:sp>
      <p:sp>
        <p:nvSpPr>
          <p:cNvPr id="3" name="Content Placeholder 2"/>
          <p:cNvSpPr>
            <a:spLocks noGrp="1"/>
          </p:cNvSpPr>
          <p:nvPr>
            <p:ph idx="1"/>
          </p:nvPr>
        </p:nvSpPr>
        <p:spPr>
          <a:xfrm>
            <a:off x="457200" y="2324100"/>
            <a:ext cx="8128000" cy="4008967"/>
          </a:xfrm>
        </p:spPr>
        <p:txBody>
          <a:bodyPr/>
          <a:lstStyle/>
          <a:p>
            <a:r>
              <a:rPr lang="en-US" dirty="0" smtClean="0">
                <a:solidFill>
                  <a:srgbClr val="4A6300"/>
                </a:solidFill>
                <a:latin typeface="Avenir Book" charset="0"/>
                <a:cs typeface="Avenir Book" charset="0"/>
              </a:rPr>
              <a:t>Please take out a piece of paper</a:t>
            </a:r>
          </a:p>
          <a:p>
            <a:r>
              <a:rPr lang="en-US" dirty="0" smtClean="0">
                <a:solidFill>
                  <a:srgbClr val="4A6300"/>
                </a:solidFill>
                <a:latin typeface="Avenir Book" charset="0"/>
                <a:cs typeface="Avenir Book" charset="0"/>
              </a:rPr>
              <a:t>Put your name, login (e.g. cs61a-ty), SID, and section number (#47 for 11-12:30 pm, #29 for 6:30-8pm)</a:t>
            </a:r>
          </a:p>
          <a:p>
            <a:r>
              <a:rPr lang="en-US" dirty="0" smtClean="0">
                <a:solidFill>
                  <a:srgbClr val="4A6300"/>
                </a:solidFill>
                <a:latin typeface="Avenir Book" charset="0"/>
                <a:cs typeface="Avenir Book" charset="0"/>
              </a:rPr>
              <a:t>Graded on effort: effort = revise your quiz with diff color</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a:t>
            </a:fld>
            <a:endParaRPr lang="en-US">
              <a:solidFill>
                <a:srgbClr val="FEFEFE"/>
              </a:solidFill>
            </a:endParaRPr>
          </a:p>
        </p:txBody>
      </p:sp>
    </p:spTree>
    <p:extLst>
      <p:ext uri="{BB962C8B-B14F-4D97-AF65-F5344CB8AC3E}">
        <p14:creationId xmlns:p14="http://schemas.microsoft.com/office/powerpoint/2010/main" val="59166907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US" dirty="0" smtClean="0">
                <a:latin typeface="Century Gothic" charset="0"/>
              </a:rPr>
              <a:t>Section Quiz</a:t>
            </a:r>
            <a:endParaRPr lang="en-US" dirty="0">
              <a:latin typeface="Century Gothic" charset="0"/>
            </a:endParaRPr>
          </a:p>
        </p:txBody>
      </p:sp>
      <p:sp>
        <p:nvSpPr>
          <p:cNvPr id="3" name="Content Placeholder 2"/>
          <p:cNvSpPr>
            <a:spLocks noGrp="1"/>
          </p:cNvSpPr>
          <p:nvPr>
            <p:ph idx="1"/>
          </p:nvPr>
        </p:nvSpPr>
        <p:spPr>
          <a:xfrm>
            <a:off x="457200" y="2324100"/>
            <a:ext cx="8128000" cy="4008967"/>
          </a:xfrm>
        </p:spPr>
        <p:txBody>
          <a:bodyPr/>
          <a:lstStyle/>
          <a:p>
            <a:pPr marL="527050" indent="-457200">
              <a:buFont typeface="+mj-lt"/>
              <a:buAutoNum type="arabicPeriod"/>
            </a:pPr>
            <a:r>
              <a:rPr lang="en-US" dirty="0" smtClean="0">
                <a:solidFill>
                  <a:srgbClr val="4A6300"/>
                </a:solidFill>
                <a:latin typeface="Avenir Book" charset="0"/>
                <a:cs typeface="Avenir Book" charset="0"/>
              </a:rPr>
              <a:t>How can I make your lab/discussion experience more worthwhile?</a:t>
            </a:r>
          </a:p>
          <a:p>
            <a:pPr marL="527050" indent="-457200">
              <a:buFont typeface="+mj-lt"/>
              <a:buAutoNum type="arabicPeriod"/>
            </a:pPr>
            <a:r>
              <a:rPr lang="en-US" dirty="0" smtClean="0">
                <a:solidFill>
                  <a:srgbClr val="4A6300"/>
                </a:solidFill>
                <a:latin typeface="Avenir Book" charset="0"/>
                <a:cs typeface="Avenir Book" charset="0"/>
              </a:rPr>
              <a:t>What would Python print?</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a:t>
            </a:fld>
            <a:endParaRPr lang="en-US">
              <a:solidFill>
                <a:srgbClr val="FEFEFE"/>
              </a:solidFill>
            </a:endParaRPr>
          </a:p>
        </p:txBody>
      </p:sp>
      <p:sp>
        <p:nvSpPr>
          <p:cNvPr id="2" name="TextBox 1"/>
          <p:cNvSpPr txBox="1"/>
          <p:nvPr/>
        </p:nvSpPr>
        <p:spPr>
          <a:xfrm>
            <a:off x="769749" y="3720028"/>
            <a:ext cx="6196497" cy="2862323"/>
          </a:xfrm>
          <a:prstGeom prst="rect">
            <a:avLst/>
          </a:prstGeom>
          <a:noFill/>
        </p:spPr>
        <p:txBody>
          <a:bodyPr wrap="square" rtlCol="0">
            <a:spAutoFit/>
          </a:bodyPr>
          <a:lstStyle/>
          <a:p>
            <a:r>
              <a:rPr lang="en-US" dirty="0" smtClean="0">
                <a:latin typeface="Consolas"/>
                <a:cs typeface="Consolas"/>
              </a:rPr>
              <a:t>&gt;&gt;&gt; </a:t>
            </a:r>
            <a:r>
              <a:rPr lang="en-US" dirty="0" err="1" smtClean="0">
                <a:latin typeface="Consolas"/>
                <a:cs typeface="Consolas"/>
              </a:rPr>
              <a:t>def</a:t>
            </a:r>
            <a:r>
              <a:rPr lang="en-US" dirty="0" smtClean="0">
                <a:latin typeface="Consolas"/>
                <a:cs typeface="Consolas"/>
              </a:rPr>
              <a:t> foo(x, y):</a:t>
            </a:r>
          </a:p>
          <a:p>
            <a:r>
              <a:rPr lang="en-US" dirty="0" smtClean="0">
                <a:latin typeface="Consolas"/>
                <a:cs typeface="Consolas"/>
              </a:rPr>
              <a:t>...  if x == 0:</a:t>
            </a:r>
          </a:p>
          <a:p>
            <a:r>
              <a:rPr lang="en-US" dirty="0" smtClean="0">
                <a:latin typeface="Consolas"/>
                <a:cs typeface="Consolas"/>
              </a:rPr>
              <a:t>...    return y</a:t>
            </a:r>
          </a:p>
          <a:p>
            <a:r>
              <a:rPr lang="en-US" dirty="0" smtClean="0">
                <a:latin typeface="Consolas"/>
                <a:cs typeface="Consolas"/>
              </a:rPr>
              <a:t>...  print(x % 10)</a:t>
            </a:r>
          </a:p>
          <a:p>
            <a:r>
              <a:rPr lang="en-US" dirty="0" smtClean="0">
                <a:latin typeface="Consolas"/>
                <a:cs typeface="Consolas"/>
              </a:rPr>
              <a:t>...  return bar(x // 10, y)</a:t>
            </a:r>
          </a:p>
          <a:p>
            <a:r>
              <a:rPr lang="en-US" dirty="0" smtClean="0">
                <a:latin typeface="Consolas"/>
                <a:cs typeface="Consolas"/>
              </a:rPr>
              <a:t>...</a:t>
            </a:r>
          </a:p>
          <a:p>
            <a:r>
              <a:rPr lang="en-US" dirty="0" smtClean="0">
                <a:latin typeface="Consolas"/>
                <a:cs typeface="Consolas"/>
              </a:rPr>
              <a:t>&gt;&gt;&gt; </a:t>
            </a:r>
            <a:r>
              <a:rPr lang="en-US" dirty="0" err="1" smtClean="0">
                <a:latin typeface="Consolas"/>
                <a:cs typeface="Consolas"/>
              </a:rPr>
              <a:t>def</a:t>
            </a:r>
            <a:r>
              <a:rPr lang="en-US" dirty="0" smtClean="0">
                <a:latin typeface="Consolas"/>
                <a:cs typeface="Consolas"/>
              </a:rPr>
              <a:t> bar(x, y):</a:t>
            </a:r>
          </a:p>
          <a:p>
            <a:r>
              <a:rPr lang="en-US" dirty="0" smtClean="0">
                <a:latin typeface="Consolas"/>
                <a:cs typeface="Consolas"/>
              </a:rPr>
              <a:t>...  return foo(x // 10, y * 10 + x % 10)</a:t>
            </a:r>
          </a:p>
          <a:p>
            <a:r>
              <a:rPr lang="en-US" dirty="0" smtClean="0">
                <a:latin typeface="Consolas"/>
                <a:cs typeface="Consolas"/>
              </a:rPr>
              <a:t>&gt;&gt;&gt; foo(945113, 0)</a:t>
            </a:r>
            <a:endParaRPr lang="en-US" dirty="0">
              <a:latin typeface="Consolas"/>
              <a:cs typeface="Consolas"/>
            </a:endParaRPr>
          </a:p>
          <a:p>
            <a:endParaRPr lang="en-US" dirty="0" smtClean="0">
              <a:latin typeface="Consolas"/>
              <a:cs typeface="Consolas"/>
            </a:endParaRPr>
          </a:p>
        </p:txBody>
      </p:sp>
    </p:spTree>
    <p:extLst>
      <p:ext uri="{BB962C8B-B14F-4D97-AF65-F5344CB8AC3E}">
        <p14:creationId xmlns:p14="http://schemas.microsoft.com/office/powerpoint/2010/main" val="396526294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US" dirty="0" smtClean="0">
                <a:latin typeface="Century Gothic" charset="0"/>
              </a:rPr>
              <a:t>Section Quiz </a:t>
            </a:r>
            <a:r>
              <a:rPr lang="en-US" dirty="0" smtClean="0">
                <a:solidFill>
                  <a:srgbClr val="FF0000"/>
                </a:solidFill>
                <a:latin typeface="Century Gothic" charset="0"/>
              </a:rPr>
              <a:t>[Solution]</a:t>
            </a:r>
            <a:endParaRPr lang="en-US" dirty="0">
              <a:solidFill>
                <a:srgbClr val="FF0000"/>
              </a:solidFill>
              <a:latin typeface="Century Gothic" charset="0"/>
            </a:endParaRPr>
          </a:p>
        </p:txBody>
      </p:sp>
      <p:sp>
        <p:nvSpPr>
          <p:cNvPr id="3" name="Content Placeholder 2"/>
          <p:cNvSpPr>
            <a:spLocks noGrp="1"/>
          </p:cNvSpPr>
          <p:nvPr>
            <p:ph idx="1"/>
          </p:nvPr>
        </p:nvSpPr>
        <p:spPr>
          <a:xfrm>
            <a:off x="457200" y="2324100"/>
            <a:ext cx="8128000" cy="4008967"/>
          </a:xfrm>
        </p:spPr>
        <p:txBody>
          <a:bodyPr/>
          <a:lstStyle/>
          <a:p>
            <a:pPr marL="527050" indent="-457200">
              <a:buFont typeface="+mj-lt"/>
              <a:buAutoNum type="arabicPeriod"/>
            </a:pPr>
            <a:r>
              <a:rPr lang="en-US" dirty="0" smtClean="0">
                <a:solidFill>
                  <a:srgbClr val="4A6300"/>
                </a:solidFill>
                <a:latin typeface="Avenir Book" charset="0"/>
                <a:cs typeface="Avenir Book" charset="0"/>
              </a:rPr>
              <a:t>What would Python print?</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4</a:t>
            </a:fld>
            <a:endParaRPr lang="en-US">
              <a:solidFill>
                <a:srgbClr val="FEFEFE"/>
              </a:solidFill>
            </a:endParaRPr>
          </a:p>
        </p:txBody>
      </p:sp>
      <p:sp>
        <p:nvSpPr>
          <p:cNvPr id="2" name="TextBox 1"/>
          <p:cNvSpPr txBox="1"/>
          <p:nvPr/>
        </p:nvSpPr>
        <p:spPr>
          <a:xfrm>
            <a:off x="769749" y="2655331"/>
            <a:ext cx="6196497" cy="4247317"/>
          </a:xfrm>
          <a:prstGeom prst="rect">
            <a:avLst/>
          </a:prstGeom>
          <a:noFill/>
        </p:spPr>
        <p:txBody>
          <a:bodyPr wrap="square" rtlCol="0">
            <a:spAutoFit/>
          </a:bodyPr>
          <a:lstStyle/>
          <a:p>
            <a:r>
              <a:rPr lang="en-US" dirty="0" smtClean="0">
                <a:latin typeface="Consolas"/>
                <a:cs typeface="Consolas"/>
              </a:rPr>
              <a:t>&gt;&gt;&gt; </a:t>
            </a:r>
            <a:r>
              <a:rPr lang="en-US" dirty="0" err="1" smtClean="0">
                <a:latin typeface="Consolas"/>
                <a:cs typeface="Consolas"/>
              </a:rPr>
              <a:t>def</a:t>
            </a:r>
            <a:r>
              <a:rPr lang="en-US" dirty="0" smtClean="0">
                <a:latin typeface="Consolas"/>
                <a:cs typeface="Consolas"/>
              </a:rPr>
              <a:t> foo(x, y):</a:t>
            </a:r>
          </a:p>
          <a:p>
            <a:r>
              <a:rPr lang="en-US" dirty="0" smtClean="0">
                <a:latin typeface="Consolas"/>
                <a:cs typeface="Consolas"/>
              </a:rPr>
              <a:t>...  if x == 0:</a:t>
            </a:r>
          </a:p>
          <a:p>
            <a:r>
              <a:rPr lang="en-US" dirty="0" smtClean="0">
                <a:latin typeface="Consolas"/>
                <a:cs typeface="Consolas"/>
              </a:rPr>
              <a:t>...    return y</a:t>
            </a:r>
          </a:p>
          <a:p>
            <a:r>
              <a:rPr lang="en-US" dirty="0" smtClean="0">
                <a:latin typeface="Consolas"/>
                <a:cs typeface="Consolas"/>
              </a:rPr>
              <a:t>...  print(x % 10)</a:t>
            </a:r>
          </a:p>
          <a:p>
            <a:r>
              <a:rPr lang="en-US" dirty="0" smtClean="0">
                <a:latin typeface="Consolas"/>
                <a:cs typeface="Consolas"/>
              </a:rPr>
              <a:t>...  return bar(x // 10, y)</a:t>
            </a:r>
          </a:p>
          <a:p>
            <a:r>
              <a:rPr lang="en-US" dirty="0" smtClean="0">
                <a:latin typeface="Consolas"/>
                <a:cs typeface="Consolas"/>
              </a:rPr>
              <a:t>...</a:t>
            </a:r>
          </a:p>
          <a:p>
            <a:r>
              <a:rPr lang="en-US" dirty="0" smtClean="0">
                <a:latin typeface="Consolas"/>
                <a:cs typeface="Consolas"/>
              </a:rPr>
              <a:t>&gt;&gt;&gt; </a:t>
            </a:r>
            <a:r>
              <a:rPr lang="en-US" dirty="0" err="1" smtClean="0">
                <a:latin typeface="Consolas"/>
                <a:cs typeface="Consolas"/>
              </a:rPr>
              <a:t>def</a:t>
            </a:r>
            <a:r>
              <a:rPr lang="en-US" dirty="0" smtClean="0">
                <a:latin typeface="Consolas"/>
                <a:cs typeface="Consolas"/>
              </a:rPr>
              <a:t> bar(x, y):</a:t>
            </a:r>
          </a:p>
          <a:p>
            <a:r>
              <a:rPr lang="en-US" dirty="0" smtClean="0">
                <a:latin typeface="Consolas"/>
                <a:cs typeface="Consolas"/>
              </a:rPr>
              <a:t>...  return foo(x // 10, y * 10 + x % 10)</a:t>
            </a:r>
          </a:p>
          <a:p>
            <a:r>
              <a:rPr lang="en-US" dirty="0" smtClean="0">
                <a:latin typeface="Consolas"/>
                <a:cs typeface="Consolas"/>
              </a:rPr>
              <a:t>...</a:t>
            </a:r>
          </a:p>
          <a:p>
            <a:r>
              <a:rPr lang="en-US" dirty="0" smtClean="0">
                <a:latin typeface="Consolas"/>
                <a:cs typeface="Consolas"/>
              </a:rPr>
              <a:t>&gt;&gt;&gt; foo(945113, 0)</a:t>
            </a:r>
          </a:p>
          <a:p>
            <a:r>
              <a:rPr lang="en-US" dirty="0" smtClean="0">
                <a:solidFill>
                  <a:srgbClr val="FF0000"/>
                </a:solidFill>
                <a:latin typeface="Consolas"/>
                <a:cs typeface="Consolas"/>
              </a:rPr>
              <a:t>3</a:t>
            </a:r>
          </a:p>
          <a:p>
            <a:r>
              <a:rPr lang="en-US" dirty="0" smtClean="0">
                <a:solidFill>
                  <a:srgbClr val="FF0000"/>
                </a:solidFill>
                <a:latin typeface="Consolas"/>
                <a:cs typeface="Consolas"/>
              </a:rPr>
              <a:t>1</a:t>
            </a:r>
          </a:p>
          <a:p>
            <a:r>
              <a:rPr lang="en-US" dirty="0" smtClean="0">
                <a:solidFill>
                  <a:srgbClr val="FF0000"/>
                </a:solidFill>
                <a:latin typeface="Consolas"/>
                <a:cs typeface="Consolas"/>
              </a:rPr>
              <a:t>4</a:t>
            </a:r>
          </a:p>
          <a:p>
            <a:r>
              <a:rPr lang="en-US" dirty="0" smtClean="0">
                <a:solidFill>
                  <a:srgbClr val="FF0000"/>
                </a:solidFill>
                <a:latin typeface="Consolas"/>
                <a:cs typeface="Consolas"/>
              </a:rPr>
              <a:t>159</a:t>
            </a:r>
            <a:endParaRPr lang="en-US" dirty="0">
              <a:solidFill>
                <a:srgbClr val="FF0000"/>
              </a:solidFill>
              <a:latin typeface="Consolas"/>
              <a:cs typeface="Consolas"/>
            </a:endParaRPr>
          </a:p>
          <a:p>
            <a:endParaRPr lang="en-US" dirty="0" smtClean="0">
              <a:latin typeface="Consolas"/>
              <a:cs typeface="Consolas"/>
            </a:endParaRPr>
          </a:p>
        </p:txBody>
      </p:sp>
      <p:sp>
        <p:nvSpPr>
          <p:cNvPr id="4" name="TextBox 3"/>
          <p:cNvSpPr txBox="1"/>
          <p:nvPr/>
        </p:nvSpPr>
        <p:spPr>
          <a:xfrm>
            <a:off x="4785285" y="2937539"/>
            <a:ext cx="2668470" cy="646331"/>
          </a:xfrm>
          <a:prstGeom prst="rect">
            <a:avLst/>
          </a:prstGeom>
          <a:noFill/>
        </p:spPr>
        <p:txBody>
          <a:bodyPr wrap="square" rtlCol="0">
            <a:spAutoFit/>
          </a:bodyPr>
          <a:lstStyle/>
          <a:p>
            <a:r>
              <a:rPr lang="en-US" dirty="0" smtClean="0"/>
              <a:t>Foo prints the ones digit, removes it from x</a:t>
            </a:r>
            <a:endParaRPr lang="en-US" dirty="0"/>
          </a:p>
        </p:txBody>
      </p:sp>
      <p:sp>
        <p:nvSpPr>
          <p:cNvPr id="7" name="TextBox 6"/>
          <p:cNvSpPr txBox="1"/>
          <p:nvPr/>
        </p:nvSpPr>
        <p:spPr>
          <a:xfrm>
            <a:off x="5784411" y="3860869"/>
            <a:ext cx="2668470" cy="923330"/>
          </a:xfrm>
          <a:prstGeom prst="rect">
            <a:avLst/>
          </a:prstGeom>
          <a:noFill/>
        </p:spPr>
        <p:txBody>
          <a:bodyPr wrap="square" rtlCol="0">
            <a:spAutoFit/>
          </a:bodyPr>
          <a:lstStyle/>
          <a:p>
            <a:r>
              <a:rPr lang="en-US" dirty="0" smtClean="0"/>
              <a:t>Bar takes a digit, appends to y, and removes it</a:t>
            </a:r>
            <a:endParaRPr lang="en-US" dirty="0"/>
          </a:p>
        </p:txBody>
      </p:sp>
    </p:spTree>
    <p:extLst>
      <p:ext uri="{BB962C8B-B14F-4D97-AF65-F5344CB8AC3E}">
        <p14:creationId xmlns:p14="http://schemas.microsoft.com/office/powerpoint/2010/main" val="96009616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US" dirty="0" smtClean="0">
                <a:latin typeface="Century Gothic" charset="0"/>
              </a:rPr>
              <a:t>Section Quiz </a:t>
            </a:r>
            <a:r>
              <a:rPr lang="en-US" dirty="0" smtClean="0">
                <a:solidFill>
                  <a:srgbClr val="FF0000"/>
                </a:solidFill>
                <a:latin typeface="Century Gothic" charset="0"/>
              </a:rPr>
              <a:t>[Solution]</a:t>
            </a:r>
            <a:endParaRPr lang="en-US" dirty="0">
              <a:solidFill>
                <a:srgbClr val="FF0000"/>
              </a:solidFill>
              <a:latin typeface="Century Gothic" charset="0"/>
            </a:endParaRPr>
          </a:p>
        </p:txBody>
      </p:sp>
      <p:sp>
        <p:nvSpPr>
          <p:cNvPr id="3" name="Content Placeholder 2"/>
          <p:cNvSpPr>
            <a:spLocks noGrp="1"/>
          </p:cNvSpPr>
          <p:nvPr>
            <p:ph idx="1"/>
          </p:nvPr>
        </p:nvSpPr>
        <p:spPr>
          <a:xfrm>
            <a:off x="457200" y="2324100"/>
            <a:ext cx="8128000" cy="4008967"/>
          </a:xfrm>
        </p:spPr>
        <p:txBody>
          <a:bodyPr/>
          <a:lstStyle/>
          <a:p>
            <a:pPr marL="527050" indent="-457200">
              <a:buFont typeface="+mj-lt"/>
              <a:buAutoNum type="arabicPeriod"/>
            </a:pPr>
            <a:r>
              <a:rPr lang="en-US" dirty="0" smtClean="0">
                <a:solidFill>
                  <a:srgbClr val="4A6300"/>
                </a:solidFill>
                <a:latin typeface="Avenir Book" charset="0"/>
                <a:cs typeface="Avenir Book" charset="0"/>
              </a:rPr>
              <a:t>What would Python print?</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5</a:t>
            </a:fld>
            <a:endParaRPr lang="en-US">
              <a:solidFill>
                <a:srgbClr val="FEFEFE"/>
              </a:solidFill>
            </a:endParaRPr>
          </a:p>
        </p:txBody>
      </p:sp>
      <p:sp>
        <p:nvSpPr>
          <p:cNvPr id="2" name="TextBox 1"/>
          <p:cNvSpPr txBox="1"/>
          <p:nvPr/>
        </p:nvSpPr>
        <p:spPr>
          <a:xfrm>
            <a:off x="769749" y="2655331"/>
            <a:ext cx="6196497" cy="4247317"/>
          </a:xfrm>
          <a:prstGeom prst="rect">
            <a:avLst/>
          </a:prstGeom>
          <a:noFill/>
        </p:spPr>
        <p:txBody>
          <a:bodyPr wrap="square" rtlCol="0">
            <a:spAutoFit/>
          </a:bodyPr>
          <a:lstStyle/>
          <a:p>
            <a:r>
              <a:rPr lang="en-US" dirty="0" smtClean="0">
                <a:latin typeface="Consolas"/>
                <a:cs typeface="Consolas"/>
              </a:rPr>
              <a:t>&gt;&gt;&gt; </a:t>
            </a:r>
            <a:r>
              <a:rPr lang="en-US" dirty="0" err="1" smtClean="0">
                <a:latin typeface="Consolas"/>
                <a:cs typeface="Consolas"/>
              </a:rPr>
              <a:t>def</a:t>
            </a:r>
            <a:r>
              <a:rPr lang="en-US" dirty="0" smtClean="0">
                <a:latin typeface="Consolas"/>
                <a:cs typeface="Consolas"/>
              </a:rPr>
              <a:t> foo(x, y):</a:t>
            </a:r>
          </a:p>
          <a:p>
            <a:r>
              <a:rPr lang="en-US" dirty="0" smtClean="0">
                <a:latin typeface="Consolas"/>
                <a:cs typeface="Consolas"/>
              </a:rPr>
              <a:t>...  if x == 0:</a:t>
            </a:r>
          </a:p>
          <a:p>
            <a:r>
              <a:rPr lang="en-US" dirty="0" smtClean="0">
                <a:latin typeface="Consolas"/>
                <a:cs typeface="Consolas"/>
              </a:rPr>
              <a:t>...    return y</a:t>
            </a:r>
          </a:p>
          <a:p>
            <a:r>
              <a:rPr lang="en-US" dirty="0" smtClean="0">
                <a:latin typeface="Consolas"/>
                <a:cs typeface="Consolas"/>
              </a:rPr>
              <a:t>...  print(x % 10)</a:t>
            </a:r>
          </a:p>
          <a:p>
            <a:r>
              <a:rPr lang="en-US" dirty="0" smtClean="0">
                <a:latin typeface="Consolas"/>
                <a:cs typeface="Consolas"/>
              </a:rPr>
              <a:t>...  return bar(x // 10, y)</a:t>
            </a:r>
          </a:p>
          <a:p>
            <a:r>
              <a:rPr lang="en-US" dirty="0" smtClean="0">
                <a:latin typeface="Consolas"/>
                <a:cs typeface="Consolas"/>
              </a:rPr>
              <a:t>...</a:t>
            </a:r>
          </a:p>
          <a:p>
            <a:r>
              <a:rPr lang="en-US" dirty="0" smtClean="0">
                <a:latin typeface="Consolas"/>
                <a:cs typeface="Consolas"/>
              </a:rPr>
              <a:t>&gt;&gt;&gt; </a:t>
            </a:r>
            <a:r>
              <a:rPr lang="en-US" dirty="0" err="1" smtClean="0">
                <a:latin typeface="Consolas"/>
                <a:cs typeface="Consolas"/>
              </a:rPr>
              <a:t>def</a:t>
            </a:r>
            <a:r>
              <a:rPr lang="en-US" dirty="0" smtClean="0">
                <a:latin typeface="Consolas"/>
                <a:cs typeface="Consolas"/>
              </a:rPr>
              <a:t> bar(x, y):</a:t>
            </a:r>
          </a:p>
          <a:p>
            <a:r>
              <a:rPr lang="en-US" dirty="0" smtClean="0">
                <a:latin typeface="Consolas"/>
                <a:cs typeface="Consolas"/>
              </a:rPr>
              <a:t>...  return foo(x // 10, y * 10 + x % 10)</a:t>
            </a:r>
          </a:p>
          <a:p>
            <a:r>
              <a:rPr lang="en-US" dirty="0" smtClean="0">
                <a:latin typeface="Consolas"/>
                <a:cs typeface="Consolas"/>
              </a:rPr>
              <a:t>...</a:t>
            </a:r>
          </a:p>
          <a:p>
            <a:r>
              <a:rPr lang="en-US" dirty="0" smtClean="0">
                <a:latin typeface="Consolas"/>
                <a:cs typeface="Consolas"/>
              </a:rPr>
              <a:t>&gt;&gt;&gt; foo(945113, 0)</a:t>
            </a:r>
          </a:p>
          <a:p>
            <a:r>
              <a:rPr lang="en-US" dirty="0" smtClean="0">
                <a:solidFill>
                  <a:srgbClr val="FF0000"/>
                </a:solidFill>
                <a:latin typeface="Consolas"/>
                <a:cs typeface="Consolas"/>
              </a:rPr>
              <a:t>3</a:t>
            </a:r>
          </a:p>
          <a:p>
            <a:r>
              <a:rPr lang="en-US" dirty="0" smtClean="0">
                <a:solidFill>
                  <a:srgbClr val="FF0000"/>
                </a:solidFill>
                <a:latin typeface="Consolas"/>
                <a:cs typeface="Consolas"/>
              </a:rPr>
              <a:t>1</a:t>
            </a:r>
          </a:p>
          <a:p>
            <a:r>
              <a:rPr lang="en-US" dirty="0" smtClean="0">
                <a:solidFill>
                  <a:srgbClr val="FF0000"/>
                </a:solidFill>
                <a:latin typeface="Consolas"/>
                <a:cs typeface="Consolas"/>
              </a:rPr>
              <a:t>4</a:t>
            </a:r>
          </a:p>
          <a:p>
            <a:r>
              <a:rPr lang="en-US" dirty="0" smtClean="0">
                <a:solidFill>
                  <a:srgbClr val="FF0000"/>
                </a:solidFill>
                <a:latin typeface="Consolas"/>
                <a:cs typeface="Consolas"/>
              </a:rPr>
              <a:t>159</a:t>
            </a:r>
            <a:endParaRPr lang="en-US" dirty="0">
              <a:solidFill>
                <a:srgbClr val="FF0000"/>
              </a:solidFill>
              <a:latin typeface="Consolas"/>
              <a:cs typeface="Consolas"/>
            </a:endParaRPr>
          </a:p>
          <a:p>
            <a:endParaRPr lang="en-US" dirty="0" smtClean="0">
              <a:latin typeface="Consolas"/>
              <a:cs typeface="Consolas"/>
            </a:endParaRPr>
          </a:p>
        </p:txBody>
      </p:sp>
      <p:sp>
        <p:nvSpPr>
          <p:cNvPr id="4" name="TextBox 3"/>
          <p:cNvSpPr txBox="1"/>
          <p:nvPr/>
        </p:nvSpPr>
        <p:spPr>
          <a:xfrm>
            <a:off x="4785285" y="2937539"/>
            <a:ext cx="2668470" cy="646331"/>
          </a:xfrm>
          <a:prstGeom prst="rect">
            <a:avLst/>
          </a:prstGeom>
          <a:noFill/>
        </p:spPr>
        <p:txBody>
          <a:bodyPr wrap="square" rtlCol="0">
            <a:spAutoFit/>
          </a:bodyPr>
          <a:lstStyle/>
          <a:p>
            <a:r>
              <a:rPr lang="en-US" dirty="0" smtClean="0"/>
              <a:t>Foo prints the ones digit, removes it from x</a:t>
            </a:r>
            <a:endParaRPr lang="en-US" dirty="0"/>
          </a:p>
        </p:txBody>
      </p:sp>
      <p:sp>
        <p:nvSpPr>
          <p:cNvPr id="7" name="TextBox 6"/>
          <p:cNvSpPr txBox="1"/>
          <p:nvPr/>
        </p:nvSpPr>
        <p:spPr>
          <a:xfrm>
            <a:off x="5784411" y="3860869"/>
            <a:ext cx="2668470" cy="923330"/>
          </a:xfrm>
          <a:prstGeom prst="rect">
            <a:avLst/>
          </a:prstGeom>
          <a:noFill/>
        </p:spPr>
        <p:txBody>
          <a:bodyPr wrap="square" rtlCol="0">
            <a:spAutoFit/>
          </a:bodyPr>
          <a:lstStyle/>
          <a:p>
            <a:r>
              <a:rPr lang="en-US" dirty="0" smtClean="0"/>
              <a:t>Bar takes a digit, appends to y, and removes it</a:t>
            </a:r>
            <a:endParaRPr lang="en-US" dirty="0"/>
          </a:p>
        </p:txBody>
      </p:sp>
      <p:sp>
        <p:nvSpPr>
          <p:cNvPr id="8" name="TextBox 7"/>
          <p:cNvSpPr txBox="1"/>
          <p:nvPr/>
        </p:nvSpPr>
        <p:spPr>
          <a:xfrm>
            <a:off x="4050921" y="5219071"/>
            <a:ext cx="4185414" cy="923330"/>
          </a:xfrm>
          <a:prstGeom prst="rect">
            <a:avLst/>
          </a:prstGeom>
          <a:noFill/>
        </p:spPr>
        <p:txBody>
          <a:bodyPr wrap="square" rtlCol="0">
            <a:spAutoFit/>
          </a:bodyPr>
          <a:lstStyle/>
          <a:p>
            <a:r>
              <a:rPr lang="en-US" b="1" dirty="0" smtClean="0">
                <a:solidFill>
                  <a:schemeClr val="bg2">
                    <a:lumMod val="50000"/>
                  </a:schemeClr>
                </a:solidFill>
              </a:rPr>
              <a:t>If you know the rules well</a:t>
            </a:r>
            <a:r>
              <a:rPr lang="en-US" dirty="0" smtClean="0"/>
              <a:t>, recursion and HOF execution should not be anything special</a:t>
            </a:r>
            <a:endParaRPr lang="en-US" dirty="0"/>
          </a:p>
        </p:txBody>
      </p:sp>
    </p:spTree>
    <p:extLst>
      <p:ext uri="{BB962C8B-B14F-4D97-AF65-F5344CB8AC3E}">
        <p14:creationId xmlns:p14="http://schemas.microsoft.com/office/powerpoint/2010/main" val="153014405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US" dirty="0" err="1">
                <a:latin typeface="Century Gothic" charset="0"/>
              </a:rPr>
              <a:t>Anuncios</a:t>
            </a:r>
            <a:endParaRPr lang="en-US" dirty="0">
              <a:latin typeface="Century Gothic" charset="0"/>
            </a:endParaRPr>
          </a:p>
        </p:txBody>
      </p:sp>
      <p:sp>
        <p:nvSpPr>
          <p:cNvPr id="3" name="Content Placeholder 2"/>
          <p:cNvSpPr>
            <a:spLocks noGrp="1"/>
          </p:cNvSpPr>
          <p:nvPr>
            <p:ph idx="1"/>
          </p:nvPr>
        </p:nvSpPr>
        <p:spPr>
          <a:xfrm>
            <a:off x="457200" y="2324100"/>
            <a:ext cx="8128000" cy="4008967"/>
          </a:xfrm>
        </p:spPr>
        <p:txBody>
          <a:bodyPr/>
          <a:lstStyle/>
          <a:p>
            <a:r>
              <a:rPr lang="en-US" dirty="0" smtClean="0">
                <a:solidFill>
                  <a:srgbClr val="4A6300"/>
                </a:solidFill>
                <a:latin typeface="Avenir Book" charset="0"/>
                <a:cs typeface="Avenir Book" charset="0"/>
              </a:rPr>
              <a:t>Midterm 1 is next Monday 9/22</a:t>
            </a:r>
          </a:p>
          <a:p>
            <a:r>
              <a:rPr lang="en-US" dirty="0" smtClean="0">
                <a:solidFill>
                  <a:srgbClr val="4A6300"/>
                </a:solidFill>
                <a:latin typeface="Avenir Book" charset="0"/>
                <a:cs typeface="Avenir Book" charset="0"/>
              </a:rPr>
              <a:t>Hog Project 1 is due tonight for normal credit. Late submission by a day has 2/3 of earned score.</a:t>
            </a:r>
          </a:p>
          <a:p>
            <a:r>
              <a:rPr lang="en-US" dirty="0" smtClean="0">
                <a:solidFill>
                  <a:srgbClr val="4A6300"/>
                </a:solidFill>
                <a:latin typeface="Avenir Book" charset="0"/>
                <a:cs typeface="Avenir Book" charset="0"/>
              </a:rPr>
              <a:t>Reminder: My OH are Tuesdays, Thursdays 4-5 PM</a:t>
            </a:r>
            <a:r>
              <a:rPr lang="en-US" dirty="0">
                <a:solidFill>
                  <a:srgbClr val="4A6300"/>
                </a:solidFill>
                <a:latin typeface="Avenir Book" charset="0"/>
                <a:cs typeface="Avenir Book" charset="0"/>
              </a:rPr>
              <a:t> </a:t>
            </a:r>
            <a:r>
              <a:rPr lang="en-US" dirty="0" smtClean="0">
                <a:solidFill>
                  <a:srgbClr val="4A6300"/>
                </a:solidFill>
                <a:latin typeface="Avenir Book" charset="0"/>
                <a:cs typeface="Avenir Book" charset="0"/>
              </a:rPr>
              <a:t>in Soda 411</a:t>
            </a:r>
          </a:p>
          <a:p>
            <a:r>
              <a:rPr lang="en-US" b="1" u="sng" dirty="0" smtClean="0">
                <a:solidFill>
                  <a:srgbClr val="4A6300"/>
                </a:solidFill>
                <a:latin typeface="Avenir Book" charset="0"/>
                <a:cs typeface="Avenir Book" charset="0"/>
              </a:rPr>
              <a:t>Review sessions</a:t>
            </a:r>
            <a:r>
              <a:rPr lang="en-US" b="1" dirty="0" smtClean="0">
                <a:solidFill>
                  <a:srgbClr val="4A6300"/>
                </a:solidFill>
                <a:latin typeface="Avenir Book" charset="0"/>
                <a:cs typeface="Avenir Book" charset="0"/>
              </a:rPr>
              <a:t> for the midterm this Saturday and Sunday</a:t>
            </a:r>
          </a:p>
          <a:p>
            <a:r>
              <a:rPr lang="en-US" b="1" u="sng" dirty="0" smtClean="0">
                <a:solidFill>
                  <a:srgbClr val="4A6300"/>
                </a:solidFill>
                <a:latin typeface="Avenir Book" charset="0"/>
                <a:cs typeface="Avenir Book" charset="0"/>
              </a:rPr>
              <a:t>Do not</a:t>
            </a:r>
            <a:r>
              <a:rPr lang="en-US" dirty="0" smtClean="0">
                <a:solidFill>
                  <a:srgbClr val="4A6300"/>
                </a:solidFill>
                <a:latin typeface="Avenir Book" charset="0"/>
                <a:cs typeface="Avenir Book" charset="0"/>
              </a:rPr>
              <a:t> post any of your code on a public-viewable platform online. (e.g. </a:t>
            </a:r>
            <a:r>
              <a:rPr lang="en-US" dirty="0" err="1" smtClean="0">
                <a:solidFill>
                  <a:srgbClr val="4A6300"/>
                </a:solidFill>
                <a:latin typeface="Avenir Book" charset="0"/>
                <a:cs typeface="Avenir Book" charset="0"/>
              </a:rPr>
              <a:t>Github</a:t>
            </a:r>
            <a:r>
              <a:rPr lang="en-US" dirty="0" smtClean="0">
                <a:solidFill>
                  <a:srgbClr val="4A6300"/>
                </a:solidFill>
                <a:latin typeface="Avenir Book" charset="0"/>
                <a:cs typeface="Avenir Book" charset="0"/>
              </a:rPr>
              <a:t>, </a:t>
            </a:r>
            <a:r>
              <a:rPr lang="en-US" dirty="0" err="1" smtClean="0">
                <a:solidFill>
                  <a:srgbClr val="4A6300"/>
                </a:solidFill>
                <a:latin typeface="Avenir Book" charset="0"/>
                <a:cs typeface="Avenir Book" charset="0"/>
              </a:rPr>
              <a:t>Pastebin</a:t>
            </a:r>
            <a:r>
              <a:rPr lang="en-US" dirty="0" smtClean="0">
                <a:solidFill>
                  <a:srgbClr val="4A6300"/>
                </a:solidFill>
                <a:latin typeface="Avenir Book" charset="0"/>
                <a:cs typeface="Avenir Book" charset="0"/>
              </a:rPr>
              <a:t>)</a:t>
            </a:r>
            <a:endParaRPr lang="en-US" b="1" u="sng" dirty="0" smtClean="0">
              <a:solidFill>
                <a:srgbClr val="4A6300"/>
              </a:solidFill>
              <a:latin typeface="Avenir Book" charset="0"/>
              <a:cs typeface="Avenir Book" charset="0"/>
            </a:endParaRPr>
          </a:p>
          <a:p>
            <a:endParaRPr lang="en-US"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6</a:t>
            </a:fld>
            <a:endParaRPr lang="en-US">
              <a:solidFill>
                <a:srgbClr val="FEFEFE"/>
              </a:solidFill>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Tip of the Day</a:t>
            </a:r>
            <a:endParaRPr lang="en-US" dirty="0">
              <a:latin typeface="Century Gothic" charset="0"/>
            </a:endParaRPr>
          </a:p>
        </p:txBody>
      </p:sp>
      <p:sp>
        <p:nvSpPr>
          <p:cNvPr id="3" name="Content Placeholder 2"/>
          <p:cNvSpPr>
            <a:spLocks noGrp="1"/>
          </p:cNvSpPr>
          <p:nvPr>
            <p:ph idx="1"/>
          </p:nvPr>
        </p:nvSpPr>
        <p:spPr>
          <a:xfrm>
            <a:off x="457199" y="1598613"/>
            <a:ext cx="8314267" cy="4903787"/>
          </a:xfrm>
        </p:spPr>
        <p:txBody>
          <a:bodyPr/>
          <a:lstStyle/>
          <a:p>
            <a:r>
              <a:rPr lang="en-US" dirty="0" smtClean="0">
                <a:solidFill>
                  <a:srgbClr val="4A6300"/>
                </a:solidFill>
                <a:latin typeface="Avenir Book" charset="0"/>
                <a:cs typeface="Avenir Book" charset="0"/>
              </a:rPr>
              <a:t>Trust your functions!</a:t>
            </a:r>
          </a:p>
          <a:p>
            <a:pPr lvl="1"/>
            <a:r>
              <a:rPr lang="en-US" dirty="0" smtClean="0">
                <a:solidFill>
                  <a:srgbClr val="4A6300"/>
                </a:solidFill>
                <a:latin typeface="Avenir Book" charset="0"/>
                <a:cs typeface="Avenir Book" charset="0"/>
              </a:rPr>
              <a:t>Seen in the section quiz: functions are meant to hide complexity</a:t>
            </a:r>
          </a:p>
          <a:p>
            <a:pPr lvl="1"/>
            <a:r>
              <a:rPr lang="en-US" dirty="0" smtClean="0">
                <a:solidFill>
                  <a:srgbClr val="4A6300"/>
                </a:solidFill>
                <a:latin typeface="Avenir Book" charset="0"/>
                <a:cs typeface="Avenir Book" charset="0"/>
              </a:rPr>
              <a:t>Recursion is incredibly expressive, because you can think in terms of the behavior and input of your function… when writing the same function!</a:t>
            </a:r>
          </a:p>
          <a:p>
            <a:pPr marL="366713" lvl="1" indent="0">
              <a:buNone/>
            </a:pPr>
            <a:endParaRPr lang="en-US"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7</a:t>
            </a:fld>
            <a:endParaRPr lang="en-US">
              <a:solidFill>
                <a:srgbClr val="FEFEFE"/>
              </a:solidFill>
            </a:endParaRPr>
          </a:p>
        </p:txBody>
      </p:sp>
      <p:sp>
        <p:nvSpPr>
          <p:cNvPr id="2" name="Rectangle 1"/>
          <p:cNvSpPr/>
          <p:nvPr/>
        </p:nvSpPr>
        <p:spPr>
          <a:xfrm>
            <a:off x="938936" y="4167664"/>
            <a:ext cx="6476332" cy="1477328"/>
          </a:xfrm>
          <a:prstGeom prst="rect">
            <a:avLst/>
          </a:prstGeom>
        </p:spPr>
        <p:txBody>
          <a:bodyPr wrap="square">
            <a:spAutoFit/>
          </a:bodyPr>
          <a:lstStyle/>
          <a:p>
            <a:pPr lvl="1"/>
            <a:r>
              <a:rPr lang="en-US" dirty="0" err="1" smtClean="0">
                <a:solidFill>
                  <a:srgbClr val="4A6300"/>
                </a:solidFill>
                <a:latin typeface="Consolas"/>
                <a:cs typeface="Consolas"/>
              </a:rPr>
              <a:t>def</a:t>
            </a:r>
            <a:r>
              <a:rPr lang="en-US" dirty="0" smtClean="0">
                <a:solidFill>
                  <a:srgbClr val="4A6300"/>
                </a:solidFill>
                <a:latin typeface="Consolas"/>
                <a:cs typeface="Consolas"/>
              </a:rPr>
              <a:t> echo(word):</a:t>
            </a:r>
          </a:p>
          <a:p>
            <a:pPr lvl="1"/>
            <a:r>
              <a:rPr lang="en-US" dirty="0">
                <a:solidFill>
                  <a:srgbClr val="4A6300"/>
                </a:solidFill>
                <a:latin typeface="Consolas"/>
                <a:cs typeface="Consolas"/>
              </a:rPr>
              <a:t>  </a:t>
            </a:r>
            <a:r>
              <a:rPr lang="en-US" dirty="0" smtClean="0">
                <a:solidFill>
                  <a:srgbClr val="4A6300"/>
                </a:solidFill>
                <a:latin typeface="Consolas"/>
                <a:cs typeface="Consolas"/>
              </a:rPr>
              <a:t>""” Takes in a word, prints the word, then  </a:t>
            </a:r>
            <a:r>
              <a:rPr lang="en-US" b="1" dirty="0" smtClean="0">
                <a:solidFill>
                  <a:srgbClr val="4A6300"/>
                </a:solidFill>
                <a:latin typeface="Consolas"/>
                <a:cs typeface="Consolas"/>
              </a:rPr>
              <a:t>echoes</a:t>
            </a:r>
            <a:r>
              <a:rPr lang="en-US" dirty="0" smtClean="0">
                <a:solidFill>
                  <a:srgbClr val="4A6300"/>
                </a:solidFill>
                <a:latin typeface="Consolas"/>
                <a:cs typeface="Consolas"/>
              </a:rPr>
              <a:t> the </a:t>
            </a:r>
            <a:r>
              <a:rPr lang="en-US" dirty="0">
                <a:solidFill>
                  <a:srgbClr val="4A6300"/>
                </a:solidFill>
                <a:latin typeface="Consolas"/>
                <a:cs typeface="Consolas"/>
              </a:rPr>
              <a:t>remaining word"</a:t>
            </a:r>
            <a:r>
              <a:rPr lang="en-US" dirty="0" smtClean="0">
                <a:solidFill>
                  <a:srgbClr val="4A6300"/>
                </a:solidFill>
                <a:latin typeface="Consolas"/>
                <a:cs typeface="Consolas"/>
              </a:rPr>
              <a:t>"”</a:t>
            </a:r>
          </a:p>
          <a:p>
            <a:pPr lvl="1"/>
            <a:r>
              <a:rPr lang="en-US" dirty="0">
                <a:solidFill>
                  <a:srgbClr val="4A6300"/>
                </a:solidFill>
                <a:latin typeface="Consolas"/>
                <a:cs typeface="Consolas"/>
              </a:rPr>
              <a:t> </a:t>
            </a:r>
            <a:r>
              <a:rPr lang="en-US" dirty="0" smtClean="0">
                <a:solidFill>
                  <a:srgbClr val="4A6300"/>
                </a:solidFill>
                <a:latin typeface="Consolas"/>
                <a:cs typeface="Consolas"/>
              </a:rPr>
              <a:t> print(word)</a:t>
            </a:r>
          </a:p>
          <a:p>
            <a:pPr lvl="1"/>
            <a:r>
              <a:rPr lang="en-US" dirty="0">
                <a:solidFill>
                  <a:srgbClr val="4A6300"/>
                </a:solidFill>
                <a:latin typeface="Consolas"/>
                <a:cs typeface="Consolas"/>
              </a:rPr>
              <a:t> </a:t>
            </a:r>
            <a:r>
              <a:rPr lang="en-US" dirty="0" smtClean="0">
                <a:solidFill>
                  <a:srgbClr val="4A6300"/>
                </a:solidFill>
                <a:latin typeface="Consolas"/>
                <a:cs typeface="Consolas"/>
              </a:rPr>
              <a:t> </a:t>
            </a:r>
            <a:endParaRPr lang="en-US" dirty="0">
              <a:solidFill>
                <a:srgbClr val="4A6300"/>
              </a:solidFill>
              <a:latin typeface="Consolas"/>
              <a:cs typeface="Consolas"/>
            </a:endParaRPr>
          </a:p>
        </p:txBody>
      </p:sp>
    </p:spTree>
    <p:extLst>
      <p:ext uri="{BB962C8B-B14F-4D97-AF65-F5344CB8AC3E}">
        <p14:creationId xmlns:p14="http://schemas.microsoft.com/office/powerpoint/2010/main" val="169354739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Tip of the Day</a:t>
            </a:r>
            <a:endParaRPr lang="en-US" dirty="0">
              <a:latin typeface="Century Gothic" charset="0"/>
            </a:endParaRPr>
          </a:p>
        </p:txBody>
      </p:sp>
      <p:sp>
        <p:nvSpPr>
          <p:cNvPr id="3" name="Content Placeholder 2"/>
          <p:cNvSpPr>
            <a:spLocks noGrp="1"/>
          </p:cNvSpPr>
          <p:nvPr>
            <p:ph idx="1"/>
          </p:nvPr>
        </p:nvSpPr>
        <p:spPr>
          <a:xfrm>
            <a:off x="457199" y="1598613"/>
            <a:ext cx="8314267" cy="4903787"/>
          </a:xfrm>
        </p:spPr>
        <p:txBody>
          <a:bodyPr/>
          <a:lstStyle/>
          <a:p>
            <a:r>
              <a:rPr lang="en-US" dirty="0" smtClean="0">
                <a:solidFill>
                  <a:srgbClr val="4A6300"/>
                </a:solidFill>
                <a:latin typeface="Avenir Book" charset="0"/>
                <a:cs typeface="Avenir Book" charset="0"/>
              </a:rPr>
              <a:t>Trust your functions!</a:t>
            </a:r>
          </a:p>
          <a:p>
            <a:pPr lvl="1"/>
            <a:r>
              <a:rPr lang="en-US" dirty="0" smtClean="0">
                <a:solidFill>
                  <a:srgbClr val="4A6300"/>
                </a:solidFill>
                <a:latin typeface="Avenir Book" charset="0"/>
                <a:cs typeface="Avenir Book" charset="0"/>
              </a:rPr>
              <a:t>Seen in the section quiz: functions are meant to hide complexity</a:t>
            </a:r>
          </a:p>
          <a:p>
            <a:pPr lvl="1"/>
            <a:r>
              <a:rPr lang="en-US" dirty="0" smtClean="0">
                <a:solidFill>
                  <a:srgbClr val="4A6300"/>
                </a:solidFill>
                <a:latin typeface="Avenir Book" charset="0"/>
                <a:cs typeface="Avenir Book" charset="0"/>
              </a:rPr>
              <a:t>Recursion is incredibly expressive, because you can think in terms of the behavior and input of your function… when writing the same function!</a:t>
            </a:r>
          </a:p>
          <a:p>
            <a:pPr marL="366713" lvl="1" indent="0">
              <a:buNone/>
            </a:pPr>
            <a:endParaRPr lang="en-US"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8</a:t>
            </a:fld>
            <a:endParaRPr lang="en-US">
              <a:solidFill>
                <a:srgbClr val="FEFEFE"/>
              </a:solidFill>
            </a:endParaRPr>
          </a:p>
        </p:txBody>
      </p:sp>
      <p:sp>
        <p:nvSpPr>
          <p:cNvPr id="2" name="Rectangle 1"/>
          <p:cNvSpPr/>
          <p:nvPr/>
        </p:nvSpPr>
        <p:spPr>
          <a:xfrm>
            <a:off x="938936" y="4167664"/>
            <a:ext cx="6476332" cy="1754327"/>
          </a:xfrm>
          <a:prstGeom prst="rect">
            <a:avLst/>
          </a:prstGeom>
        </p:spPr>
        <p:txBody>
          <a:bodyPr wrap="square">
            <a:spAutoFit/>
          </a:bodyPr>
          <a:lstStyle/>
          <a:p>
            <a:pPr lvl="1"/>
            <a:r>
              <a:rPr lang="en-US" dirty="0" err="1" smtClean="0">
                <a:solidFill>
                  <a:srgbClr val="4A6300"/>
                </a:solidFill>
                <a:latin typeface="Consolas"/>
                <a:cs typeface="Consolas"/>
              </a:rPr>
              <a:t>def</a:t>
            </a:r>
            <a:r>
              <a:rPr lang="en-US" dirty="0" smtClean="0">
                <a:solidFill>
                  <a:srgbClr val="4A6300"/>
                </a:solidFill>
                <a:latin typeface="Consolas"/>
                <a:cs typeface="Consolas"/>
              </a:rPr>
              <a:t> echo(word):</a:t>
            </a:r>
          </a:p>
          <a:p>
            <a:pPr lvl="1"/>
            <a:r>
              <a:rPr lang="en-US" dirty="0">
                <a:solidFill>
                  <a:srgbClr val="4A6300"/>
                </a:solidFill>
                <a:latin typeface="Consolas"/>
                <a:cs typeface="Consolas"/>
              </a:rPr>
              <a:t>  </a:t>
            </a:r>
            <a:r>
              <a:rPr lang="en-US" dirty="0" smtClean="0">
                <a:solidFill>
                  <a:srgbClr val="4A6300"/>
                </a:solidFill>
                <a:latin typeface="Consolas"/>
                <a:cs typeface="Consolas"/>
              </a:rPr>
              <a:t>""” Takes in a word, prints the word, then  </a:t>
            </a:r>
            <a:r>
              <a:rPr lang="en-US" b="1" dirty="0" smtClean="0">
                <a:solidFill>
                  <a:srgbClr val="4A6300"/>
                </a:solidFill>
                <a:latin typeface="Consolas"/>
                <a:cs typeface="Consolas"/>
              </a:rPr>
              <a:t>echoes</a:t>
            </a:r>
            <a:r>
              <a:rPr lang="en-US" dirty="0" smtClean="0">
                <a:solidFill>
                  <a:srgbClr val="4A6300"/>
                </a:solidFill>
                <a:latin typeface="Consolas"/>
                <a:cs typeface="Consolas"/>
              </a:rPr>
              <a:t> the </a:t>
            </a:r>
            <a:r>
              <a:rPr lang="en-US" dirty="0">
                <a:solidFill>
                  <a:srgbClr val="4A6300"/>
                </a:solidFill>
                <a:latin typeface="Consolas"/>
                <a:cs typeface="Consolas"/>
              </a:rPr>
              <a:t>remaining word"</a:t>
            </a:r>
            <a:r>
              <a:rPr lang="en-US" dirty="0" smtClean="0">
                <a:solidFill>
                  <a:srgbClr val="4A6300"/>
                </a:solidFill>
                <a:latin typeface="Consolas"/>
                <a:cs typeface="Consolas"/>
              </a:rPr>
              <a:t>"”</a:t>
            </a:r>
          </a:p>
          <a:p>
            <a:pPr lvl="1"/>
            <a:r>
              <a:rPr lang="en-US" dirty="0">
                <a:solidFill>
                  <a:srgbClr val="4A6300"/>
                </a:solidFill>
                <a:latin typeface="Consolas"/>
                <a:cs typeface="Consolas"/>
              </a:rPr>
              <a:t> </a:t>
            </a:r>
            <a:r>
              <a:rPr lang="en-US" dirty="0" smtClean="0">
                <a:solidFill>
                  <a:srgbClr val="4A6300"/>
                </a:solidFill>
                <a:latin typeface="Consolas"/>
                <a:cs typeface="Consolas"/>
              </a:rPr>
              <a:t> print(word)</a:t>
            </a:r>
          </a:p>
          <a:p>
            <a:pPr lvl="1"/>
            <a:r>
              <a:rPr lang="en-US" dirty="0">
                <a:solidFill>
                  <a:srgbClr val="4A6300"/>
                </a:solidFill>
                <a:latin typeface="Consolas"/>
                <a:cs typeface="Consolas"/>
              </a:rPr>
              <a:t> </a:t>
            </a:r>
            <a:r>
              <a:rPr lang="en-US" dirty="0" smtClean="0">
                <a:solidFill>
                  <a:srgbClr val="4A6300"/>
                </a:solidFill>
                <a:latin typeface="Consolas"/>
                <a:cs typeface="Consolas"/>
              </a:rPr>
              <a:t> echo(word[1:])</a:t>
            </a:r>
          </a:p>
          <a:p>
            <a:pPr lvl="1"/>
            <a:r>
              <a:rPr lang="en-US" dirty="0">
                <a:solidFill>
                  <a:srgbClr val="4A6300"/>
                </a:solidFill>
                <a:latin typeface="Consolas"/>
                <a:cs typeface="Consolas"/>
              </a:rPr>
              <a:t> </a:t>
            </a:r>
            <a:r>
              <a:rPr lang="en-US" dirty="0" smtClean="0">
                <a:solidFill>
                  <a:srgbClr val="4A6300"/>
                </a:solidFill>
                <a:latin typeface="Consolas"/>
                <a:cs typeface="Consolas"/>
              </a:rPr>
              <a:t> </a:t>
            </a:r>
            <a:endParaRPr lang="en-US" dirty="0">
              <a:solidFill>
                <a:srgbClr val="4A6300"/>
              </a:solidFill>
              <a:latin typeface="Consolas"/>
              <a:cs typeface="Consolas"/>
            </a:endParaRPr>
          </a:p>
        </p:txBody>
      </p:sp>
    </p:spTree>
    <p:extLst>
      <p:ext uri="{BB962C8B-B14F-4D97-AF65-F5344CB8AC3E}">
        <p14:creationId xmlns:p14="http://schemas.microsoft.com/office/powerpoint/2010/main" val="401322549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Tip of the Day</a:t>
            </a:r>
            <a:endParaRPr lang="en-US" dirty="0">
              <a:latin typeface="Century Gothic" charset="0"/>
            </a:endParaRPr>
          </a:p>
        </p:txBody>
      </p:sp>
      <p:sp>
        <p:nvSpPr>
          <p:cNvPr id="3" name="Content Placeholder 2"/>
          <p:cNvSpPr>
            <a:spLocks noGrp="1"/>
          </p:cNvSpPr>
          <p:nvPr>
            <p:ph idx="1"/>
          </p:nvPr>
        </p:nvSpPr>
        <p:spPr>
          <a:xfrm>
            <a:off x="457199" y="1598613"/>
            <a:ext cx="8314267" cy="4903787"/>
          </a:xfrm>
        </p:spPr>
        <p:txBody>
          <a:bodyPr/>
          <a:lstStyle/>
          <a:p>
            <a:r>
              <a:rPr lang="en-US" dirty="0" smtClean="0">
                <a:solidFill>
                  <a:srgbClr val="4A6300"/>
                </a:solidFill>
                <a:latin typeface="Avenir Book" charset="0"/>
                <a:cs typeface="Avenir Book" charset="0"/>
              </a:rPr>
              <a:t>Trust your functions!</a:t>
            </a:r>
          </a:p>
          <a:p>
            <a:pPr lvl="1"/>
            <a:r>
              <a:rPr lang="en-US" dirty="0" smtClean="0">
                <a:solidFill>
                  <a:srgbClr val="4A6300"/>
                </a:solidFill>
                <a:latin typeface="Avenir Book" charset="0"/>
                <a:cs typeface="Avenir Book" charset="0"/>
              </a:rPr>
              <a:t>Seen in the section quiz: functions are meant to hide complexity</a:t>
            </a:r>
          </a:p>
          <a:p>
            <a:pPr lvl="1"/>
            <a:r>
              <a:rPr lang="en-US" dirty="0" smtClean="0">
                <a:solidFill>
                  <a:srgbClr val="4A6300"/>
                </a:solidFill>
                <a:latin typeface="Avenir Book" charset="0"/>
                <a:cs typeface="Avenir Book" charset="0"/>
              </a:rPr>
              <a:t>Recursion is incredibly expressive, because you can think in terms of the behavior and input of your function… when writing the same function!</a:t>
            </a:r>
          </a:p>
          <a:p>
            <a:pPr marL="366713" lvl="1" indent="0">
              <a:buNone/>
            </a:pPr>
            <a:endParaRPr lang="en-US"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9</a:t>
            </a:fld>
            <a:endParaRPr lang="en-US">
              <a:solidFill>
                <a:srgbClr val="FEFEFE"/>
              </a:solidFill>
            </a:endParaRPr>
          </a:p>
        </p:txBody>
      </p:sp>
      <p:sp>
        <p:nvSpPr>
          <p:cNvPr id="2" name="Rectangle 1"/>
          <p:cNvSpPr/>
          <p:nvPr/>
        </p:nvSpPr>
        <p:spPr>
          <a:xfrm>
            <a:off x="938936" y="4167664"/>
            <a:ext cx="6476332" cy="2308324"/>
          </a:xfrm>
          <a:prstGeom prst="rect">
            <a:avLst/>
          </a:prstGeom>
        </p:spPr>
        <p:txBody>
          <a:bodyPr wrap="square">
            <a:spAutoFit/>
          </a:bodyPr>
          <a:lstStyle/>
          <a:p>
            <a:pPr lvl="1"/>
            <a:r>
              <a:rPr lang="en-US" dirty="0" err="1" smtClean="0">
                <a:solidFill>
                  <a:srgbClr val="4A6300"/>
                </a:solidFill>
                <a:latin typeface="Consolas"/>
                <a:cs typeface="Consolas"/>
              </a:rPr>
              <a:t>def</a:t>
            </a:r>
            <a:r>
              <a:rPr lang="en-US" dirty="0" smtClean="0">
                <a:solidFill>
                  <a:srgbClr val="4A6300"/>
                </a:solidFill>
                <a:latin typeface="Consolas"/>
                <a:cs typeface="Consolas"/>
              </a:rPr>
              <a:t> echo(word):</a:t>
            </a:r>
          </a:p>
          <a:p>
            <a:pPr lvl="1"/>
            <a:r>
              <a:rPr lang="en-US" dirty="0">
                <a:solidFill>
                  <a:srgbClr val="4A6300"/>
                </a:solidFill>
                <a:latin typeface="Consolas"/>
                <a:cs typeface="Consolas"/>
              </a:rPr>
              <a:t>  </a:t>
            </a:r>
            <a:r>
              <a:rPr lang="en-US" dirty="0" smtClean="0">
                <a:solidFill>
                  <a:srgbClr val="4A6300"/>
                </a:solidFill>
                <a:latin typeface="Consolas"/>
                <a:cs typeface="Consolas"/>
              </a:rPr>
              <a:t>""” Takes in a word, prints the word, then  </a:t>
            </a:r>
            <a:r>
              <a:rPr lang="en-US" b="1" dirty="0" smtClean="0">
                <a:solidFill>
                  <a:srgbClr val="4A6300"/>
                </a:solidFill>
                <a:latin typeface="Consolas"/>
                <a:cs typeface="Consolas"/>
              </a:rPr>
              <a:t>echoes</a:t>
            </a:r>
            <a:r>
              <a:rPr lang="en-US" dirty="0" smtClean="0">
                <a:solidFill>
                  <a:srgbClr val="4A6300"/>
                </a:solidFill>
                <a:latin typeface="Consolas"/>
                <a:cs typeface="Consolas"/>
              </a:rPr>
              <a:t> the </a:t>
            </a:r>
            <a:r>
              <a:rPr lang="en-US" dirty="0">
                <a:solidFill>
                  <a:srgbClr val="4A6300"/>
                </a:solidFill>
                <a:latin typeface="Consolas"/>
                <a:cs typeface="Consolas"/>
              </a:rPr>
              <a:t>remaining word"</a:t>
            </a:r>
            <a:r>
              <a:rPr lang="en-US" dirty="0" smtClean="0">
                <a:solidFill>
                  <a:srgbClr val="4A6300"/>
                </a:solidFill>
                <a:latin typeface="Consolas"/>
                <a:cs typeface="Consolas"/>
              </a:rPr>
              <a:t>"”</a:t>
            </a:r>
          </a:p>
          <a:p>
            <a:pPr lvl="1"/>
            <a:r>
              <a:rPr lang="en-US" dirty="0">
                <a:solidFill>
                  <a:srgbClr val="4A6300"/>
                </a:solidFill>
                <a:latin typeface="Consolas"/>
                <a:cs typeface="Consolas"/>
              </a:rPr>
              <a:t> </a:t>
            </a:r>
            <a:r>
              <a:rPr lang="en-US" dirty="0" smtClean="0">
                <a:solidFill>
                  <a:srgbClr val="4A6300"/>
                </a:solidFill>
                <a:latin typeface="Consolas"/>
                <a:cs typeface="Consolas"/>
              </a:rPr>
              <a:t> if word == “”:</a:t>
            </a:r>
          </a:p>
          <a:p>
            <a:pPr lvl="1"/>
            <a:r>
              <a:rPr lang="en-US" dirty="0">
                <a:solidFill>
                  <a:srgbClr val="4A6300"/>
                </a:solidFill>
                <a:latin typeface="Consolas"/>
                <a:cs typeface="Consolas"/>
              </a:rPr>
              <a:t> </a:t>
            </a:r>
            <a:r>
              <a:rPr lang="en-US" dirty="0" smtClean="0">
                <a:solidFill>
                  <a:srgbClr val="4A6300"/>
                </a:solidFill>
                <a:latin typeface="Consolas"/>
                <a:cs typeface="Consolas"/>
              </a:rPr>
              <a:t>   return</a:t>
            </a:r>
          </a:p>
          <a:p>
            <a:pPr lvl="1"/>
            <a:r>
              <a:rPr lang="en-US" dirty="0">
                <a:solidFill>
                  <a:srgbClr val="4A6300"/>
                </a:solidFill>
                <a:latin typeface="Consolas"/>
                <a:cs typeface="Consolas"/>
              </a:rPr>
              <a:t> </a:t>
            </a:r>
            <a:r>
              <a:rPr lang="en-US" dirty="0" smtClean="0">
                <a:solidFill>
                  <a:srgbClr val="4A6300"/>
                </a:solidFill>
                <a:latin typeface="Consolas"/>
                <a:cs typeface="Consolas"/>
              </a:rPr>
              <a:t> print(word)</a:t>
            </a:r>
          </a:p>
          <a:p>
            <a:pPr lvl="1"/>
            <a:r>
              <a:rPr lang="en-US" dirty="0">
                <a:solidFill>
                  <a:srgbClr val="4A6300"/>
                </a:solidFill>
                <a:latin typeface="Consolas"/>
                <a:cs typeface="Consolas"/>
              </a:rPr>
              <a:t> </a:t>
            </a:r>
            <a:r>
              <a:rPr lang="en-US" dirty="0" smtClean="0">
                <a:solidFill>
                  <a:srgbClr val="4A6300"/>
                </a:solidFill>
                <a:latin typeface="Consolas"/>
                <a:cs typeface="Consolas"/>
              </a:rPr>
              <a:t> echo(word[1:])</a:t>
            </a:r>
          </a:p>
          <a:p>
            <a:pPr lvl="1"/>
            <a:r>
              <a:rPr lang="en-US" dirty="0">
                <a:solidFill>
                  <a:srgbClr val="4A6300"/>
                </a:solidFill>
                <a:latin typeface="Consolas"/>
                <a:cs typeface="Consolas"/>
              </a:rPr>
              <a:t> </a:t>
            </a:r>
            <a:r>
              <a:rPr lang="en-US" dirty="0" smtClean="0">
                <a:solidFill>
                  <a:srgbClr val="4A6300"/>
                </a:solidFill>
                <a:latin typeface="Consolas"/>
                <a:cs typeface="Consolas"/>
              </a:rPr>
              <a:t> </a:t>
            </a:r>
            <a:endParaRPr lang="en-US" dirty="0">
              <a:solidFill>
                <a:srgbClr val="4A6300"/>
              </a:solidFill>
              <a:latin typeface="Consolas"/>
              <a:cs typeface="Consolas"/>
            </a:endParaRPr>
          </a:p>
        </p:txBody>
      </p:sp>
    </p:spTree>
    <p:extLst>
      <p:ext uri="{BB962C8B-B14F-4D97-AF65-F5344CB8AC3E}">
        <p14:creationId xmlns:p14="http://schemas.microsoft.com/office/powerpoint/2010/main" val="2586069414"/>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57199" y="455613"/>
            <a:ext cx="8138353" cy="1143000"/>
          </a:xfrm>
        </p:spPr>
        <p:txBody>
          <a:bodyPr/>
          <a:lstStyle/>
          <a:p>
            <a:r>
              <a:rPr lang="en-US" sz="3600" dirty="0" smtClean="0">
                <a:latin typeface="Century Gothic" charset="0"/>
              </a:rPr>
              <a:t>Recall: Characteristics of Functions</a:t>
            </a:r>
            <a:endParaRPr lang="en-US" sz="3600" dirty="0">
              <a:latin typeface="Century Gothic" charset="0"/>
            </a:endParaRPr>
          </a:p>
        </p:txBody>
      </p:sp>
      <p:sp>
        <p:nvSpPr>
          <p:cNvPr id="3" name="Content Placeholder 2"/>
          <p:cNvSpPr>
            <a:spLocks noGrp="1"/>
          </p:cNvSpPr>
          <p:nvPr>
            <p:ph idx="1"/>
          </p:nvPr>
        </p:nvSpPr>
        <p:spPr>
          <a:xfrm>
            <a:off x="457199" y="1598613"/>
            <a:ext cx="8314267" cy="4903787"/>
          </a:xfrm>
        </p:spPr>
        <p:txBody>
          <a:bodyPr/>
          <a:lstStyle/>
          <a:p>
            <a:r>
              <a:rPr lang="en-US" dirty="0" smtClean="0">
                <a:solidFill>
                  <a:srgbClr val="4A6300"/>
                </a:solidFill>
                <a:latin typeface="Avenir Book"/>
                <a:cs typeface="Avenir Book"/>
              </a:rPr>
              <a:t>Recall that a function has 3 characteristics: </a:t>
            </a:r>
            <a:r>
              <a:rPr lang="en-US" dirty="0" smtClean="0">
                <a:solidFill>
                  <a:srgbClr val="FF6600"/>
                </a:solidFill>
                <a:latin typeface="Avenir Book"/>
                <a:cs typeface="Avenir Book"/>
              </a:rPr>
              <a:t>domain</a:t>
            </a:r>
            <a:r>
              <a:rPr lang="en-US" dirty="0" smtClean="0">
                <a:solidFill>
                  <a:srgbClr val="4A6300"/>
                </a:solidFill>
                <a:latin typeface="Avenir Book"/>
                <a:cs typeface="Avenir Book"/>
              </a:rPr>
              <a:t>, </a:t>
            </a:r>
            <a:r>
              <a:rPr lang="en-US" dirty="0" smtClean="0">
                <a:solidFill>
                  <a:srgbClr val="FF00FF"/>
                </a:solidFill>
                <a:latin typeface="Avenir Book"/>
                <a:cs typeface="Avenir Book"/>
              </a:rPr>
              <a:t>range</a:t>
            </a:r>
            <a:r>
              <a:rPr lang="en-US" dirty="0" smtClean="0">
                <a:solidFill>
                  <a:srgbClr val="4A6300"/>
                </a:solidFill>
                <a:latin typeface="Avenir Book"/>
                <a:cs typeface="Avenir Book"/>
              </a:rPr>
              <a:t>, and </a:t>
            </a:r>
            <a:r>
              <a:rPr lang="en-US" dirty="0" smtClean="0">
                <a:solidFill>
                  <a:schemeClr val="bg2">
                    <a:lumMod val="75000"/>
                  </a:schemeClr>
                </a:solidFill>
                <a:latin typeface="Avenir Book"/>
                <a:cs typeface="Avenir Book"/>
              </a:rPr>
              <a:t>behavior</a:t>
            </a:r>
            <a:endParaRPr lang="en-US" dirty="0">
              <a:solidFill>
                <a:schemeClr val="bg2">
                  <a:lumMod val="75000"/>
                </a:schemeClr>
              </a:solidFill>
              <a:latin typeface="Avenir Book"/>
              <a:cs typeface="Avenir Book"/>
            </a:endParaRPr>
          </a:p>
          <a:p>
            <a:r>
              <a:rPr lang="en-US" dirty="0" smtClean="0">
                <a:solidFill>
                  <a:srgbClr val="4A6300"/>
                </a:solidFill>
                <a:latin typeface="Avenir Book"/>
                <a:cs typeface="Avenir Book"/>
              </a:rPr>
              <a:t>Recall from Lab 2 (this is similar but not the same as </a:t>
            </a:r>
            <a:r>
              <a:rPr lang="en-US" dirty="0" err="1" smtClean="0">
                <a:solidFill>
                  <a:srgbClr val="4A6300"/>
                </a:solidFill>
                <a:latin typeface="Avenir Book"/>
                <a:cs typeface="Avenir Book"/>
              </a:rPr>
              <a:t>make_buzzer</a:t>
            </a:r>
            <a:r>
              <a:rPr lang="en-US" dirty="0" smtClean="0">
                <a:solidFill>
                  <a:srgbClr val="4A6300"/>
                </a:solidFill>
                <a:latin typeface="Avenir Book"/>
                <a:cs typeface="Avenir Book"/>
              </a:rPr>
              <a:t>):</a:t>
            </a:r>
          </a:p>
          <a:p>
            <a:r>
              <a:rPr lang="en-US" dirty="0" smtClean="0">
                <a:solidFill>
                  <a:srgbClr val="4A6300"/>
                </a:solidFill>
                <a:latin typeface="Avenir Book"/>
                <a:cs typeface="Avenir Book"/>
              </a:rPr>
              <a:t>“Write a function </a:t>
            </a:r>
            <a:r>
              <a:rPr lang="en-US" dirty="0" err="1" smtClean="0">
                <a:solidFill>
                  <a:srgbClr val="4A6300"/>
                </a:solidFill>
                <a:latin typeface="Consolas"/>
                <a:cs typeface="Consolas"/>
              </a:rPr>
              <a:t>double_maker</a:t>
            </a:r>
            <a:r>
              <a:rPr lang="en-US" dirty="0" smtClean="0">
                <a:solidFill>
                  <a:srgbClr val="4A6300"/>
                </a:solidFill>
                <a:latin typeface="Avenir Book"/>
                <a:cs typeface="Avenir Book"/>
              </a:rPr>
              <a:t> that takes in a one-argument function </a:t>
            </a:r>
            <a:r>
              <a:rPr lang="en-US" dirty="0" err="1" smtClean="0">
                <a:solidFill>
                  <a:srgbClr val="4A6300"/>
                </a:solidFill>
                <a:latin typeface="Consolas"/>
                <a:cs typeface="Consolas"/>
              </a:rPr>
              <a:t>func</a:t>
            </a:r>
            <a:r>
              <a:rPr lang="en-US" dirty="0" smtClean="0">
                <a:solidFill>
                  <a:srgbClr val="4A6300"/>
                </a:solidFill>
                <a:latin typeface="Avenir Book"/>
                <a:cs typeface="Avenir Book"/>
              </a:rPr>
              <a:t> and returns a function (double) that takes in one argument and returns the result of calling </a:t>
            </a:r>
            <a:r>
              <a:rPr lang="en-US" dirty="0" err="1">
                <a:solidFill>
                  <a:srgbClr val="4A6300"/>
                </a:solidFill>
                <a:latin typeface="Consolas"/>
                <a:cs typeface="Consolas"/>
              </a:rPr>
              <a:t>func</a:t>
            </a:r>
            <a:r>
              <a:rPr lang="en-US" dirty="0">
                <a:solidFill>
                  <a:srgbClr val="4A6300"/>
                </a:solidFill>
                <a:latin typeface="Avenir Book"/>
                <a:cs typeface="Avenir Book"/>
              </a:rPr>
              <a:t> twice </a:t>
            </a:r>
            <a:r>
              <a:rPr lang="en-US" dirty="0" smtClean="0">
                <a:solidFill>
                  <a:srgbClr val="4A6300"/>
                </a:solidFill>
                <a:latin typeface="Avenir Book"/>
                <a:cs typeface="Avenir Book"/>
              </a:rPr>
              <a:t>on that argument”</a:t>
            </a:r>
            <a:endParaRPr lang="en-US" dirty="0" smtClean="0">
              <a:solidFill>
                <a:srgbClr val="4A6300"/>
              </a:solidFill>
              <a:latin typeface="Consolas"/>
              <a:cs typeface="Consolas"/>
            </a:endParaRPr>
          </a:p>
          <a:p>
            <a:r>
              <a:rPr lang="en-US" dirty="0" smtClean="0">
                <a:solidFill>
                  <a:srgbClr val="4A6300"/>
                </a:solidFill>
                <a:latin typeface="Avenir Book"/>
                <a:cs typeface="Avenir Book"/>
              </a:rPr>
              <a:t>[Discuss] What is the domain, range, and behavior of </a:t>
            </a:r>
            <a:r>
              <a:rPr lang="en-US" dirty="0" err="1" smtClean="0">
                <a:solidFill>
                  <a:srgbClr val="4A6300"/>
                </a:solidFill>
                <a:latin typeface="Avenir Book"/>
                <a:cs typeface="Avenir Book"/>
              </a:rPr>
              <a:t>double_maker</a:t>
            </a:r>
            <a:r>
              <a:rPr lang="en-US" dirty="0" smtClean="0">
                <a:solidFill>
                  <a:srgbClr val="4A6300"/>
                </a:solidFill>
                <a:latin typeface="Avenir Book"/>
                <a:cs typeface="Avenir Book"/>
              </a:rPr>
              <a:t>? What is a best way to draw all that information out visually?</a:t>
            </a:r>
            <a:endParaRPr lang="en-US" dirty="0">
              <a:solidFill>
                <a:srgbClr val="4A6300"/>
              </a:solidFill>
              <a:latin typeface="Avenir Book"/>
              <a:cs typeface="Avenir Book"/>
            </a:endParaRPr>
          </a:p>
          <a:p>
            <a:endParaRPr lang="en-US" dirty="0" smtClean="0">
              <a:solidFill>
                <a:srgbClr val="4A6300"/>
              </a:solidFill>
              <a:latin typeface="Avenir Book"/>
              <a:cs typeface="Avenir Book"/>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10</a:t>
            </a:fld>
            <a:endParaRPr lang="en-US">
              <a:solidFill>
                <a:srgbClr val="FEFEFE"/>
              </a:solidFill>
            </a:endParaRPr>
          </a:p>
        </p:txBody>
      </p:sp>
    </p:spTree>
    <p:extLst>
      <p:ext uri="{BB962C8B-B14F-4D97-AF65-F5344CB8AC3E}">
        <p14:creationId xmlns:p14="http://schemas.microsoft.com/office/powerpoint/2010/main" val="184748183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Characteristics of Functions</a:t>
            </a:r>
            <a:endParaRPr lang="en-US" dirty="0">
              <a:latin typeface="Century Gothic" charset="0"/>
            </a:endParaRPr>
          </a:p>
        </p:txBody>
      </p:sp>
      <p:sp>
        <p:nvSpPr>
          <p:cNvPr id="3" name="Content Placeholder 2"/>
          <p:cNvSpPr>
            <a:spLocks noGrp="1"/>
          </p:cNvSpPr>
          <p:nvPr>
            <p:ph idx="1"/>
          </p:nvPr>
        </p:nvSpPr>
        <p:spPr>
          <a:xfrm>
            <a:off x="457199" y="1598613"/>
            <a:ext cx="8314267" cy="4903787"/>
          </a:xfrm>
        </p:spPr>
        <p:txBody>
          <a:bodyPr/>
          <a:lstStyle/>
          <a:p>
            <a:r>
              <a:rPr lang="en-US" dirty="0">
                <a:solidFill>
                  <a:srgbClr val="4A6300"/>
                </a:solidFill>
                <a:latin typeface="Avenir Book"/>
                <a:cs typeface="Avenir Book"/>
              </a:rPr>
              <a:t>“Write a function </a:t>
            </a:r>
            <a:r>
              <a:rPr lang="en-US" dirty="0" err="1">
                <a:solidFill>
                  <a:srgbClr val="4A6300"/>
                </a:solidFill>
                <a:latin typeface="Consolas"/>
                <a:cs typeface="Consolas"/>
              </a:rPr>
              <a:t>double_maker</a:t>
            </a:r>
            <a:r>
              <a:rPr lang="en-US" dirty="0">
                <a:solidFill>
                  <a:srgbClr val="4A6300"/>
                </a:solidFill>
                <a:latin typeface="Avenir Book"/>
                <a:cs typeface="Avenir Book"/>
              </a:rPr>
              <a:t> that takes in a one-argument function </a:t>
            </a:r>
            <a:r>
              <a:rPr lang="en-US" dirty="0" err="1">
                <a:solidFill>
                  <a:srgbClr val="4A6300"/>
                </a:solidFill>
                <a:latin typeface="Consolas"/>
                <a:cs typeface="Consolas"/>
              </a:rPr>
              <a:t>func</a:t>
            </a:r>
            <a:r>
              <a:rPr lang="en-US" dirty="0">
                <a:solidFill>
                  <a:srgbClr val="4A6300"/>
                </a:solidFill>
                <a:latin typeface="Avenir Book"/>
                <a:cs typeface="Avenir Book"/>
              </a:rPr>
              <a:t> and returns a function (double) that takes in one argument and returns the result of calling </a:t>
            </a:r>
            <a:r>
              <a:rPr lang="en-US" dirty="0" err="1">
                <a:solidFill>
                  <a:srgbClr val="4A6300"/>
                </a:solidFill>
                <a:latin typeface="Consolas"/>
                <a:cs typeface="Consolas"/>
              </a:rPr>
              <a:t>func</a:t>
            </a:r>
            <a:r>
              <a:rPr lang="en-US" dirty="0">
                <a:solidFill>
                  <a:srgbClr val="4A6300"/>
                </a:solidFill>
                <a:latin typeface="Avenir Book"/>
                <a:cs typeface="Avenir Book"/>
              </a:rPr>
              <a:t> twice on that argument”</a:t>
            </a:r>
            <a:endParaRPr lang="en-US" dirty="0">
              <a:solidFill>
                <a:srgbClr val="4A6300"/>
              </a:solidFill>
              <a:latin typeface="Consolas"/>
              <a:cs typeface="Consolas"/>
            </a:endParaRPr>
          </a:p>
          <a:p>
            <a:r>
              <a:rPr lang="en-US" dirty="0" smtClean="0">
                <a:solidFill>
                  <a:srgbClr val="FF6600"/>
                </a:solidFill>
                <a:latin typeface="Avenir Book"/>
                <a:cs typeface="Avenir Book"/>
              </a:rPr>
              <a:t>Domain</a:t>
            </a:r>
            <a:r>
              <a:rPr lang="en-US" dirty="0" smtClean="0">
                <a:solidFill>
                  <a:srgbClr val="4A6300"/>
                </a:solidFill>
                <a:latin typeface="Avenir Book"/>
                <a:cs typeface="Avenir Book"/>
              </a:rPr>
              <a:t>: a one-argument function </a:t>
            </a:r>
            <a:r>
              <a:rPr lang="en-US" dirty="0" err="1" smtClean="0">
                <a:solidFill>
                  <a:srgbClr val="4A6300"/>
                </a:solidFill>
                <a:latin typeface="Avenir Book"/>
                <a:cs typeface="Avenir Book"/>
              </a:rPr>
              <a:t>func</a:t>
            </a:r>
            <a:endParaRPr lang="en-US" dirty="0" smtClean="0">
              <a:solidFill>
                <a:srgbClr val="4A6300"/>
              </a:solidFill>
              <a:latin typeface="Avenir Book"/>
              <a:cs typeface="Avenir Book"/>
            </a:endParaRPr>
          </a:p>
          <a:p>
            <a:r>
              <a:rPr lang="en-US" dirty="0" smtClean="0">
                <a:solidFill>
                  <a:schemeClr val="bg2">
                    <a:lumMod val="75000"/>
                  </a:schemeClr>
                </a:solidFill>
                <a:latin typeface="Avenir Book"/>
                <a:cs typeface="Avenir Book"/>
              </a:rPr>
              <a:t>Behavior</a:t>
            </a:r>
            <a:r>
              <a:rPr lang="en-US" dirty="0" smtClean="0">
                <a:solidFill>
                  <a:srgbClr val="4A6300"/>
                </a:solidFill>
                <a:latin typeface="Avenir Book"/>
                <a:cs typeface="Avenir Book"/>
              </a:rPr>
              <a:t>: define a function that …</a:t>
            </a:r>
          </a:p>
          <a:p>
            <a:r>
              <a:rPr lang="en-US" dirty="0" smtClean="0">
                <a:solidFill>
                  <a:srgbClr val="FF00FF"/>
                </a:solidFill>
                <a:latin typeface="Avenir Book"/>
                <a:cs typeface="Avenir Book"/>
              </a:rPr>
              <a:t>Range</a:t>
            </a:r>
            <a:r>
              <a:rPr lang="en-US" dirty="0" smtClean="0">
                <a:solidFill>
                  <a:srgbClr val="4A6300"/>
                </a:solidFill>
                <a:latin typeface="Avenir Book"/>
                <a:cs typeface="Avenir Book"/>
              </a:rPr>
              <a:t>: that defined function</a:t>
            </a:r>
          </a:p>
          <a:p>
            <a:pPr lvl="1"/>
            <a:r>
              <a:rPr lang="en-US" dirty="0" smtClean="0">
                <a:solidFill>
                  <a:srgbClr val="4A6300"/>
                </a:solidFill>
                <a:latin typeface="Avenir Book"/>
                <a:cs typeface="Avenir Book"/>
              </a:rPr>
              <a:t>Domain of returned </a:t>
            </a:r>
            <a:r>
              <a:rPr lang="en-US" dirty="0" err="1" smtClean="0">
                <a:solidFill>
                  <a:srgbClr val="4A6300"/>
                </a:solidFill>
                <a:latin typeface="Avenir Book"/>
                <a:cs typeface="Avenir Book"/>
              </a:rPr>
              <a:t>fn</a:t>
            </a:r>
            <a:r>
              <a:rPr lang="en-US" dirty="0" smtClean="0">
                <a:solidFill>
                  <a:srgbClr val="4A6300"/>
                </a:solidFill>
                <a:latin typeface="Avenir Book"/>
                <a:cs typeface="Avenir Book"/>
              </a:rPr>
              <a:t>: same domain as domain of </a:t>
            </a:r>
            <a:r>
              <a:rPr lang="en-US" dirty="0" err="1" smtClean="0">
                <a:solidFill>
                  <a:srgbClr val="4A6300"/>
                </a:solidFill>
                <a:latin typeface="Avenir Book"/>
                <a:cs typeface="Avenir Book"/>
              </a:rPr>
              <a:t>func</a:t>
            </a:r>
            <a:endParaRPr lang="en-US" dirty="0" smtClean="0">
              <a:solidFill>
                <a:srgbClr val="4A6300"/>
              </a:solidFill>
              <a:latin typeface="Avenir Book"/>
              <a:cs typeface="Avenir Book"/>
            </a:endParaRPr>
          </a:p>
          <a:p>
            <a:pPr lvl="1"/>
            <a:r>
              <a:rPr lang="en-US" dirty="0" smtClean="0">
                <a:solidFill>
                  <a:srgbClr val="4A6300"/>
                </a:solidFill>
                <a:latin typeface="Avenir Book"/>
                <a:cs typeface="Avenir Book"/>
              </a:rPr>
              <a:t>Behavior: Call </a:t>
            </a:r>
            <a:r>
              <a:rPr lang="en-US" dirty="0" err="1" smtClean="0">
                <a:solidFill>
                  <a:srgbClr val="4A6300"/>
                </a:solidFill>
                <a:latin typeface="Avenir Book"/>
                <a:cs typeface="Avenir Book"/>
              </a:rPr>
              <a:t>func</a:t>
            </a:r>
            <a:r>
              <a:rPr lang="en-US" dirty="0" smtClean="0">
                <a:solidFill>
                  <a:srgbClr val="4A6300"/>
                </a:solidFill>
                <a:latin typeface="Avenir Book"/>
                <a:cs typeface="Avenir Book"/>
              </a:rPr>
              <a:t> twice on the input</a:t>
            </a:r>
          </a:p>
          <a:p>
            <a:pPr lvl="1"/>
            <a:r>
              <a:rPr lang="en-US" dirty="0" smtClean="0">
                <a:solidFill>
                  <a:srgbClr val="4A6300"/>
                </a:solidFill>
                <a:latin typeface="Avenir Book"/>
                <a:cs typeface="Avenir Book"/>
              </a:rPr>
              <a:t>Range: The value of that double function call</a:t>
            </a:r>
            <a:endParaRPr lang="en-US" dirty="0">
              <a:solidFill>
                <a:srgbClr val="4A6300"/>
              </a:solidFill>
              <a:latin typeface="Avenir Book"/>
              <a:cs typeface="Avenir Book"/>
            </a:endParaRPr>
          </a:p>
          <a:p>
            <a:endParaRPr lang="en-US" dirty="0" smtClean="0">
              <a:solidFill>
                <a:srgbClr val="4A6300"/>
              </a:solidFill>
              <a:latin typeface="Avenir Book"/>
              <a:cs typeface="Avenir Book"/>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11</a:t>
            </a:fld>
            <a:endParaRPr lang="en-US">
              <a:solidFill>
                <a:srgbClr val="FEFEFE"/>
              </a:solidFill>
            </a:endParaRPr>
          </a:p>
        </p:txBody>
      </p:sp>
    </p:spTree>
    <p:extLst>
      <p:ext uri="{BB962C8B-B14F-4D97-AF65-F5344CB8AC3E}">
        <p14:creationId xmlns:p14="http://schemas.microsoft.com/office/powerpoint/2010/main" val="23416770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Characteristics of Functions</a:t>
            </a:r>
            <a:endParaRPr lang="en-US" dirty="0">
              <a:latin typeface="Century Gothic" charset="0"/>
            </a:endParaRPr>
          </a:p>
        </p:txBody>
      </p:sp>
      <p:sp>
        <p:nvSpPr>
          <p:cNvPr id="3" name="Content Placeholder 2"/>
          <p:cNvSpPr>
            <a:spLocks noGrp="1"/>
          </p:cNvSpPr>
          <p:nvPr>
            <p:ph idx="1"/>
          </p:nvPr>
        </p:nvSpPr>
        <p:spPr>
          <a:xfrm>
            <a:off x="457199" y="1598613"/>
            <a:ext cx="8314267" cy="4903787"/>
          </a:xfrm>
        </p:spPr>
        <p:txBody>
          <a:bodyPr/>
          <a:lstStyle/>
          <a:p>
            <a:r>
              <a:rPr lang="en-US" dirty="0">
                <a:solidFill>
                  <a:srgbClr val="4A6300"/>
                </a:solidFill>
                <a:latin typeface="Avenir Book"/>
                <a:cs typeface="Avenir Book"/>
              </a:rPr>
              <a:t>“Write a function </a:t>
            </a:r>
            <a:r>
              <a:rPr lang="en-US" dirty="0" err="1">
                <a:solidFill>
                  <a:srgbClr val="4A6300"/>
                </a:solidFill>
                <a:latin typeface="Consolas"/>
                <a:cs typeface="Consolas"/>
              </a:rPr>
              <a:t>double_maker</a:t>
            </a:r>
            <a:r>
              <a:rPr lang="en-US" dirty="0">
                <a:solidFill>
                  <a:srgbClr val="4A6300"/>
                </a:solidFill>
                <a:latin typeface="Avenir Book"/>
                <a:cs typeface="Avenir Book"/>
              </a:rPr>
              <a:t> that takes in a one-argument function </a:t>
            </a:r>
            <a:r>
              <a:rPr lang="en-US" dirty="0" err="1">
                <a:solidFill>
                  <a:srgbClr val="4A6300"/>
                </a:solidFill>
                <a:latin typeface="Consolas"/>
                <a:cs typeface="Consolas"/>
              </a:rPr>
              <a:t>func</a:t>
            </a:r>
            <a:r>
              <a:rPr lang="en-US" dirty="0">
                <a:solidFill>
                  <a:srgbClr val="4A6300"/>
                </a:solidFill>
                <a:latin typeface="Avenir Book"/>
                <a:cs typeface="Avenir Book"/>
              </a:rPr>
              <a:t> and returns a function (double) that takes in one argument and returns the result of calling </a:t>
            </a:r>
            <a:r>
              <a:rPr lang="en-US" dirty="0" err="1">
                <a:solidFill>
                  <a:srgbClr val="4A6300"/>
                </a:solidFill>
                <a:latin typeface="Consolas"/>
                <a:cs typeface="Consolas"/>
              </a:rPr>
              <a:t>func</a:t>
            </a:r>
            <a:r>
              <a:rPr lang="en-US" dirty="0">
                <a:solidFill>
                  <a:srgbClr val="4A6300"/>
                </a:solidFill>
                <a:latin typeface="Avenir Book"/>
                <a:cs typeface="Avenir Book"/>
              </a:rPr>
              <a:t> twice on that argument”</a:t>
            </a:r>
            <a:endParaRPr lang="en-US" dirty="0">
              <a:solidFill>
                <a:srgbClr val="4A6300"/>
              </a:solidFill>
              <a:latin typeface="Consolas"/>
              <a:cs typeface="Consolas"/>
            </a:endParaRPr>
          </a:p>
          <a:p>
            <a:r>
              <a:rPr lang="en-US" dirty="0" smtClean="0">
                <a:solidFill>
                  <a:srgbClr val="4A6300"/>
                </a:solidFill>
                <a:latin typeface="Avenir Book"/>
                <a:cs typeface="Avenir Book"/>
              </a:rPr>
              <a:t>Best way to visualize:</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12</a:t>
            </a:fld>
            <a:endParaRPr lang="en-US">
              <a:solidFill>
                <a:srgbClr val="FEFEFE"/>
              </a:solidFill>
            </a:endParaRPr>
          </a:p>
        </p:txBody>
      </p:sp>
      <p:sp>
        <p:nvSpPr>
          <p:cNvPr id="7" name="Left-Right Arrow Callout 6"/>
          <p:cNvSpPr/>
          <p:nvPr/>
        </p:nvSpPr>
        <p:spPr>
          <a:xfrm>
            <a:off x="2132401" y="4725907"/>
            <a:ext cx="3092779" cy="1718211"/>
          </a:xfrm>
          <a:prstGeom prst="leftRightArrowCallout">
            <a:avLst>
              <a:gd name="adj1" fmla="val 25000"/>
              <a:gd name="adj2" fmla="val 25000"/>
              <a:gd name="adj3" fmla="val 25000"/>
              <a:gd name="adj4" fmla="val 59738"/>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Left-Right Arrow Callout 7"/>
          <p:cNvSpPr/>
          <p:nvPr/>
        </p:nvSpPr>
        <p:spPr>
          <a:xfrm>
            <a:off x="5252760" y="4107156"/>
            <a:ext cx="2008558" cy="1216331"/>
          </a:xfrm>
          <a:prstGeom prst="leftRightArrowCallout">
            <a:avLst/>
          </a:prstGeom>
          <a:solidFill>
            <a:srgbClr val="FF00FF"/>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00FF"/>
              </a:solidFill>
            </a:endParaRPr>
          </a:p>
        </p:txBody>
      </p:sp>
      <p:sp>
        <p:nvSpPr>
          <p:cNvPr id="4" name="TextBox 3"/>
          <p:cNvSpPr txBox="1"/>
          <p:nvPr/>
        </p:nvSpPr>
        <p:spPr>
          <a:xfrm>
            <a:off x="2802231" y="4725907"/>
            <a:ext cx="2065498" cy="1754327"/>
          </a:xfrm>
          <a:prstGeom prst="rect">
            <a:avLst/>
          </a:prstGeom>
          <a:noFill/>
        </p:spPr>
        <p:txBody>
          <a:bodyPr wrap="square" rtlCol="0">
            <a:spAutoFit/>
          </a:bodyPr>
          <a:lstStyle/>
          <a:p>
            <a:r>
              <a:rPr lang="en-US" dirty="0" err="1"/>
              <a:t>d</a:t>
            </a:r>
            <a:r>
              <a:rPr lang="en-US" dirty="0" err="1" smtClean="0"/>
              <a:t>ouble_maker</a:t>
            </a:r>
            <a:endParaRPr lang="en-US" dirty="0" smtClean="0"/>
          </a:p>
          <a:p>
            <a:endParaRPr lang="en-US" dirty="0"/>
          </a:p>
          <a:p>
            <a:r>
              <a:rPr lang="en-US" dirty="0" smtClean="0"/>
              <a:t>Defines a function double</a:t>
            </a:r>
          </a:p>
          <a:p>
            <a:r>
              <a:rPr lang="en-US" dirty="0" smtClean="0"/>
              <a:t>(can look at </a:t>
            </a:r>
            <a:r>
              <a:rPr lang="en-US" dirty="0" err="1" smtClean="0"/>
              <a:t>func</a:t>
            </a:r>
            <a:r>
              <a:rPr lang="en-US" dirty="0" smtClean="0"/>
              <a:t>)</a:t>
            </a:r>
            <a:endParaRPr lang="en-US" dirty="0"/>
          </a:p>
        </p:txBody>
      </p:sp>
      <p:sp>
        <p:nvSpPr>
          <p:cNvPr id="11" name="TextBox 10"/>
          <p:cNvSpPr txBox="1"/>
          <p:nvPr/>
        </p:nvSpPr>
        <p:spPr>
          <a:xfrm>
            <a:off x="5808507" y="4453196"/>
            <a:ext cx="2065498" cy="369332"/>
          </a:xfrm>
          <a:prstGeom prst="rect">
            <a:avLst/>
          </a:prstGeom>
          <a:noFill/>
        </p:spPr>
        <p:txBody>
          <a:bodyPr wrap="square" rtlCol="0">
            <a:spAutoFit/>
          </a:bodyPr>
          <a:lstStyle/>
          <a:p>
            <a:r>
              <a:rPr lang="en-US" dirty="0"/>
              <a:t>d</a:t>
            </a:r>
            <a:r>
              <a:rPr lang="en-US" dirty="0" smtClean="0"/>
              <a:t>ouble</a:t>
            </a:r>
          </a:p>
        </p:txBody>
      </p:sp>
      <p:sp>
        <p:nvSpPr>
          <p:cNvPr id="12" name="TextBox 11"/>
          <p:cNvSpPr txBox="1"/>
          <p:nvPr/>
        </p:nvSpPr>
        <p:spPr>
          <a:xfrm>
            <a:off x="4775758" y="4107156"/>
            <a:ext cx="856253" cy="954107"/>
          </a:xfrm>
          <a:prstGeom prst="rect">
            <a:avLst/>
          </a:prstGeom>
          <a:noFill/>
        </p:spPr>
        <p:txBody>
          <a:bodyPr wrap="square" rtlCol="0">
            <a:spAutoFit/>
          </a:bodyPr>
          <a:lstStyle/>
          <a:p>
            <a:r>
              <a:rPr lang="en-US" sz="1400" dirty="0" smtClean="0">
                <a:solidFill>
                  <a:srgbClr val="3366FF"/>
                </a:solidFill>
              </a:rPr>
              <a:t>Same domain as </a:t>
            </a:r>
          </a:p>
          <a:p>
            <a:r>
              <a:rPr lang="en-US" sz="1400" dirty="0" err="1" smtClean="0">
                <a:solidFill>
                  <a:srgbClr val="3366FF"/>
                </a:solidFill>
              </a:rPr>
              <a:t>func</a:t>
            </a:r>
            <a:endParaRPr lang="en-US" sz="1400" dirty="0" smtClean="0">
              <a:solidFill>
                <a:srgbClr val="3366FF"/>
              </a:solidFill>
            </a:endParaRPr>
          </a:p>
        </p:txBody>
      </p:sp>
      <p:sp>
        <p:nvSpPr>
          <p:cNvPr id="13" name="TextBox 12"/>
          <p:cNvSpPr txBox="1"/>
          <p:nvPr/>
        </p:nvSpPr>
        <p:spPr>
          <a:xfrm>
            <a:off x="7261318" y="4580926"/>
            <a:ext cx="1409329" cy="307777"/>
          </a:xfrm>
          <a:prstGeom prst="rect">
            <a:avLst/>
          </a:prstGeom>
          <a:noFill/>
        </p:spPr>
        <p:txBody>
          <a:bodyPr wrap="square" rtlCol="0">
            <a:spAutoFit/>
          </a:bodyPr>
          <a:lstStyle/>
          <a:p>
            <a:r>
              <a:rPr lang="en-US" sz="1400" dirty="0" err="1">
                <a:solidFill>
                  <a:srgbClr val="FF0000"/>
                </a:solidFill>
              </a:rPr>
              <a:t>f</a:t>
            </a:r>
            <a:r>
              <a:rPr lang="en-US" sz="1400" dirty="0" err="1" smtClean="0">
                <a:solidFill>
                  <a:srgbClr val="FF0000"/>
                </a:solidFill>
              </a:rPr>
              <a:t>unc</a:t>
            </a:r>
            <a:r>
              <a:rPr lang="en-US" sz="1400" dirty="0" smtClean="0">
                <a:solidFill>
                  <a:srgbClr val="FF0000"/>
                </a:solidFill>
              </a:rPr>
              <a:t>(</a:t>
            </a:r>
            <a:r>
              <a:rPr lang="en-US" sz="1400" dirty="0" err="1" smtClean="0">
                <a:solidFill>
                  <a:srgbClr val="FF0000"/>
                </a:solidFill>
              </a:rPr>
              <a:t>func</a:t>
            </a:r>
            <a:r>
              <a:rPr lang="en-US" sz="1400" dirty="0" smtClean="0">
                <a:solidFill>
                  <a:srgbClr val="FF0000"/>
                </a:solidFill>
              </a:rPr>
              <a:t>(x))</a:t>
            </a:r>
          </a:p>
        </p:txBody>
      </p:sp>
      <p:sp>
        <p:nvSpPr>
          <p:cNvPr id="14" name="Left-Right Arrow Callout 13"/>
          <p:cNvSpPr/>
          <p:nvPr/>
        </p:nvSpPr>
        <p:spPr>
          <a:xfrm>
            <a:off x="793673" y="3844932"/>
            <a:ext cx="2008558" cy="1216331"/>
          </a:xfrm>
          <a:prstGeom prst="leftRightArrowCallout">
            <a:avLst/>
          </a:prstGeom>
          <a:solidFill>
            <a:srgbClr val="FF6600"/>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6600"/>
              </a:solidFill>
            </a:endParaRPr>
          </a:p>
        </p:txBody>
      </p:sp>
      <p:sp>
        <p:nvSpPr>
          <p:cNvPr id="15" name="TextBox 14"/>
          <p:cNvSpPr txBox="1"/>
          <p:nvPr/>
        </p:nvSpPr>
        <p:spPr>
          <a:xfrm>
            <a:off x="365546" y="3868421"/>
            <a:ext cx="856253" cy="954107"/>
          </a:xfrm>
          <a:prstGeom prst="rect">
            <a:avLst/>
          </a:prstGeom>
          <a:noFill/>
        </p:spPr>
        <p:txBody>
          <a:bodyPr wrap="square" rtlCol="0">
            <a:spAutoFit/>
          </a:bodyPr>
          <a:lstStyle/>
          <a:p>
            <a:r>
              <a:rPr lang="en-US" sz="1400" dirty="0" smtClean="0">
                <a:solidFill>
                  <a:srgbClr val="3366FF"/>
                </a:solidFill>
              </a:rPr>
              <a:t>One parameter</a:t>
            </a:r>
          </a:p>
          <a:p>
            <a:r>
              <a:rPr lang="en-US" sz="1400" dirty="0">
                <a:solidFill>
                  <a:srgbClr val="3366FF"/>
                </a:solidFill>
              </a:rPr>
              <a:t>x</a:t>
            </a:r>
            <a:endParaRPr lang="en-US" sz="1400" dirty="0" smtClean="0">
              <a:solidFill>
                <a:srgbClr val="3366FF"/>
              </a:solidFill>
            </a:endParaRPr>
          </a:p>
        </p:txBody>
      </p:sp>
      <p:sp>
        <p:nvSpPr>
          <p:cNvPr id="16" name="TextBox 15"/>
          <p:cNvSpPr txBox="1"/>
          <p:nvPr/>
        </p:nvSpPr>
        <p:spPr>
          <a:xfrm>
            <a:off x="2802231" y="3868421"/>
            <a:ext cx="1409329" cy="738664"/>
          </a:xfrm>
          <a:prstGeom prst="rect">
            <a:avLst/>
          </a:prstGeom>
          <a:noFill/>
        </p:spPr>
        <p:txBody>
          <a:bodyPr wrap="square" rtlCol="0">
            <a:spAutoFit/>
          </a:bodyPr>
          <a:lstStyle/>
          <a:p>
            <a:r>
              <a:rPr lang="en-US" sz="1400" dirty="0" smtClean="0">
                <a:solidFill>
                  <a:srgbClr val="FF0000"/>
                </a:solidFill>
              </a:rPr>
              <a:t>Express output as:</a:t>
            </a:r>
          </a:p>
          <a:p>
            <a:r>
              <a:rPr lang="en-US" sz="1400" dirty="0" err="1" smtClean="0">
                <a:solidFill>
                  <a:srgbClr val="FF0000"/>
                </a:solidFill>
              </a:rPr>
              <a:t>func</a:t>
            </a:r>
            <a:r>
              <a:rPr lang="en-US" sz="1400" dirty="0" smtClean="0">
                <a:solidFill>
                  <a:srgbClr val="FF0000"/>
                </a:solidFill>
              </a:rPr>
              <a:t>(x)</a:t>
            </a:r>
          </a:p>
        </p:txBody>
      </p:sp>
      <p:sp>
        <p:nvSpPr>
          <p:cNvPr id="17" name="TextBox 16"/>
          <p:cNvSpPr txBox="1"/>
          <p:nvPr/>
        </p:nvSpPr>
        <p:spPr>
          <a:xfrm>
            <a:off x="1221799" y="3868420"/>
            <a:ext cx="1087454" cy="1169551"/>
          </a:xfrm>
          <a:prstGeom prst="rect">
            <a:avLst/>
          </a:prstGeom>
          <a:noFill/>
        </p:spPr>
        <p:txBody>
          <a:bodyPr wrap="square" rtlCol="0">
            <a:spAutoFit/>
          </a:bodyPr>
          <a:lstStyle/>
          <a:p>
            <a:pPr algn="ctr"/>
            <a:r>
              <a:rPr lang="en-US" sz="1400" dirty="0" err="1" smtClean="0"/>
              <a:t>func</a:t>
            </a:r>
            <a:endParaRPr lang="en-US" sz="1400" dirty="0" smtClean="0"/>
          </a:p>
          <a:p>
            <a:pPr algn="ctr"/>
            <a:endParaRPr lang="en-US" sz="1400" dirty="0" smtClean="0"/>
          </a:p>
          <a:p>
            <a:pPr algn="ctr"/>
            <a:r>
              <a:rPr lang="en-US" sz="1400" dirty="0" smtClean="0"/>
              <a:t>??? (unknown behavior)</a:t>
            </a:r>
          </a:p>
        </p:txBody>
      </p:sp>
    </p:spTree>
    <p:extLst>
      <p:ext uri="{BB962C8B-B14F-4D97-AF65-F5344CB8AC3E}">
        <p14:creationId xmlns:p14="http://schemas.microsoft.com/office/powerpoint/2010/main" val="93835309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Characteristics of Functions</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13</a:t>
            </a:fld>
            <a:endParaRPr lang="en-US">
              <a:solidFill>
                <a:srgbClr val="FEFEFE"/>
              </a:solidFill>
            </a:endParaRPr>
          </a:p>
        </p:txBody>
      </p:sp>
      <p:sp>
        <p:nvSpPr>
          <p:cNvPr id="2" name="TextBox 1"/>
          <p:cNvSpPr txBox="1"/>
          <p:nvPr/>
        </p:nvSpPr>
        <p:spPr>
          <a:xfrm>
            <a:off x="5099210" y="3376367"/>
            <a:ext cx="3393971" cy="923330"/>
          </a:xfrm>
          <a:prstGeom prst="rect">
            <a:avLst/>
          </a:prstGeom>
          <a:noFill/>
        </p:spPr>
        <p:txBody>
          <a:bodyPr wrap="square" rtlCol="0">
            <a:spAutoFit/>
          </a:bodyPr>
          <a:lstStyle/>
          <a:p>
            <a:r>
              <a:rPr lang="en-US" dirty="0" err="1" smtClean="0">
                <a:solidFill>
                  <a:srgbClr val="660066"/>
                </a:solidFill>
                <a:latin typeface="Consolas"/>
                <a:cs typeface="Consolas"/>
              </a:rPr>
              <a:t>def</a:t>
            </a:r>
            <a:r>
              <a:rPr lang="en-US" dirty="0" smtClean="0">
                <a:solidFill>
                  <a:srgbClr val="660066"/>
                </a:solidFill>
                <a:latin typeface="Consolas"/>
                <a:cs typeface="Consolas"/>
              </a:rPr>
              <a:t> </a:t>
            </a:r>
            <a:r>
              <a:rPr lang="en-US" dirty="0" err="1" smtClean="0">
                <a:solidFill>
                  <a:schemeClr val="bg2">
                    <a:lumMod val="75000"/>
                  </a:schemeClr>
                </a:solidFill>
                <a:latin typeface="Consolas"/>
                <a:cs typeface="Consolas"/>
              </a:rPr>
              <a:t>double_maker</a:t>
            </a:r>
            <a:r>
              <a:rPr lang="en-US" dirty="0" smtClean="0">
                <a:latin typeface="Consolas"/>
                <a:cs typeface="Consolas"/>
              </a:rPr>
              <a:t>(</a:t>
            </a:r>
            <a:r>
              <a:rPr lang="en-US" dirty="0" err="1" smtClean="0">
                <a:solidFill>
                  <a:srgbClr val="FF6600"/>
                </a:solidFill>
                <a:latin typeface="Consolas"/>
                <a:cs typeface="Consolas"/>
              </a:rPr>
              <a:t>func</a:t>
            </a:r>
            <a:r>
              <a:rPr lang="en-US" dirty="0" smtClean="0">
                <a:latin typeface="Consolas"/>
                <a:cs typeface="Consolas"/>
              </a:rPr>
              <a:t>):</a:t>
            </a:r>
          </a:p>
          <a:p>
            <a:r>
              <a:rPr lang="en-US" dirty="0" smtClean="0">
                <a:solidFill>
                  <a:srgbClr val="660066"/>
                </a:solidFill>
                <a:latin typeface="Consolas"/>
                <a:cs typeface="Consolas"/>
              </a:rPr>
              <a:t>  # body of </a:t>
            </a:r>
            <a:r>
              <a:rPr lang="en-US" dirty="0" err="1" smtClean="0">
                <a:solidFill>
                  <a:srgbClr val="660066"/>
                </a:solidFill>
                <a:latin typeface="Consolas"/>
                <a:cs typeface="Consolas"/>
              </a:rPr>
              <a:t>double_maker</a:t>
            </a:r>
            <a:endParaRPr lang="en-US" dirty="0" smtClean="0">
              <a:solidFill>
                <a:srgbClr val="660066"/>
              </a:solidFill>
              <a:latin typeface="Consolas"/>
              <a:cs typeface="Consolas"/>
            </a:endParaRPr>
          </a:p>
          <a:p>
            <a:r>
              <a:rPr lang="en-US" dirty="0">
                <a:solidFill>
                  <a:srgbClr val="660066"/>
                </a:solidFill>
                <a:latin typeface="Consolas"/>
                <a:cs typeface="Consolas"/>
              </a:rPr>
              <a:t> </a:t>
            </a:r>
            <a:r>
              <a:rPr lang="en-US" dirty="0" smtClean="0">
                <a:solidFill>
                  <a:srgbClr val="660066"/>
                </a:solidFill>
                <a:latin typeface="Consolas"/>
                <a:cs typeface="Consolas"/>
              </a:rPr>
              <a:t> return</a:t>
            </a:r>
            <a:r>
              <a:rPr lang="en-US" dirty="0" smtClean="0">
                <a:solidFill>
                  <a:srgbClr val="FF00FF"/>
                </a:solidFill>
                <a:latin typeface="Consolas"/>
                <a:cs typeface="Consolas"/>
              </a:rPr>
              <a:t> double</a:t>
            </a:r>
            <a:endParaRPr lang="en-US" dirty="0">
              <a:solidFill>
                <a:srgbClr val="FF00FF"/>
              </a:solidFill>
              <a:latin typeface="Consolas"/>
              <a:cs typeface="Consolas"/>
            </a:endParaRPr>
          </a:p>
        </p:txBody>
      </p:sp>
      <p:sp>
        <p:nvSpPr>
          <p:cNvPr id="14" name="Left-Right Arrow Callout 13"/>
          <p:cNvSpPr/>
          <p:nvPr/>
        </p:nvSpPr>
        <p:spPr>
          <a:xfrm>
            <a:off x="2006431" y="2455288"/>
            <a:ext cx="3092779" cy="1718211"/>
          </a:xfrm>
          <a:prstGeom prst="leftRightArrowCallout">
            <a:avLst>
              <a:gd name="adj1" fmla="val 25000"/>
              <a:gd name="adj2" fmla="val 25000"/>
              <a:gd name="adj3" fmla="val 25000"/>
              <a:gd name="adj4" fmla="val 59738"/>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Left-Right Arrow Callout 14"/>
          <p:cNvSpPr/>
          <p:nvPr/>
        </p:nvSpPr>
        <p:spPr>
          <a:xfrm>
            <a:off x="5126790" y="1836537"/>
            <a:ext cx="2008558" cy="1216331"/>
          </a:xfrm>
          <a:prstGeom prst="leftRightArrowCallout">
            <a:avLst/>
          </a:prstGeom>
          <a:solidFill>
            <a:srgbClr val="FF00FF"/>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00FF"/>
              </a:solidFill>
            </a:endParaRPr>
          </a:p>
        </p:txBody>
      </p:sp>
      <p:sp>
        <p:nvSpPr>
          <p:cNvPr id="16" name="TextBox 15"/>
          <p:cNvSpPr txBox="1"/>
          <p:nvPr/>
        </p:nvSpPr>
        <p:spPr>
          <a:xfrm>
            <a:off x="2676261" y="2455288"/>
            <a:ext cx="2065498" cy="1754327"/>
          </a:xfrm>
          <a:prstGeom prst="rect">
            <a:avLst/>
          </a:prstGeom>
          <a:noFill/>
        </p:spPr>
        <p:txBody>
          <a:bodyPr wrap="square" rtlCol="0">
            <a:spAutoFit/>
          </a:bodyPr>
          <a:lstStyle/>
          <a:p>
            <a:r>
              <a:rPr lang="en-US" dirty="0" err="1"/>
              <a:t>d</a:t>
            </a:r>
            <a:r>
              <a:rPr lang="en-US" dirty="0" err="1" smtClean="0"/>
              <a:t>ouble_maker</a:t>
            </a:r>
            <a:endParaRPr lang="en-US" dirty="0" smtClean="0"/>
          </a:p>
          <a:p>
            <a:endParaRPr lang="en-US" dirty="0"/>
          </a:p>
          <a:p>
            <a:r>
              <a:rPr lang="en-US" dirty="0" smtClean="0"/>
              <a:t>Defines a function double</a:t>
            </a:r>
          </a:p>
          <a:p>
            <a:r>
              <a:rPr lang="en-US" dirty="0" smtClean="0"/>
              <a:t>(can look at </a:t>
            </a:r>
            <a:r>
              <a:rPr lang="en-US" dirty="0" err="1" smtClean="0"/>
              <a:t>func</a:t>
            </a:r>
            <a:r>
              <a:rPr lang="en-US" dirty="0" smtClean="0"/>
              <a:t>)</a:t>
            </a:r>
            <a:endParaRPr lang="en-US" dirty="0"/>
          </a:p>
        </p:txBody>
      </p:sp>
      <p:sp>
        <p:nvSpPr>
          <p:cNvPr id="17" name="TextBox 16"/>
          <p:cNvSpPr txBox="1"/>
          <p:nvPr/>
        </p:nvSpPr>
        <p:spPr>
          <a:xfrm>
            <a:off x="5682537" y="2182577"/>
            <a:ext cx="2065498" cy="369332"/>
          </a:xfrm>
          <a:prstGeom prst="rect">
            <a:avLst/>
          </a:prstGeom>
          <a:noFill/>
        </p:spPr>
        <p:txBody>
          <a:bodyPr wrap="square" rtlCol="0">
            <a:spAutoFit/>
          </a:bodyPr>
          <a:lstStyle/>
          <a:p>
            <a:r>
              <a:rPr lang="en-US" dirty="0"/>
              <a:t>d</a:t>
            </a:r>
            <a:r>
              <a:rPr lang="en-US" dirty="0" smtClean="0"/>
              <a:t>ouble</a:t>
            </a:r>
          </a:p>
        </p:txBody>
      </p:sp>
      <p:sp>
        <p:nvSpPr>
          <p:cNvPr id="18" name="TextBox 17"/>
          <p:cNvSpPr txBox="1"/>
          <p:nvPr/>
        </p:nvSpPr>
        <p:spPr>
          <a:xfrm>
            <a:off x="4649788" y="1836537"/>
            <a:ext cx="856253" cy="954107"/>
          </a:xfrm>
          <a:prstGeom prst="rect">
            <a:avLst/>
          </a:prstGeom>
          <a:noFill/>
        </p:spPr>
        <p:txBody>
          <a:bodyPr wrap="square" rtlCol="0">
            <a:spAutoFit/>
          </a:bodyPr>
          <a:lstStyle/>
          <a:p>
            <a:r>
              <a:rPr lang="en-US" sz="1400" dirty="0" smtClean="0">
                <a:solidFill>
                  <a:srgbClr val="3366FF"/>
                </a:solidFill>
              </a:rPr>
              <a:t>Same domain as </a:t>
            </a:r>
          </a:p>
          <a:p>
            <a:r>
              <a:rPr lang="en-US" sz="1400" dirty="0" err="1" smtClean="0">
                <a:solidFill>
                  <a:srgbClr val="3366FF"/>
                </a:solidFill>
              </a:rPr>
              <a:t>func</a:t>
            </a:r>
            <a:endParaRPr lang="en-US" sz="1400" dirty="0" smtClean="0">
              <a:solidFill>
                <a:srgbClr val="3366FF"/>
              </a:solidFill>
            </a:endParaRPr>
          </a:p>
        </p:txBody>
      </p:sp>
      <p:sp>
        <p:nvSpPr>
          <p:cNvPr id="19" name="TextBox 18"/>
          <p:cNvSpPr txBox="1"/>
          <p:nvPr/>
        </p:nvSpPr>
        <p:spPr>
          <a:xfrm>
            <a:off x="7135348" y="2310307"/>
            <a:ext cx="1409329" cy="307777"/>
          </a:xfrm>
          <a:prstGeom prst="rect">
            <a:avLst/>
          </a:prstGeom>
          <a:noFill/>
        </p:spPr>
        <p:txBody>
          <a:bodyPr wrap="square" rtlCol="0">
            <a:spAutoFit/>
          </a:bodyPr>
          <a:lstStyle/>
          <a:p>
            <a:r>
              <a:rPr lang="en-US" sz="1400" dirty="0" err="1">
                <a:solidFill>
                  <a:srgbClr val="804000"/>
                </a:solidFill>
              </a:rPr>
              <a:t>f</a:t>
            </a:r>
            <a:r>
              <a:rPr lang="en-US" sz="1400" dirty="0" err="1" smtClean="0">
                <a:solidFill>
                  <a:srgbClr val="804000"/>
                </a:solidFill>
              </a:rPr>
              <a:t>unc</a:t>
            </a:r>
            <a:r>
              <a:rPr lang="en-US" sz="1400" dirty="0" smtClean="0">
                <a:solidFill>
                  <a:srgbClr val="804000"/>
                </a:solidFill>
              </a:rPr>
              <a:t>(</a:t>
            </a:r>
            <a:r>
              <a:rPr lang="en-US" sz="1400" dirty="0" err="1" smtClean="0">
                <a:solidFill>
                  <a:srgbClr val="804000"/>
                </a:solidFill>
              </a:rPr>
              <a:t>func</a:t>
            </a:r>
            <a:r>
              <a:rPr lang="en-US" sz="1400" dirty="0" smtClean="0">
                <a:solidFill>
                  <a:srgbClr val="804000"/>
                </a:solidFill>
              </a:rPr>
              <a:t>(x))</a:t>
            </a:r>
          </a:p>
        </p:txBody>
      </p:sp>
      <p:sp>
        <p:nvSpPr>
          <p:cNvPr id="20" name="Left-Right Arrow Callout 19"/>
          <p:cNvSpPr/>
          <p:nvPr/>
        </p:nvSpPr>
        <p:spPr>
          <a:xfrm>
            <a:off x="667703" y="1574313"/>
            <a:ext cx="2008558" cy="1216331"/>
          </a:xfrm>
          <a:prstGeom prst="leftRightArrowCallout">
            <a:avLst/>
          </a:prstGeom>
          <a:solidFill>
            <a:srgbClr val="FF6600"/>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6600"/>
              </a:solidFill>
            </a:endParaRPr>
          </a:p>
        </p:txBody>
      </p:sp>
      <p:sp>
        <p:nvSpPr>
          <p:cNvPr id="21" name="TextBox 20"/>
          <p:cNvSpPr txBox="1"/>
          <p:nvPr/>
        </p:nvSpPr>
        <p:spPr>
          <a:xfrm>
            <a:off x="239576" y="1597802"/>
            <a:ext cx="856253" cy="954107"/>
          </a:xfrm>
          <a:prstGeom prst="rect">
            <a:avLst/>
          </a:prstGeom>
          <a:noFill/>
        </p:spPr>
        <p:txBody>
          <a:bodyPr wrap="square" rtlCol="0">
            <a:spAutoFit/>
          </a:bodyPr>
          <a:lstStyle/>
          <a:p>
            <a:r>
              <a:rPr lang="en-US" sz="1400" dirty="0" smtClean="0">
                <a:solidFill>
                  <a:schemeClr val="tx1">
                    <a:lumMod val="95000"/>
                    <a:lumOff val="5000"/>
                  </a:schemeClr>
                </a:solidFill>
              </a:rPr>
              <a:t>One parameter</a:t>
            </a:r>
          </a:p>
          <a:p>
            <a:r>
              <a:rPr lang="en-US" sz="1400" dirty="0">
                <a:solidFill>
                  <a:schemeClr val="tx1">
                    <a:lumMod val="95000"/>
                    <a:lumOff val="5000"/>
                  </a:schemeClr>
                </a:solidFill>
              </a:rPr>
              <a:t>x</a:t>
            </a:r>
            <a:endParaRPr lang="en-US" sz="1400" dirty="0" smtClean="0">
              <a:solidFill>
                <a:schemeClr val="tx1">
                  <a:lumMod val="95000"/>
                  <a:lumOff val="5000"/>
                </a:schemeClr>
              </a:solidFill>
            </a:endParaRPr>
          </a:p>
        </p:txBody>
      </p:sp>
      <p:sp>
        <p:nvSpPr>
          <p:cNvPr id="22" name="TextBox 21"/>
          <p:cNvSpPr txBox="1"/>
          <p:nvPr/>
        </p:nvSpPr>
        <p:spPr>
          <a:xfrm>
            <a:off x="2676261" y="1597802"/>
            <a:ext cx="1409329" cy="738664"/>
          </a:xfrm>
          <a:prstGeom prst="rect">
            <a:avLst/>
          </a:prstGeom>
          <a:noFill/>
        </p:spPr>
        <p:txBody>
          <a:bodyPr wrap="square" rtlCol="0">
            <a:spAutoFit/>
          </a:bodyPr>
          <a:lstStyle/>
          <a:p>
            <a:r>
              <a:rPr lang="en-US" sz="1400" dirty="0" smtClean="0">
                <a:solidFill>
                  <a:srgbClr val="0D0D0D"/>
                </a:solidFill>
              </a:rPr>
              <a:t>Express output as:</a:t>
            </a:r>
          </a:p>
          <a:p>
            <a:r>
              <a:rPr lang="en-US" sz="1400" dirty="0" err="1" smtClean="0">
                <a:solidFill>
                  <a:srgbClr val="0D0D0D"/>
                </a:solidFill>
              </a:rPr>
              <a:t>func</a:t>
            </a:r>
            <a:r>
              <a:rPr lang="en-US" sz="1400" dirty="0" smtClean="0">
                <a:solidFill>
                  <a:srgbClr val="0D0D0D"/>
                </a:solidFill>
              </a:rPr>
              <a:t>(x)</a:t>
            </a:r>
          </a:p>
        </p:txBody>
      </p:sp>
      <p:sp>
        <p:nvSpPr>
          <p:cNvPr id="23" name="TextBox 22"/>
          <p:cNvSpPr txBox="1"/>
          <p:nvPr/>
        </p:nvSpPr>
        <p:spPr>
          <a:xfrm>
            <a:off x="1095829" y="1597801"/>
            <a:ext cx="1087454" cy="1169551"/>
          </a:xfrm>
          <a:prstGeom prst="rect">
            <a:avLst/>
          </a:prstGeom>
          <a:noFill/>
        </p:spPr>
        <p:txBody>
          <a:bodyPr wrap="square" rtlCol="0">
            <a:spAutoFit/>
          </a:bodyPr>
          <a:lstStyle/>
          <a:p>
            <a:pPr algn="ctr"/>
            <a:r>
              <a:rPr lang="en-US" sz="1400" dirty="0" err="1" smtClean="0"/>
              <a:t>func</a:t>
            </a:r>
            <a:endParaRPr lang="en-US" sz="1400" dirty="0" smtClean="0"/>
          </a:p>
          <a:p>
            <a:pPr algn="ctr"/>
            <a:endParaRPr lang="en-US" sz="1400" dirty="0" smtClean="0"/>
          </a:p>
          <a:p>
            <a:pPr algn="ctr"/>
            <a:r>
              <a:rPr lang="en-US" sz="1400" dirty="0" smtClean="0"/>
              <a:t>??? (unknown behavior)</a:t>
            </a:r>
          </a:p>
        </p:txBody>
      </p:sp>
    </p:spTree>
    <p:extLst>
      <p:ext uri="{BB962C8B-B14F-4D97-AF65-F5344CB8AC3E}">
        <p14:creationId xmlns:p14="http://schemas.microsoft.com/office/powerpoint/2010/main" val="1194766251"/>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Characteristics of Functions</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14</a:t>
            </a:fld>
            <a:endParaRPr lang="en-US">
              <a:solidFill>
                <a:srgbClr val="FEFEFE"/>
              </a:solidFill>
            </a:endParaRPr>
          </a:p>
        </p:txBody>
      </p:sp>
      <p:sp>
        <p:nvSpPr>
          <p:cNvPr id="2" name="TextBox 1"/>
          <p:cNvSpPr txBox="1"/>
          <p:nvPr/>
        </p:nvSpPr>
        <p:spPr>
          <a:xfrm>
            <a:off x="5099210" y="3376367"/>
            <a:ext cx="3393971" cy="1200329"/>
          </a:xfrm>
          <a:prstGeom prst="rect">
            <a:avLst/>
          </a:prstGeom>
          <a:noFill/>
        </p:spPr>
        <p:txBody>
          <a:bodyPr wrap="square" rtlCol="0">
            <a:spAutoFit/>
          </a:bodyPr>
          <a:lstStyle/>
          <a:p>
            <a:r>
              <a:rPr lang="en-US" dirty="0" err="1" smtClean="0">
                <a:solidFill>
                  <a:srgbClr val="660066"/>
                </a:solidFill>
                <a:latin typeface="Consolas"/>
                <a:cs typeface="Consolas"/>
              </a:rPr>
              <a:t>def</a:t>
            </a:r>
            <a:r>
              <a:rPr lang="en-US" dirty="0" smtClean="0">
                <a:solidFill>
                  <a:srgbClr val="660066"/>
                </a:solidFill>
                <a:latin typeface="Consolas"/>
                <a:cs typeface="Consolas"/>
              </a:rPr>
              <a:t> </a:t>
            </a:r>
            <a:r>
              <a:rPr lang="en-US" dirty="0" err="1" smtClean="0">
                <a:solidFill>
                  <a:schemeClr val="bg2">
                    <a:lumMod val="75000"/>
                  </a:schemeClr>
                </a:solidFill>
                <a:latin typeface="Consolas"/>
                <a:cs typeface="Consolas"/>
              </a:rPr>
              <a:t>double_maker</a:t>
            </a:r>
            <a:r>
              <a:rPr lang="en-US" dirty="0" smtClean="0">
                <a:latin typeface="Consolas"/>
                <a:cs typeface="Consolas"/>
              </a:rPr>
              <a:t>(</a:t>
            </a:r>
            <a:r>
              <a:rPr lang="en-US" dirty="0" err="1" smtClean="0">
                <a:solidFill>
                  <a:srgbClr val="FF6600"/>
                </a:solidFill>
                <a:latin typeface="Consolas"/>
                <a:cs typeface="Consolas"/>
              </a:rPr>
              <a:t>func</a:t>
            </a:r>
            <a:r>
              <a:rPr lang="en-US" dirty="0" smtClean="0">
                <a:latin typeface="Consolas"/>
                <a:cs typeface="Consolas"/>
              </a:rPr>
              <a:t>):</a:t>
            </a:r>
          </a:p>
          <a:p>
            <a:r>
              <a:rPr lang="en-US" dirty="0">
                <a:latin typeface="Consolas"/>
                <a:cs typeface="Consolas"/>
              </a:rPr>
              <a:t> </a:t>
            </a:r>
            <a:r>
              <a:rPr lang="en-US" dirty="0" smtClean="0">
                <a:latin typeface="Consolas"/>
                <a:cs typeface="Consolas"/>
              </a:rPr>
              <a:t> </a:t>
            </a:r>
            <a:r>
              <a:rPr lang="en-US" dirty="0" err="1" smtClean="0">
                <a:solidFill>
                  <a:srgbClr val="660066"/>
                </a:solidFill>
                <a:latin typeface="Consolas"/>
                <a:cs typeface="Consolas"/>
              </a:rPr>
              <a:t>def</a:t>
            </a:r>
            <a:r>
              <a:rPr lang="en-US" dirty="0" smtClean="0">
                <a:solidFill>
                  <a:srgbClr val="660066"/>
                </a:solidFill>
                <a:latin typeface="Consolas"/>
                <a:cs typeface="Consolas"/>
              </a:rPr>
              <a:t> </a:t>
            </a:r>
            <a:r>
              <a:rPr lang="en-US" dirty="0">
                <a:solidFill>
                  <a:srgbClr val="FF00FF"/>
                </a:solidFill>
                <a:latin typeface="Consolas"/>
                <a:cs typeface="Consolas"/>
              </a:rPr>
              <a:t>double</a:t>
            </a:r>
            <a:r>
              <a:rPr lang="en-US" dirty="0">
                <a:latin typeface="Consolas"/>
                <a:cs typeface="Consolas"/>
              </a:rPr>
              <a:t>(</a:t>
            </a:r>
            <a:r>
              <a:rPr lang="en-US" dirty="0">
                <a:solidFill>
                  <a:srgbClr val="3366FF"/>
                </a:solidFill>
                <a:latin typeface="Consolas"/>
                <a:cs typeface="Consolas"/>
              </a:rPr>
              <a:t>x</a:t>
            </a:r>
            <a:r>
              <a:rPr lang="en-US" dirty="0">
                <a:latin typeface="Consolas"/>
                <a:cs typeface="Consolas"/>
              </a:rPr>
              <a:t>):</a:t>
            </a:r>
          </a:p>
          <a:p>
            <a:r>
              <a:rPr lang="en-US" dirty="0">
                <a:solidFill>
                  <a:srgbClr val="660066"/>
                </a:solidFill>
                <a:latin typeface="Consolas"/>
                <a:cs typeface="Consolas"/>
              </a:rPr>
              <a:t> </a:t>
            </a:r>
            <a:r>
              <a:rPr lang="en-US" dirty="0" smtClean="0">
                <a:solidFill>
                  <a:srgbClr val="660066"/>
                </a:solidFill>
                <a:latin typeface="Consolas"/>
                <a:cs typeface="Consolas"/>
              </a:rPr>
              <a:t>   # body of double</a:t>
            </a:r>
          </a:p>
          <a:p>
            <a:r>
              <a:rPr lang="en-US" dirty="0">
                <a:solidFill>
                  <a:srgbClr val="660066"/>
                </a:solidFill>
                <a:latin typeface="Consolas"/>
                <a:cs typeface="Consolas"/>
              </a:rPr>
              <a:t> </a:t>
            </a:r>
            <a:r>
              <a:rPr lang="en-US" dirty="0" smtClean="0">
                <a:solidFill>
                  <a:srgbClr val="660066"/>
                </a:solidFill>
                <a:latin typeface="Consolas"/>
                <a:cs typeface="Consolas"/>
              </a:rPr>
              <a:t> return</a:t>
            </a:r>
            <a:r>
              <a:rPr lang="en-US" dirty="0" smtClean="0">
                <a:solidFill>
                  <a:srgbClr val="FF00FF"/>
                </a:solidFill>
                <a:latin typeface="Consolas"/>
                <a:cs typeface="Consolas"/>
              </a:rPr>
              <a:t> double</a:t>
            </a:r>
            <a:endParaRPr lang="en-US" dirty="0">
              <a:solidFill>
                <a:srgbClr val="FF00FF"/>
              </a:solidFill>
              <a:latin typeface="Consolas"/>
              <a:cs typeface="Consolas"/>
            </a:endParaRPr>
          </a:p>
        </p:txBody>
      </p:sp>
      <p:sp>
        <p:nvSpPr>
          <p:cNvPr id="14" name="Left-Right Arrow Callout 13"/>
          <p:cNvSpPr/>
          <p:nvPr/>
        </p:nvSpPr>
        <p:spPr>
          <a:xfrm>
            <a:off x="2006431" y="2455288"/>
            <a:ext cx="3092779" cy="1718211"/>
          </a:xfrm>
          <a:prstGeom prst="leftRightArrowCallout">
            <a:avLst>
              <a:gd name="adj1" fmla="val 25000"/>
              <a:gd name="adj2" fmla="val 25000"/>
              <a:gd name="adj3" fmla="val 25000"/>
              <a:gd name="adj4" fmla="val 59738"/>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Left-Right Arrow Callout 14"/>
          <p:cNvSpPr/>
          <p:nvPr/>
        </p:nvSpPr>
        <p:spPr>
          <a:xfrm>
            <a:off x="5126790" y="1836537"/>
            <a:ext cx="2008558" cy="1216331"/>
          </a:xfrm>
          <a:prstGeom prst="leftRightArrowCallout">
            <a:avLst/>
          </a:prstGeom>
          <a:solidFill>
            <a:srgbClr val="FF00FF"/>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00FF"/>
              </a:solidFill>
            </a:endParaRPr>
          </a:p>
        </p:txBody>
      </p:sp>
      <p:sp>
        <p:nvSpPr>
          <p:cNvPr id="16" name="TextBox 15"/>
          <p:cNvSpPr txBox="1"/>
          <p:nvPr/>
        </p:nvSpPr>
        <p:spPr>
          <a:xfrm>
            <a:off x="2676261" y="2455288"/>
            <a:ext cx="2065498" cy="1754327"/>
          </a:xfrm>
          <a:prstGeom prst="rect">
            <a:avLst/>
          </a:prstGeom>
          <a:noFill/>
        </p:spPr>
        <p:txBody>
          <a:bodyPr wrap="square" rtlCol="0">
            <a:spAutoFit/>
          </a:bodyPr>
          <a:lstStyle/>
          <a:p>
            <a:r>
              <a:rPr lang="en-US" dirty="0" err="1"/>
              <a:t>d</a:t>
            </a:r>
            <a:r>
              <a:rPr lang="en-US" dirty="0" err="1" smtClean="0"/>
              <a:t>ouble_maker</a:t>
            </a:r>
            <a:endParaRPr lang="en-US" dirty="0" smtClean="0"/>
          </a:p>
          <a:p>
            <a:endParaRPr lang="en-US" dirty="0"/>
          </a:p>
          <a:p>
            <a:r>
              <a:rPr lang="en-US" dirty="0" smtClean="0"/>
              <a:t>Defines a function double</a:t>
            </a:r>
          </a:p>
          <a:p>
            <a:r>
              <a:rPr lang="en-US" dirty="0" smtClean="0"/>
              <a:t>(can look at </a:t>
            </a:r>
            <a:r>
              <a:rPr lang="en-US" dirty="0" err="1" smtClean="0"/>
              <a:t>func</a:t>
            </a:r>
            <a:r>
              <a:rPr lang="en-US" dirty="0" smtClean="0"/>
              <a:t>)</a:t>
            </a:r>
            <a:endParaRPr lang="en-US" dirty="0"/>
          </a:p>
        </p:txBody>
      </p:sp>
      <p:sp>
        <p:nvSpPr>
          <p:cNvPr id="17" name="TextBox 16"/>
          <p:cNvSpPr txBox="1"/>
          <p:nvPr/>
        </p:nvSpPr>
        <p:spPr>
          <a:xfrm>
            <a:off x="5682537" y="2182577"/>
            <a:ext cx="2065498" cy="369332"/>
          </a:xfrm>
          <a:prstGeom prst="rect">
            <a:avLst/>
          </a:prstGeom>
          <a:noFill/>
        </p:spPr>
        <p:txBody>
          <a:bodyPr wrap="square" rtlCol="0">
            <a:spAutoFit/>
          </a:bodyPr>
          <a:lstStyle/>
          <a:p>
            <a:r>
              <a:rPr lang="en-US" dirty="0"/>
              <a:t>d</a:t>
            </a:r>
            <a:r>
              <a:rPr lang="en-US" dirty="0" smtClean="0"/>
              <a:t>ouble</a:t>
            </a:r>
          </a:p>
        </p:txBody>
      </p:sp>
      <p:sp>
        <p:nvSpPr>
          <p:cNvPr id="18" name="TextBox 17"/>
          <p:cNvSpPr txBox="1"/>
          <p:nvPr/>
        </p:nvSpPr>
        <p:spPr>
          <a:xfrm>
            <a:off x="4649788" y="1836537"/>
            <a:ext cx="856253" cy="954107"/>
          </a:xfrm>
          <a:prstGeom prst="rect">
            <a:avLst/>
          </a:prstGeom>
          <a:noFill/>
        </p:spPr>
        <p:txBody>
          <a:bodyPr wrap="square" rtlCol="0">
            <a:spAutoFit/>
          </a:bodyPr>
          <a:lstStyle/>
          <a:p>
            <a:r>
              <a:rPr lang="en-US" sz="1400" dirty="0" smtClean="0">
                <a:solidFill>
                  <a:srgbClr val="3366FF"/>
                </a:solidFill>
              </a:rPr>
              <a:t>Same domain as </a:t>
            </a:r>
          </a:p>
          <a:p>
            <a:r>
              <a:rPr lang="en-US" sz="1400" dirty="0" err="1" smtClean="0">
                <a:solidFill>
                  <a:srgbClr val="3366FF"/>
                </a:solidFill>
              </a:rPr>
              <a:t>func</a:t>
            </a:r>
            <a:endParaRPr lang="en-US" sz="1400" dirty="0" smtClean="0">
              <a:solidFill>
                <a:srgbClr val="3366FF"/>
              </a:solidFill>
            </a:endParaRPr>
          </a:p>
        </p:txBody>
      </p:sp>
      <p:sp>
        <p:nvSpPr>
          <p:cNvPr id="19" name="TextBox 18"/>
          <p:cNvSpPr txBox="1"/>
          <p:nvPr/>
        </p:nvSpPr>
        <p:spPr>
          <a:xfrm>
            <a:off x="7135348" y="2310307"/>
            <a:ext cx="1409329" cy="307777"/>
          </a:xfrm>
          <a:prstGeom prst="rect">
            <a:avLst/>
          </a:prstGeom>
          <a:noFill/>
        </p:spPr>
        <p:txBody>
          <a:bodyPr wrap="square" rtlCol="0">
            <a:spAutoFit/>
          </a:bodyPr>
          <a:lstStyle/>
          <a:p>
            <a:r>
              <a:rPr lang="en-US" sz="1400" dirty="0" err="1">
                <a:solidFill>
                  <a:srgbClr val="804000"/>
                </a:solidFill>
              </a:rPr>
              <a:t>f</a:t>
            </a:r>
            <a:r>
              <a:rPr lang="en-US" sz="1400" dirty="0" err="1" smtClean="0">
                <a:solidFill>
                  <a:srgbClr val="804000"/>
                </a:solidFill>
              </a:rPr>
              <a:t>unc</a:t>
            </a:r>
            <a:r>
              <a:rPr lang="en-US" sz="1400" dirty="0" smtClean="0">
                <a:solidFill>
                  <a:srgbClr val="804000"/>
                </a:solidFill>
              </a:rPr>
              <a:t>(</a:t>
            </a:r>
            <a:r>
              <a:rPr lang="en-US" sz="1400" dirty="0" err="1" smtClean="0">
                <a:solidFill>
                  <a:srgbClr val="804000"/>
                </a:solidFill>
              </a:rPr>
              <a:t>func</a:t>
            </a:r>
            <a:r>
              <a:rPr lang="en-US" sz="1400" dirty="0" smtClean="0">
                <a:solidFill>
                  <a:srgbClr val="804000"/>
                </a:solidFill>
              </a:rPr>
              <a:t>(x))</a:t>
            </a:r>
          </a:p>
        </p:txBody>
      </p:sp>
      <p:sp>
        <p:nvSpPr>
          <p:cNvPr id="20" name="Left-Right Arrow Callout 19"/>
          <p:cNvSpPr/>
          <p:nvPr/>
        </p:nvSpPr>
        <p:spPr>
          <a:xfrm>
            <a:off x="667703" y="1574313"/>
            <a:ext cx="2008558" cy="1216331"/>
          </a:xfrm>
          <a:prstGeom prst="leftRightArrowCallout">
            <a:avLst/>
          </a:prstGeom>
          <a:solidFill>
            <a:srgbClr val="FF6600"/>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6600"/>
              </a:solidFill>
            </a:endParaRPr>
          </a:p>
        </p:txBody>
      </p:sp>
      <p:sp>
        <p:nvSpPr>
          <p:cNvPr id="21" name="TextBox 20"/>
          <p:cNvSpPr txBox="1"/>
          <p:nvPr/>
        </p:nvSpPr>
        <p:spPr>
          <a:xfrm>
            <a:off x="239576" y="1597802"/>
            <a:ext cx="856253" cy="954107"/>
          </a:xfrm>
          <a:prstGeom prst="rect">
            <a:avLst/>
          </a:prstGeom>
          <a:noFill/>
        </p:spPr>
        <p:txBody>
          <a:bodyPr wrap="square" rtlCol="0">
            <a:spAutoFit/>
          </a:bodyPr>
          <a:lstStyle/>
          <a:p>
            <a:r>
              <a:rPr lang="en-US" sz="1400" dirty="0" smtClean="0">
                <a:solidFill>
                  <a:schemeClr val="tx1">
                    <a:lumMod val="95000"/>
                    <a:lumOff val="5000"/>
                  </a:schemeClr>
                </a:solidFill>
              </a:rPr>
              <a:t>One parameter</a:t>
            </a:r>
          </a:p>
          <a:p>
            <a:r>
              <a:rPr lang="en-US" sz="1400" dirty="0">
                <a:solidFill>
                  <a:schemeClr val="tx1">
                    <a:lumMod val="95000"/>
                    <a:lumOff val="5000"/>
                  </a:schemeClr>
                </a:solidFill>
              </a:rPr>
              <a:t>x</a:t>
            </a:r>
            <a:endParaRPr lang="en-US" sz="1400" dirty="0" smtClean="0">
              <a:solidFill>
                <a:schemeClr val="tx1">
                  <a:lumMod val="95000"/>
                  <a:lumOff val="5000"/>
                </a:schemeClr>
              </a:solidFill>
            </a:endParaRPr>
          </a:p>
        </p:txBody>
      </p:sp>
      <p:sp>
        <p:nvSpPr>
          <p:cNvPr id="22" name="TextBox 21"/>
          <p:cNvSpPr txBox="1"/>
          <p:nvPr/>
        </p:nvSpPr>
        <p:spPr>
          <a:xfrm>
            <a:off x="2676261" y="1597802"/>
            <a:ext cx="1409329" cy="738664"/>
          </a:xfrm>
          <a:prstGeom prst="rect">
            <a:avLst/>
          </a:prstGeom>
          <a:noFill/>
        </p:spPr>
        <p:txBody>
          <a:bodyPr wrap="square" rtlCol="0">
            <a:spAutoFit/>
          </a:bodyPr>
          <a:lstStyle/>
          <a:p>
            <a:r>
              <a:rPr lang="en-US" sz="1400" dirty="0" smtClean="0">
                <a:solidFill>
                  <a:srgbClr val="0D0D0D"/>
                </a:solidFill>
              </a:rPr>
              <a:t>Express output as:</a:t>
            </a:r>
          </a:p>
          <a:p>
            <a:r>
              <a:rPr lang="en-US" sz="1400" dirty="0" err="1" smtClean="0">
                <a:solidFill>
                  <a:srgbClr val="0D0D0D"/>
                </a:solidFill>
              </a:rPr>
              <a:t>func</a:t>
            </a:r>
            <a:r>
              <a:rPr lang="en-US" sz="1400" dirty="0" smtClean="0">
                <a:solidFill>
                  <a:srgbClr val="0D0D0D"/>
                </a:solidFill>
              </a:rPr>
              <a:t>(x)</a:t>
            </a:r>
          </a:p>
        </p:txBody>
      </p:sp>
      <p:sp>
        <p:nvSpPr>
          <p:cNvPr id="23" name="TextBox 22"/>
          <p:cNvSpPr txBox="1"/>
          <p:nvPr/>
        </p:nvSpPr>
        <p:spPr>
          <a:xfrm>
            <a:off x="1095829" y="1597801"/>
            <a:ext cx="1087454" cy="1169551"/>
          </a:xfrm>
          <a:prstGeom prst="rect">
            <a:avLst/>
          </a:prstGeom>
          <a:noFill/>
        </p:spPr>
        <p:txBody>
          <a:bodyPr wrap="square" rtlCol="0">
            <a:spAutoFit/>
          </a:bodyPr>
          <a:lstStyle/>
          <a:p>
            <a:pPr algn="ctr"/>
            <a:r>
              <a:rPr lang="en-US" sz="1400" dirty="0" err="1" smtClean="0"/>
              <a:t>func</a:t>
            </a:r>
            <a:endParaRPr lang="en-US" sz="1400" dirty="0" smtClean="0"/>
          </a:p>
          <a:p>
            <a:pPr algn="ctr"/>
            <a:endParaRPr lang="en-US" sz="1400" dirty="0" smtClean="0"/>
          </a:p>
          <a:p>
            <a:pPr algn="ctr"/>
            <a:r>
              <a:rPr lang="en-US" sz="1400" dirty="0" smtClean="0"/>
              <a:t>??? (unknown behavior)</a:t>
            </a:r>
          </a:p>
        </p:txBody>
      </p:sp>
      <p:sp>
        <p:nvSpPr>
          <p:cNvPr id="24" name="TextBox 23"/>
          <p:cNvSpPr txBox="1"/>
          <p:nvPr/>
        </p:nvSpPr>
        <p:spPr>
          <a:xfrm>
            <a:off x="1334235" y="4848864"/>
            <a:ext cx="6413800" cy="1754327"/>
          </a:xfrm>
          <a:prstGeom prst="rect">
            <a:avLst/>
          </a:prstGeom>
          <a:noFill/>
        </p:spPr>
        <p:txBody>
          <a:bodyPr wrap="square" rtlCol="0">
            <a:spAutoFit/>
          </a:bodyPr>
          <a:lstStyle/>
          <a:p>
            <a:r>
              <a:rPr lang="en-US" dirty="0" smtClean="0"/>
              <a:t>Even though getting the domain/range right might not seem to be important, it’s an important step in the right direction. </a:t>
            </a:r>
          </a:p>
          <a:p>
            <a:r>
              <a:rPr lang="en-US" dirty="0" smtClean="0"/>
              <a:t>It’s like aiming your basketball shot. An errant shot has no chance of going in. A straight shot always has more of a chance.</a:t>
            </a:r>
            <a:endParaRPr lang="en-US" dirty="0"/>
          </a:p>
        </p:txBody>
      </p:sp>
    </p:spTree>
    <p:extLst>
      <p:ext uri="{BB962C8B-B14F-4D97-AF65-F5344CB8AC3E}">
        <p14:creationId xmlns:p14="http://schemas.microsoft.com/office/powerpoint/2010/main" val="1624736488"/>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455613"/>
            <a:ext cx="7024687" cy="1143000"/>
          </a:xfrm>
        </p:spPr>
        <p:txBody>
          <a:bodyPr/>
          <a:lstStyle/>
          <a:p>
            <a:r>
              <a:rPr lang="en-US" dirty="0" smtClean="0">
                <a:latin typeface="Century Gothic" charset="0"/>
              </a:rPr>
              <a:t>Characteristics of Functions</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15</a:t>
            </a:fld>
            <a:endParaRPr lang="en-US">
              <a:solidFill>
                <a:srgbClr val="FEFEFE"/>
              </a:solidFill>
            </a:endParaRPr>
          </a:p>
        </p:txBody>
      </p:sp>
      <p:sp>
        <p:nvSpPr>
          <p:cNvPr id="2" name="TextBox 1"/>
          <p:cNvSpPr txBox="1"/>
          <p:nvPr/>
        </p:nvSpPr>
        <p:spPr>
          <a:xfrm>
            <a:off x="5099210" y="3376367"/>
            <a:ext cx="3393971" cy="1200329"/>
          </a:xfrm>
          <a:prstGeom prst="rect">
            <a:avLst/>
          </a:prstGeom>
          <a:noFill/>
        </p:spPr>
        <p:txBody>
          <a:bodyPr wrap="square" rtlCol="0">
            <a:spAutoFit/>
          </a:bodyPr>
          <a:lstStyle/>
          <a:p>
            <a:r>
              <a:rPr lang="en-US" dirty="0" err="1" smtClean="0">
                <a:solidFill>
                  <a:srgbClr val="660066"/>
                </a:solidFill>
                <a:latin typeface="Consolas"/>
                <a:cs typeface="Consolas"/>
              </a:rPr>
              <a:t>def</a:t>
            </a:r>
            <a:r>
              <a:rPr lang="en-US" dirty="0" smtClean="0">
                <a:solidFill>
                  <a:srgbClr val="660066"/>
                </a:solidFill>
                <a:latin typeface="Consolas"/>
                <a:cs typeface="Consolas"/>
              </a:rPr>
              <a:t> </a:t>
            </a:r>
            <a:r>
              <a:rPr lang="en-US" dirty="0" err="1" smtClean="0">
                <a:solidFill>
                  <a:schemeClr val="bg2">
                    <a:lumMod val="75000"/>
                  </a:schemeClr>
                </a:solidFill>
                <a:latin typeface="Consolas"/>
                <a:cs typeface="Consolas"/>
              </a:rPr>
              <a:t>double_maker</a:t>
            </a:r>
            <a:r>
              <a:rPr lang="en-US" dirty="0" smtClean="0">
                <a:latin typeface="Consolas"/>
                <a:cs typeface="Consolas"/>
              </a:rPr>
              <a:t>(</a:t>
            </a:r>
            <a:r>
              <a:rPr lang="en-US" dirty="0" err="1" smtClean="0">
                <a:solidFill>
                  <a:srgbClr val="FF6600"/>
                </a:solidFill>
                <a:latin typeface="Consolas"/>
                <a:cs typeface="Consolas"/>
              </a:rPr>
              <a:t>func</a:t>
            </a:r>
            <a:r>
              <a:rPr lang="en-US" dirty="0" smtClean="0">
                <a:latin typeface="Consolas"/>
                <a:cs typeface="Consolas"/>
              </a:rPr>
              <a:t>):</a:t>
            </a:r>
          </a:p>
          <a:p>
            <a:r>
              <a:rPr lang="en-US" dirty="0">
                <a:latin typeface="Consolas"/>
                <a:cs typeface="Consolas"/>
              </a:rPr>
              <a:t> </a:t>
            </a:r>
            <a:r>
              <a:rPr lang="en-US" dirty="0" smtClean="0">
                <a:latin typeface="Consolas"/>
                <a:cs typeface="Consolas"/>
              </a:rPr>
              <a:t> </a:t>
            </a:r>
            <a:r>
              <a:rPr lang="en-US" dirty="0" err="1" smtClean="0">
                <a:solidFill>
                  <a:srgbClr val="660066"/>
                </a:solidFill>
                <a:latin typeface="Consolas"/>
                <a:cs typeface="Consolas"/>
              </a:rPr>
              <a:t>def</a:t>
            </a:r>
            <a:r>
              <a:rPr lang="en-US" dirty="0" smtClean="0">
                <a:solidFill>
                  <a:srgbClr val="660066"/>
                </a:solidFill>
                <a:latin typeface="Consolas"/>
                <a:cs typeface="Consolas"/>
              </a:rPr>
              <a:t> </a:t>
            </a:r>
            <a:r>
              <a:rPr lang="en-US" dirty="0">
                <a:solidFill>
                  <a:srgbClr val="FF00FF"/>
                </a:solidFill>
                <a:latin typeface="Consolas"/>
                <a:cs typeface="Consolas"/>
              </a:rPr>
              <a:t>double</a:t>
            </a:r>
            <a:r>
              <a:rPr lang="en-US" dirty="0">
                <a:latin typeface="Consolas"/>
                <a:cs typeface="Consolas"/>
              </a:rPr>
              <a:t>(</a:t>
            </a:r>
            <a:r>
              <a:rPr lang="en-US" dirty="0">
                <a:solidFill>
                  <a:srgbClr val="3366FF"/>
                </a:solidFill>
                <a:latin typeface="Consolas"/>
                <a:cs typeface="Consolas"/>
              </a:rPr>
              <a:t>x</a:t>
            </a:r>
            <a:r>
              <a:rPr lang="en-US" dirty="0">
                <a:latin typeface="Consolas"/>
                <a:cs typeface="Consolas"/>
              </a:rPr>
              <a:t>):</a:t>
            </a:r>
          </a:p>
          <a:p>
            <a:r>
              <a:rPr lang="en-US" dirty="0">
                <a:latin typeface="Consolas"/>
                <a:cs typeface="Consolas"/>
              </a:rPr>
              <a:t> </a:t>
            </a:r>
            <a:r>
              <a:rPr lang="en-US" dirty="0" smtClean="0">
                <a:latin typeface="Consolas"/>
                <a:cs typeface="Consolas"/>
              </a:rPr>
              <a:t>   </a:t>
            </a:r>
            <a:r>
              <a:rPr lang="en-US" dirty="0" smtClean="0">
                <a:solidFill>
                  <a:srgbClr val="804000"/>
                </a:solidFill>
                <a:latin typeface="Consolas"/>
                <a:cs typeface="Consolas"/>
              </a:rPr>
              <a:t>return </a:t>
            </a:r>
            <a:r>
              <a:rPr lang="en-US" dirty="0" err="1">
                <a:solidFill>
                  <a:srgbClr val="FF6600"/>
                </a:solidFill>
                <a:latin typeface="Consolas"/>
                <a:cs typeface="Consolas"/>
              </a:rPr>
              <a:t>func</a:t>
            </a:r>
            <a:r>
              <a:rPr lang="en-US" dirty="0">
                <a:latin typeface="Consolas"/>
                <a:cs typeface="Consolas"/>
              </a:rPr>
              <a:t>(</a:t>
            </a:r>
            <a:r>
              <a:rPr lang="en-US" dirty="0" err="1">
                <a:solidFill>
                  <a:srgbClr val="FF6600"/>
                </a:solidFill>
                <a:latin typeface="Consolas"/>
                <a:cs typeface="Consolas"/>
              </a:rPr>
              <a:t>func</a:t>
            </a:r>
            <a:r>
              <a:rPr lang="en-US" dirty="0">
                <a:latin typeface="Consolas"/>
                <a:cs typeface="Consolas"/>
              </a:rPr>
              <a:t>(</a:t>
            </a:r>
            <a:r>
              <a:rPr lang="en-US" dirty="0">
                <a:solidFill>
                  <a:srgbClr val="3366FF"/>
                </a:solidFill>
                <a:latin typeface="Consolas"/>
                <a:cs typeface="Consolas"/>
              </a:rPr>
              <a:t>x</a:t>
            </a:r>
            <a:r>
              <a:rPr lang="en-US" dirty="0" smtClean="0">
                <a:latin typeface="Consolas"/>
                <a:cs typeface="Consolas"/>
              </a:rPr>
              <a:t>))</a:t>
            </a:r>
          </a:p>
          <a:p>
            <a:r>
              <a:rPr lang="en-US" dirty="0">
                <a:solidFill>
                  <a:srgbClr val="660066"/>
                </a:solidFill>
                <a:latin typeface="Consolas"/>
                <a:cs typeface="Consolas"/>
              </a:rPr>
              <a:t> </a:t>
            </a:r>
            <a:r>
              <a:rPr lang="en-US" dirty="0" smtClean="0">
                <a:solidFill>
                  <a:srgbClr val="660066"/>
                </a:solidFill>
                <a:latin typeface="Consolas"/>
                <a:cs typeface="Consolas"/>
              </a:rPr>
              <a:t> return</a:t>
            </a:r>
            <a:r>
              <a:rPr lang="en-US" dirty="0" smtClean="0">
                <a:solidFill>
                  <a:srgbClr val="FF00FF"/>
                </a:solidFill>
                <a:latin typeface="Consolas"/>
                <a:cs typeface="Consolas"/>
              </a:rPr>
              <a:t> double</a:t>
            </a:r>
            <a:endParaRPr lang="en-US" dirty="0">
              <a:solidFill>
                <a:srgbClr val="FF00FF"/>
              </a:solidFill>
              <a:latin typeface="Consolas"/>
              <a:cs typeface="Consolas"/>
            </a:endParaRPr>
          </a:p>
        </p:txBody>
      </p:sp>
      <p:sp>
        <p:nvSpPr>
          <p:cNvPr id="14" name="Left-Right Arrow Callout 13"/>
          <p:cNvSpPr/>
          <p:nvPr/>
        </p:nvSpPr>
        <p:spPr>
          <a:xfrm>
            <a:off x="2006431" y="2455288"/>
            <a:ext cx="3092779" cy="1718211"/>
          </a:xfrm>
          <a:prstGeom prst="leftRightArrowCallout">
            <a:avLst>
              <a:gd name="adj1" fmla="val 25000"/>
              <a:gd name="adj2" fmla="val 25000"/>
              <a:gd name="adj3" fmla="val 25000"/>
              <a:gd name="adj4" fmla="val 59738"/>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Left-Right Arrow Callout 14"/>
          <p:cNvSpPr/>
          <p:nvPr/>
        </p:nvSpPr>
        <p:spPr>
          <a:xfrm>
            <a:off x="5126790" y="1836537"/>
            <a:ext cx="2008558" cy="1216331"/>
          </a:xfrm>
          <a:prstGeom prst="leftRightArrowCallout">
            <a:avLst/>
          </a:prstGeom>
          <a:solidFill>
            <a:srgbClr val="FF00FF"/>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00FF"/>
              </a:solidFill>
            </a:endParaRPr>
          </a:p>
        </p:txBody>
      </p:sp>
      <p:sp>
        <p:nvSpPr>
          <p:cNvPr id="16" name="TextBox 15"/>
          <p:cNvSpPr txBox="1"/>
          <p:nvPr/>
        </p:nvSpPr>
        <p:spPr>
          <a:xfrm>
            <a:off x="2676261" y="2455288"/>
            <a:ext cx="2065498" cy="1754327"/>
          </a:xfrm>
          <a:prstGeom prst="rect">
            <a:avLst/>
          </a:prstGeom>
          <a:noFill/>
        </p:spPr>
        <p:txBody>
          <a:bodyPr wrap="square" rtlCol="0">
            <a:spAutoFit/>
          </a:bodyPr>
          <a:lstStyle/>
          <a:p>
            <a:r>
              <a:rPr lang="en-US" dirty="0" err="1"/>
              <a:t>d</a:t>
            </a:r>
            <a:r>
              <a:rPr lang="en-US" dirty="0" err="1" smtClean="0"/>
              <a:t>ouble_maker</a:t>
            </a:r>
            <a:endParaRPr lang="en-US" dirty="0" smtClean="0"/>
          </a:p>
          <a:p>
            <a:endParaRPr lang="en-US" dirty="0"/>
          </a:p>
          <a:p>
            <a:r>
              <a:rPr lang="en-US" dirty="0" smtClean="0"/>
              <a:t>Defines a function double</a:t>
            </a:r>
          </a:p>
          <a:p>
            <a:r>
              <a:rPr lang="en-US" dirty="0" smtClean="0"/>
              <a:t>(can look at </a:t>
            </a:r>
            <a:r>
              <a:rPr lang="en-US" dirty="0" err="1" smtClean="0"/>
              <a:t>func</a:t>
            </a:r>
            <a:r>
              <a:rPr lang="en-US" dirty="0" smtClean="0"/>
              <a:t>)</a:t>
            </a:r>
            <a:endParaRPr lang="en-US" dirty="0"/>
          </a:p>
        </p:txBody>
      </p:sp>
      <p:sp>
        <p:nvSpPr>
          <p:cNvPr id="17" name="TextBox 16"/>
          <p:cNvSpPr txBox="1"/>
          <p:nvPr/>
        </p:nvSpPr>
        <p:spPr>
          <a:xfrm>
            <a:off x="5682537" y="2182577"/>
            <a:ext cx="2065498" cy="369332"/>
          </a:xfrm>
          <a:prstGeom prst="rect">
            <a:avLst/>
          </a:prstGeom>
          <a:noFill/>
        </p:spPr>
        <p:txBody>
          <a:bodyPr wrap="square" rtlCol="0">
            <a:spAutoFit/>
          </a:bodyPr>
          <a:lstStyle/>
          <a:p>
            <a:r>
              <a:rPr lang="en-US" dirty="0"/>
              <a:t>d</a:t>
            </a:r>
            <a:r>
              <a:rPr lang="en-US" dirty="0" smtClean="0"/>
              <a:t>ouble</a:t>
            </a:r>
          </a:p>
        </p:txBody>
      </p:sp>
      <p:sp>
        <p:nvSpPr>
          <p:cNvPr id="18" name="TextBox 17"/>
          <p:cNvSpPr txBox="1"/>
          <p:nvPr/>
        </p:nvSpPr>
        <p:spPr>
          <a:xfrm>
            <a:off x="4649788" y="1836537"/>
            <a:ext cx="856253" cy="954107"/>
          </a:xfrm>
          <a:prstGeom prst="rect">
            <a:avLst/>
          </a:prstGeom>
          <a:noFill/>
        </p:spPr>
        <p:txBody>
          <a:bodyPr wrap="square" rtlCol="0">
            <a:spAutoFit/>
          </a:bodyPr>
          <a:lstStyle/>
          <a:p>
            <a:r>
              <a:rPr lang="en-US" sz="1400" dirty="0" smtClean="0">
                <a:solidFill>
                  <a:srgbClr val="3366FF"/>
                </a:solidFill>
              </a:rPr>
              <a:t>Same domain as </a:t>
            </a:r>
          </a:p>
          <a:p>
            <a:r>
              <a:rPr lang="en-US" sz="1400" dirty="0" err="1" smtClean="0">
                <a:solidFill>
                  <a:srgbClr val="3366FF"/>
                </a:solidFill>
              </a:rPr>
              <a:t>func</a:t>
            </a:r>
            <a:endParaRPr lang="en-US" sz="1400" dirty="0" smtClean="0">
              <a:solidFill>
                <a:srgbClr val="3366FF"/>
              </a:solidFill>
            </a:endParaRPr>
          </a:p>
        </p:txBody>
      </p:sp>
      <p:sp>
        <p:nvSpPr>
          <p:cNvPr id="19" name="TextBox 18"/>
          <p:cNvSpPr txBox="1"/>
          <p:nvPr/>
        </p:nvSpPr>
        <p:spPr>
          <a:xfrm>
            <a:off x="7135348" y="2310307"/>
            <a:ext cx="1409329" cy="307777"/>
          </a:xfrm>
          <a:prstGeom prst="rect">
            <a:avLst/>
          </a:prstGeom>
          <a:noFill/>
        </p:spPr>
        <p:txBody>
          <a:bodyPr wrap="square" rtlCol="0">
            <a:spAutoFit/>
          </a:bodyPr>
          <a:lstStyle/>
          <a:p>
            <a:r>
              <a:rPr lang="en-US" sz="1400" dirty="0" err="1">
                <a:solidFill>
                  <a:srgbClr val="804000"/>
                </a:solidFill>
              </a:rPr>
              <a:t>f</a:t>
            </a:r>
            <a:r>
              <a:rPr lang="en-US" sz="1400" dirty="0" err="1" smtClean="0">
                <a:solidFill>
                  <a:srgbClr val="804000"/>
                </a:solidFill>
              </a:rPr>
              <a:t>unc</a:t>
            </a:r>
            <a:r>
              <a:rPr lang="en-US" sz="1400" dirty="0" smtClean="0">
                <a:solidFill>
                  <a:srgbClr val="804000"/>
                </a:solidFill>
              </a:rPr>
              <a:t>(</a:t>
            </a:r>
            <a:r>
              <a:rPr lang="en-US" sz="1400" dirty="0" err="1" smtClean="0">
                <a:solidFill>
                  <a:srgbClr val="804000"/>
                </a:solidFill>
              </a:rPr>
              <a:t>func</a:t>
            </a:r>
            <a:r>
              <a:rPr lang="en-US" sz="1400" dirty="0" smtClean="0">
                <a:solidFill>
                  <a:srgbClr val="804000"/>
                </a:solidFill>
              </a:rPr>
              <a:t>(x))</a:t>
            </a:r>
          </a:p>
        </p:txBody>
      </p:sp>
      <p:sp>
        <p:nvSpPr>
          <p:cNvPr id="20" name="Left-Right Arrow Callout 19"/>
          <p:cNvSpPr/>
          <p:nvPr/>
        </p:nvSpPr>
        <p:spPr>
          <a:xfrm>
            <a:off x="667703" y="1574313"/>
            <a:ext cx="2008558" cy="1216331"/>
          </a:xfrm>
          <a:prstGeom prst="leftRightArrowCallout">
            <a:avLst/>
          </a:prstGeom>
          <a:solidFill>
            <a:srgbClr val="FF6600"/>
          </a:solidFill>
          <a:ln/>
        </p:spPr>
        <p:style>
          <a:lnRef idx="1">
            <a:schemeClr val="accent1"/>
          </a:lnRef>
          <a:fillRef idx="3">
            <a:schemeClr val="accent1"/>
          </a:fillRef>
          <a:effectRef idx="2">
            <a:schemeClr val="accent1"/>
          </a:effectRef>
          <a:fontRef idx="minor">
            <a:schemeClr val="lt1"/>
          </a:fontRef>
        </p:style>
        <p:txBody>
          <a:bodyPr/>
          <a:lstStyle/>
          <a:p>
            <a:endParaRPr lang="en-US">
              <a:solidFill>
                <a:srgbClr val="FF6600"/>
              </a:solidFill>
            </a:endParaRPr>
          </a:p>
        </p:txBody>
      </p:sp>
      <p:sp>
        <p:nvSpPr>
          <p:cNvPr id="21" name="TextBox 20"/>
          <p:cNvSpPr txBox="1"/>
          <p:nvPr/>
        </p:nvSpPr>
        <p:spPr>
          <a:xfrm>
            <a:off x="239576" y="1597802"/>
            <a:ext cx="856253" cy="954107"/>
          </a:xfrm>
          <a:prstGeom prst="rect">
            <a:avLst/>
          </a:prstGeom>
          <a:noFill/>
        </p:spPr>
        <p:txBody>
          <a:bodyPr wrap="square" rtlCol="0">
            <a:spAutoFit/>
          </a:bodyPr>
          <a:lstStyle/>
          <a:p>
            <a:r>
              <a:rPr lang="en-US" sz="1400" dirty="0" smtClean="0">
                <a:solidFill>
                  <a:schemeClr val="tx1">
                    <a:lumMod val="95000"/>
                    <a:lumOff val="5000"/>
                  </a:schemeClr>
                </a:solidFill>
              </a:rPr>
              <a:t>One parameter</a:t>
            </a:r>
          </a:p>
          <a:p>
            <a:r>
              <a:rPr lang="en-US" sz="1400" dirty="0">
                <a:solidFill>
                  <a:schemeClr val="tx1">
                    <a:lumMod val="95000"/>
                    <a:lumOff val="5000"/>
                  </a:schemeClr>
                </a:solidFill>
              </a:rPr>
              <a:t>x</a:t>
            </a:r>
            <a:endParaRPr lang="en-US" sz="1400" dirty="0" smtClean="0">
              <a:solidFill>
                <a:schemeClr val="tx1">
                  <a:lumMod val="95000"/>
                  <a:lumOff val="5000"/>
                </a:schemeClr>
              </a:solidFill>
            </a:endParaRPr>
          </a:p>
        </p:txBody>
      </p:sp>
      <p:sp>
        <p:nvSpPr>
          <p:cNvPr id="22" name="TextBox 21"/>
          <p:cNvSpPr txBox="1"/>
          <p:nvPr/>
        </p:nvSpPr>
        <p:spPr>
          <a:xfrm>
            <a:off x="2676261" y="1597802"/>
            <a:ext cx="1409329" cy="738664"/>
          </a:xfrm>
          <a:prstGeom prst="rect">
            <a:avLst/>
          </a:prstGeom>
          <a:noFill/>
        </p:spPr>
        <p:txBody>
          <a:bodyPr wrap="square" rtlCol="0">
            <a:spAutoFit/>
          </a:bodyPr>
          <a:lstStyle/>
          <a:p>
            <a:r>
              <a:rPr lang="en-US" sz="1400" dirty="0" smtClean="0">
                <a:solidFill>
                  <a:srgbClr val="0D0D0D"/>
                </a:solidFill>
              </a:rPr>
              <a:t>Express output as:</a:t>
            </a:r>
          </a:p>
          <a:p>
            <a:r>
              <a:rPr lang="en-US" sz="1400" dirty="0" err="1" smtClean="0">
                <a:solidFill>
                  <a:srgbClr val="0D0D0D"/>
                </a:solidFill>
              </a:rPr>
              <a:t>func</a:t>
            </a:r>
            <a:r>
              <a:rPr lang="en-US" sz="1400" dirty="0" smtClean="0">
                <a:solidFill>
                  <a:srgbClr val="0D0D0D"/>
                </a:solidFill>
              </a:rPr>
              <a:t>(x)</a:t>
            </a:r>
          </a:p>
        </p:txBody>
      </p:sp>
      <p:sp>
        <p:nvSpPr>
          <p:cNvPr id="23" name="TextBox 22"/>
          <p:cNvSpPr txBox="1"/>
          <p:nvPr/>
        </p:nvSpPr>
        <p:spPr>
          <a:xfrm>
            <a:off x="1095829" y="1597801"/>
            <a:ext cx="1087454" cy="1169551"/>
          </a:xfrm>
          <a:prstGeom prst="rect">
            <a:avLst/>
          </a:prstGeom>
          <a:noFill/>
        </p:spPr>
        <p:txBody>
          <a:bodyPr wrap="square" rtlCol="0">
            <a:spAutoFit/>
          </a:bodyPr>
          <a:lstStyle/>
          <a:p>
            <a:pPr algn="ctr"/>
            <a:r>
              <a:rPr lang="en-US" sz="1400" dirty="0" err="1" smtClean="0"/>
              <a:t>func</a:t>
            </a:r>
            <a:endParaRPr lang="en-US" sz="1400" dirty="0" smtClean="0"/>
          </a:p>
          <a:p>
            <a:pPr algn="ctr"/>
            <a:endParaRPr lang="en-US" sz="1400" dirty="0" smtClean="0"/>
          </a:p>
          <a:p>
            <a:pPr algn="ctr"/>
            <a:r>
              <a:rPr lang="en-US" sz="1400" dirty="0" smtClean="0"/>
              <a:t>??? (unknown behavior)</a:t>
            </a:r>
          </a:p>
        </p:txBody>
      </p:sp>
      <p:sp>
        <p:nvSpPr>
          <p:cNvPr id="24" name="TextBox 23"/>
          <p:cNvSpPr txBox="1"/>
          <p:nvPr/>
        </p:nvSpPr>
        <p:spPr>
          <a:xfrm>
            <a:off x="1334235" y="4720587"/>
            <a:ext cx="6413800" cy="1754327"/>
          </a:xfrm>
          <a:prstGeom prst="rect">
            <a:avLst/>
          </a:prstGeom>
          <a:noFill/>
        </p:spPr>
        <p:txBody>
          <a:bodyPr wrap="square" rtlCol="0">
            <a:spAutoFit/>
          </a:bodyPr>
          <a:lstStyle/>
          <a:p>
            <a:r>
              <a:rPr lang="en-US" dirty="0" err="1" smtClean="0"/>
              <a:t>double_maker</a:t>
            </a:r>
            <a:r>
              <a:rPr lang="en-US" dirty="0" smtClean="0"/>
              <a:t> can now make functions that we can customize. It combines the power of argument passing and function definitions!</a:t>
            </a:r>
          </a:p>
          <a:p>
            <a:endParaRPr lang="en-US" dirty="0"/>
          </a:p>
          <a:p>
            <a:r>
              <a:rPr lang="en-US" dirty="0" smtClean="0"/>
              <a:t>Now: try writing call expressions for </a:t>
            </a:r>
            <a:r>
              <a:rPr lang="en-US" dirty="0" err="1" smtClean="0"/>
              <a:t>double_maker</a:t>
            </a:r>
            <a:r>
              <a:rPr lang="en-US" dirty="0" smtClean="0"/>
              <a:t> and its output and draw environment diagrams!</a:t>
            </a:r>
          </a:p>
        </p:txBody>
      </p:sp>
    </p:spTree>
    <p:extLst>
      <p:ext uri="{BB962C8B-B14F-4D97-AF65-F5344CB8AC3E}">
        <p14:creationId xmlns:p14="http://schemas.microsoft.com/office/powerpoint/2010/main" val="2305424885"/>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347246"/>
            <a:ext cx="8263466" cy="1143000"/>
          </a:xfrm>
        </p:spPr>
        <p:txBody>
          <a:bodyPr/>
          <a:lstStyle/>
          <a:p>
            <a:pPr algn="ctr"/>
            <a:r>
              <a:rPr lang="en-US" dirty="0" smtClean="0">
                <a:latin typeface="Century Gothic" charset="0"/>
              </a:rPr>
              <a:t>Recursion Important Q’s</a:t>
            </a:r>
            <a:endParaRPr lang="en-US" dirty="0">
              <a:latin typeface="Century Gothic" charset="0"/>
            </a:endParaRPr>
          </a:p>
        </p:txBody>
      </p:sp>
      <p:sp>
        <p:nvSpPr>
          <p:cNvPr id="3" name="Content Placeholder 2"/>
          <p:cNvSpPr>
            <a:spLocks noGrp="1"/>
          </p:cNvSpPr>
          <p:nvPr>
            <p:ph idx="1"/>
          </p:nvPr>
        </p:nvSpPr>
        <p:spPr>
          <a:xfrm>
            <a:off x="474132" y="1531018"/>
            <a:ext cx="8263467" cy="4195233"/>
          </a:xfrm>
        </p:spPr>
        <p:txBody>
          <a:bodyPr/>
          <a:lstStyle/>
          <a:p>
            <a:pPr marL="823913" lvl="1" indent="-457200">
              <a:buFont typeface="+mj-lt"/>
              <a:buAutoNum type="arabicPeriod"/>
            </a:pPr>
            <a:r>
              <a:rPr lang="en-US" sz="2000" dirty="0" smtClean="0">
                <a:solidFill>
                  <a:srgbClr val="4A6300"/>
                </a:solidFill>
                <a:latin typeface="Avenir Book" charset="0"/>
                <a:cs typeface="Avenir Book" charset="0"/>
              </a:rPr>
              <a:t>What is the desired behavior of your function?</a:t>
            </a:r>
          </a:p>
          <a:p>
            <a:pPr marL="823913" lvl="1" indent="-457200">
              <a:buFont typeface="+mj-lt"/>
              <a:buAutoNum type="arabicPeriod"/>
            </a:pPr>
            <a:r>
              <a:rPr lang="en-US" sz="2000" dirty="0" smtClean="0">
                <a:solidFill>
                  <a:srgbClr val="4A6300"/>
                </a:solidFill>
                <a:latin typeface="Avenir Book" charset="0"/>
                <a:cs typeface="Avenir Book" charset="0"/>
              </a:rPr>
              <a:t>What </a:t>
            </a:r>
            <a:r>
              <a:rPr lang="en-US" sz="2000" dirty="0" err="1" smtClean="0">
                <a:solidFill>
                  <a:srgbClr val="4A6300"/>
                </a:solidFill>
                <a:latin typeface="Avenir Book" charset="0"/>
                <a:cs typeface="Avenir Book" charset="0"/>
              </a:rPr>
              <a:t>vars</a:t>
            </a:r>
            <a:r>
              <a:rPr lang="en-US" sz="2000" dirty="0" smtClean="0">
                <a:solidFill>
                  <a:srgbClr val="4A6300"/>
                </a:solidFill>
                <a:latin typeface="Avenir Book" charset="0"/>
                <a:cs typeface="Avenir Book" charset="0"/>
              </a:rPr>
              <a:t> do you want to keep track of? (Input)</a:t>
            </a:r>
          </a:p>
          <a:p>
            <a:pPr marL="1098550" lvl="2" indent="-457200">
              <a:buFont typeface="+mj-lt"/>
              <a:buAutoNum type="arabicPeriod"/>
            </a:pPr>
            <a:r>
              <a:rPr lang="en-US" dirty="0" smtClean="0">
                <a:solidFill>
                  <a:srgbClr val="4A6300"/>
                </a:solidFill>
                <a:latin typeface="Avenir Book" charset="0"/>
                <a:cs typeface="Avenir Book" charset="0"/>
              </a:rPr>
              <a:t>Remember that your return value holds values too!</a:t>
            </a:r>
          </a:p>
          <a:p>
            <a:pPr marL="1098550" lvl="2" indent="-457200">
              <a:buFont typeface="+mj-lt"/>
              <a:buAutoNum type="arabicPeriod"/>
            </a:pPr>
            <a:r>
              <a:rPr lang="en-US" dirty="0" smtClean="0">
                <a:solidFill>
                  <a:srgbClr val="4A6300"/>
                </a:solidFill>
                <a:latin typeface="Avenir Book" charset="0"/>
                <a:cs typeface="Avenir Book" charset="0"/>
              </a:rPr>
              <a:t>If you have more than # of </a:t>
            </a:r>
            <a:r>
              <a:rPr lang="en-US" dirty="0" err="1" smtClean="0">
                <a:solidFill>
                  <a:srgbClr val="4A6300"/>
                </a:solidFill>
                <a:latin typeface="Avenir Book" charset="0"/>
                <a:cs typeface="Avenir Book" charset="0"/>
              </a:rPr>
              <a:t>params</a:t>
            </a:r>
            <a:r>
              <a:rPr lang="en-US" dirty="0" smtClean="0">
                <a:solidFill>
                  <a:srgbClr val="4A6300"/>
                </a:solidFill>
                <a:latin typeface="Avenir Book" charset="0"/>
                <a:cs typeface="Avenir Book" charset="0"/>
              </a:rPr>
              <a:t>, you need to define helper</a:t>
            </a:r>
          </a:p>
          <a:p>
            <a:pPr marL="1098550" lvl="2" indent="-457200">
              <a:buFont typeface="+mj-lt"/>
              <a:buAutoNum type="arabicPeriod"/>
            </a:pPr>
            <a:r>
              <a:rPr lang="en-US" dirty="0">
                <a:solidFill>
                  <a:srgbClr val="4A6300"/>
                </a:solidFill>
                <a:latin typeface="Avenir Book" charset="0"/>
                <a:cs typeface="Avenir Book" charset="0"/>
              </a:rPr>
              <a:t>Where </a:t>
            </a:r>
            <a:r>
              <a:rPr lang="en-US" dirty="0" smtClean="0">
                <a:solidFill>
                  <a:srgbClr val="4A6300"/>
                </a:solidFill>
                <a:latin typeface="Avenir Book" charset="0"/>
                <a:cs typeface="Avenir Book" charset="0"/>
              </a:rPr>
              <a:t>should each </a:t>
            </a:r>
            <a:r>
              <a:rPr lang="en-US" dirty="0" err="1" smtClean="0">
                <a:solidFill>
                  <a:srgbClr val="4A6300"/>
                </a:solidFill>
                <a:latin typeface="Avenir Book" charset="0"/>
                <a:cs typeface="Avenir Book" charset="0"/>
              </a:rPr>
              <a:t>var</a:t>
            </a:r>
            <a:r>
              <a:rPr lang="en-US" dirty="0" smtClean="0">
                <a:solidFill>
                  <a:srgbClr val="4A6300"/>
                </a:solidFill>
                <a:latin typeface="Avenir Book" charset="0"/>
                <a:cs typeface="Avenir Book" charset="0"/>
              </a:rPr>
              <a:t> start?</a:t>
            </a:r>
          </a:p>
          <a:p>
            <a:pPr marL="823913" lvl="1" indent="-457200">
              <a:buFont typeface="+mj-lt"/>
              <a:buAutoNum type="arabicPeriod"/>
            </a:pPr>
            <a:r>
              <a:rPr lang="en-US" sz="2000" dirty="0">
                <a:solidFill>
                  <a:srgbClr val="4A6300"/>
                </a:solidFill>
                <a:latin typeface="Avenir Book" charset="0"/>
                <a:cs typeface="Avenir Book" charset="0"/>
              </a:rPr>
              <a:t>How can I reuse the function with smaller input?</a:t>
            </a: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p>
          <a:p>
            <a:pPr marL="823913" lvl="1" indent="-457200">
              <a:buFont typeface="+mj-lt"/>
              <a:buAutoNum type="arabicPeriod"/>
            </a:pPr>
            <a:r>
              <a:rPr lang="en-US" sz="2000" dirty="0" smtClean="0">
                <a:solidFill>
                  <a:srgbClr val="4A6300"/>
                </a:solidFill>
                <a:latin typeface="Avenir Book" charset="0"/>
                <a:cs typeface="Avenir Book" charset="0"/>
              </a:rPr>
              <a:t>Base cases: When should we stop? What to return?</a:t>
            </a:r>
            <a:endParaRPr lang="en-US" sz="2000" dirty="0">
              <a:solidFill>
                <a:srgbClr val="4A6300"/>
              </a:solidFill>
              <a:latin typeface="Avenir Book" charset="0"/>
              <a:cs typeface="Avenir Book" charset="0"/>
            </a:endParaRPr>
          </a:p>
          <a:p>
            <a:pPr marL="366713" lvl="1" indent="0">
              <a:buNone/>
            </a:pPr>
            <a:r>
              <a:rPr lang="en-US" sz="2000" dirty="0" smtClean="0">
                <a:solidFill>
                  <a:srgbClr val="4A6300"/>
                </a:solidFill>
                <a:latin typeface="Avenir Book" charset="0"/>
                <a:cs typeface="Avenir Book" charset="0"/>
              </a:rPr>
              <a:t>Thinking about these questions </a:t>
            </a:r>
            <a:r>
              <a:rPr lang="en-US" sz="2000" i="1" dirty="0" smtClean="0">
                <a:solidFill>
                  <a:srgbClr val="4A6300"/>
                </a:solidFill>
                <a:latin typeface="Avenir Book" charset="0"/>
                <a:cs typeface="Avenir Book" charset="0"/>
              </a:rPr>
              <a:t>before you code</a:t>
            </a:r>
            <a:r>
              <a:rPr lang="en-US" sz="2000" dirty="0" smtClean="0">
                <a:solidFill>
                  <a:srgbClr val="4A6300"/>
                </a:solidFill>
                <a:latin typeface="Avenir Book" charset="0"/>
                <a:cs typeface="Avenir Book" charset="0"/>
              </a:rPr>
              <a:t> will save you a lot of time.</a:t>
            </a:r>
            <a:endParaRPr lang="en-US" sz="2000" dirty="0">
              <a:solidFill>
                <a:srgbClr val="4A6300"/>
              </a:solidFill>
              <a:latin typeface="Avenir Book" charset="0"/>
              <a:cs typeface="Avenir Book" charset="0"/>
            </a:endParaRPr>
          </a:p>
          <a:p>
            <a:pPr marL="366713" lvl="1" indent="0">
              <a:buNone/>
            </a:pPr>
            <a:r>
              <a:rPr lang="en-US" sz="2000" dirty="0" smtClean="0">
                <a:solidFill>
                  <a:srgbClr val="4A6300"/>
                </a:solidFill>
                <a:latin typeface="Avenir Book" charset="0"/>
                <a:cs typeface="Avenir Book" charset="0"/>
              </a:rPr>
              <a:t>You can see that once you answer these questions thoroughly, the code follows directly (watch the colors in the next few examples).</a:t>
            </a: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16</a:t>
            </a:fld>
            <a:endParaRPr lang="en-US">
              <a:solidFill>
                <a:srgbClr val="FEFEFE"/>
              </a:solidFill>
            </a:endParaRPr>
          </a:p>
        </p:txBody>
      </p:sp>
    </p:spTree>
    <p:extLst>
      <p:ext uri="{BB962C8B-B14F-4D97-AF65-F5344CB8AC3E}">
        <p14:creationId xmlns:p14="http://schemas.microsoft.com/office/powerpoint/2010/main" val="216400394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Goal</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lvl="1"/>
            <a:r>
              <a:rPr lang="en-US" dirty="0" smtClean="0">
                <a:solidFill>
                  <a:srgbClr val="4A6300"/>
                </a:solidFill>
                <a:latin typeface="Avenir Book" charset="0"/>
                <a:cs typeface="Avenir Book" charset="0"/>
              </a:rPr>
              <a:t>Not to memorize the questions. </a:t>
            </a:r>
          </a:p>
          <a:p>
            <a:pPr lvl="1"/>
            <a:r>
              <a:rPr lang="en-US" dirty="0" smtClean="0">
                <a:solidFill>
                  <a:srgbClr val="4A6300"/>
                </a:solidFill>
                <a:latin typeface="Avenir Book" charset="0"/>
                <a:cs typeface="Avenir Book" charset="0"/>
              </a:rPr>
              <a:t>Use the questions until you know what to look for in a problem.</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17</a:t>
            </a:fld>
            <a:endParaRPr lang="en-US">
              <a:solidFill>
                <a:srgbClr val="FEFEFE"/>
              </a:solidFill>
            </a:endParaRPr>
          </a:p>
        </p:txBody>
      </p:sp>
    </p:spTree>
    <p:extLst>
      <p:ext uri="{BB962C8B-B14F-4D97-AF65-F5344CB8AC3E}">
        <p14:creationId xmlns:p14="http://schemas.microsoft.com/office/powerpoint/2010/main" val="88390504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366713" lvl="1" indent="0">
              <a:buNone/>
            </a:pPr>
            <a:r>
              <a:rPr lang="en-US" sz="2000" dirty="0" smtClean="0">
                <a:solidFill>
                  <a:srgbClr val="4A6300"/>
                </a:solidFill>
                <a:latin typeface="Avenir Book" charset="0"/>
                <a:cs typeface="Avenir Book" charset="0"/>
              </a:rPr>
              <a:t>1 + 2 + 3 + … + n</a:t>
            </a:r>
          </a:p>
          <a:p>
            <a:pPr marL="823913" lvl="1" indent="-457200">
              <a:buFont typeface="+mj-lt"/>
              <a:buAutoNum type="arabicPeriod"/>
            </a:pPr>
            <a:r>
              <a:rPr lang="en-US" sz="2000" dirty="0">
                <a:solidFill>
                  <a:srgbClr val="4A6300"/>
                </a:solidFill>
                <a:latin typeface="Avenir Book" charset="0"/>
                <a:cs typeface="Avenir Book" charset="0"/>
              </a:rPr>
              <a:t>What is the desired behavior of your function</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What </a:t>
            </a:r>
            <a:r>
              <a:rPr lang="en-US" sz="2000" dirty="0" err="1">
                <a:solidFill>
                  <a:srgbClr val="4A6300"/>
                </a:solidFill>
                <a:latin typeface="Avenir Book" charset="0"/>
                <a:cs typeface="Avenir Book" charset="0"/>
              </a:rPr>
              <a:t>vars</a:t>
            </a:r>
            <a:r>
              <a:rPr lang="en-US" sz="2000" dirty="0">
                <a:solidFill>
                  <a:srgbClr val="4A6300"/>
                </a:solidFill>
                <a:latin typeface="Avenir Book" charset="0"/>
                <a:cs typeface="Avenir Book" charset="0"/>
              </a:rPr>
              <a:t> do you want to keep track of</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endParaRPr lang="en-US" sz="2000" dirty="0" smtClean="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How </a:t>
            </a:r>
            <a:r>
              <a:rPr lang="en-US" sz="2000" dirty="0">
                <a:solidFill>
                  <a:srgbClr val="4A6300"/>
                </a:solidFill>
                <a:latin typeface="Avenir Book" charset="0"/>
                <a:cs typeface="Avenir Book" charset="0"/>
              </a:rPr>
              <a:t>can I reuse the function with </a:t>
            </a:r>
            <a:r>
              <a:rPr lang="en-US" sz="2000" dirty="0" smtClean="0">
                <a:solidFill>
                  <a:srgbClr val="4A6300"/>
                </a:solidFill>
                <a:latin typeface="Avenir Book" charset="0"/>
                <a:cs typeface="Avenir Book" charset="0"/>
              </a:rPr>
              <a:t>simpler input</a:t>
            </a:r>
            <a:r>
              <a:rPr lang="en-US" sz="2000" dirty="0">
                <a:solidFill>
                  <a:srgbClr val="4A6300"/>
                </a:solidFill>
                <a:latin typeface="Avenir Book" charset="0"/>
                <a:cs typeface="Avenir Book" charset="0"/>
              </a:rPr>
              <a:t>?</a:t>
            </a: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Base cases: When should we stop? What to return?</a:t>
            </a:r>
          </a:p>
          <a:p>
            <a:pPr marL="366713" lvl="1" indent="0">
              <a:buNone/>
            </a:pP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18</a:t>
            </a:fld>
            <a:endParaRPr lang="en-US">
              <a:solidFill>
                <a:srgbClr val="FEFEFE"/>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50336208"/>
              </p:ext>
            </p:extLst>
          </p:nvPr>
        </p:nvGraphicFramePr>
        <p:xfrm>
          <a:off x="474132" y="3027269"/>
          <a:ext cx="8212151" cy="396240"/>
        </p:xfrm>
        <a:graphic>
          <a:graphicData uri="http://schemas.openxmlformats.org/drawingml/2006/table">
            <a:tbl>
              <a:tblPr firstRow="1" bandRow="1">
                <a:tableStyleId>{5C22544A-7EE6-4342-B048-85BDC9FD1C3A}</a:tableStyleId>
              </a:tblPr>
              <a:tblGrid>
                <a:gridCol w="8212151"/>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Sum up</a:t>
                      </a:r>
                      <a:r>
                        <a:rPr lang="en-US" sz="2000" baseline="0" dirty="0" smtClean="0">
                          <a:solidFill>
                            <a:srgbClr val="4A6300"/>
                          </a:solidFill>
                          <a:latin typeface="Avenir Book" charset="0"/>
                          <a:cs typeface="Avenir Book" charset="0"/>
                        </a:rPr>
                        <a:t> to n. The desired value can be expressed as </a:t>
                      </a:r>
                      <a:r>
                        <a:rPr lang="en-US" sz="2000" baseline="0" dirty="0" err="1" smtClean="0">
                          <a:solidFill>
                            <a:srgbClr val="4A6300"/>
                          </a:solidFill>
                          <a:latin typeface="Avenir Book" charset="0"/>
                          <a:cs typeface="Avenir Book" charset="0"/>
                        </a:rPr>
                        <a:t>sum_up_to</a:t>
                      </a:r>
                      <a:r>
                        <a:rPr lang="en-US" sz="2000" baseline="0" dirty="0" smtClean="0">
                          <a:solidFill>
                            <a:srgbClr val="4A6300"/>
                          </a:solidFill>
                          <a:latin typeface="Avenir Book" charset="0"/>
                          <a:cs typeface="Avenir Book" charset="0"/>
                        </a:rPr>
                        <a:t>(n)</a:t>
                      </a:r>
                      <a:endParaRPr lang="en-US" sz="2000" dirty="0" smtClean="0">
                        <a:solidFill>
                          <a:srgbClr val="4A6300"/>
                        </a:solidFill>
                        <a:latin typeface="Avenir Book" charset="0"/>
                        <a:cs typeface="Avenir Book" charset="0"/>
                      </a:endParaRPr>
                    </a:p>
                  </a:txBody>
                  <a:tcPr>
                    <a:solidFill>
                      <a:srgbClr val="FF6600"/>
                    </a:solid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76783772"/>
              </p:ext>
            </p:extLst>
          </p:nvPr>
        </p:nvGraphicFramePr>
        <p:xfrm>
          <a:off x="705605" y="3782570"/>
          <a:ext cx="7582047" cy="7010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The current</a:t>
                      </a:r>
                      <a:r>
                        <a:rPr lang="en-US" sz="2000" baseline="0" dirty="0" smtClean="0">
                          <a:solidFill>
                            <a:srgbClr val="4A6300"/>
                          </a:solidFill>
                          <a:latin typeface="Avenir Book" charset="0"/>
                          <a:cs typeface="Avenir Book" charset="0"/>
                        </a:rPr>
                        <a:t> number being summed</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Note: the return value takes care of storing the total</a:t>
                      </a:r>
                    </a:p>
                  </a:txBody>
                  <a:tcPr>
                    <a:solidFill>
                      <a:srgbClr val="FF0000"/>
                    </a:solidFill>
                  </a:tcPr>
                </a:tc>
              </a:tr>
            </a:tbl>
          </a:graphicData>
        </a:graphic>
      </p:graphicFrame>
    </p:spTree>
    <p:extLst>
      <p:ext uri="{BB962C8B-B14F-4D97-AF65-F5344CB8AC3E}">
        <p14:creationId xmlns:p14="http://schemas.microsoft.com/office/powerpoint/2010/main" val="12419671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366713" lvl="1" indent="0">
              <a:buNone/>
            </a:pPr>
            <a:r>
              <a:rPr lang="en-US" sz="2000" dirty="0" smtClean="0">
                <a:solidFill>
                  <a:srgbClr val="4A6300"/>
                </a:solidFill>
                <a:latin typeface="Avenir Book" charset="0"/>
                <a:cs typeface="Avenir Book" charset="0"/>
              </a:rPr>
              <a:t>1 + 2 + 3 + … + n</a:t>
            </a:r>
          </a:p>
          <a:p>
            <a:pPr marL="823913" lvl="1" indent="-457200">
              <a:buFont typeface="+mj-lt"/>
              <a:buAutoNum type="arabicPeriod"/>
            </a:pPr>
            <a:r>
              <a:rPr lang="en-US" sz="2000" dirty="0">
                <a:solidFill>
                  <a:srgbClr val="4A6300"/>
                </a:solidFill>
                <a:latin typeface="Avenir Book" charset="0"/>
                <a:cs typeface="Avenir Book" charset="0"/>
              </a:rPr>
              <a:t>What is the desired behavior of your function</a:t>
            </a:r>
            <a:r>
              <a:rPr lang="en-US" sz="2000" dirty="0" smtClean="0">
                <a:solidFill>
                  <a:srgbClr val="4A6300"/>
                </a:solidFill>
                <a:latin typeface="Avenir Book" charset="0"/>
                <a:cs typeface="Avenir Book" charset="0"/>
              </a:rPr>
              <a:t>?</a:t>
            </a: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What </a:t>
            </a:r>
            <a:r>
              <a:rPr lang="en-US" sz="2000" dirty="0" err="1">
                <a:solidFill>
                  <a:srgbClr val="4A6300"/>
                </a:solidFill>
                <a:latin typeface="Avenir Book" charset="0"/>
                <a:cs typeface="Avenir Book" charset="0"/>
              </a:rPr>
              <a:t>vars</a:t>
            </a:r>
            <a:r>
              <a:rPr lang="en-US" sz="2000" dirty="0">
                <a:solidFill>
                  <a:srgbClr val="4A6300"/>
                </a:solidFill>
                <a:latin typeface="Avenir Book" charset="0"/>
                <a:cs typeface="Avenir Book" charset="0"/>
              </a:rPr>
              <a:t> do you want to keep track of</a:t>
            </a:r>
            <a:r>
              <a:rPr lang="en-US" sz="2000" dirty="0" smtClean="0">
                <a:solidFill>
                  <a:srgbClr val="4A6300"/>
                </a:solidFill>
                <a:latin typeface="Avenir Book" charset="0"/>
                <a:cs typeface="Avenir Book" charset="0"/>
              </a:rPr>
              <a:t>?</a:t>
            </a:r>
          </a:p>
          <a:p>
            <a:pPr marL="823913" lvl="1" indent="-457200">
              <a:buFont typeface="+mj-lt"/>
              <a:buAutoNum type="arabicPeriod"/>
            </a:pPr>
            <a:r>
              <a:rPr lang="en-US" sz="2000" dirty="0" smtClean="0">
                <a:solidFill>
                  <a:srgbClr val="4A6300"/>
                </a:solidFill>
                <a:latin typeface="Avenir Book" charset="0"/>
                <a:cs typeface="Avenir Book" charset="0"/>
              </a:rPr>
              <a:t>How </a:t>
            </a:r>
            <a:r>
              <a:rPr lang="en-US" sz="2000" dirty="0">
                <a:solidFill>
                  <a:srgbClr val="4A6300"/>
                </a:solidFill>
                <a:latin typeface="Avenir Book" charset="0"/>
                <a:cs typeface="Avenir Book" charset="0"/>
              </a:rPr>
              <a:t>can I reuse the function with </a:t>
            </a:r>
            <a:r>
              <a:rPr lang="en-US" sz="2000" dirty="0" smtClean="0">
                <a:solidFill>
                  <a:srgbClr val="4A6300"/>
                </a:solidFill>
                <a:latin typeface="Avenir Book" charset="0"/>
                <a:cs typeface="Avenir Book" charset="0"/>
              </a:rPr>
              <a:t>simpler input?</a:t>
            </a:r>
          </a:p>
          <a:p>
            <a:pPr marL="366713" lvl="1" indent="0">
              <a:buNone/>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p>
          <a:p>
            <a:pPr marL="366713" lvl="1" indent="0">
              <a:buNone/>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Base cases: When should we stop? What to return?</a:t>
            </a:r>
          </a:p>
          <a:p>
            <a:pPr marL="366713" lvl="1" indent="0">
              <a:buNone/>
            </a:pP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19</a:t>
            </a:fld>
            <a:endParaRPr lang="en-US">
              <a:solidFill>
                <a:srgbClr val="FEFEFE"/>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1794531060"/>
              </p:ext>
            </p:extLst>
          </p:nvPr>
        </p:nvGraphicFramePr>
        <p:xfrm>
          <a:off x="705605" y="3769742"/>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Sum numbers up to (n-1)</a:t>
                      </a:r>
                    </a:p>
                  </a:txBody>
                  <a:tcPr>
                    <a:solidFill>
                      <a:srgbClr val="FF00FF"/>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705409046"/>
              </p:ext>
            </p:extLst>
          </p:nvPr>
        </p:nvGraphicFramePr>
        <p:xfrm>
          <a:off x="705605" y="4807252"/>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err="1" smtClean="0">
                          <a:solidFill>
                            <a:srgbClr val="4A6300"/>
                          </a:solidFill>
                          <a:latin typeface="Avenir Book" charset="0"/>
                          <a:cs typeface="Avenir Book" charset="0"/>
                        </a:rPr>
                        <a:t>sum_up_to</a:t>
                      </a:r>
                      <a:r>
                        <a:rPr lang="en-US" sz="2000" dirty="0" smtClean="0">
                          <a:solidFill>
                            <a:srgbClr val="4A6300"/>
                          </a:solidFill>
                          <a:latin typeface="Avenir Book" charset="0"/>
                          <a:cs typeface="Avenir Book" charset="0"/>
                        </a:rPr>
                        <a:t>(n-1)</a:t>
                      </a:r>
                      <a:r>
                        <a:rPr lang="en-US" sz="2000" baseline="0" dirty="0" smtClean="0">
                          <a:solidFill>
                            <a:srgbClr val="4A6300"/>
                          </a:solidFill>
                          <a:latin typeface="Avenir Book" charset="0"/>
                          <a:cs typeface="Avenir Book" charset="0"/>
                        </a:rPr>
                        <a:t> + n</a:t>
                      </a:r>
                      <a:endParaRPr lang="en-US" sz="2000" dirty="0" smtClean="0">
                        <a:solidFill>
                          <a:srgbClr val="4A6300"/>
                        </a:solidFill>
                        <a:latin typeface="Avenir Book" charset="0"/>
                        <a:cs typeface="Avenir Book" charset="0"/>
                      </a:endParaRPr>
                    </a:p>
                  </a:txBody>
                  <a:tcPr>
                    <a:solidFill>
                      <a:schemeClr val="bg2">
                        <a:lumMod val="50000"/>
                      </a:schemeClr>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500637356"/>
              </p:ext>
            </p:extLst>
          </p:nvPr>
        </p:nvGraphicFramePr>
        <p:xfrm>
          <a:off x="705605" y="5588209"/>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latin typeface="Avenir Book" charset="0"/>
                          <a:cs typeface="Avenir Book" charset="0"/>
                        </a:rPr>
                        <a:t>When</a:t>
                      </a:r>
                      <a:r>
                        <a:rPr lang="en-US" sz="2000" baseline="0" dirty="0" smtClean="0">
                          <a:solidFill>
                            <a:schemeClr val="bg1"/>
                          </a:solidFill>
                          <a:latin typeface="Avenir Book" charset="0"/>
                          <a:cs typeface="Avenir Book" charset="0"/>
                        </a:rPr>
                        <a:t> n = 1, we know that the answer is just 1</a:t>
                      </a:r>
                      <a:endParaRPr lang="en-US" sz="2000" dirty="0" smtClean="0">
                        <a:solidFill>
                          <a:schemeClr val="bg1"/>
                        </a:solidFill>
                        <a:latin typeface="Avenir Book" charset="0"/>
                        <a:cs typeface="Avenir Book" charset="0"/>
                      </a:endParaRPr>
                    </a:p>
                  </a:txBody>
                  <a:tcPr>
                    <a:solidFill>
                      <a:srgbClr val="3366FF"/>
                    </a:solidFill>
                  </a:tcPr>
                </a:tc>
              </a:tr>
            </a:tbl>
          </a:graphicData>
        </a:graphic>
      </p:graphicFrame>
    </p:spTree>
    <p:extLst>
      <p:ext uri="{BB962C8B-B14F-4D97-AF65-F5344CB8AC3E}">
        <p14:creationId xmlns:p14="http://schemas.microsoft.com/office/powerpoint/2010/main" val="254465343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3" name="Content Placeholder 2"/>
          <p:cNvSpPr>
            <a:spLocks noGrp="1"/>
          </p:cNvSpPr>
          <p:nvPr>
            <p:ph idx="1"/>
          </p:nvPr>
        </p:nvSpPr>
        <p:spPr>
          <a:xfrm>
            <a:off x="474133" y="2324100"/>
            <a:ext cx="4477932" cy="4195233"/>
          </a:xfrm>
        </p:spPr>
        <p:txBody>
          <a:bodyPr/>
          <a:lstStyle/>
          <a:p>
            <a:pPr marL="823913" lvl="1" indent="-457200">
              <a:buFont typeface="+mj-lt"/>
              <a:buAutoNum type="arabicPeriod"/>
            </a:pPr>
            <a:r>
              <a:rPr lang="en-US" sz="2000" dirty="0" smtClean="0">
                <a:solidFill>
                  <a:srgbClr val="4A6300"/>
                </a:solidFill>
                <a:latin typeface="Avenir Book" charset="0"/>
                <a:cs typeface="Avenir Book" charset="0"/>
              </a:rPr>
              <a:t>Desired behavior:</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err="1" smtClean="0">
                <a:solidFill>
                  <a:srgbClr val="4A6300"/>
                </a:solidFill>
                <a:latin typeface="Avenir Book" charset="0"/>
                <a:cs typeface="Avenir Book" charset="0"/>
              </a:rPr>
              <a:t>Vars</a:t>
            </a:r>
            <a:r>
              <a:rPr lang="en-US" sz="2000" dirty="0" smtClean="0">
                <a:solidFill>
                  <a:srgbClr val="4A6300"/>
                </a:solidFill>
                <a:latin typeface="Avenir Book" charset="0"/>
                <a:cs typeface="Avenir Book" charset="0"/>
              </a:rPr>
              <a:t> to keep track of:</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Recursive call/reuse of </a:t>
            </a:r>
            <a:r>
              <a:rPr lang="en-US" sz="2000" dirty="0" err="1" smtClean="0">
                <a:solidFill>
                  <a:srgbClr val="4A6300"/>
                </a:solidFill>
                <a:latin typeface="Avenir Book" charset="0"/>
                <a:cs typeface="Avenir Book" charset="0"/>
              </a:rPr>
              <a:t>func</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Building up from reuse:</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When to end/base case:</a:t>
            </a:r>
          </a:p>
          <a:p>
            <a:pPr marL="366713" lvl="1" indent="0">
              <a:buNone/>
            </a:pPr>
            <a:endParaRPr lang="en-US" sz="2000" dirty="0">
              <a:solidFill>
                <a:srgbClr val="4A6300"/>
              </a:solidFill>
              <a:latin typeface="Avenir Book" charset="0"/>
              <a:cs typeface="Avenir Book" charset="0"/>
            </a:endParaRPr>
          </a:p>
          <a:p>
            <a:pPr marL="366713" lvl="1" indent="0">
              <a:buNone/>
            </a:pPr>
            <a:endParaRPr lang="en-US" sz="2000"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20</a:t>
            </a:fld>
            <a:endParaRPr lang="en-US">
              <a:solidFill>
                <a:srgbClr val="FEFEFE"/>
              </a:solidFill>
            </a:endParaRPr>
          </a:p>
        </p:txBody>
      </p:sp>
      <p:sp>
        <p:nvSpPr>
          <p:cNvPr id="5" name="TextBox 4"/>
          <p:cNvSpPr txBox="1"/>
          <p:nvPr/>
        </p:nvSpPr>
        <p:spPr>
          <a:xfrm>
            <a:off x="4438896" y="3535950"/>
            <a:ext cx="4632258" cy="1323439"/>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err="1" smtClean="0">
                <a:solidFill>
                  <a:srgbClr val="FF6600"/>
                </a:solidFill>
                <a:latin typeface="Consolas"/>
                <a:cs typeface="Consolas"/>
              </a:rPr>
              <a:t>sum_up_to</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 1:</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return 1</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a:solidFill>
                  <a:schemeClr val="bg2">
                    <a:lumMod val="50000"/>
                  </a:schemeClr>
                </a:solidFill>
                <a:latin typeface="Consolas"/>
                <a:cs typeface="Consolas"/>
              </a:rPr>
              <a:t>n</a:t>
            </a:r>
            <a:r>
              <a:rPr lang="en-US" sz="2000" dirty="0" smtClean="0">
                <a:solidFill>
                  <a:schemeClr val="bg2">
                    <a:lumMod val="50000"/>
                  </a:schemeClr>
                </a:solidFill>
                <a:latin typeface="Consolas"/>
                <a:cs typeface="Consolas"/>
              </a:rPr>
              <a:t> +</a:t>
            </a:r>
            <a:r>
              <a:rPr lang="en-US" sz="2000" dirty="0" smtClean="0">
                <a:solidFill>
                  <a:srgbClr val="4A6300"/>
                </a:solidFill>
                <a:latin typeface="Consolas"/>
                <a:cs typeface="Consolas"/>
              </a:rPr>
              <a:t> </a:t>
            </a:r>
            <a:r>
              <a:rPr lang="en-US" sz="2000" dirty="0" err="1" smtClean="0">
                <a:solidFill>
                  <a:srgbClr val="FF00FF"/>
                </a:solidFill>
                <a:latin typeface="Consolas"/>
                <a:cs typeface="Consolas"/>
              </a:rPr>
              <a:t>sum_up_to</a:t>
            </a:r>
            <a:r>
              <a:rPr lang="en-US" sz="2000" dirty="0" smtClean="0">
                <a:solidFill>
                  <a:srgbClr val="FF00FF"/>
                </a:solidFill>
                <a:latin typeface="Consolas"/>
                <a:cs typeface="Consolas"/>
              </a:rPr>
              <a:t>(n–1)</a:t>
            </a:r>
            <a:endParaRPr lang="en-US" dirty="0">
              <a:solidFill>
                <a:srgbClr val="FF00FF"/>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230769056"/>
              </p:ext>
            </p:extLst>
          </p:nvPr>
        </p:nvGraphicFramePr>
        <p:xfrm>
          <a:off x="474132" y="2763902"/>
          <a:ext cx="4952612" cy="396240"/>
        </p:xfrm>
        <a:graphic>
          <a:graphicData uri="http://schemas.openxmlformats.org/drawingml/2006/table">
            <a:tbl>
              <a:tblPr firstRow="1" bandRow="1">
                <a:tableStyleId>{5C22544A-7EE6-4342-B048-85BDC9FD1C3A}</a:tableStyleId>
              </a:tblPr>
              <a:tblGrid>
                <a:gridCol w="4952612"/>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Sum up</a:t>
                      </a:r>
                      <a:r>
                        <a:rPr lang="en-US" sz="2000" baseline="0" dirty="0" smtClean="0">
                          <a:solidFill>
                            <a:srgbClr val="4A6300"/>
                          </a:solidFill>
                          <a:latin typeface="Avenir Book" charset="0"/>
                          <a:cs typeface="Avenir Book" charset="0"/>
                        </a:rPr>
                        <a:t> to n. Express as </a:t>
                      </a:r>
                      <a:r>
                        <a:rPr lang="en-US" sz="2000" baseline="0" dirty="0" err="1" smtClean="0">
                          <a:solidFill>
                            <a:srgbClr val="4A6300"/>
                          </a:solidFill>
                          <a:latin typeface="Avenir Book" charset="0"/>
                          <a:cs typeface="Avenir Book" charset="0"/>
                        </a:rPr>
                        <a:t>sum_up_to</a:t>
                      </a:r>
                      <a:r>
                        <a:rPr lang="en-US" sz="2000" baseline="0" dirty="0" smtClean="0">
                          <a:solidFill>
                            <a:srgbClr val="4A6300"/>
                          </a:solidFill>
                          <a:latin typeface="Avenir Book" charset="0"/>
                          <a:cs typeface="Avenir Book" charset="0"/>
                        </a:rPr>
                        <a:t>(n)</a:t>
                      </a:r>
                      <a:endParaRPr lang="en-US" sz="2000" dirty="0" smtClean="0">
                        <a:solidFill>
                          <a:srgbClr val="4A6300"/>
                        </a:solidFill>
                        <a:latin typeface="Avenir Book" charset="0"/>
                        <a:cs typeface="Avenir Book" charset="0"/>
                      </a:endParaRPr>
                    </a:p>
                  </a:txBody>
                  <a:tcPr>
                    <a:solidFill>
                      <a:srgbClr val="FF6600"/>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502602221"/>
              </p:ext>
            </p:extLst>
          </p:nvPr>
        </p:nvGraphicFramePr>
        <p:xfrm>
          <a:off x="474132" y="3366071"/>
          <a:ext cx="4323982" cy="396240"/>
        </p:xfrm>
        <a:graphic>
          <a:graphicData uri="http://schemas.openxmlformats.org/drawingml/2006/table">
            <a:tbl>
              <a:tblPr firstRow="1" bandRow="1">
                <a:tableStyleId>{5C22544A-7EE6-4342-B048-85BDC9FD1C3A}</a:tableStyleId>
              </a:tblPr>
              <a:tblGrid>
                <a:gridCol w="4323982"/>
              </a:tblGrid>
              <a:tr h="3924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The current</a:t>
                      </a:r>
                      <a:r>
                        <a:rPr lang="en-US" sz="2000" baseline="0" dirty="0" smtClean="0">
                          <a:solidFill>
                            <a:srgbClr val="4A6300"/>
                          </a:solidFill>
                          <a:latin typeface="Avenir Book" charset="0"/>
                          <a:cs typeface="Avenir Book" charset="0"/>
                        </a:rPr>
                        <a:t> number being summed</a:t>
                      </a:r>
                    </a:p>
                  </a:txBody>
                  <a:tcPr>
                    <a:solidFill>
                      <a:srgbClr val="FF0000"/>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611566469"/>
              </p:ext>
            </p:extLst>
          </p:nvPr>
        </p:nvGraphicFramePr>
        <p:xfrm>
          <a:off x="474131" y="4221087"/>
          <a:ext cx="3041065" cy="396240"/>
        </p:xfrm>
        <a:graphic>
          <a:graphicData uri="http://schemas.openxmlformats.org/drawingml/2006/table">
            <a:tbl>
              <a:tblPr firstRow="1" bandRow="1">
                <a:tableStyleId>{5C22544A-7EE6-4342-B048-85BDC9FD1C3A}</a:tableStyleId>
              </a:tblPr>
              <a:tblGrid>
                <a:gridCol w="3041065"/>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Sum numbers up to (n-1)</a:t>
                      </a:r>
                    </a:p>
                  </a:txBody>
                  <a:tcPr>
                    <a:solidFill>
                      <a:srgbClr val="FF00FF"/>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80858447"/>
              </p:ext>
            </p:extLst>
          </p:nvPr>
        </p:nvGraphicFramePr>
        <p:xfrm>
          <a:off x="474131" y="4881915"/>
          <a:ext cx="2963542" cy="396240"/>
        </p:xfrm>
        <a:graphic>
          <a:graphicData uri="http://schemas.openxmlformats.org/drawingml/2006/table">
            <a:tbl>
              <a:tblPr firstRow="1" bandRow="1">
                <a:tableStyleId>{5C22544A-7EE6-4342-B048-85BDC9FD1C3A}</a:tableStyleId>
              </a:tblPr>
              <a:tblGrid>
                <a:gridCol w="2963542"/>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err="1" smtClean="0">
                          <a:solidFill>
                            <a:srgbClr val="4A6300"/>
                          </a:solidFill>
                          <a:latin typeface="Avenir Book" charset="0"/>
                          <a:cs typeface="Avenir Book" charset="0"/>
                        </a:rPr>
                        <a:t>sum_up_to</a:t>
                      </a:r>
                      <a:r>
                        <a:rPr lang="en-US" sz="2000" dirty="0" smtClean="0">
                          <a:solidFill>
                            <a:srgbClr val="4A6300"/>
                          </a:solidFill>
                          <a:latin typeface="Avenir Book" charset="0"/>
                          <a:cs typeface="Avenir Book" charset="0"/>
                        </a:rPr>
                        <a:t>(n-1)</a:t>
                      </a:r>
                      <a:r>
                        <a:rPr lang="en-US" sz="2000" baseline="0" dirty="0" smtClean="0">
                          <a:solidFill>
                            <a:srgbClr val="4A6300"/>
                          </a:solidFill>
                          <a:latin typeface="Avenir Book" charset="0"/>
                          <a:cs typeface="Avenir Book" charset="0"/>
                        </a:rPr>
                        <a:t> + n</a:t>
                      </a:r>
                      <a:endParaRPr lang="en-US" sz="2000" dirty="0" smtClean="0">
                        <a:solidFill>
                          <a:srgbClr val="4A6300"/>
                        </a:solidFill>
                        <a:latin typeface="Avenir Book" charset="0"/>
                        <a:cs typeface="Avenir Book" charset="0"/>
                      </a:endParaRPr>
                    </a:p>
                  </a:txBody>
                  <a:tcPr>
                    <a:solidFill>
                      <a:schemeClr val="bg2">
                        <a:lumMod val="50000"/>
                      </a:schemeClr>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642131101"/>
              </p:ext>
            </p:extLst>
          </p:nvPr>
        </p:nvGraphicFramePr>
        <p:xfrm>
          <a:off x="474132" y="5588209"/>
          <a:ext cx="5722363" cy="396240"/>
        </p:xfrm>
        <a:graphic>
          <a:graphicData uri="http://schemas.openxmlformats.org/drawingml/2006/table">
            <a:tbl>
              <a:tblPr firstRow="1" bandRow="1">
                <a:tableStyleId>{5C22544A-7EE6-4342-B048-85BDC9FD1C3A}</a:tableStyleId>
              </a:tblPr>
              <a:tblGrid>
                <a:gridCol w="5722363"/>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latin typeface="Avenir Book" charset="0"/>
                          <a:cs typeface="Avenir Book" charset="0"/>
                        </a:rPr>
                        <a:t>When</a:t>
                      </a:r>
                      <a:r>
                        <a:rPr lang="en-US" sz="2000" baseline="0" dirty="0" smtClean="0">
                          <a:solidFill>
                            <a:schemeClr val="bg1"/>
                          </a:solidFill>
                          <a:latin typeface="Avenir Book" charset="0"/>
                          <a:cs typeface="Avenir Book" charset="0"/>
                        </a:rPr>
                        <a:t> n = 1, we know that the answer is just 1</a:t>
                      </a:r>
                      <a:endParaRPr lang="en-US" sz="2000" dirty="0" smtClean="0">
                        <a:solidFill>
                          <a:schemeClr val="bg1"/>
                        </a:solidFill>
                        <a:latin typeface="Avenir Book" charset="0"/>
                        <a:cs typeface="Avenir Book" charset="0"/>
                      </a:endParaRPr>
                    </a:p>
                  </a:txBody>
                  <a:tcPr>
                    <a:solidFill>
                      <a:srgbClr val="3366FF"/>
                    </a:solidFill>
                  </a:tcPr>
                </a:tc>
              </a:tr>
            </a:tbl>
          </a:graphicData>
        </a:graphic>
      </p:graphicFrame>
    </p:spTree>
    <p:extLst>
      <p:ext uri="{BB962C8B-B14F-4D97-AF65-F5344CB8AC3E}">
        <p14:creationId xmlns:p14="http://schemas.microsoft.com/office/powerpoint/2010/main" val="941347898"/>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21</a:t>
            </a:fld>
            <a:endParaRPr lang="en-US">
              <a:solidFill>
                <a:srgbClr val="FEFEFE"/>
              </a:solidFill>
            </a:endParaRPr>
          </a:p>
        </p:txBody>
      </p:sp>
      <p:sp>
        <p:nvSpPr>
          <p:cNvPr id="5" name="TextBox 4"/>
          <p:cNvSpPr txBox="1"/>
          <p:nvPr/>
        </p:nvSpPr>
        <p:spPr>
          <a:xfrm>
            <a:off x="590142" y="2233676"/>
            <a:ext cx="4632258" cy="1631216"/>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err="1" smtClean="0">
                <a:solidFill>
                  <a:srgbClr val="FF6600"/>
                </a:solidFill>
                <a:latin typeface="Consolas"/>
                <a:cs typeface="Consolas"/>
              </a:rPr>
              <a:t>sum_up_to</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r>
              <a:rPr lang="en-US" sz="2000" dirty="0" smtClean="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 “””Sum from 1 up to n”””</a:t>
            </a:r>
            <a:endParaRPr lang="en-US" sz="2000" dirty="0">
              <a:solidFill>
                <a:srgbClr val="4A6300"/>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 1:</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return 1</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a:solidFill>
                  <a:schemeClr val="bg2">
                    <a:lumMod val="50000"/>
                  </a:schemeClr>
                </a:solidFill>
                <a:latin typeface="Consolas"/>
                <a:cs typeface="Consolas"/>
              </a:rPr>
              <a:t>n</a:t>
            </a:r>
            <a:r>
              <a:rPr lang="en-US" sz="2000" dirty="0" smtClean="0">
                <a:solidFill>
                  <a:schemeClr val="bg2">
                    <a:lumMod val="50000"/>
                  </a:schemeClr>
                </a:solidFill>
                <a:latin typeface="Consolas"/>
                <a:cs typeface="Consolas"/>
              </a:rPr>
              <a:t> +</a:t>
            </a:r>
            <a:r>
              <a:rPr lang="en-US" sz="2000" dirty="0" smtClean="0">
                <a:solidFill>
                  <a:srgbClr val="4A6300"/>
                </a:solidFill>
                <a:latin typeface="Consolas"/>
                <a:cs typeface="Consolas"/>
              </a:rPr>
              <a:t> </a:t>
            </a:r>
            <a:r>
              <a:rPr lang="en-US" sz="2000" dirty="0" err="1" smtClean="0">
                <a:solidFill>
                  <a:srgbClr val="FF00FF"/>
                </a:solidFill>
                <a:latin typeface="Consolas"/>
                <a:cs typeface="Consolas"/>
              </a:rPr>
              <a:t>sum_up_to</a:t>
            </a:r>
            <a:r>
              <a:rPr lang="en-US" sz="2000" dirty="0" smtClean="0">
                <a:solidFill>
                  <a:srgbClr val="FF00FF"/>
                </a:solidFill>
                <a:latin typeface="Consolas"/>
                <a:cs typeface="Consolas"/>
              </a:rPr>
              <a:t>(n–1)</a:t>
            </a:r>
            <a:endParaRPr lang="en-US" dirty="0">
              <a:solidFill>
                <a:srgbClr val="FF00FF"/>
              </a:solidFill>
            </a:endParaRPr>
          </a:p>
        </p:txBody>
      </p:sp>
      <p:sp>
        <p:nvSpPr>
          <p:cNvPr id="13" name="TextBox 12"/>
          <p:cNvSpPr txBox="1"/>
          <p:nvPr/>
        </p:nvSpPr>
        <p:spPr>
          <a:xfrm>
            <a:off x="590141" y="4111378"/>
            <a:ext cx="6863613" cy="1323439"/>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err="1" smtClean="0">
                <a:solidFill>
                  <a:srgbClr val="FF6600"/>
                </a:solidFill>
                <a:latin typeface="Consolas"/>
                <a:cs typeface="Consolas"/>
              </a:rPr>
              <a:t>sum_up_to</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 1:</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return sum from 1 up to 1</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a:solidFill>
                  <a:schemeClr val="bg2">
                    <a:lumMod val="50000"/>
                  </a:schemeClr>
                </a:solidFill>
                <a:latin typeface="Consolas"/>
                <a:cs typeface="Consolas"/>
              </a:rPr>
              <a:t>n</a:t>
            </a:r>
            <a:r>
              <a:rPr lang="en-US" sz="2000" dirty="0" smtClean="0">
                <a:solidFill>
                  <a:schemeClr val="bg2">
                    <a:lumMod val="50000"/>
                  </a:schemeClr>
                </a:solidFill>
                <a:latin typeface="Consolas"/>
                <a:cs typeface="Consolas"/>
              </a:rPr>
              <a:t> +</a:t>
            </a:r>
            <a:r>
              <a:rPr lang="en-US" sz="2000" dirty="0" smtClean="0">
                <a:solidFill>
                  <a:srgbClr val="4A6300"/>
                </a:solidFill>
                <a:latin typeface="Consolas"/>
                <a:cs typeface="Consolas"/>
              </a:rPr>
              <a:t> </a:t>
            </a:r>
            <a:r>
              <a:rPr lang="en-US" sz="2000" dirty="0" smtClean="0">
                <a:solidFill>
                  <a:srgbClr val="FF00FF"/>
                </a:solidFill>
                <a:latin typeface="Consolas"/>
                <a:cs typeface="Consolas"/>
              </a:rPr>
              <a:t>sum from 1 up to (n-1)</a:t>
            </a:r>
            <a:endParaRPr lang="en-US" dirty="0">
              <a:solidFill>
                <a:srgbClr val="FF00FF"/>
              </a:solidFill>
            </a:endParaRPr>
          </a:p>
        </p:txBody>
      </p:sp>
    </p:spTree>
    <p:extLst>
      <p:ext uri="{BB962C8B-B14F-4D97-AF65-F5344CB8AC3E}">
        <p14:creationId xmlns:p14="http://schemas.microsoft.com/office/powerpoint/2010/main" val="1255592478"/>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366713" lvl="1" indent="0">
              <a:buNone/>
            </a:pPr>
            <a:r>
              <a:rPr lang="en-US" sz="2000" dirty="0" smtClean="0">
                <a:solidFill>
                  <a:srgbClr val="4A6300"/>
                </a:solidFill>
                <a:latin typeface="Avenir Book" charset="0"/>
                <a:cs typeface="Avenir Book" charset="0"/>
              </a:rPr>
              <a:t>1 + 3 + 5 + … + n or 2 + 4 + 6 + … + n</a:t>
            </a:r>
          </a:p>
          <a:p>
            <a:pPr marL="823913" lvl="1" indent="-457200">
              <a:buFont typeface="+mj-lt"/>
              <a:buAutoNum type="arabicPeriod"/>
            </a:pPr>
            <a:r>
              <a:rPr lang="en-US" sz="2000" dirty="0">
                <a:solidFill>
                  <a:srgbClr val="4A6300"/>
                </a:solidFill>
                <a:latin typeface="Avenir Book" charset="0"/>
                <a:cs typeface="Avenir Book" charset="0"/>
              </a:rPr>
              <a:t>What is the desired behavior of your function</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What </a:t>
            </a:r>
            <a:r>
              <a:rPr lang="en-US" sz="2000" dirty="0" err="1">
                <a:solidFill>
                  <a:srgbClr val="4A6300"/>
                </a:solidFill>
                <a:latin typeface="Avenir Book" charset="0"/>
                <a:cs typeface="Avenir Book" charset="0"/>
              </a:rPr>
              <a:t>vars</a:t>
            </a:r>
            <a:r>
              <a:rPr lang="en-US" sz="2000" dirty="0">
                <a:solidFill>
                  <a:srgbClr val="4A6300"/>
                </a:solidFill>
                <a:latin typeface="Avenir Book" charset="0"/>
                <a:cs typeface="Avenir Book" charset="0"/>
              </a:rPr>
              <a:t> do you want to keep track of</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endParaRPr lang="en-US" sz="2000" dirty="0" smtClean="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How </a:t>
            </a:r>
            <a:r>
              <a:rPr lang="en-US" sz="2000" dirty="0">
                <a:solidFill>
                  <a:srgbClr val="4A6300"/>
                </a:solidFill>
                <a:latin typeface="Avenir Book" charset="0"/>
                <a:cs typeface="Avenir Book" charset="0"/>
              </a:rPr>
              <a:t>can I reuse the function with </a:t>
            </a:r>
            <a:r>
              <a:rPr lang="en-US" sz="2000" dirty="0" smtClean="0">
                <a:solidFill>
                  <a:srgbClr val="4A6300"/>
                </a:solidFill>
                <a:latin typeface="Avenir Book" charset="0"/>
                <a:cs typeface="Avenir Book" charset="0"/>
              </a:rPr>
              <a:t>simpler input</a:t>
            </a:r>
            <a:r>
              <a:rPr lang="en-US" sz="2000" dirty="0">
                <a:solidFill>
                  <a:srgbClr val="4A6300"/>
                </a:solidFill>
                <a:latin typeface="Avenir Book" charset="0"/>
                <a:cs typeface="Avenir Book" charset="0"/>
              </a:rPr>
              <a:t>?</a:t>
            </a: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Base cases: When should we stop? What to return?</a:t>
            </a:r>
          </a:p>
          <a:p>
            <a:pPr marL="366713" lvl="1" indent="0">
              <a:buNone/>
            </a:pP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22</a:t>
            </a:fld>
            <a:endParaRPr lang="en-US">
              <a:solidFill>
                <a:srgbClr val="FEFEFE"/>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139185018"/>
              </p:ext>
            </p:extLst>
          </p:nvPr>
        </p:nvGraphicFramePr>
        <p:xfrm>
          <a:off x="474132" y="3027269"/>
          <a:ext cx="8212151" cy="396240"/>
        </p:xfrm>
        <a:graphic>
          <a:graphicData uri="http://schemas.openxmlformats.org/drawingml/2006/table">
            <a:tbl>
              <a:tblPr firstRow="1" bandRow="1">
                <a:tableStyleId>{5C22544A-7EE6-4342-B048-85BDC9FD1C3A}</a:tableStyleId>
              </a:tblPr>
              <a:tblGrid>
                <a:gridCol w="8212151"/>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Sum every</a:t>
                      </a:r>
                      <a:r>
                        <a:rPr lang="en-US" sz="2000" baseline="0" dirty="0" smtClean="0">
                          <a:solidFill>
                            <a:srgbClr val="4A6300"/>
                          </a:solidFill>
                          <a:latin typeface="Avenir Book" charset="0"/>
                          <a:cs typeface="Avenir Book" charset="0"/>
                        </a:rPr>
                        <a:t> other to n. Expressed desired value as </a:t>
                      </a:r>
                      <a:r>
                        <a:rPr lang="en-US" sz="2000" baseline="0" dirty="0" err="1" smtClean="0">
                          <a:solidFill>
                            <a:srgbClr val="4A6300"/>
                          </a:solidFill>
                          <a:latin typeface="Avenir Book" charset="0"/>
                          <a:cs typeface="Avenir Book" charset="0"/>
                        </a:rPr>
                        <a:t>sum_every_other</a:t>
                      </a:r>
                      <a:r>
                        <a:rPr lang="en-US" sz="2000" baseline="0" dirty="0" smtClean="0">
                          <a:solidFill>
                            <a:srgbClr val="4A6300"/>
                          </a:solidFill>
                          <a:latin typeface="Avenir Book" charset="0"/>
                          <a:cs typeface="Avenir Book" charset="0"/>
                        </a:rPr>
                        <a:t>(n)</a:t>
                      </a:r>
                      <a:endParaRPr lang="en-US" sz="2000" dirty="0" smtClean="0">
                        <a:solidFill>
                          <a:srgbClr val="4A6300"/>
                        </a:solidFill>
                        <a:latin typeface="Avenir Book" charset="0"/>
                        <a:cs typeface="Avenir Book" charset="0"/>
                      </a:endParaRPr>
                    </a:p>
                  </a:txBody>
                  <a:tcPr>
                    <a:solidFill>
                      <a:srgbClr val="FF6600"/>
                    </a:solid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180049824"/>
              </p:ext>
            </p:extLst>
          </p:nvPr>
        </p:nvGraphicFramePr>
        <p:xfrm>
          <a:off x="705605" y="3782570"/>
          <a:ext cx="7582047" cy="7010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The current</a:t>
                      </a:r>
                      <a:r>
                        <a:rPr lang="en-US" sz="2000" baseline="0" dirty="0" smtClean="0">
                          <a:solidFill>
                            <a:srgbClr val="4A6300"/>
                          </a:solidFill>
                          <a:latin typeface="Avenir Book" charset="0"/>
                          <a:cs typeface="Avenir Book" charset="0"/>
                        </a:rPr>
                        <a:t> number being summed</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Note: the return value takes care of storing the total</a:t>
                      </a:r>
                    </a:p>
                  </a:txBody>
                  <a:tcPr>
                    <a:solidFill>
                      <a:srgbClr val="FF0000"/>
                    </a:solidFill>
                  </a:tcPr>
                </a:tc>
              </a:tr>
            </a:tbl>
          </a:graphicData>
        </a:graphic>
      </p:graphicFrame>
    </p:spTree>
    <p:extLst>
      <p:ext uri="{BB962C8B-B14F-4D97-AF65-F5344CB8AC3E}">
        <p14:creationId xmlns:p14="http://schemas.microsoft.com/office/powerpoint/2010/main" val="25964847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366713" lvl="1" indent="0">
              <a:buNone/>
            </a:pPr>
            <a:r>
              <a:rPr lang="en-US" sz="2000" dirty="0" smtClean="0">
                <a:solidFill>
                  <a:srgbClr val="4A6300"/>
                </a:solidFill>
                <a:latin typeface="Avenir Book" charset="0"/>
                <a:cs typeface="Avenir Book" charset="0"/>
              </a:rPr>
              <a:t>1 + 3 + 5 + … + n</a:t>
            </a:r>
          </a:p>
          <a:p>
            <a:pPr marL="823913" lvl="1" indent="-457200">
              <a:buFont typeface="+mj-lt"/>
              <a:buAutoNum type="arabicPeriod"/>
            </a:pPr>
            <a:r>
              <a:rPr lang="en-US" sz="2000" dirty="0">
                <a:solidFill>
                  <a:srgbClr val="4A6300"/>
                </a:solidFill>
                <a:latin typeface="Avenir Book" charset="0"/>
                <a:cs typeface="Avenir Book" charset="0"/>
              </a:rPr>
              <a:t>What is the desired behavior of your function</a:t>
            </a:r>
            <a:r>
              <a:rPr lang="en-US" sz="2000" dirty="0" smtClean="0">
                <a:solidFill>
                  <a:srgbClr val="4A6300"/>
                </a:solidFill>
                <a:latin typeface="Avenir Book" charset="0"/>
                <a:cs typeface="Avenir Book" charset="0"/>
              </a:rPr>
              <a:t>?</a:t>
            </a: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What </a:t>
            </a:r>
            <a:r>
              <a:rPr lang="en-US" sz="2000" dirty="0" err="1">
                <a:solidFill>
                  <a:srgbClr val="4A6300"/>
                </a:solidFill>
                <a:latin typeface="Avenir Book" charset="0"/>
                <a:cs typeface="Avenir Book" charset="0"/>
              </a:rPr>
              <a:t>vars</a:t>
            </a:r>
            <a:r>
              <a:rPr lang="en-US" sz="2000" dirty="0">
                <a:solidFill>
                  <a:srgbClr val="4A6300"/>
                </a:solidFill>
                <a:latin typeface="Avenir Book" charset="0"/>
                <a:cs typeface="Avenir Book" charset="0"/>
              </a:rPr>
              <a:t> do you want to keep track of</a:t>
            </a:r>
            <a:r>
              <a:rPr lang="en-US" sz="2000" dirty="0" smtClean="0">
                <a:solidFill>
                  <a:srgbClr val="4A6300"/>
                </a:solidFill>
                <a:latin typeface="Avenir Book" charset="0"/>
                <a:cs typeface="Avenir Book" charset="0"/>
              </a:rPr>
              <a:t>?</a:t>
            </a:r>
          </a:p>
          <a:p>
            <a:pPr marL="823913" lvl="1" indent="-457200">
              <a:buFont typeface="+mj-lt"/>
              <a:buAutoNum type="arabicPeriod"/>
            </a:pPr>
            <a:r>
              <a:rPr lang="en-US" sz="2000" dirty="0" smtClean="0">
                <a:solidFill>
                  <a:srgbClr val="4A6300"/>
                </a:solidFill>
                <a:latin typeface="Avenir Book" charset="0"/>
                <a:cs typeface="Avenir Book" charset="0"/>
              </a:rPr>
              <a:t>How </a:t>
            </a:r>
            <a:r>
              <a:rPr lang="en-US" sz="2000" dirty="0">
                <a:solidFill>
                  <a:srgbClr val="4A6300"/>
                </a:solidFill>
                <a:latin typeface="Avenir Book" charset="0"/>
                <a:cs typeface="Avenir Book" charset="0"/>
              </a:rPr>
              <a:t>can I reuse the function with </a:t>
            </a:r>
            <a:r>
              <a:rPr lang="en-US" sz="2000" dirty="0" smtClean="0">
                <a:solidFill>
                  <a:srgbClr val="4A6300"/>
                </a:solidFill>
                <a:latin typeface="Avenir Book" charset="0"/>
                <a:cs typeface="Avenir Book" charset="0"/>
              </a:rPr>
              <a:t>simpler input?</a:t>
            </a:r>
          </a:p>
          <a:p>
            <a:pPr marL="366713" lvl="1" indent="0">
              <a:buNone/>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p>
          <a:p>
            <a:pPr marL="366713" lvl="1" indent="0">
              <a:buNone/>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Base cases: When should we stop? What to return?</a:t>
            </a:r>
          </a:p>
          <a:p>
            <a:pPr marL="366713" lvl="1" indent="0">
              <a:buNone/>
            </a:pP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23</a:t>
            </a:fld>
            <a:endParaRPr lang="en-US">
              <a:solidFill>
                <a:srgbClr val="FEFEFE"/>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280920489"/>
              </p:ext>
            </p:extLst>
          </p:nvPr>
        </p:nvGraphicFramePr>
        <p:xfrm>
          <a:off x="705605" y="3769742"/>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Sum numbers up to (n-2)</a:t>
                      </a:r>
                    </a:p>
                  </a:txBody>
                  <a:tcPr>
                    <a:solidFill>
                      <a:srgbClr val="FF00FF"/>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697357323"/>
              </p:ext>
            </p:extLst>
          </p:nvPr>
        </p:nvGraphicFramePr>
        <p:xfrm>
          <a:off x="705605" y="4807252"/>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err="1" smtClean="0">
                          <a:solidFill>
                            <a:srgbClr val="4A6300"/>
                          </a:solidFill>
                          <a:latin typeface="Avenir Book" charset="0"/>
                          <a:cs typeface="Avenir Book" charset="0"/>
                        </a:rPr>
                        <a:t>sum_up_to</a:t>
                      </a:r>
                      <a:r>
                        <a:rPr lang="en-US" sz="2000" dirty="0" smtClean="0">
                          <a:solidFill>
                            <a:srgbClr val="4A6300"/>
                          </a:solidFill>
                          <a:latin typeface="Avenir Book" charset="0"/>
                          <a:cs typeface="Avenir Book" charset="0"/>
                        </a:rPr>
                        <a:t>(n-2)</a:t>
                      </a:r>
                      <a:r>
                        <a:rPr lang="en-US" sz="2000" baseline="0" dirty="0" smtClean="0">
                          <a:solidFill>
                            <a:srgbClr val="4A6300"/>
                          </a:solidFill>
                          <a:latin typeface="Avenir Book" charset="0"/>
                          <a:cs typeface="Avenir Book" charset="0"/>
                        </a:rPr>
                        <a:t> + n</a:t>
                      </a:r>
                      <a:endParaRPr lang="en-US" sz="2000" dirty="0" smtClean="0">
                        <a:solidFill>
                          <a:srgbClr val="4A6300"/>
                        </a:solidFill>
                        <a:latin typeface="Avenir Book" charset="0"/>
                        <a:cs typeface="Avenir Book" charset="0"/>
                      </a:endParaRPr>
                    </a:p>
                  </a:txBody>
                  <a:tcPr>
                    <a:solidFill>
                      <a:schemeClr val="bg2">
                        <a:lumMod val="50000"/>
                      </a:schemeClr>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885148828"/>
              </p:ext>
            </p:extLst>
          </p:nvPr>
        </p:nvGraphicFramePr>
        <p:xfrm>
          <a:off x="705605" y="5588209"/>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latin typeface="Avenir Book" charset="0"/>
                          <a:cs typeface="Avenir Book" charset="0"/>
                        </a:rPr>
                        <a:t>When</a:t>
                      </a:r>
                      <a:r>
                        <a:rPr lang="en-US" sz="2000" baseline="0" dirty="0" smtClean="0">
                          <a:solidFill>
                            <a:schemeClr val="bg1"/>
                          </a:solidFill>
                          <a:latin typeface="Avenir Book" charset="0"/>
                          <a:cs typeface="Avenir Book" charset="0"/>
                        </a:rPr>
                        <a:t> n &lt; 2, we know that the answer is just n</a:t>
                      </a:r>
                      <a:endParaRPr lang="en-US" sz="2000" dirty="0" smtClean="0">
                        <a:solidFill>
                          <a:schemeClr val="bg1"/>
                        </a:solidFill>
                        <a:latin typeface="Avenir Book" charset="0"/>
                        <a:cs typeface="Avenir Book" charset="0"/>
                      </a:endParaRPr>
                    </a:p>
                  </a:txBody>
                  <a:tcPr>
                    <a:solidFill>
                      <a:srgbClr val="3366FF"/>
                    </a:solidFill>
                  </a:tcPr>
                </a:tc>
              </a:tr>
            </a:tbl>
          </a:graphicData>
        </a:graphic>
      </p:graphicFrame>
    </p:spTree>
    <p:extLst>
      <p:ext uri="{BB962C8B-B14F-4D97-AF65-F5344CB8AC3E}">
        <p14:creationId xmlns:p14="http://schemas.microsoft.com/office/powerpoint/2010/main" val="171661517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3" name="Content Placeholder 2"/>
          <p:cNvSpPr>
            <a:spLocks noGrp="1"/>
          </p:cNvSpPr>
          <p:nvPr>
            <p:ph idx="1"/>
          </p:nvPr>
        </p:nvSpPr>
        <p:spPr>
          <a:xfrm>
            <a:off x="474133" y="2324100"/>
            <a:ext cx="4477932" cy="4195233"/>
          </a:xfrm>
        </p:spPr>
        <p:txBody>
          <a:bodyPr/>
          <a:lstStyle/>
          <a:p>
            <a:pPr marL="823913" lvl="1" indent="-457200">
              <a:buFont typeface="+mj-lt"/>
              <a:buAutoNum type="arabicPeriod"/>
            </a:pPr>
            <a:r>
              <a:rPr lang="en-US" sz="2000" dirty="0" smtClean="0">
                <a:solidFill>
                  <a:srgbClr val="4A6300"/>
                </a:solidFill>
                <a:latin typeface="Avenir Book" charset="0"/>
                <a:cs typeface="Avenir Book" charset="0"/>
              </a:rPr>
              <a:t>Desired behavior:</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err="1" smtClean="0">
                <a:solidFill>
                  <a:srgbClr val="4A6300"/>
                </a:solidFill>
                <a:latin typeface="Avenir Book" charset="0"/>
                <a:cs typeface="Avenir Book" charset="0"/>
              </a:rPr>
              <a:t>Vars</a:t>
            </a:r>
            <a:r>
              <a:rPr lang="en-US" sz="2000" dirty="0" smtClean="0">
                <a:solidFill>
                  <a:srgbClr val="4A6300"/>
                </a:solidFill>
                <a:latin typeface="Avenir Book" charset="0"/>
                <a:cs typeface="Avenir Book" charset="0"/>
              </a:rPr>
              <a:t> to keep track of:</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Recursive call/reuse of </a:t>
            </a:r>
            <a:r>
              <a:rPr lang="en-US" sz="2000" dirty="0" err="1" smtClean="0">
                <a:solidFill>
                  <a:srgbClr val="4A6300"/>
                </a:solidFill>
                <a:latin typeface="Avenir Book" charset="0"/>
                <a:cs typeface="Avenir Book" charset="0"/>
              </a:rPr>
              <a:t>func</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Building up from reuse:</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When to end/base case:</a:t>
            </a:r>
          </a:p>
          <a:p>
            <a:pPr marL="366713" lvl="1" indent="0">
              <a:buNone/>
            </a:pPr>
            <a:endParaRPr lang="en-US" sz="2000" dirty="0">
              <a:solidFill>
                <a:srgbClr val="4A6300"/>
              </a:solidFill>
              <a:latin typeface="Avenir Book" charset="0"/>
              <a:cs typeface="Avenir Book" charset="0"/>
            </a:endParaRPr>
          </a:p>
          <a:p>
            <a:pPr marL="366713" lvl="1" indent="0">
              <a:buNone/>
            </a:pPr>
            <a:endParaRPr lang="en-US" sz="2000"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24</a:t>
            </a:fld>
            <a:endParaRPr lang="en-US">
              <a:solidFill>
                <a:srgbClr val="FEFEFE"/>
              </a:solidFill>
            </a:endParaRPr>
          </a:p>
        </p:txBody>
      </p:sp>
      <p:sp>
        <p:nvSpPr>
          <p:cNvPr id="5" name="TextBox 4"/>
          <p:cNvSpPr txBox="1"/>
          <p:nvPr/>
        </p:nvSpPr>
        <p:spPr>
          <a:xfrm>
            <a:off x="4438896" y="3535950"/>
            <a:ext cx="4632258" cy="1631216"/>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err="1" smtClean="0">
                <a:solidFill>
                  <a:srgbClr val="FF6600"/>
                </a:solidFill>
                <a:latin typeface="Consolas"/>
                <a:cs typeface="Consolas"/>
              </a:rPr>
              <a:t>sum_every_other</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&lt; 2:</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return n</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smtClean="0">
                <a:solidFill>
                  <a:schemeClr val="bg2">
                    <a:lumMod val="50000"/>
                  </a:schemeClr>
                </a:solidFill>
                <a:latin typeface="Consolas"/>
                <a:cs typeface="Consolas"/>
              </a:rPr>
              <a:t>n + \</a:t>
            </a:r>
            <a:r>
              <a:rPr lang="en-US" sz="2000" dirty="0" smtClean="0">
                <a:solidFill>
                  <a:srgbClr val="4A6300"/>
                </a:solidFill>
                <a:latin typeface="Consolas"/>
                <a:cs typeface="Consolas"/>
              </a:rPr>
              <a:t>   	</a:t>
            </a:r>
            <a:r>
              <a:rPr lang="en-US" sz="2000" dirty="0" err="1" smtClean="0">
                <a:solidFill>
                  <a:srgbClr val="FF00FF"/>
                </a:solidFill>
                <a:latin typeface="Consolas"/>
                <a:cs typeface="Consolas"/>
              </a:rPr>
              <a:t>sum_every_other</a:t>
            </a:r>
            <a:r>
              <a:rPr lang="en-US" sz="2000" dirty="0" smtClean="0">
                <a:solidFill>
                  <a:srgbClr val="FF00FF"/>
                </a:solidFill>
                <a:latin typeface="Consolas"/>
                <a:cs typeface="Consolas"/>
              </a:rPr>
              <a:t>(n–2)</a:t>
            </a:r>
            <a:endParaRPr lang="en-US" dirty="0">
              <a:solidFill>
                <a:srgbClr val="FF00FF"/>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2012549736"/>
              </p:ext>
            </p:extLst>
          </p:nvPr>
        </p:nvGraphicFramePr>
        <p:xfrm>
          <a:off x="474132" y="2763902"/>
          <a:ext cx="7595424" cy="396240"/>
        </p:xfrm>
        <a:graphic>
          <a:graphicData uri="http://schemas.openxmlformats.org/drawingml/2006/table">
            <a:tbl>
              <a:tblPr firstRow="1" bandRow="1">
                <a:tableStyleId>{5C22544A-7EE6-4342-B048-85BDC9FD1C3A}</a:tableStyleId>
              </a:tblPr>
              <a:tblGrid>
                <a:gridCol w="7595424"/>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Sum every</a:t>
                      </a:r>
                      <a:r>
                        <a:rPr lang="en-US" sz="2000" baseline="0" dirty="0" smtClean="0">
                          <a:solidFill>
                            <a:srgbClr val="4A6300"/>
                          </a:solidFill>
                          <a:latin typeface="Avenir Book" charset="0"/>
                          <a:cs typeface="Avenir Book" charset="0"/>
                        </a:rPr>
                        <a:t> other to n. Express as </a:t>
                      </a:r>
                      <a:r>
                        <a:rPr lang="en-US" sz="2000" baseline="0" dirty="0" err="1" smtClean="0">
                          <a:solidFill>
                            <a:srgbClr val="4A6300"/>
                          </a:solidFill>
                          <a:latin typeface="Avenir Book" charset="0"/>
                          <a:cs typeface="Avenir Book" charset="0"/>
                        </a:rPr>
                        <a:t>sum_every_other</a:t>
                      </a:r>
                      <a:r>
                        <a:rPr lang="en-US" sz="2000" baseline="0" dirty="0" smtClean="0">
                          <a:solidFill>
                            <a:srgbClr val="4A6300"/>
                          </a:solidFill>
                          <a:latin typeface="Avenir Book" charset="0"/>
                          <a:cs typeface="Avenir Book" charset="0"/>
                        </a:rPr>
                        <a:t>(n)</a:t>
                      </a:r>
                      <a:endParaRPr lang="en-US" sz="2000" dirty="0" smtClean="0">
                        <a:solidFill>
                          <a:srgbClr val="4A6300"/>
                        </a:solidFill>
                        <a:latin typeface="Avenir Book" charset="0"/>
                        <a:cs typeface="Avenir Book" charset="0"/>
                      </a:endParaRPr>
                    </a:p>
                  </a:txBody>
                  <a:tcPr>
                    <a:solidFill>
                      <a:srgbClr val="FF6600"/>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966419596"/>
              </p:ext>
            </p:extLst>
          </p:nvPr>
        </p:nvGraphicFramePr>
        <p:xfrm>
          <a:off x="474132" y="3366071"/>
          <a:ext cx="4323982" cy="396240"/>
        </p:xfrm>
        <a:graphic>
          <a:graphicData uri="http://schemas.openxmlformats.org/drawingml/2006/table">
            <a:tbl>
              <a:tblPr firstRow="1" bandRow="1">
                <a:tableStyleId>{5C22544A-7EE6-4342-B048-85BDC9FD1C3A}</a:tableStyleId>
              </a:tblPr>
              <a:tblGrid>
                <a:gridCol w="4323982"/>
              </a:tblGrid>
              <a:tr h="3924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The current</a:t>
                      </a:r>
                      <a:r>
                        <a:rPr lang="en-US" sz="2000" baseline="0" dirty="0" smtClean="0">
                          <a:solidFill>
                            <a:srgbClr val="4A6300"/>
                          </a:solidFill>
                          <a:latin typeface="Avenir Book" charset="0"/>
                          <a:cs typeface="Avenir Book" charset="0"/>
                        </a:rPr>
                        <a:t> number being summed</a:t>
                      </a:r>
                    </a:p>
                  </a:txBody>
                  <a:tcPr>
                    <a:solidFill>
                      <a:srgbClr val="FF0000"/>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112064127"/>
              </p:ext>
            </p:extLst>
          </p:nvPr>
        </p:nvGraphicFramePr>
        <p:xfrm>
          <a:off x="474131" y="4221087"/>
          <a:ext cx="3041065" cy="396240"/>
        </p:xfrm>
        <a:graphic>
          <a:graphicData uri="http://schemas.openxmlformats.org/drawingml/2006/table">
            <a:tbl>
              <a:tblPr firstRow="1" bandRow="1">
                <a:tableStyleId>{5C22544A-7EE6-4342-B048-85BDC9FD1C3A}</a:tableStyleId>
              </a:tblPr>
              <a:tblGrid>
                <a:gridCol w="3041065"/>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Sum numbers up to (n-2)</a:t>
                      </a:r>
                    </a:p>
                  </a:txBody>
                  <a:tcPr>
                    <a:solidFill>
                      <a:srgbClr val="FF00FF"/>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605102113"/>
              </p:ext>
            </p:extLst>
          </p:nvPr>
        </p:nvGraphicFramePr>
        <p:xfrm>
          <a:off x="474131" y="4881915"/>
          <a:ext cx="2963542" cy="396240"/>
        </p:xfrm>
        <a:graphic>
          <a:graphicData uri="http://schemas.openxmlformats.org/drawingml/2006/table">
            <a:tbl>
              <a:tblPr firstRow="1" bandRow="1">
                <a:tableStyleId>{5C22544A-7EE6-4342-B048-85BDC9FD1C3A}</a:tableStyleId>
              </a:tblPr>
              <a:tblGrid>
                <a:gridCol w="2963542"/>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err="1" smtClean="0">
                          <a:solidFill>
                            <a:srgbClr val="4A6300"/>
                          </a:solidFill>
                          <a:latin typeface="Avenir Book" charset="0"/>
                          <a:cs typeface="Avenir Book" charset="0"/>
                        </a:rPr>
                        <a:t>sum_up_to</a:t>
                      </a:r>
                      <a:r>
                        <a:rPr lang="en-US" sz="2000" dirty="0" smtClean="0">
                          <a:solidFill>
                            <a:srgbClr val="4A6300"/>
                          </a:solidFill>
                          <a:latin typeface="Avenir Book" charset="0"/>
                          <a:cs typeface="Avenir Book" charset="0"/>
                        </a:rPr>
                        <a:t>(n-2)</a:t>
                      </a:r>
                      <a:r>
                        <a:rPr lang="en-US" sz="2000" baseline="0" dirty="0" smtClean="0">
                          <a:solidFill>
                            <a:srgbClr val="4A6300"/>
                          </a:solidFill>
                          <a:latin typeface="Avenir Book" charset="0"/>
                          <a:cs typeface="Avenir Book" charset="0"/>
                        </a:rPr>
                        <a:t> + n</a:t>
                      </a:r>
                      <a:endParaRPr lang="en-US" sz="2000" dirty="0" smtClean="0">
                        <a:solidFill>
                          <a:srgbClr val="4A6300"/>
                        </a:solidFill>
                        <a:latin typeface="Avenir Book" charset="0"/>
                        <a:cs typeface="Avenir Book" charset="0"/>
                      </a:endParaRPr>
                    </a:p>
                  </a:txBody>
                  <a:tcPr>
                    <a:solidFill>
                      <a:schemeClr val="bg2">
                        <a:lumMod val="50000"/>
                      </a:schemeClr>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793947749"/>
              </p:ext>
            </p:extLst>
          </p:nvPr>
        </p:nvGraphicFramePr>
        <p:xfrm>
          <a:off x="474132" y="5588209"/>
          <a:ext cx="5722363" cy="396240"/>
        </p:xfrm>
        <a:graphic>
          <a:graphicData uri="http://schemas.openxmlformats.org/drawingml/2006/table">
            <a:tbl>
              <a:tblPr firstRow="1" bandRow="1">
                <a:tableStyleId>{5C22544A-7EE6-4342-B048-85BDC9FD1C3A}</a:tableStyleId>
              </a:tblPr>
              <a:tblGrid>
                <a:gridCol w="5722363"/>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latin typeface="Avenir Book" charset="0"/>
                          <a:cs typeface="Avenir Book" charset="0"/>
                        </a:rPr>
                        <a:t>When</a:t>
                      </a:r>
                      <a:r>
                        <a:rPr lang="en-US" sz="2000" baseline="0" dirty="0" smtClean="0">
                          <a:solidFill>
                            <a:schemeClr val="bg1"/>
                          </a:solidFill>
                          <a:latin typeface="Avenir Book" charset="0"/>
                          <a:cs typeface="Avenir Book" charset="0"/>
                        </a:rPr>
                        <a:t> n &lt; 2, we know that the answer is just n</a:t>
                      </a:r>
                      <a:endParaRPr lang="en-US" sz="2000" dirty="0" smtClean="0">
                        <a:solidFill>
                          <a:schemeClr val="bg1"/>
                        </a:solidFill>
                        <a:latin typeface="Avenir Book" charset="0"/>
                        <a:cs typeface="Avenir Book" charset="0"/>
                      </a:endParaRPr>
                    </a:p>
                  </a:txBody>
                  <a:tcPr>
                    <a:solidFill>
                      <a:srgbClr val="3366FF"/>
                    </a:solidFill>
                  </a:tcPr>
                </a:tc>
              </a:tr>
            </a:tbl>
          </a:graphicData>
        </a:graphic>
      </p:graphicFrame>
    </p:spTree>
    <p:extLst>
      <p:ext uri="{BB962C8B-B14F-4D97-AF65-F5344CB8AC3E}">
        <p14:creationId xmlns:p14="http://schemas.microsoft.com/office/powerpoint/2010/main" val="1351758338"/>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25</a:t>
            </a:fld>
            <a:endParaRPr lang="en-US">
              <a:solidFill>
                <a:srgbClr val="FEFEFE"/>
              </a:solidFill>
            </a:endParaRPr>
          </a:p>
        </p:txBody>
      </p:sp>
      <p:sp>
        <p:nvSpPr>
          <p:cNvPr id="5" name="TextBox 4"/>
          <p:cNvSpPr txBox="1"/>
          <p:nvPr/>
        </p:nvSpPr>
        <p:spPr>
          <a:xfrm>
            <a:off x="590141" y="2233676"/>
            <a:ext cx="5580695" cy="1631216"/>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err="1" smtClean="0">
                <a:solidFill>
                  <a:srgbClr val="FF6600"/>
                </a:solidFill>
                <a:latin typeface="Consolas"/>
                <a:cs typeface="Consolas"/>
              </a:rPr>
              <a:t>sum_every_other</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r>
              <a:rPr lang="en-US" sz="2000" dirty="0" smtClean="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 “””Sum every other up to n”””</a:t>
            </a:r>
            <a:endParaRPr lang="en-US" sz="2000" dirty="0">
              <a:solidFill>
                <a:srgbClr val="4A6300"/>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&lt; 2:</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return n</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a:solidFill>
                  <a:schemeClr val="bg2">
                    <a:lumMod val="50000"/>
                  </a:schemeClr>
                </a:solidFill>
                <a:latin typeface="Consolas"/>
                <a:cs typeface="Consolas"/>
              </a:rPr>
              <a:t>n</a:t>
            </a:r>
            <a:r>
              <a:rPr lang="en-US" sz="2000" dirty="0" smtClean="0">
                <a:solidFill>
                  <a:schemeClr val="bg2">
                    <a:lumMod val="50000"/>
                  </a:schemeClr>
                </a:solidFill>
                <a:latin typeface="Consolas"/>
                <a:cs typeface="Consolas"/>
              </a:rPr>
              <a:t> +</a:t>
            </a:r>
            <a:r>
              <a:rPr lang="en-US" sz="2000" dirty="0" smtClean="0">
                <a:solidFill>
                  <a:srgbClr val="4A6300"/>
                </a:solidFill>
                <a:latin typeface="Consolas"/>
                <a:cs typeface="Consolas"/>
              </a:rPr>
              <a:t> </a:t>
            </a:r>
            <a:r>
              <a:rPr lang="en-US" sz="2000" dirty="0" err="1" smtClean="0">
                <a:solidFill>
                  <a:srgbClr val="FF00FF"/>
                </a:solidFill>
                <a:latin typeface="Consolas"/>
                <a:cs typeface="Consolas"/>
              </a:rPr>
              <a:t>sum_every_other</a:t>
            </a:r>
            <a:r>
              <a:rPr lang="en-US" sz="2000" dirty="0" smtClean="0">
                <a:solidFill>
                  <a:srgbClr val="FF00FF"/>
                </a:solidFill>
                <a:latin typeface="Consolas"/>
                <a:cs typeface="Consolas"/>
              </a:rPr>
              <a:t>(n-2)</a:t>
            </a:r>
            <a:endParaRPr lang="en-US" dirty="0">
              <a:solidFill>
                <a:srgbClr val="FF00FF"/>
              </a:solidFill>
            </a:endParaRPr>
          </a:p>
        </p:txBody>
      </p:sp>
      <p:sp>
        <p:nvSpPr>
          <p:cNvPr id="13" name="TextBox 12"/>
          <p:cNvSpPr txBox="1"/>
          <p:nvPr/>
        </p:nvSpPr>
        <p:spPr>
          <a:xfrm>
            <a:off x="590142" y="4111378"/>
            <a:ext cx="7107368" cy="1323439"/>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err="1" smtClean="0">
                <a:solidFill>
                  <a:srgbClr val="FF6600"/>
                </a:solidFill>
                <a:latin typeface="Consolas"/>
                <a:cs typeface="Consolas"/>
              </a:rPr>
              <a:t>sum_every_other</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&lt; 2:</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return sum every other up to 0, 1</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a:solidFill>
                  <a:schemeClr val="bg2">
                    <a:lumMod val="50000"/>
                  </a:schemeClr>
                </a:solidFill>
                <a:latin typeface="Consolas"/>
                <a:cs typeface="Consolas"/>
              </a:rPr>
              <a:t>n</a:t>
            </a:r>
            <a:r>
              <a:rPr lang="en-US" sz="2000" dirty="0" smtClean="0">
                <a:solidFill>
                  <a:schemeClr val="bg2">
                    <a:lumMod val="50000"/>
                  </a:schemeClr>
                </a:solidFill>
                <a:latin typeface="Consolas"/>
                <a:cs typeface="Consolas"/>
              </a:rPr>
              <a:t> +</a:t>
            </a:r>
            <a:r>
              <a:rPr lang="en-US" sz="2000" dirty="0" smtClean="0">
                <a:solidFill>
                  <a:srgbClr val="4A6300"/>
                </a:solidFill>
                <a:latin typeface="Consolas"/>
                <a:cs typeface="Consolas"/>
              </a:rPr>
              <a:t> </a:t>
            </a:r>
            <a:r>
              <a:rPr lang="en-US" sz="2000" dirty="0" smtClean="0">
                <a:solidFill>
                  <a:srgbClr val="FF00FF"/>
                </a:solidFill>
                <a:latin typeface="Consolas"/>
                <a:cs typeface="Consolas"/>
              </a:rPr>
              <a:t>sum every other up to (n-2)</a:t>
            </a:r>
            <a:endParaRPr lang="en-US" dirty="0">
              <a:solidFill>
                <a:srgbClr val="FF00FF"/>
              </a:solidFill>
            </a:endParaRPr>
          </a:p>
        </p:txBody>
      </p:sp>
    </p:spTree>
    <p:extLst>
      <p:ext uri="{BB962C8B-B14F-4D97-AF65-F5344CB8AC3E}">
        <p14:creationId xmlns:p14="http://schemas.microsoft.com/office/powerpoint/2010/main" val="1109445845"/>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26</a:t>
            </a:fld>
            <a:endParaRPr lang="en-US">
              <a:solidFill>
                <a:srgbClr val="FEFEFE"/>
              </a:solidFill>
            </a:endParaRPr>
          </a:p>
        </p:txBody>
      </p:sp>
      <p:sp>
        <p:nvSpPr>
          <p:cNvPr id="5" name="TextBox 4"/>
          <p:cNvSpPr txBox="1"/>
          <p:nvPr/>
        </p:nvSpPr>
        <p:spPr>
          <a:xfrm>
            <a:off x="590141" y="2233676"/>
            <a:ext cx="8313312" cy="2554545"/>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smtClean="0">
                <a:solidFill>
                  <a:srgbClr val="FF6600"/>
                </a:solidFill>
                <a:latin typeface="Consolas"/>
                <a:cs typeface="Consolas"/>
              </a:rPr>
              <a:t>cascade</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r>
              <a:rPr lang="en-US" sz="2000" dirty="0" smtClean="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 “””Print a cascade of n (larger-&gt;smaller-&gt;larger)”””</a:t>
            </a:r>
            <a:endParaRPr lang="en-US" sz="2000" dirty="0">
              <a:solidFill>
                <a:srgbClr val="4A6300"/>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&lt; 10:</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print(n)</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else:</a:t>
            </a:r>
          </a:p>
          <a:p>
            <a:pPr marL="366713" lvl="1" indent="0">
              <a:buNone/>
            </a:pPr>
            <a:r>
              <a:rPr lang="en-US" sz="2000" dirty="0">
                <a:solidFill>
                  <a:schemeClr val="bg2">
                    <a:lumMod val="50000"/>
                  </a:schemeClr>
                </a:solidFill>
                <a:latin typeface="Consolas"/>
                <a:cs typeface="Consolas"/>
              </a:rPr>
              <a:t> </a:t>
            </a:r>
            <a:r>
              <a:rPr lang="en-US" sz="2000" dirty="0" smtClean="0">
                <a:solidFill>
                  <a:schemeClr val="bg2">
                    <a:lumMod val="50000"/>
                  </a:schemeClr>
                </a:solidFill>
                <a:latin typeface="Consolas"/>
                <a:cs typeface="Consolas"/>
              </a:rPr>
              <a:t>   print(n)</a:t>
            </a: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   </a:t>
            </a:r>
            <a:r>
              <a:rPr lang="en-US" sz="2000" dirty="0" smtClean="0">
                <a:solidFill>
                  <a:srgbClr val="FF00FF"/>
                </a:solidFill>
                <a:latin typeface="Consolas"/>
                <a:cs typeface="Consolas"/>
              </a:rPr>
              <a:t>cascade(n // 10)</a:t>
            </a:r>
          </a:p>
          <a:p>
            <a:pPr marL="366713" lvl="1" indent="0">
              <a:buNone/>
            </a:pPr>
            <a:r>
              <a:rPr lang="en-US" sz="2000" dirty="0">
                <a:solidFill>
                  <a:srgbClr val="FF00FF"/>
                </a:solidFill>
                <a:latin typeface="Consolas"/>
                <a:cs typeface="Consolas"/>
              </a:rPr>
              <a:t>	</a:t>
            </a:r>
            <a:r>
              <a:rPr lang="en-US" sz="2000" dirty="0" smtClean="0">
                <a:solidFill>
                  <a:srgbClr val="74A510"/>
                </a:solidFill>
                <a:latin typeface="Consolas"/>
                <a:cs typeface="Consolas"/>
              </a:rPr>
              <a:t>print(n)</a:t>
            </a:r>
            <a:endParaRPr lang="en-US" sz="2000" dirty="0" smtClean="0">
              <a:solidFill>
                <a:srgbClr val="FF00FF"/>
              </a:solidFill>
              <a:latin typeface="Consolas"/>
              <a:cs typeface="Consolas"/>
            </a:endParaRPr>
          </a:p>
        </p:txBody>
      </p:sp>
      <p:sp>
        <p:nvSpPr>
          <p:cNvPr id="6" name="TextBox 5"/>
          <p:cNvSpPr txBox="1"/>
          <p:nvPr/>
        </p:nvSpPr>
        <p:spPr>
          <a:xfrm>
            <a:off x="3520820" y="2928207"/>
            <a:ext cx="8313312" cy="2862322"/>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smtClean="0">
                <a:solidFill>
                  <a:srgbClr val="FF6600"/>
                </a:solidFill>
                <a:latin typeface="Consolas"/>
                <a:cs typeface="Consolas"/>
              </a:rPr>
              <a:t>cascade</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r>
              <a:rPr lang="en-US" sz="2000" dirty="0" smtClean="0">
                <a:solidFill>
                  <a:srgbClr val="4A6300"/>
                </a:solidFill>
                <a:latin typeface="Consolas"/>
                <a:cs typeface="Consolas"/>
              </a:rPr>
              <a:t>:</a:t>
            </a:r>
          </a:p>
          <a:p>
            <a:pPr marL="366713" lvl="1" indent="0">
              <a:buNone/>
            </a:pPr>
            <a:r>
              <a:rPr lang="en-US" sz="2000" dirty="0" smtClean="0">
                <a:solidFill>
                  <a:srgbClr val="3366FF"/>
                </a:solidFill>
                <a:latin typeface="Consolas"/>
                <a:cs typeface="Consolas"/>
              </a:rPr>
              <a:t>  if n &lt; 10:</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print cascade of one digit</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(just the current number)</a:t>
            </a:r>
          </a:p>
          <a:p>
            <a:pPr marL="366713" lvl="1" indent="0">
              <a:buNone/>
            </a:pPr>
            <a:r>
              <a:rPr lang="en-US" sz="2000" dirty="0" smtClean="0">
                <a:solidFill>
                  <a:srgbClr val="4A6300"/>
                </a:solidFill>
                <a:latin typeface="Consolas"/>
                <a:cs typeface="Consolas"/>
              </a:rPr>
              <a:t>  else:</a:t>
            </a:r>
          </a:p>
          <a:p>
            <a:pPr marL="366713" lvl="1" indent="0">
              <a:buNone/>
            </a:pPr>
            <a:r>
              <a:rPr lang="en-US" sz="2000" dirty="0" smtClean="0">
                <a:solidFill>
                  <a:schemeClr val="bg2">
                    <a:lumMod val="50000"/>
                  </a:schemeClr>
                </a:solidFill>
                <a:latin typeface="Consolas"/>
                <a:cs typeface="Consolas"/>
              </a:rPr>
              <a:t>    print current number</a:t>
            </a: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   </a:t>
            </a:r>
            <a:r>
              <a:rPr lang="en-US" sz="2000" dirty="0" smtClean="0">
                <a:solidFill>
                  <a:srgbClr val="FF00FF"/>
                </a:solidFill>
                <a:latin typeface="Consolas"/>
                <a:cs typeface="Consolas"/>
              </a:rPr>
              <a:t>print cascade of </a:t>
            </a:r>
            <a:r>
              <a:rPr lang="en-US" sz="2000" dirty="0" err="1" smtClean="0">
                <a:solidFill>
                  <a:srgbClr val="FF00FF"/>
                </a:solidFill>
                <a:latin typeface="Consolas"/>
                <a:cs typeface="Consolas"/>
              </a:rPr>
              <a:t>curr</a:t>
            </a:r>
            <a:r>
              <a:rPr lang="en-US" sz="2000" dirty="0" smtClean="0">
                <a:solidFill>
                  <a:srgbClr val="FF00FF"/>
                </a:solidFill>
                <a:latin typeface="Consolas"/>
                <a:cs typeface="Consolas"/>
              </a:rPr>
              <a:t> </a:t>
            </a:r>
            <a:r>
              <a:rPr lang="en-US" sz="2000" dirty="0" err="1" smtClean="0">
                <a:solidFill>
                  <a:srgbClr val="FF00FF"/>
                </a:solidFill>
                <a:latin typeface="Consolas"/>
                <a:cs typeface="Consolas"/>
              </a:rPr>
              <a:t>num</a:t>
            </a:r>
            <a:r>
              <a:rPr lang="en-US" sz="2000" dirty="0" smtClean="0">
                <a:solidFill>
                  <a:srgbClr val="FF00FF"/>
                </a:solidFill>
                <a:latin typeface="Consolas"/>
                <a:cs typeface="Consolas"/>
              </a:rPr>
              <a:t> </a:t>
            </a:r>
          </a:p>
          <a:p>
            <a:pPr marL="366713" lvl="1" indent="0">
              <a:buNone/>
            </a:pPr>
            <a:r>
              <a:rPr lang="en-US" sz="2000" dirty="0">
                <a:solidFill>
                  <a:srgbClr val="FF00FF"/>
                </a:solidFill>
                <a:latin typeface="Consolas"/>
                <a:cs typeface="Consolas"/>
              </a:rPr>
              <a:t>	</a:t>
            </a:r>
            <a:r>
              <a:rPr lang="en-US" sz="2000" dirty="0" smtClean="0">
                <a:solidFill>
                  <a:srgbClr val="FF00FF"/>
                </a:solidFill>
                <a:latin typeface="Consolas"/>
                <a:cs typeface="Consolas"/>
              </a:rPr>
              <a:t>	w/o ones digit</a:t>
            </a:r>
          </a:p>
          <a:p>
            <a:pPr marL="366713" lvl="1" indent="0">
              <a:buNone/>
            </a:pPr>
            <a:r>
              <a:rPr lang="en-US" sz="2000" dirty="0">
                <a:solidFill>
                  <a:srgbClr val="FF00FF"/>
                </a:solidFill>
                <a:latin typeface="Consolas"/>
                <a:cs typeface="Consolas"/>
              </a:rPr>
              <a:t>	</a:t>
            </a:r>
            <a:r>
              <a:rPr lang="en-US" sz="2000" dirty="0" smtClean="0">
                <a:solidFill>
                  <a:srgbClr val="74A510"/>
                </a:solidFill>
                <a:latin typeface="Consolas"/>
                <a:cs typeface="Consolas"/>
              </a:rPr>
              <a:t>print current number again</a:t>
            </a:r>
            <a:endParaRPr lang="en-US" sz="2000" dirty="0" smtClean="0">
              <a:solidFill>
                <a:srgbClr val="FF00FF"/>
              </a:solidFill>
              <a:latin typeface="Consolas"/>
              <a:cs typeface="Consolas"/>
            </a:endParaRPr>
          </a:p>
        </p:txBody>
      </p:sp>
    </p:spTree>
    <p:extLst>
      <p:ext uri="{BB962C8B-B14F-4D97-AF65-F5344CB8AC3E}">
        <p14:creationId xmlns:p14="http://schemas.microsoft.com/office/powerpoint/2010/main" val="215004439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p:tgtEl>
                                          <p:spTgt spid="6"/>
                                        </p:tgtEl>
                                        <p:attrNameLst>
                                          <p:attrName>ppt_x</p:attrName>
                                        </p:attrNameLst>
                                      </p:cBhvr>
                                      <p:tavLst>
                                        <p:tav tm="0">
                                          <p:val>
                                            <p:strVal val="#ppt_x+#ppt_w*1.125000"/>
                                          </p:val>
                                        </p:tav>
                                        <p:tav tm="100000">
                                          <p:val>
                                            <p:strVal val="#ppt_x"/>
                                          </p:val>
                                        </p:tav>
                                      </p:tavLst>
                                    </p:anim>
                                    <p:animEffect transition="in" filter="wipe(left)">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27</a:t>
            </a:fld>
            <a:endParaRPr lang="en-US">
              <a:solidFill>
                <a:srgbClr val="FEFEFE"/>
              </a:solidFill>
            </a:endParaRPr>
          </a:p>
        </p:txBody>
      </p:sp>
      <p:sp>
        <p:nvSpPr>
          <p:cNvPr id="6" name="TextBox 5"/>
          <p:cNvSpPr txBox="1"/>
          <p:nvPr/>
        </p:nvSpPr>
        <p:spPr>
          <a:xfrm>
            <a:off x="474133" y="2170113"/>
            <a:ext cx="8313312" cy="2585323"/>
          </a:xfrm>
          <a:prstGeom prst="rect">
            <a:avLst/>
          </a:prstGeom>
          <a:noFill/>
        </p:spPr>
        <p:txBody>
          <a:bodyPr wrap="square" rtlCol="0">
            <a:spAutoFit/>
          </a:bodyPr>
          <a:lstStyle/>
          <a:p>
            <a:pPr marL="366713" lvl="1" indent="0">
              <a:buNone/>
            </a:pPr>
            <a:r>
              <a:rPr lang="en-US" dirty="0" err="1">
                <a:solidFill>
                  <a:srgbClr val="4A6300"/>
                </a:solidFill>
                <a:latin typeface="Consolas"/>
                <a:cs typeface="Consolas"/>
              </a:rPr>
              <a:t>def</a:t>
            </a:r>
            <a:r>
              <a:rPr lang="en-US" dirty="0">
                <a:solidFill>
                  <a:srgbClr val="4A6300"/>
                </a:solidFill>
                <a:latin typeface="Consolas"/>
                <a:cs typeface="Consolas"/>
              </a:rPr>
              <a:t> </a:t>
            </a:r>
            <a:r>
              <a:rPr lang="en-US" dirty="0" smtClean="0">
                <a:solidFill>
                  <a:srgbClr val="FF6600"/>
                </a:solidFill>
                <a:latin typeface="Consolas"/>
                <a:cs typeface="Consolas"/>
              </a:rPr>
              <a:t>cascade</a:t>
            </a:r>
            <a:r>
              <a:rPr lang="en-US" dirty="0" smtClean="0">
                <a:solidFill>
                  <a:srgbClr val="4A6300"/>
                </a:solidFill>
                <a:latin typeface="Consolas"/>
                <a:cs typeface="Consolas"/>
              </a:rPr>
              <a:t>(</a:t>
            </a:r>
            <a:r>
              <a:rPr lang="en-US" dirty="0">
                <a:solidFill>
                  <a:srgbClr val="FF0000"/>
                </a:solidFill>
                <a:latin typeface="Consolas"/>
                <a:cs typeface="Consolas"/>
              </a:rPr>
              <a:t>n</a:t>
            </a:r>
            <a:r>
              <a:rPr lang="en-US" dirty="0">
                <a:solidFill>
                  <a:srgbClr val="4A6300"/>
                </a:solidFill>
                <a:latin typeface="Consolas"/>
                <a:cs typeface="Consolas"/>
              </a:rPr>
              <a:t>)</a:t>
            </a:r>
            <a:r>
              <a:rPr lang="en-US" dirty="0" smtClean="0">
                <a:solidFill>
                  <a:srgbClr val="4A6300"/>
                </a:solidFill>
                <a:latin typeface="Consolas"/>
                <a:cs typeface="Consolas"/>
              </a:rPr>
              <a:t>:</a:t>
            </a:r>
          </a:p>
          <a:p>
            <a:pPr marL="366713" lvl="1" indent="0">
              <a:buNone/>
            </a:pPr>
            <a:r>
              <a:rPr lang="en-US" dirty="0" smtClean="0">
                <a:solidFill>
                  <a:srgbClr val="3366FF"/>
                </a:solidFill>
                <a:latin typeface="Consolas"/>
                <a:cs typeface="Consolas"/>
              </a:rPr>
              <a:t>  if n &lt; 10:</a:t>
            </a:r>
          </a:p>
          <a:p>
            <a:pPr marL="366713" lvl="1" indent="0">
              <a:buNone/>
            </a:pPr>
            <a:r>
              <a:rPr lang="en-US" dirty="0">
                <a:solidFill>
                  <a:srgbClr val="3366FF"/>
                </a:solidFill>
                <a:latin typeface="Consolas"/>
                <a:cs typeface="Consolas"/>
              </a:rPr>
              <a:t> </a:t>
            </a:r>
            <a:r>
              <a:rPr lang="en-US" dirty="0" smtClean="0">
                <a:solidFill>
                  <a:srgbClr val="3366FF"/>
                </a:solidFill>
                <a:latin typeface="Consolas"/>
                <a:cs typeface="Consolas"/>
              </a:rPr>
              <a:t>   print cascade of one digit</a:t>
            </a:r>
          </a:p>
          <a:p>
            <a:pPr marL="366713" lvl="1" indent="0">
              <a:buNone/>
            </a:pPr>
            <a:r>
              <a:rPr lang="en-US" dirty="0">
                <a:solidFill>
                  <a:srgbClr val="3366FF"/>
                </a:solidFill>
                <a:latin typeface="Consolas"/>
                <a:cs typeface="Consolas"/>
              </a:rPr>
              <a:t> </a:t>
            </a:r>
            <a:r>
              <a:rPr lang="en-US" dirty="0" smtClean="0">
                <a:solidFill>
                  <a:srgbClr val="3366FF"/>
                </a:solidFill>
                <a:latin typeface="Consolas"/>
                <a:cs typeface="Consolas"/>
              </a:rPr>
              <a:t>   (just the current number)</a:t>
            </a:r>
          </a:p>
          <a:p>
            <a:pPr marL="366713" lvl="1" indent="0">
              <a:buNone/>
            </a:pPr>
            <a:r>
              <a:rPr lang="en-US" dirty="0" smtClean="0">
                <a:solidFill>
                  <a:srgbClr val="4A6300"/>
                </a:solidFill>
                <a:latin typeface="Consolas"/>
                <a:cs typeface="Consolas"/>
              </a:rPr>
              <a:t>  else:</a:t>
            </a:r>
          </a:p>
          <a:p>
            <a:pPr marL="366713" lvl="1" indent="0">
              <a:buNone/>
            </a:pPr>
            <a:r>
              <a:rPr lang="en-US" dirty="0" smtClean="0">
                <a:solidFill>
                  <a:schemeClr val="bg2">
                    <a:lumMod val="50000"/>
                  </a:schemeClr>
                </a:solidFill>
                <a:latin typeface="Consolas"/>
                <a:cs typeface="Consolas"/>
              </a:rPr>
              <a:t>    print current number</a:t>
            </a:r>
          </a:p>
          <a:p>
            <a:pPr marL="366713" lvl="1" indent="0">
              <a:buNone/>
            </a:pPr>
            <a:r>
              <a:rPr lang="en-US" dirty="0">
                <a:solidFill>
                  <a:srgbClr val="4A6300"/>
                </a:solidFill>
                <a:latin typeface="Consolas"/>
                <a:cs typeface="Consolas"/>
              </a:rPr>
              <a:t> </a:t>
            </a:r>
            <a:r>
              <a:rPr lang="en-US" dirty="0" smtClean="0">
                <a:solidFill>
                  <a:srgbClr val="4A6300"/>
                </a:solidFill>
                <a:latin typeface="Consolas"/>
                <a:cs typeface="Consolas"/>
              </a:rPr>
              <a:t>   </a:t>
            </a:r>
            <a:r>
              <a:rPr lang="en-US" dirty="0" smtClean="0">
                <a:solidFill>
                  <a:srgbClr val="FF00FF"/>
                </a:solidFill>
                <a:latin typeface="Consolas"/>
                <a:cs typeface="Consolas"/>
              </a:rPr>
              <a:t>print cascade of </a:t>
            </a:r>
            <a:r>
              <a:rPr lang="en-US" dirty="0" err="1" smtClean="0">
                <a:solidFill>
                  <a:srgbClr val="FF00FF"/>
                </a:solidFill>
                <a:latin typeface="Consolas"/>
                <a:cs typeface="Consolas"/>
              </a:rPr>
              <a:t>curr</a:t>
            </a:r>
            <a:r>
              <a:rPr lang="en-US" dirty="0" smtClean="0">
                <a:solidFill>
                  <a:srgbClr val="FF00FF"/>
                </a:solidFill>
                <a:latin typeface="Consolas"/>
                <a:cs typeface="Consolas"/>
              </a:rPr>
              <a:t> </a:t>
            </a:r>
            <a:r>
              <a:rPr lang="en-US" dirty="0" err="1" smtClean="0">
                <a:solidFill>
                  <a:srgbClr val="FF00FF"/>
                </a:solidFill>
                <a:latin typeface="Consolas"/>
                <a:cs typeface="Consolas"/>
              </a:rPr>
              <a:t>num</a:t>
            </a:r>
            <a:r>
              <a:rPr lang="en-US" dirty="0" smtClean="0">
                <a:solidFill>
                  <a:srgbClr val="FF00FF"/>
                </a:solidFill>
                <a:latin typeface="Consolas"/>
                <a:cs typeface="Consolas"/>
              </a:rPr>
              <a:t> </a:t>
            </a:r>
          </a:p>
          <a:p>
            <a:pPr marL="366713" lvl="1" indent="0">
              <a:buNone/>
            </a:pPr>
            <a:r>
              <a:rPr lang="en-US" dirty="0">
                <a:solidFill>
                  <a:srgbClr val="FF00FF"/>
                </a:solidFill>
                <a:latin typeface="Consolas"/>
                <a:cs typeface="Consolas"/>
              </a:rPr>
              <a:t>	</a:t>
            </a:r>
            <a:r>
              <a:rPr lang="en-US" dirty="0" smtClean="0">
                <a:solidFill>
                  <a:srgbClr val="FF00FF"/>
                </a:solidFill>
                <a:latin typeface="Consolas"/>
                <a:cs typeface="Consolas"/>
              </a:rPr>
              <a:t>	w/o ones digit</a:t>
            </a:r>
          </a:p>
          <a:p>
            <a:pPr marL="366713" lvl="1" indent="0">
              <a:buNone/>
            </a:pPr>
            <a:r>
              <a:rPr lang="en-US" dirty="0" smtClean="0">
                <a:solidFill>
                  <a:srgbClr val="FF00FF"/>
                </a:solidFill>
                <a:latin typeface="Consolas"/>
                <a:cs typeface="Consolas"/>
              </a:rPr>
              <a:t>    </a:t>
            </a:r>
            <a:r>
              <a:rPr lang="en-US" dirty="0" smtClean="0">
                <a:solidFill>
                  <a:srgbClr val="74A510"/>
                </a:solidFill>
                <a:latin typeface="Consolas"/>
                <a:cs typeface="Consolas"/>
              </a:rPr>
              <a:t>print current number again</a:t>
            </a:r>
            <a:endParaRPr lang="en-US" dirty="0" smtClean="0">
              <a:solidFill>
                <a:srgbClr val="FF00FF"/>
              </a:solidFill>
              <a:latin typeface="Consolas"/>
              <a:cs typeface="Consolas"/>
            </a:endParaRPr>
          </a:p>
        </p:txBody>
      </p:sp>
      <p:sp>
        <p:nvSpPr>
          <p:cNvPr id="7" name="TextBox 6"/>
          <p:cNvSpPr txBox="1"/>
          <p:nvPr/>
        </p:nvSpPr>
        <p:spPr>
          <a:xfrm>
            <a:off x="474133" y="4826675"/>
            <a:ext cx="8313312" cy="2031325"/>
          </a:xfrm>
          <a:prstGeom prst="rect">
            <a:avLst/>
          </a:prstGeom>
          <a:noFill/>
        </p:spPr>
        <p:txBody>
          <a:bodyPr wrap="square" rtlCol="0">
            <a:spAutoFit/>
          </a:bodyPr>
          <a:lstStyle/>
          <a:p>
            <a:pPr marL="366713" lvl="1" indent="0">
              <a:buNone/>
            </a:pPr>
            <a:r>
              <a:rPr lang="en-US" dirty="0">
                <a:solidFill>
                  <a:srgbClr val="FF6600"/>
                </a:solidFill>
                <a:latin typeface="Consolas"/>
                <a:cs typeface="Consolas"/>
              </a:rPr>
              <a:t>c</a:t>
            </a:r>
            <a:r>
              <a:rPr lang="en-US" dirty="0" smtClean="0">
                <a:solidFill>
                  <a:srgbClr val="FF6600"/>
                </a:solidFill>
                <a:latin typeface="Consolas"/>
                <a:cs typeface="Consolas"/>
              </a:rPr>
              <a:t>ascade</a:t>
            </a:r>
            <a:r>
              <a:rPr lang="en-US" dirty="0" smtClean="0">
                <a:solidFill>
                  <a:srgbClr val="4A6300"/>
                </a:solidFill>
                <a:latin typeface="Consolas"/>
                <a:cs typeface="Consolas"/>
              </a:rPr>
              <a:t>(</a:t>
            </a:r>
            <a:r>
              <a:rPr lang="en-US" dirty="0" smtClean="0">
                <a:solidFill>
                  <a:srgbClr val="FF0000"/>
                </a:solidFill>
                <a:latin typeface="Consolas"/>
                <a:cs typeface="Consolas"/>
              </a:rPr>
              <a:t>123</a:t>
            </a:r>
            <a:r>
              <a:rPr lang="en-US" dirty="0" smtClean="0">
                <a:solidFill>
                  <a:srgbClr val="4A6300"/>
                </a:solidFill>
                <a:latin typeface="Consolas"/>
                <a:cs typeface="Consolas"/>
              </a:rPr>
              <a:t>)</a:t>
            </a:r>
          </a:p>
          <a:p>
            <a:pPr marL="366713" lvl="1" indent="0">
              <a:buNone/>
            </a:pPr>
            <a:r>
              <a:rPr lang="en-US" dirty="0" smtClean="0">
                <a:solidFill>
                  <a:srgbClr val="74A510"/>
                </a:solidFill>
                <a:latin typeface="Consolas"/>
                <a:cs typeface="Consolas"/>
              </a:rPr>
              <a:t>123</a:t>
            </a:r>
          </a:p>
          <a:p>
            <a:pPr marL="366713" lvl="1" indent="0">
              <a:buNone/>
            </a:pPr>
            <a:r>
              <a:rPr lang="en-US" dirty="0" smtClean="0">
                <a:solidFill>
                  <a:srgbClr val="FF00FF"/>
                </a:solidFill>
                <a:latin typeface="Consolas"/>
                <a:cs typeface="Consolas"/>
              </a:rPr>
              <a:t>12</a:t>
            </a:r>
          </a:p>
          <a:p>
            <a:pPr marL="366713" lvl="1" indent="0">
              <a:buNone/>
            </a:pPr>
            <a:r>
              <a:rPr lang="en-US" dirty="0" smtClean="0">
                <a:solidFill>
                  <a:srgbClr val="3366FF"/>
                </a:solidFill>
                <a:latin typeface="Consolas"/>
                <a:cs typeface="Consolas"/>
              </a:rPr>
              <a:t>1</a:t>
            </a:r>
            <a:r>
              <a:rPr lang="en-US" dirty="0" smtClean="0">
                <a:solidFill>
                  <a:srgbClr val="FF00FF"/>
                </a:solidFill>
                <a:latin typeface="Consolas"/>
                <a:cs typeface="Consolas"/>
              </a:rPr>
              <a:t>		Solution to smaller problem expressed as </a:t>
            </a:r>
          </a:p>
          <a:p>
            <a:pPr marL="366713" lvl="1" indent="0">
              <a:buNone/>
            </a:pPr>
            <a:r>
              <a:rPr lang="en-US" dirty="0" smtClean="0">
                <a:solidFill>
                  <a:srgbClr val="FF00FF"/>
                </a:solidFill>
                <a:latin typeface="Consolas"/>
                <a:cs typeface="Consolas"/>
              </a:rPr>
              <a:t>12		cascade(123 // 10) -&gt; cascade(12)</a:t>
            </a:r>
          </a:p>
          <a:p>
            <a:pPr marL="366713" lvl="1" indent="0">
              <a:buNone/>
            </a:pPr>
            <a:r>
              <a:rPr lang="en-US" dirty="0" smtClean="0">
                <a:solidFill>
                  <a:srgbClr val="74A510"/>
                </a:solidFill>
                <a:latin typeface="Consolas"/>
                <a:cs typeface="Consolas"/>
              </a:rPr>
              <a:t>123</a:t>
            </a:r>
          </a:p>
          <a:p>
            <a:pPr marL="366713" lvl="1" indent="0">
              <a:buNone/>
            </a:pPr>
            <a:r>
              <a:rPr lang="en-US" dirty="0" smtClean="0">
                <a:solidFill>
                  <a:srgbClr val="3366FF"/>
                </a:solidFill>
                <a:latin typeface="Consolas"/>
                <a:cs typeface="Consolas"/>
              </a:rPr>
              <a:t> </a:t>
            </a:r>
            <a:endParaRPr lang="en-US" dirty="0" smtClean="0">
              <a:solidFill>
                <a:srgbClr val="FF00FF"/>
              </a:solidFill>
              <a:latin typeface="Consolas"/>
              <a:cs typeface="Consolas"/>
            </a:endParaRPr>
          </a:p>
        </p:txBody>
      </p:sp>
    </p:spTree>
    <p:extLst>
      <p:ext uri="{BB962C8B-B14F-4D97-AF65-F5344CB8AC3E}">
        <p14:creationId xmlns:p14="http://schemas.microsoft.com/office/powerpoint/2010/main" val="179090668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Takeaways</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r>
              <a:rPr lang="en-US" sz="2000" dirty="0" smtClean="0">
                <a:solidFill>
                  <a:srgbClr val="4A6300"/>
                </a:solidFill>
                <a:latin typeface="Avenir Book" charset="0"/>
                <a:cs typeface="Avenir Book" charset="0"/>
              </a:rPr>
              <a:t>Remember that all your output must match the function’s range. </a:t>
            </a:r>
          </a:p>
          <a:p>
            <a:pPr lvl="1"/>
            <a:r>
              <a:rPr lang="en-US" sz="2000" dirty="0" smtClean="0">
                <a:solidFill>
                  <a:srgbClr val="4A6300"/>
                </a:solidFill>
                <a:latin typeface="Avenir Book" charset="0"/>
                <a:cs typeface="Avenir Book" charset="0"/>
              </a:rPr>
              <a:t>This means your base cases and regular calls. Everything!</a:t>
            </a:r>
          </a:p>
          <a:p>
            <a:pPr lvl="1"/>
            <a:r>
              <a:rPr lang="en-US" sz="2000" dirty="0" err="1" smtClean="0">
                <a:solidFill>
                  <a:srgbClr val="4A6300"/>
                </a:solidFill>
                <a:latin typeface="Avenir Book" charset="0"/>
                <a:cs typeface="Avenir Book" charset="0"/>
              </a:rPr>
              <a:t>E.g</a:t>
            </a:r>
            <a:r>
              <a:rPr lang="en-US" sz="2000" dirty="0" smtClean="0">
                <a:solidFill>
                  <a:srgbClr val="4A6300"/>
                </a:solidFill>
                <a:latin typeface="Avenir Book" charset="0"/>
                <a:cs typeface="Avenir Book" charset="0"/>
              </a:rPr>
              <a:t> hailstone. You should always return the number of steps, no matter in base case or regular </a:t>
            </a:r>
            <a:r>
              <a:rPr lang="en-US" sz="2000" dirty="0" err="1" smtClean="0">
                <a:solidFill>
                  <a:srgbClr val="4A6300"/>
                </a:solidFill>
                <a:latin typeface="Avenir Book" charset="0"/>
                <a:cs typeface="Avenir Book" charset="0"/>
              </a:rPr>
              <a:t>func</a:t>
            </a:r>
            <a:r>
              <a:rPr lang="en-US" sz="2000" dirty="0" smtClean="0">
                <a:solidFill>
                  <a:srgbClr val="4A6300"/>
                </a:solidFill>
                <a:latin typeface="Avenir Book" charset="0"/>
                <a:cs typeface="Avenir Book" charset="0"/>
              </a:rPr>
              <a:t>.</a:t>
            </a:r>
          </a:p>
          <a:p>
            <a:r>
              <a:rPr lang="en-US" sz="2000" dirty="0" smtClean="0">
                <a:solidFill>
                  <a:srgbClr val="4A6300"/>
                </a:solidFill>
                <a:latin typeface="Avenir Book" charset="0"/>
                <a:cs typeface="Avenir Book" charset="0"/>
              </a:rPr>
              <a:t>A good way to find base cases is to see where the input to your functions can be problematic.</a:t>
            </a:r>
          </a:p>
          <a:p>
            <a:pPr lvl="1"/>
            <a:r>
              <a:rPr lang="en-US" sz="2000" dirty="0" smtClean="0">
                <a:solidFill>
                  <a:srgbClr val="4A6300"/>
                </a:solidFill>
                <a:latin typeface="Avenir Book" charset="0"/>
                <a:cs typeface="Avenir Book" charset="0"/>
              </a:rPr>
              <a:t>E.g. </a:t>
            </a:r>
            <a:r>
              <a:rPr lang="en-US" sz="2000" dirty="0" err="1" smtClean="0">
                <a:solidFill>
                  <a:srgbClr val="4A6300"/>
                </a:solidFill>
                <a:latin typeface="Avenir Book" charset="0"/>
                <a:cs typeface="Avenir Book" charset="0"/>
              </a:rPr>
              <a:t>sum_every_other</a:t>
            </a:r>
            <a:r>
              <a:rPr lang="en-US" sz="2000" dirty="0" smtClean="0">
                <a:solidFill>
                  <a:srgbClr val="4A6300"/>
                </a:solidFill>
                <a:latin typeface="Avenir Book" charset="0"/>
                <a:cs typeface="Avenir Book" charset="0"/>
              </a:rPr>
              <a:t>(n-2) is problematic if n-2 &lt; 0!</a:t>
            </a:r>
          </a:p>
          <a:p>
            <a:r>
              <a:rPr lang="en-US" sz="2000" dirty="0" smtClean="0">
                <a:solidFill>
                  <a:srgbClr val="4A6300"/>
                </a:solidFill>
                <a:latin typeface="Avenir Book" charset="0"/>
                <a:cs typeface="Avenir Book" charset="0"/>
              </a:rPr>
              <a:t>Call expressions are expressive! You can describe “The 25</a:t>
            </a:r>
            <a:r>
              <a:rPr lang="en-US" sz="2000" baseline="30000" dirty="0" smtClean="0">
                <a:solidFill>
                  <a:srgbClr val="4A6300"/>
                </a:solidFill>
                <a:latin typeface="Avenir Book" charset="0"/>
                <a:cs typeface="Avenir Book" charset="0"/>
              </a:rPr>
              <a:t>th</a:t>
            </a:r>
            <a:r>
              <a:rPr lang="en-US" sz="2000" dirty="0" smtClean="0">
                <a:solidFill>
                  <a:srgbClr val="4A6300"/>
                </a:solidFill>
                <a:latin typeface="Avenir Book" charset="0"/>
                <a:cs typeface="Avenir Book" charset="0"/>
              </a:rPr>
              <a:t> </a:t>
            </a:r>
            <a:r>
              <a:rPr lang="en-US" sz="2000" dirty="0" err="1" smtClean="0">
                <a:solidFill>
                  <a:srgbClr val="4A6300"/>
                </a:solidFill>
                <a:latin typeface="Avenir Book" charset="0"/>
                <a:cs typeface="Avenir Book" charset="0"/>
              </a:rPr>
              <a:t>fibonacci</a:t>
            </a:r>
            <a:r>
              <a:rPr lang="en-US" sz="2000" dirty="0" smtClean="0">
                <a:solidFill>
                  <a:srgbClr val="4A6300"/>
                </a:solidFill>
                <a:latin typeface="Avenir Book" charset="0"/>
                <a:cs typeface="Avenir Book" charset="0"/>
              </a:rPr>
              <a:t> number” easily as fib(25).</a:t>
            </a:r>
          </a:p>
          <a:p>
            <a:pPr lvl="1"/>
            <a:r>
              <a:rPr lang="en-US" sz="2000" dirty="0" smtClean="0">
                <a:solidFill>
                  <a:srgbClr val="4A6300"/>
                </a:solidFill>
                <a:latin typeface="Avenir Book" charset="0"/>
                <a:cs typeface="Avenir Book" charset="0"/>
              </a:rPr>
              <a:t>In fact, call expressions express </a:t>
            </a:r>
            <a:r>
              <a:rPr lang="en-US" sz="2000" b="1" u="sng" dirty="0" smtClean="0">
                <a:solidFill>
                  <a:srgbClr val="4A6300"/>
                </a:solidFill>
                <a:latin typeface="Avenir Book" charset="0"/>
                <a:cs typeface="Avenir Book" charset="0"/>
              </a:rPr>
              <a:t>solutions</a:t>
            </a:r>
            <a:r>
              <a:rPr lang="en-US" sz="2000" dirty="0" smtClean="0">
                <a:solidFill>
                  <a:srgbClr val="4A6300"/>
                </a:solidFill>
                <a:latin typeface="Avenir Book" charset="0"/>
                <a:cs typeface="Avenir Book" charset="0"/>
              </a:rPr>
              <a:t> to the same problem you are trying to solve on smaller input</a:t>
            </a: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28</a:t>
            </a:fld>
            <a:endParaRPr lang="en-US">
              <a:solidFill>
                <a:srgbClr val="FEFEFE"/>
              </a:solidFill>
            </a:endParaRPr>
          </a:p>
        </p:txBody>
      </p:sp>
    </p:spTree>
    <p:extLst>
      <p:ext uri="{BB962C8B-B14F-4D97-AF65-F5344CB8AC3E}">
        <p14:creationId xmlns:p14="http://schemas.microsoft.com/office/powerpoint/2010/main" val="28205276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Break</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366713" lvl="1" indent="0">
              <a:buNone/>
            </a:pPr>
            <a:r>
              <a:rPr lang="en-US" dirty="0" smtClean="0">
                <a:solidFill>
                  <a:srgbClr val="4A6300"/>
                </a:solidFill>
                <a:latin typeface="Avenir Book" charset="0"/>
                <a:cs typeface="Avenir Book" charset="0"/>
              </a:rPr>
              <a:t>Quote of the day: “the huge tables of square roots used by engineers and schoolchildren prior to the 1970s have now been replaced by a five-line program for Newton’s method running on electronic calculators” – CS188 textbook Artificial Intelligence: A Modern Approach (p. 47)</a:t>
            </a:r>
          </a:p>
          <a:p>
            <a:pPr marL="366713" lvl="1" indent="0">
              <a:buNone/>
            </a:pPr>
            <a:endParaRPr lang="en-US" dirty="0">
              <a:solidFill>
                <a:srgbClr val="4A6300"/>
              </a:solidFill>
              <a:latin typeface="Avenir Book" charset="0"/>
              <a:cs typeface="Avenir Book" charset="0"/>
            </a:endParaRPr>
          </a:p>
          <a:p>
            <a:pPr marL="366713" lvl="1" indent="0">
              <a:buNone/>
            </a:pPr>
            <a:r>
              <a:rPr lang="en-US" dirty="0" smtClean="0">
                <a:solidFill>
                  <a:srgbClr val="4A6300"/>
                </a:solidFill>
                <a:latin typeface="Avenir Book" charset="0"/>
                <a:cs typeface="Avenir Book" charset="0"/>
              </a:rPr>
              <a:t>Iterative improvement is simple but powerful!</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29</a:t>
            </a:fld>
            <a:endParaRPr lang="en-US">
              <a:solidFill>
                <a:srgbClr val="FEFEFE"/>
              </a:solidFill>
            </a:endParaRPr>
          </a:p>
        </p:txBody>
      </p:sp>
    </p:spTree>
    <p:extLst>
      <p:ext uri="{BB962C8B-B14F-4D97-AF65-F5344CB8AC3E}">
        <p14:creationId xmlns:p14="http://schemas.microsoft.com/office/powerpoint/2010/main" val="124417642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680765"/>
            <a:ext cx="8263466" cy="1143000"/>
          </a:xfrm>
        </p:spPr>
        <p:txBody>
          <a:bodyPr/>
          <a:lstStyle/>
          <a:p>
            <a:pPr algn="ctr"/>
            <a:r>
              <a:rPr lang="en-US" dirty="0" smtClean="0">
                <a:latin typeface="Century Gothic" charset="0"/>
              </a:rPr>
              <a:t>Tree Recursion</a:t>
            </a:r>
            <a:endParaRPr lang="en-US" dirty="0">
              <a:latin typeface="Century Gothic" charset="0"/>
            </a:endParaRPr>
          </a:p>
        </p:txBody>
      </p:sp>
      <p:sp>
        <p:nvSpPr>
          <p:cNvPr id="3" name="Content Placeholder 2"/>
          <p:cNvSpPr>
            <a:spLocks noGrp="1"/>
          </p:cNvSpPr>
          <p:nvPr>
            <p:ph idx="1"/>
          </p:nvPr>
        </p:nvSpPr>
        <p:spPr>
          <a:xfrm>
            <a:off x="474132" y="5528731"/>
            <a:ext cx="8263467" cy="990602"/>
          </a:xfrm>
        </p:spPr>
        <p:txBody>
          <a:bodyPr/>
          <a:lstStyle/>
          <a:p>
            <a:pPr marL="366713" lvl="1" indent="0">
              <a:buNone/>
            </a:pPr>
            <a:endParaRPr lang="en-US" dirty="0" smtClean="0">
              <a:solidFill>
                <a:srgbClr val="4A6300"/>
              </a:solidFill>
              <a:latin typeface="Avenir Book" charset="0"/>
              <a:cs typeface="Avenir Book" charset="0"/>
            </a:endParaRPr>
          </a:p>
          <a:p>
            <a:pPr marL="366713" lvl="1" indent="0">
              <a:buNone/>
            </a:pPr>
            <a:r>
              <a:rPr lang="en-US" sz="1400" dirty="0">
                <a:solidFill>
                  <a:srgbClr val="4A6300"/>
                </a:solidFill>
                <a:latin typeface="Avenir Book" charset="0"/>
                <a:cs typeface="Avenir Book" charset="0"/>
              </a:rPr>
              <a:t>http://</a:t>
            </a:r>
            <a:r>
              <a:rPr lang="en-US" sz="1400" dirty="0" err="1">
                <a:solidFill>
                  <a:srgbClr val="4A6300"/>
                </a:solidFill>
                <a:latin typeface="Avenir Book" charset="0"/>
                <a:cs typeface="Avenir Book" charset="0"/>
              </a:rPr>
              <a:t>upload.wikimedia.org</a:t>
            </a:r>
            <a:r>
              <a:rPr lang="en-US" sz="1400" dirty="0">
                <a:solidFill>
                  <a:srgbClr val="4A6300"/>
                </a:solidFill>
                <a:latin typeface="Avenir Book" charset="0"/>
                <a:cs typeface="Avenir Book" charset="0"/>
              </a:rPr>
              <a:t>/</a:t>
            </a:r>
            <a:r>
              <a:rPr lang="en-US" sz="1400" dirty="0" err="1">
                <a:solidFill>
                  <a:srgbClr val="4A6300"/>
                </a:solidFill>
                <a:latin typeface="Avenir Book" charset="0"/>
                <a:cs typeface="Avenir Book" charset="0"/>
              </a:rPr>
              <a:t>wikipedia</a:t>
            </a:r>
            <a:r>
              <a:rPr lang="en-US" sz="1400" dirty="0">
                <a:solidFill>
                  <a:srgbClr val="4A6300"/>
                </a:solidFill>
                <a:latin typeface="Avenir Book" charset="0"/>
                <a:cs typeface="Avenir Book" charset="0"/>
              </a:rPr>
              <a:t>/commons/f/f7/</a:t>
            </a:r>
            <a:r>
              <a:rPr lang="en-US" sz="1400" dirty="0" err="1">
                <a:solidFill>
                  <a:srgbClr val="4A6300"/>
                </a:solidFill>
                <a:latin typeface="Avenir Book" charset="0"/>
                <a:cs typeface="Avenir Book" charset="0"/>
              </a:rPr>
              <a:t>RecursiveTree.JPG</a:t>
            </a:r>
            <a:endParaRPr lang="en-US" sz="1400"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30</a:t>
            </a:fld>
            <a:endParaRPr lang="en-US">
              <a:solidFill>
                <a:srgbClr val="FEFEFE"/>
              </a:solidFill>
            </a:endParaRPr>
          </a:p>
        </p:txBody>
      </p:sp>
      <p:pic>
        <p:nvPicPr>
          <p:cNvPr id="2" name="Picture 1" descr="RecursiveTre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2777" y="1823765"/>
            <a:ext cx="2918923" cy="3848369"/>
          </a:xfrm>
          <a:prstGeom prst="rect">
            <a:avLst/>
          </a:prstGeom>
        </p:spPr>
      </p:pic>
    </p:spTree>
    <p:extLst>
      <p:ext uri="{BB962C8B-B14F-4D97-AF65-F5344CB8AC3E}">
        <p14:creationId xmlns:p14="http://schemas.microsoft.com/office/powerpoint/2010/main" val="3566000947"/>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347246"/>
            <a:ext cx="8263466" cy="1143000"/>
          </a:xfrm>
        </p:spPr>
        <p:txBody>
          <a:bodyPr/>
          <a:lstStyle/>
          <a:p>
            <a:pPr algn="ctr"/>
            <a:r>
              <a:rPr lang="en-US" dirty="0" smtClean="0">
                <a:latin typeface="Century Gothic" charset="0"/>
              </a:rPr>
              <a:t>Tree Recursion Important Q’s</a:t>
            </a:r>
            <a:endParaRPr lang="en-US" dirty="0">
              <a:latin typeface="Century Gothic" charset="0"/>
            </a:endParaRPr>
          </a:p>
        </p:txBody>
      </p:sp>
      <p:sp>
        <p:nvSpPr>
          <p:cNvPr id="3" name="Content Placeholder 2"/>
          <p:cNvSpPr>
            <a:spLocks noGrp="1"/>
          </p:cNvSpPr>
          <p:nvPr>
            <p:ph idx="1"/>
          </p:nvPr>
        </p:nvSpPr>
        <p:spPr>
          <a:xfrm>
            <a:off x="474132" y="1531018"/>
            <a:ext cx="8263467" cy="4195233"/>
          </a:xfrm>
        </p:spPr>
        <p:txBody>
          <a:bodyPr/>
          <a:lstStyle/>
          <a:p>
            <a:pPr marL="823913" lvl="1" indent="-457200">
              <a:buFont typeface="+mj-lt"/>
              <a:buAutoNum type="arabicPeriod"/>
            </a:pPr>
            <a:r>
              <a:rPr lang="en-US" sz="2000" dirty="0" smtClean="0">
                <a:solidFill>
                  <a:srgbClr val="4A6300"/>
                </a:solidFill>
                <a:latin typeface="Avenir Book" charset="0"/>
                <a:cs typeface="Avenir Book" charset="0"/>
              </a:rPr>
              <a:t>What is the desired behavior of your function?</a:t>
            </a:r>
          </a:p>
          <a:p>
            <a:pPr marL="823913" lvl="1" indent="-457200">
              <a:buFont typeface="+mj-lt"/>
              <a:buAutoNum type="arabicPeriod"/>
            </a:pPr>
            <a:r>
              <a:rPr lang="en-US" sz="2000" dirty="0" smtClean="0">
                <a:solidFill>
                  <a:srgbClr val="4A6300"/>
                </a:solidFill>
                <a:latin typeface="Avenir Book" charset="0"/>
                <a:cs typeface="Avenir Book" charset="0"/>
              </a:rPr>
              <a:t>What </a:t>
            </a:r>
            <a:r>
              <a:rPr lang="en-US" sz="2000" dirty="0" err="1" smtClean="0">
                <a:solidFill>
                  <a:srgbClr val="4A6300"/>
                </a:solidFill>
                <a:latin typeface="Avenir Book" charset="0"/>
                <a:cs typeface="Avenir Book" charset="0"/>
              </a:rPr>
              <a:t>vars</a:t>
            </a:r>
            <a:r>
              <a:rPr lang="en-US" sz="2000" dirty="0" smtClean="0">
                <a:solidFill>
                  <a:srgbClr val="4A6300"/>
                </a:solidFill>
                <a:latin typeface="Avenir Book" charset="0"/>
                <a:cs typeface="Avenir Book" charset="0"/>
              </a:rPr>
              <a:t> do you want to keep track of?</a:t>
            </a:r>
          </a:p>
          <a:p>
            <a:pPr marL="1098550" lvl="2" indent="-457200">
              <a:buFont typeface="+mj-lt"/>
              <a:buAutoNum type="arabicPeriod"/>
            </a:pPr>
            <a:r>
              <a:rPr lang="en-US" dirty="0" smtClean="0">
                <a:solidFill>
                  <a:srgbClr val="4A6300"/>
                </a:solidFill>
                <a:latin typeface="Avenir Book" charset="0"/>
                <a:cs typeface="Avenir Book" charset="0"/>
              </a:rPr>
              <a:t>Remember that your return value holds values too!</a:t>
            </a:r>
          </a:p>
          <a:p>
            <a:pPr marL="1098550" lvl="2" indent="-457200">
              <a:buFont typeface="+mj-lt"/>
              <a:buAutoNum type="arabicPeriod"/>
            </a:pPr>
            <a:r>
              <a:rPr lang="en-US" dirty="0" smtClean="0">
                <a:solidFill>
                  <a:srgbClr val="4A6300"/>
                </a:solidFill>
                <a:latin typeface="Avenir Book" charset="0"/>
                <a:cs typeface="Avenir Book" charset="0"/>
              </a:rPr>
              <a:t>If you have more than # of </a:t>
            </a:r>
            <a:r>
              <a:rPr lang="en-US" dirty="0" err="1" smtClean="0">
                <a:solidFill>
                  <a:srgbClr val="4A6300"/>
                </a:solidFill>
                <a:latin typeface="Avenir Book" charset="0"/>
                <a:cs typeface="Avenir Book" charset="0"/>
              </a:rPr>
              <a:t>params</a:t>
            </a:r>
            <a:r>
              <a:rPr lang="en-US" dirty="0" smtClean="0">
                <a:solidFill>
                  <a:srgbClr val="4A6300"/>
                </a:solidFill>
                <a:latin typeface="Avenir Book" charset="0"/>
                <a:cs typeface="Avenir Book" charset="0"/>
              </a:rPr>
              <a:t>, you need to define helper</a:t>
            </a:r>
          </a:p>
          <a:p>
            <a:pPr marL="1098550" lvl="2" indent="-457200">
              <a:buFont typeface="+mj-lt"/>
              <a:buAutoNum type="arabicPeriod"/>
            </a:pPr>
            <a:r>
              <a:rPr lang="en-US" dirty="0">
                <a:solidFill>
                  <a:srgbClr val="4A6300"/>
                </a:solidFill>
                <a:latin typeface="Avenir Book" charset="0"/>
                <a:cs typeface="Avenir Book" charset="0"/>
              </a:rPr>
              <a:t>Where </a:t>
            </a:r>
            <a:r>
              <a:rPr lang="en-US" dirty="0" smtClean="0">
                <a:solidFill>
                  <a:srgbClr val="4A6300"/>
                </a:solidFill>
                <a:latin typeface="Avenir Book" charset="0"/>
                <a:cs typeface="Avenir Book" charset="0"/>
              </a:rPr>
              <a:t>should each </a:t>
            </a:r>
            <a:r>
              <a:rPr lang="en-US" dirty="0" err="1" smtClean="0">
                <a:solidFill>
                  <a:srgbClr val="4A6300"/>
                </a:solidFill>
                <a:latin typeface="Avenir Book" charset="0"/>
                <a:cs typeface="Avenir Book" charset="0"/>
              </a:rPr>
              <a:t>var</a:t>
            </a:r>
            <a:r>
              <a:rPr lang="en-US" dirty="0" smtClean="0">
                <a:solidFill>
                  <a:srgbClr val="4A6300"/>
                </a:solidFill>
                <a:latin typeface="Avenir Book" charset="0"/>
                <a:cs typeface="Avenir Book" charset="0"/>
              </a:rPr>
              <a:t> start?</a:t>
            </a:r>
          </a:p>
          <a:p>
            <a:pPr marL="823913" lvl="1" indent="-457200">
              <a:buFont typeface="+mj-lt"/>
              <a:buAutoNum type="arabicPeriod"/>
            </a:pPr>
            <a:r>
              <a:rPr lang="en-US" sz="2000" dirty="0">
                <a:solidFill>
                  <a:srgbClr val="4A6300"/>
                </a:solidFill>
                <a:latin typeface="Avenir Book" charset="0"/>
                <a:cs typeface="Avenir Book" charset="0"/>
              </a:rPr>
              <a:t>How can I reuse the function </a:t>
            </a:r>
            <a:r>
              <a:rPr lang="en-US" sz="2000" b="1" u="sng" dirty="0" smtClean="0">
                <a:solidFill>
                  <a:srgbClr val="4A6300"/>
                </a:solidFill>
                <a:latin typeface="Avenir Book" charset="0"/>
                <a:cs typeface="Avenir Book" charset="0"/>
              </a:rPr>
              <a:t>many times</a:t>
            </a:r>
            <a:r>
              <a:rPr lang="en-US" sz="2000" dirty="0" smtClean="0">
                <a:solidFill>
                  <a:srgbClr val="4A6300"/>
                </a:solidFill>
                <a:latin typeface="Avenir Book" charset="0"/>
                <a:cs typeface="Avenir Book" charset="0"/>
              </a:rPr>
              <a:t> with </a:t>
            </a:r>
            <a:r>
              <a:rPr lang="en-US" sz="2000" dirty="0">
                <a:solidFill>
                  <a:srgbClr val="4A6300"/>
                </a:solidFill>
                <a:latin typeface="Avenir Book" charset="0"/>
                <a:cs typeface="Avenir Book" charset="0"/>
              </a:rPr>
              <a:t>smaller input?</a:t>
            </a: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p>
          <a:p>
            <a:pPr marL="823913" lvl="1" indent="-457200">
              <a:buFont typeface="+mj-lt"/>
              <a:buAutoNum type="arabicPeriod"/>
            </a:pPr>
            <a:r>
              <a:rPr lang="en-US" sz="2000" dirty="0" smtClean="0">
                <a:solidFill>
                  <a:srgbClr val="4A6300"/>
                </a:solidFill>
                <a:latin typeface="Avenir Book" charset="0"/>
                <a:cs typeface="Avenir Book" charset="0"/>
              </a:rPr>
              <a:t>Base cases: When should we stop? What to return?</a:t>
            </a:r>
            <a:endParaRPr lang="en-US" sz="2000" dirty="0">
              <a:solidFill>
                <a:srgbClr val="4A6300"/>
              </a:solidFill>
              <a:latin typeface="Avenir Book" charset="0"/>
              <a:cs typeface="Avenir Book" charset="0"/>
            </a:endParaRPr>
          </a:p>
          <a:p>
            <a:pPr marL="366713" lvl="1" indent="0">
              <a:buNone/>
            </a:pPr>
            <a:r>
              <a:rPr lang="en-US" sz="2000" dirty="0" smtClean="0">
                <a:solidFill>
                  <a:srgbClr val="4A6300"/>
                </a:solidFill>
                <a:latin typeface="Avenir Book" charset="0"/>
                <a:cs typeface="Avenir Book" charset="0"/>
              </a:rPr>
              <a:t>Thinking about these questions </a:t>
            </a:r>
            <a:r>
              <a:rPr lang="en-US" sz="2000" i="1" dirty="0" smtClean="0">
                <a:solidFill>
                  <a:srgbClr val="4A6300"/>
                </a:solidFill>
                <a:latin typeface="Avenir Book" charset="0"/>
                <a:cs typeface="Avenir Book" charset="0"/>
              </a:rPr>
              <a:t>before you code</a:t>
            </a:r>
            <a:r>
              <a:rPr lang="en-US" sz="2000" dirty="0" smtClean="0">
                <a:solidFill>
                  <a:srgbClr val="4A6300"/>
                </a:solidFill>
                <a:latin typeface="Avenir Book" charset="0"/>
                <a:cs typeface="Avenir Book" charset="0"/>
              </a:rPr>
              <a:t> will save you a lot of time.</a:t>
            </a:r>
            <a:endParaRPr lang="en-US" sz="2000" dirty="0">
              <a:solidFill>
                <a:srgbClr val="4A6300"/>
              </a:solidFill>
              <a:latin typeface="Avenir Book" charset="0"/>
              <a:cs typeface="Avenir Book" charset="0"/>
            </a:endParaRPr>
          </a:p>
          <a:p>
            <a:pPr marL="366713" lvl="1" indent="0">
              <a:buNone/>
            </a:pPr>
            <a:r>
              <a:rPr lang="en-US" sz="2000" dirty="0" smtClean="0">
                <a:solidFill>
                  <a:srgbClr val="4A6300"/>
                </a:solidFill>
                <a:latin typeface="Avenir Book" charset="0"/>
                <a:cs typeface="Avenir Book" charset="0"/>
              </a:rPr>
              <a:t>You can see that once you answer these questions thoroughly, the code follows directly (watch the colors in the next few examples).</a:t>
            </a: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31</a:t>
            </a:fld>
            <a:endParaRPr lang="en-US">
              <a:solidFill>
                <a:srgbClr val="FEFEFE"/>
              </a:solidFill>
            </a:endParaRPr>
          </a:p>
        </p:txBody>
      </p:sp>
    </p:spTree>
    <p:extLst>
      <p:ext uri="{BB962C8B-B14F-4D97-AF65-F5344CB8AC3E}">
        <p14:creationId xmlns:p14="http://schemas.microsoft.com/office/powerpoint/2010/main" val="282936552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Tree Recursion Qs: Example</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366713" lvl="1" indent="0">
              <a:buNone/>
            </a:pPr>
            <a:r>
              <a:rPr lang="en-US" sz="2000" dirty="0" smtClean="0">
                <a:solidFill>
                  <a:srgbClr val="4A6300"/>
                </a:solidFill>
                <a:latin typeface="Avenir Book" charset="0"/>
                <a:cs typeface="Avenir Book" charset="0"/>
              </a:rPr>
              <a:t>Fibonacci numbers: 0, 1, 1, 2, 3, 5, 8, 13, 21, 34, 55, …</a:t>
            </a:r>
          </a:p>
          <a:p>
            <a:pPr marL="823913" lvl="1" indent="-457200">
              <a:buFont typeface="+mj-lt"/>
              <a:buAutoNum type="arabicPeriod"/>
            </a:pPr>
            <a:r>
              <a:rPr lang="en-US" sz="2000" dirty="0">
                <a:solidFill>
                  <a:srgbClr val="4A6300"/>
                </a:solidFill>
                <a:latin typeface="Avenir Book" charset="0"/>
                <a:cs typeface="Avenir Book" charset="0"/>
              </a:rPr>
              <a:t>What is the desired behavior of your function</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What </a:t>
            </a:r>
            <a:r>
              <a:rPr lang="en-US" sz="2000" dirty="0" err="1">
                <a:solidFill>
                  <a:srgbClr val="4A6300"/>
                </a:solidFill>
                <a:latin typeface="Avenir Book" charset="0"/>
                <a:cs typeface="Avenir Book" charset="0"/>
              </a:rPr>
              <a:t>vars</a:t>
            </a:r>
            <a:r>
              <a:rPr lang="en-US" sz="2000" dirty="0">
                <a:solidFill>
                  <a:srgbClr val="4A6300"/>
                </a:solidFill>
                <a:latin typeface="Avenir Book" charset="0"/>
                <a:cs typeface="Avenir Book" charset="0"/>
              </a:rPr>
              <a:t> do you want to keep track of</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endParaRPr lang="en-US" sz="2000" dirty="0" smtClean="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How </a:t>
            </a:r>
            <a:r>
              <a:rPr lang="en-US" sz="2000" dirty="0">
                <a:solidFill>
                  <a:srgbClr val="4A6300"/>
                </a:solidFill>
                <a:latin typeface="Avenir Book" charset="0"/>
                <a:cs typeface="Avenir Book" charset="0"/>
              </a:rPr>
              <a:t>can I reuse the function with </a:t>
            </a:r>
            <a:r>
              <a:rPr lang="en-US" sz="2000" dirty="0" smtClean="0">
                <a:solidFill>
                  <a:srgbClr val="4A6300"/>
                </a:solidFill>
                <a:latin typeface="Avenir Book" charset="0"/>
                <a:cs typeface="Avenir Book" charset="0"/>
              </a:rPr>
              <a:t>simpler input</a:t>
            </a:r>
            <a:r>
              <a:rPr lang="en-US" sz="2000" dirty="0">
                <a:solidFill>
                  <a:srgbClr val="4A6300"/>
                </a:solidFill>
                <a:latin typeface="Avenir Book" charset="0"/>
                <a:cs typeface="Avenir Book" charset="0"/>
              </a:rPr>
              <a:t>?</a:t>
            </a: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Base cases: When should we stop? What to return?</a:t>
            </a:r>
          </a:p>
          <a:p>
            <a:pPr marL="366713" lvl="1" indent="0">
              <a:buNone/>
            </a:pP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32</a:t>
            </a:fld>
            <a:endParaRPr lang="en-US">
              <a:solidFill>
                <a:srgbClr val="FEFEFE"/>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946676245"/>
              </p:ext>
            </p:extLst>
          </p:nvPr>
        </p:nvGraphicFramePr>
        <p:xfrm>
          <a:off x="474132" y="3027269"/>
          <a:ext cx="8212151" cy="396240"/>
        </p:xfrm>
        <a:graphic>
          <a:graphicData uri="http://schemas.openxmlformats.org/drawingml/2006/table">
            <a:tbl>
              <a:tblPr firstRow="1" bandRow="1">
                <a:tableStyleId>{5C22544A-7EE6-4342-B048-85BDC9FD1C3A}</a:tableStyleId>
              </a:tblPr>
              <a:tblGrid>
                <a:gridCol w="8212151"/>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Fib(n)</a:t>
                      </a:r>
                      <a:r>
                        <a:rPr lang="en-US" sz="2000" baseline="0" dirty="0" smtClean="0">
                          <a:solidFill>
                            <a:srgbClr val="4A6300"/>
                          </a:solidFill>
                          <a:latin typeface="Avenir Book" charset="0"/>
                          <a:cs typeface="Avenir Book" charset="0"/>
                        </a:rPr>
                        <a:t> should be fib(n-1) + fib(n-2). Expressed as fib(n)</a:t>
                      </a:r>
                      <a:endParaRPr lang="en-US" sz="2000" dirty="0" smtClean="0">
                        <a:solidFill>
                          <a:srgbClr val="4A6300"/>
                        </a:solidFill>
                        <a:latin typeface="Avenir Book" charset="0"/>
                        <a:cs typeface="Avenir Book" charset="0"/>
                      </a:endParaRPr>
                    </a:p>
                  </a:txBody>
                  <a:tcPr>
                    <a:solidFill>
                      <a:srgbClr val="FF6600"/>
                    </a:solid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389945928"/>
              </p:ext>
            </p:extLst>
          </p:nvPr>
        </p:nvGraphicFramePr>
        <p:xfrm>
          <a:off x="705605" y="3782570"/>
          <a:ext cx="7582047" cy="7010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The current</a:t>
                      </a:r>
                      <a:r>
                        <a:rPr lang="en-US" sz="2000" baseline="0" dirty="0" smtClean="0">
                          <a:solidFill>
                            <a:srgbClr val="4A6300"/>
                          </a:solidFill>
                          <a:latin typeface="Avenir Book" charset="0"/>
                          <a:cs typeface="Avenir Book" charset="0"/>
                        </a:rPr>
                        <a:t> number being summed</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Note: the return value takes care of storing the total</a:t>
                      </a:r>
                    </a:p>
                  </a:txBody>
                  <a:tcPr>
                    <a:solidFill>
                      <a:srgbClr val="FF0000"/>
                    </a:solidFill>
                  </a:tcPr>
                </a:tc>
              </a:tr>
            </a:tbl>
          </a:graphicData>
        </a:graphic>
      </p:graphicFrame>
    </p:spTree>
    <p:extLst>
      <p:ext uri="{BB962C8B-B14F-4D97-AF65-F5344CB8AC3E}">
        <p14:creationId xmlns:p14="http://schemas.microsoft.com/office/powerpoint/2010/main" val="233150314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Tree Recursion Qs: Example</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366713" lvl="1" indent="0">
              <a:buNone/>
            </a:pPr>
            <a:r>
              <a:rPr lang="en-US" sz="2000" dirty="0">
                <a:solidFill>
                  <a:srgbClr val="4A6300"/>
                </a:solidFill>
                <a:latin typeface="Avenir Book" charset="0"/>
                <a:cs typeface="Avenir Book" charset="0"/>
              </a:rPr>
              <a:t>Fibonacci numbers: 0, 1, 1, 2, 3, 5, 8, 13, 21, 34, 55, …</a:t>
            </a:r>
          </a:p>
          <a:p>
            <a:pPr marL="823913" lvl="1" indent="-457200">
              <a:buFont typeface="+mj-lt"/>
              <a:buAutoNum type="arabicPeriod"/>
            </a:pPr>
            <a:r>
              <a:rPr lang="en-US" sz="2000" dirty="0" smtClean="0">
                <a:solidFill>
                  <a:srgbClr val="4A6300"/>
                </a:solidFill>
                <a:latin typeface="Avenir Book" charset="0"/>
                <a:cs typeface="Avenir Book" charset="0"/>
              </a:rPr>
              <a:t>What </a:t>
            </a:r>
            <a:r>
              <a:rPr lang="en-US" sz="2000" dirty="0">
                <a:solidFill>
                  <a:srgbClr val="4A6300"/>
                </a:solidFill>
                <a:latin typeface="Avenir Book" charset="0"/>
                <a:cs typeface="Avenir Book" charset="0"/>
              </a:rPr>
              <a:t>is the desired behavior of your function</a:t>
            </a:r>
            <a:r>
              <a:rPr lang="en-US" sz="2000" dirty="0" smtClean="0">
                <a:solidFill>
                  <a:srgbClr val="4A6300"/>
                </a:solidFill>
                <a:latin typeface="Avenir Book" charset="0"/>
                <a:cs typeface="Avenir Book" charset="0"/>
              </a:rPr>
              <a:t>?</a:t>
            </a: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What </a:t>
            </a:r>
            <a:r>
              <a:rPr lang="en-US" sz="2000" dirty="0" err="1">
                <a:solidFill>
                  <a:srgbClr val="4A6300"/>
                </a:solidFill>
                <a:latin typeface="Avenir Book" charset="0"/>
                <a:cs typeface="Avenir Book" charset="0"/>
              </a:rPr>
              <a:t>vars</a:t>
            </a:r>
            <a:r>
              <a:rPr lang="en-US" sz="2000" dirty="0">
                <a:solidFill>
                  <a:srgbClr val="4A6300"/>
                </a:solidFill>
                <a:latin typeface="Avenir Book" charset="0"/>
                <a:cs typeface="Avenir Book" charset="0"/>
              </a:rPr>
              <a:t> do you want to keep track of</a:t>
            </a:r>
            <a:r>
              <a:rPr lang="en-US" sz="2000" dirty="0" smtClean="0">
                <a:solidFill>
                  <a:srgbClr val="4A6300"/>
                </a:solidFill>
                <a:latin typeface="Avenir Book" charset="0"/>
                <a:cs typeface="Avenir Book" charset="0"/>
              </a:rPr>
              <a:t>?</a:t>
            </a:r>
          </a:p>
          <a:p>
            <a:pPr marL="823913" lvl="1" indent="-457200">
              <a:buFont typeface="+mj-lt"/>
              <a:buAutoNum type="arabicPeriod"/>
            </a:pPr>
            <a:r>
              <a:rPr lang="en-US" sz="2000" dirty="0" smtClean="0">
                <a:solidFill>
                  <a:srgbClr val="4A6300"/>
                </a:solidFill>
                <a:latin typeface="Avenir Book" charset="0"/>
                <a:cs typeface="Avenir Book" charset="0"/>
              </a:rPr>
              <a:t>How </a:t>
            </a:r>
            <a:r>
              <a:rPr lang="en-US" sz="2000" dirty="0">
                <a:solidFill>
                  <a:srgbClr val="4A6300"/>
                </a:solidFill>
                <a:latin typeface="Avenir Book" charset="0"/>
                <a:cs typeface="Avenir Book" charset="0"/>
              </a:rPr>
              <a:t>can I reuse the function with </a:t>
            </a:r>
            <a:r>
              <a:rPr lang="en-US" sz="2000" dirty="0" smtClean="0">
                <a:solidFill>
                  <a:srgbClr val="4A6300"/>
                </a:solidFill>
                <a:latin typeface="Avenir Book" charset="0"/>
                <a:cs typeface="Avenir Book" charset="0"/>
              </a:rPr>
              <a:t>simpler input?</a:t>
            </a:r>
          </a:p>
          <a:p>
            <a:pPr marL="366713" lvl="1" indent="0">
              <a:buNone/>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How do I combine the result with the current pieces of </a:t>
            </a:r>
            <a:r>
              <a:rPr lang="en-US" sz="2000" dirty="0" smtClean="0">
                <a:solidFill>
                  <a:srgbClr val="4A6300"/>
                </a:solidFill>
                <a:latin typeface="Avenir Book" charset="0"/>
                <a:cs typeface="Avenir Book" charset="0"/>
              </a:rPr>
              <a:t>information to solve the problem?</a:t>
            </a:r>
          </a:p>
          <a:p>
            <a:pPr marL="366713" lvl="1" indent="0">
              <a:buNone/>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a:solidFill>
                  <a:srgbClr val="4A6300"/>
                </a:solidFill>
                <a:latin typeface="Avenir Book" charset="0"/>
                <a:cs typeface="Avenir Book" charset="0"/>
              </a:rPr>
              <a:t>Base cases: When should we stop? What to return?</a:t>
            </a:r>
          </a:p>
          <a:p>
            <a:pPr marL="366713" lvl="1" indent="0">
              <a:buNone/>
            </a:pPr>
            <a:endParaRPr lang="en-US" sz="2000" dirty="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33</a:t>
            </a:fld>
            <a:endParaRPr lang="en-US">
              <a:solidFill>
                <a:srgbClr val="FEFEFE"/>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2963266644"/>
              </p:ext>
            </p:extLst>
          </p:nvPr>
        </p:nvGraphicFramePr>
        <p:xfrm>
          <a:off x="705605" y="3769742"/>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To calculate fib(n), we need fib(n-1) and fib(n-2)</a:t>
                      </a:r>
                    </a:p>
                  </a:txBody>
                  <a:tcPr>
                    <a:solidFill>
                      <a:srgbClr val="FF00FF"/>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881383174"/>
              </p:ext>
            </p:extLst>
          </p:nvPr>
        </p:nvGraphicFramePr>
        <p:xfrm>
          <a:off x="705605" y="4807252"/>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fib(n-1)</a:t>
                      </a:r>
                      <a:r>
                        <a:rPr lang="en-US" sz="2000" baseline="0" dirty="0" smtClean="0">
                          <a:solidFill>
                            <a:srgbClr val="4A6300"/>
                          </a:solidFill>
                          <a:latin typeface="Avenir Book" charset="0"/>
                          <a:cs typeface="Avenir Book" charset="0"/>
                        </a:rPr>
                        <a:t> + fib(n-2)</a:t>
                      </a:r>
                      <a:endParaRPr lang="en-US" sz="2000" dirty="0" smtClean="0">
                        <a:solidFill>
                          <a:srgbClr val="4A6300"/>
                        </a:solidFill>
                        <a:latin typeface="Avenir Book" charset="0"/>
                        <a:cs typeface="Avenir Book" charset="0"/>
                      </a:endParaRPr>
                    </a:p>
                  </a:txBody>
                  <a:tcPr>
                    <a:solidFill>
                      <a:schemeClr val="bg2">
                        <a:lumMod val="50000"/>
                      </a:schemeClr>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685178464"/>
              </p:ext>
            </p:extLst>
          </p:nvPr>
        </p:nvGraphicFramePr>
        <p:xfrm>
          <a:off x="705605" y="5588209"/>
          <a:ext cx="7582047" cy="396240"/>
        </p:xfrm>
        <a:graphic>
          <a:graphicData uri="http://schemas.openxmlformats.org/drawingml/2006/table">
            <a:tbl>
              <a:tblPr firstRow="1" bandRow="1">
                <a:tableStyleId>{5C22544A-7EE6-4342-B048-85BDC9FD1C3A}</a:tableStyleId>
              </a:tblPr>
              <a:tblGrid>
                <a:gridCol w="7582047"/>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latin typeface="Avenir Book" charset="0"/>
                          <a:cs typeface="Avenir Book" charset="0"/>
                        </a:rPr>
                        <a:t>When</a:t>
                      </a:r>
                      <a:r>
                        <a:rPr lang="en-US" sz="2000" baseline="0" dirty="0" smtClean="0">
                          <a:solidFill>
                            <a:schemeClr val="bg1"/>
                          </a:solidFill>
                          <a:latin typeface="Avenir Book" charset="0"/>
                          <a:cs typeface="Avenir Book" charset="0"/>
                        </a:rPr>
                        <a:t> n &lt; 2, we know that the answer is just n</a:t>
                      </a:r>
                      <a:endParaRPr lang="en-US" sz="2000" dirty="0" smtClean="0">
                        <a:solidFill>
                          <a:schemeClr val="bg1"/>
                        </a:solidFill>
                        <a:latin typeface="Avenir Book" charset="0"/>
                        <a:cs typeface="Avenir Book" charset="0"/>
                      </a:endParaRPr>
                    </a:p>
                  </a:txBody>
                  <a:tcPr>
                    <a:solidFill>
                      <a:srgbClr val="3366FF"/>
                    </a:solidFill>
                  </a:tcPr>
                </a:tc>
              </a:tr>
            </a:tbl>
          </a:graphicData>
        </a:graphic>
      </p:graphicFrame>
    </p:spTree>
    <p:extLst>
      <p:ext uri="{BB962C8B-B14F-4D97-AF65-F5344CB8AC3E}">
        <p14:creationId xmlns:p14="http://schemas.microsoft.com/office/powerpoint/2010/main" val="795016291"/>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Recursion Qs: Example</a:t>
            </a:r>
            <a:endParaRPr lang="en-US" dirty="0">
              <a:latin typeface="Century Gothic" charset="0"/>
            </a:endParaRPr>
          </a:p>
        </p:txBody>
      </p:sp>
      <p:sp>
        <p:nvSpPr>
          <p:cNvPr id="3" name="Content Placeholder 2"/>
          <p:cNvSpPr>
            <a:spLocks noGrp="1"/>
          </p:cNvSpPr>
          <p:nvPr>
            <p:ph idx="1"/>
          </p:nvPr>
        </p:nvSpPr>
        <p:spPr>
          <a:xfrm>
            <a:off x="474133" y="2324100"/>
            <a:ext cx="4477932" cy="4195233"/>
          </a:xfrm>
        </p:spPr>
        <p:txBody>
          <a:bodyPr/>
          <a:lstStyle/>
          <a:p>
            <a:pPr marL="823913" lvl="1" indent="-457200">
              <a:buFont typeface="+mj-lt"/>
              <a:buAutoNum type="arabicPeriod"/>
            </a:pPr>
            <a:r>
              <a:rPr lang="en-US" sz="2000" dirty="0" smtClean="0">
                <a:solidFill>
                  <a:srgbClr val="4A6300"/>
                </a:solidFill>
                <a:latin typeface="Avenir Book" charset="0"/>
                <a:cs typeface="Avenir Book" charset="0"/>
              </a:rPr>
              <a:t>Desired behavior:</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err="1" smtClean="0">
                <a:solidFill>
                  <a:srgbClr val="4A6300"/>
                </a:solidFill>
                <a:latin typeface="Avenir Book" charset="0"/>
                <a:cs typeface="Avenir Book" charset="0"/>
              </a:rPr>
              <a:t>Vars</a:t>
            </a:r>
            <a:r>
              <a:rPr lang="en-US" sz="2000" dirty="0" smtClean="0">
                <a:solidFill>
                  <a:srgbClr val="4A6300"/>
                </a:solidFill>
                <a:latin typeface="Avenir Book" charset="0"/>
                <a:cs typeface="Avenir Book" charset="0"/>
              </a:rPr>
              <a:t> to keep track of:</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Recursive call/reuse of </a:t>
            </a:r>
            <a:r>
              <a:rPr lang="en-US" sz="2000" dirty="0" err="1" smtClean="0">
                <a:solidFill>
                  <a:srgbClr val="4A6300"/>
                </a:solidFill>
                <a:latin typeface="Avenir Book" charset="0"/>
                <a:cs typeface="Avenir Book" charset="0"/>
              </a:rPr>
              <a:t>func</a:t>
            </a:r>
            <a:r>
              <a:rPr lang="en-US" sz="2000" dirty="0" smtClean="0">
                <a:solidFill>
                  <a:srgbClr val="4A6300"/>
                </a:solidFill>
                <a:latin typeface="Avenir Book" charset="0"/>
                <a:cs typeface="Avenir Book" charset="0"/>
              </a:rPr>
              <a:t>:</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Building up from reuse:</a:t>
            </a:r>
          </a:p>
          <a:p>
            <a:pPr marL="823913" lvl="1" indent="-457200">
              <a:buFont typeface="+mj-lt"/>
              <a:buAutoNum type="arabicPeriod"/>
            </a:pPr>
            <a:endParaRPr lang="en-US" sz="2000" dirty="0">
              <a:solidFill>
                <a:srgbClr val="4A6300"/>
              </a:solidFill>
              <a:latin typeface="Avenir Book" charset="0"/>
              <a:cs typeface="Avenir Book" charset="0"/>
            </a:endParaRPr>
          </a:p>
          <a:p>
            <a:pPr marL="823913" lvl="1" indent="-457200">
              <a:buFont typeface="+mj-lt"/>
              <a:buAutoNum type="arabicPeriod"/>
            </a:pPr>
            <a:r>
              <a:rPr lang="en-US" sz="2000" dirty="0" smtClean="0">
                <a:solidFill>
                  <a:srgbClr val="4A6300"/>
                </a:solidFill>
                <a:latin typeface="Avenir Book" charset="0"/>
                <a:cs typeface="Avenir Book" charset="0"/>
              </a:rPr>
              <a:t>When to end/base case:</a:t>
            </a:r>
          </a:p>
          <a:p>
            <a:pPr marL="366713" lvl="1" indent="0">
              <a:buNone/>
            </a:pPr>
            <a:endParaRPr lang="en-US" sz="2000" dirty="0">
              <a:solidFill>
                <a:srgbClr val="4A6300"/>
              </a:solidFill>
              <a:latin typeface="Avenir Book" charset="0"/>
              <a:cs typeface="Avenir Book" charset="0"/>
            </a:endParaRPr>
          </a:p>
          <a:p>
            <a:pPr marL="366713" lvl="1" indent="0">
              <a:buNone/>
            </a:pPr>
            <a:endParaRPr lang="en-US" sz="2000"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34</a:t>
            </a:fld>
            <a:endParaRPr lang="en-US">
              <a:solidFill>
                <a:srgbClr val="FEFEFE"/>
              </a:solidFill>
            </a:endParaRPr>
          </a:p>
        </p:txBody>
      </p:sp>
      <p:sp>
        <p:nvSpPr>
          <p:cNvPr id="5" name="TextBox 4"/>
          <p:cNvSpPr txBox="1"/>
          <p:nvPr/>
        </p:nvSpPr>
        <p:spPr>
          <a:xfrm>
            <a:off x="4438896" y="3535950"/>
            <a:ext cx="4632258" cy="1323439"/>
          </a:xfrm>
          <a:prstGeom prst="rect">
            <a:avLst/>
          </a:prstGeom>
          <a:noFill/>
        </p:spPr>
        <p:txBody>
          <a:bodyPr wrap="square" rtlCol="0">
            <a:spAutoFit/>
          </a:bodyPr>
          <a:lstStyle/>
          <a:p>
            <a:pPr marL="366713" lvl="1" indent="0">
              <a:buNone/>
            </a:pPr>
            <a:r>
              <a:rPr lang="en-US" sz="2000" dirty="0" err="1">
                <a:solidFill>
                  <a:srgbClr val="4A6300"/>
                </a:solidFill>
                <a:latin typeface="Consolas"/>
                <a:cs typeface="Consolas"/>
              </a:rPr>
              <a:t>def</a:t>
            </a:r>
            <a:r>
              <a:rPr lang="en-US" sz="2000" dirty="0">
                <a:solidFill>
                  <a:srgbClr val="4A6300"/>
                </a:solidFill>
                <a:latin typeface="Consolas"/>
                <a:cs typeface="Consolas"/>
              </a:rPr>
              <a:t> </a:t>
            </a:r>
            <a:r>
              <a:rPr lang="en-US" sz="2000" dirty="0" smtClean="0">
                <a:solidFill>
                  <a:srgbClr val="FF6600"/>
                </a:solidFill>
                <a:latin typeface="Consolas"/>
                <a:cs typeface="Consolas"/>
              </a:rPr>
              <a:t>fib</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p>
          <a:p>
            <a:pPr marL="366713" lvl="1" indent="0">
              <a:buNone/>
            </a:pPr>
            <a:r>
              <a:rPr lang="en-US" sz="2000" dirty="0">
                <a:solidFill>
                  <a:srgbClr val="4A6300"/>
                </a:solidFill>
                <a:latin typeface="Consolas"/>
                <a:cs typeface="Consolas"/>
              </a:rPr>
              <a:t>  </a:t>
            </a:r>
            <a:r>
              <a:rPr lang="en-US" sz="2000" dirty="0" smtClean="0">
                <a:solidFill>
                  <a:srgbClr val="3366FF"/>
                </a:solidFill>
                <a:latin typeface="Consolas"/>
                <a:cs typeface="Consolas"/>
              </a:rPr>
              <a:t>if n &lt; 2:</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return n</a:t>
            </a:r>
            <a:endParaRPr lang="en-US" sz="2000" dirty="0">
              <a:solidFill>
                <a:srgbClr val="3366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smtClean="0">
                <a:solidFill>
                  <a:srgbClr val="FF00FF"/>
                </a:solidFill>
                <a:latin typeface="Consolas"/>
                <a:cs typeface="Consolas"/>
              </a:rPr>
              <a:t>fib(n-1)</a:t>
            </a:r>
            <a:r>
              <a:rPr lang="en-US" sz="2000" dirty="0" smtClean="0">
                <a:solidFill>
                  <a:schemeClr val="bg2">
                    <a:lumMod val="50000"/>
                  </a:schemeClr>
                </a:solidFill>
                <a:latin typeface="Consolas"/>
                <a:cs typeface="Consolas"/>
              </a:rPr>
              <a:t> + </a:t>
            </a:r>
            <a:r>
              <a:rPr lang="en-US" sz="2000" dirty="0" smtClean="0">
                <a:solidFill>
                  <a:srgbClr val="FF00FF"/>
                </a:solidFill>
                <a:latin typeface="Consolas"/>
                <a:cs typeface="Consolas"/>
              </a:rPr>
              <a:t>fib(n-2)</a:t>
            </a:r>
            <a:endParaRPr lang="en-US" dirty="0">
              <a:solidFill>
                <a:srgbClr val="FF00FF"/>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1898607843"/>
              </p:ext>
            </p:extLst>
          </p:nvPr>
        </p:nvGraphicFramePr>
        <p:xfrm>
          <a:off x="474132" y="2763902"/>
          <a:ext cx="8070104" cy="396240"/>
        </p:xfrm>
        <a:graphic>
          <a:graphicData uri="http://schemas.openxmlformats.org/drawingml/2006/table">
            <a:tbl>
              <a:tblPr firstRow="1" bandRow="1">
                <a:tableStyleId>{5C22544A-7EE6-4342-B048-85BDC9FD1C3A}</a:tableStyleId>
              </a:tblPr>
              <a:tblGrid>
                <a:gridCol w="8070104"/>
              </a:tblGrid>
              <a:tr h="34429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Fibonacci</a:t>
                      </a:r>
                      <a:r>
                        <a:rPr lang="en-US" sz="2000" baseline="0" dirty="0" smtClean="0">
                          <a:solidFill>
                            <a:srgbClr val="4A6300"/>
                          </a:solidFill>
                          <a:latin typeface="Avenir Book" charset="0"/>
                          <a:cs typeface="Avenir Book" charset="0"/>
                        </a:rPr>
                        <a:t> number defined by recurrence relation. Express as fib(n)</a:t>
                      </a:r>
                      <a:endParaRPr lang="en-US" sz="2000" dirty="0" smtClean="0">
                        <a:solidFill>
                          <a:srgbClr val="4A6300"/>
                        </a:solidFill>
                        <a:latin typeface="Avenir Book" charset="0"/>
                        <a:cs typeface="Avenir Book" charset="0"/>
                      </a:endParaRPr>
                    </a:p>
                  </a:txBody>
                  <a:tcPr>
                    <a:solidFill>
                      <a:srgbClr val="FF6600"/>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521324091"/>
              </p:ext>
            </p:extLst>
          </p:nvPr>
        </p:nvGraphicFramePr>
        <p:xfrm>
          <a:off x="474132" y="3366071"/>
          <a:ext cx="4323982" cy="396240"/>
        </p:xfrm>
        <a:graphic>
          <a:graphicData uri="http://schemas.openxmlformats.org/drawingml/2006/table">
            <a:tbl>
              <a:tblPr firstRow="1" bandRow="1">
                <a:tableStyleId>{5C22544A-7EE6-4342-B048-85BDC9FD1C3A}</a:tableStyleId>
              </a:tblPr>
              <a:tblGrid>
                <a:gridCol w="4323982"/>
              </a:tblGrid>
              <a:tr h="3924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The current</a:t>
                      </a:r>
                      <a:r>
                        <a:rPr lang="en-US" sz="2000" baseline="0" dirty="0" smtClean="0">
                          <a:solidFill>
                            <a:srgbClr val="4A6300"/>
                          </a:solidFill>
                          <a:latin typeface="Avenir Book" charset="0"/>
                          <a:cs typeface="Avenir Book" charset="0"/>
                        </a:rPr>
                        <a:t> number being summed</a:t>
                      </a:r>
                    </a:p>
                  </a:txBody>
                  <a:tcPr>
                    <a:solidFill>
                      <a:srgbClr val="FF0000"/>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967873369"/>
              </p:ext>
            </p:extLst>
          </p:nvPr>
        </p:nvGraphicFramePr>
        <p:xfrm>
          <a:off x="474131" y="4221087"/>
          <a:ext cx="3041065" cy="396240"/>
        </p:xfrm>
        <a:graphic>
          <a:graphicData uri="http://schemas.openxmlformats.org/drawingml/2006/table">
            <a:tbl>
              <a:tblPr firstRow="1" bandRow="1">
                <a:tableStyleId>{5C22544A-7EE6-4342-B048-85BDC9FD1C3A}</a:tableStyleId>
              </a:tblPr>
              <a:tblGrid>
                <a:gridCol w="3041065"/>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solidFill>
                            <a:srgbClr val="4A6300"/>
                          </a:solidFill>
                          <a:latin typeface="Avenir Book" charset="0"/>
                          <a:cs typeface="Avenir Book" charset="0"/>
                        </a:rPr>
                        <a:t>fib(n-1), fib(n-2)</a:t>
                      </a:r>
                    </a:p>
                  </a:txBody>
                  <a:tcPr>
                    <a:solidFill>
                      <a:srgbClr val="FF00FF"/>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662171875"/>
              </p:ext>
            </p:extLst>
          </p:nvPr>
        </p:nvGraphicFramePr>
        <p:xfrm>
          <a:off x="474131" y="4881915"/>
          <a:ext cx="2963542" cy="396240"/>
        </p:xfrm>
        <a:graphic>
          <a:graphicData uri="http://schemas.openxmlformats.org/drawingml/2006/table">
            <a:tbl>
              <a:tblPr firstRow="1" bandRow="1">
                <a:tableStyleId>{5C22544A-7EE6-4342-B048-85BDC9FD1C3A}</a:tableStyleId>
              </a:tblPr>
              <a:tblGrid>
                <a:gridCol w="2963542"/>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4A6300"/>
                          </a:solidFill>
                          <a:latin typeface="Avenir Book" charset="0"/>
                          <a:cs typeface="Avenir Book" charset="0"/>
                        </a:rPr>
                        <a:t>fib(n-1)</a:t>
                      </a:r>
                      <a:r>
                        <a:rPr lang="en-US" sz="2000" baseline="0" dirty="0" smtClean="0">
                          <a:solidFill>
                            <a:srgbClr val="4A6300"/>
                          </a:solidFill>
                          <a:latin typeface="Avenir Book" charset="0"/>
                          <a:cs typeface="Avenir Book" charset="0"/>
                        </a:rPr>
                        <a:t> + fib(n-2)</a:t>
                      </a:r>
                      <a:endParaRPr lang="en-US" sz="2000" dirty="0" smtClean="0">
                        <a:solidFill>
                          <a:srgbClr val="4A6300"/>
                        </a:solidFill>
                        <a:latin typeface="Avenir Book" charset="0"/>
                        <a:cs typeface="Avenir Book" charset="0"/>
                      </a:endParaRPr>
                    </a:p>
                  </a:txBody>
                  <a:tcPr>
                    <a:solidFill>
                      <a:schemeClr val="bg2">
                        <a:lumMod val="50000"/>
                      </a:schemeClr>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443765268"/>
              </p:ext>
            </p:extLst>
          </p:nvPr>
        </p:nvGraphicFramePr>
        <p:xfrm>
          <a:off x="474132" y="5588209"/>
          <a:ext cx="5722363" cy="1005840"/>
        </p:xfrm>
        <a:graphic>
          <a:graphicData uri="http://schemas.openxmlformats.org/drawingml/2006/table">
            <a:tbl>
              <a:tblPr firstRow="1" bandRow="1">
                <a:tableStyleId>{5C22544A-7EE6-4342-B048-85BDC9FD1C3A}</a:tableStyleId>
              </a:tblPr>
              <a:tblGrid>
                <a:gridCol w="5722363"/>
              </a:tblGrid>
              <a:tr h="26336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latin typeface="Avenir Book" charset="0"/>
                          <a:cs typeface="Avenir Book" charset="0"/>
                        </a:rPr>
                        <a:t>When</a:t>
                      </a:r>
                      <a:r>
                        <a:rPr lang="en-US" sz="2000" baseline="0" dirty="0" smtClean="0">
                          <a:solidFill>
                            <a:schemeClr val="bg1"/>
                          </a:solidFill>
                          <a:latin typeface="Avenir Book" charset="0"/>
                          <a:cs typeface="Avenir Book" charset="0"/>
                        </a:rPr>
                        <a:t> n &lt; 2, we know that the answer is just n. To be explicit, we can have if n == 0: return 0 ; if n == 1: return 1</a:t>
                      </a:r>
                      <a:endParaRPr lang="en-US" sz="2000" dirty="0" smtClean="0">
                        <a:solidFill>
                          <a:schemeClr val="bg1"/>
                        </a:solidFill>
                        <a:latin typeface="Avenir Book" charset="0"/>
                        <a:cs typeface="Avenir Book" charset="0"/>
                      </a:endParaRPr>
                    </a:p>
                  </a:txBody>
                  <a:tcPr>
                    <a:solidFill>
                      <a:srgbClr val="3366FF"/>
                    </a:solidFill>
                  </a:tcPr>
                </a:tc>
              </a:tr>
            </a:tbl>
          </a:graphicData>
        </a:graphic>
      </p:graphicFrame>
    </p:spTree>
    <p:extLst>
      <p:ext uri="{BB962C8B-B14F-4D97-AF65-F5344CB8AC3E}">
        <p14:creationId xmlns:p14="http://schemas.microsoft.com/office/powerpoint/2010/main" val="3540490674"/>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1042988" y="705523"/>
            <a:ext cx="7024687" cy="893090"/>
          </a:xfrm>
        </p:spPr>
        <p:txBody>
          <a:bodyPr/>
          <a:lstStyle/>
          <a:p>
            <a:r>
              <a:rPr lang="en-US" sz="2800" dirty="0" smtClean="0">
                <a:latin typeface="Century Gothic" charset="0"/>
              </a:rPr>
              <a:t>What Makes Tree Recursion Special?</a:t>
            </a:r>
            <a:endParaRPr lang="en-US" sz="2800" dirty="0">
              <a:latin typeface="Century Gothic" charset="0"/>
            </a:endParaRPr>
          </a:p>
        </p:txBody>
      </p:sp>
      <p:sp>
        <p:nvSpPr>
          <p:cNvPr id="3" name="Content Placeholder 2"/>
          <p:cNvSpPr>
            <a:spLocks noGrp="1"/>
          </p:cNvSpPr>
          <p:nvPr>
            <p:ph idx="1"/>
          </p:nvPr>
        </p:nvSpPr>
        <p:spPr>
          <a:xfrm>
            <a:off x="457199" y="1598613"/>
            <a:ext cx="8314267" cy="4903787"/>
          </a:xfrm>
        </p:spPr>
        <p:txBody>
          <a:bodyPr/>
          <a:lstStyle/>
          <a:p>
            <a:r>
              <a:rPr lang="en-US" dirty="0" smtClean="0">
                <a:solidFill>
                  <a:srgbClr val="4A6300"/>
                </a:solidFill>
                <a:latin typeface="Avenir Book"/>
                <a:cs typeface="Avenir Book"/>
              </a:rPr>
              <a:t>[Class Discussion]</a:t>
            </a:r>
          </a:p>
          <a:p>
            <a:r>
              <a:rPr lang="en-US" dirty="0" smtClean="0">
                <a:solidFill>
                  <a:srgbClr val="4A6300"/>
                </a:solidFill>
                <a:latin typeface="Avenir Book"/>
                <a:cs typeface="Avenir Book"/>
              </a:rPr>
              <a:t>Very easy to explore different branches, because now you can express sub-branches as call expressions</a:t>
            </a:r>
          </a:p>
          <a:p>
            <a:pPr lvl="1"/>
            <a:r>
              <a:rPr lang="en-US" dirty="0" smtClean="0">
                <a:solidFill>
                  <a:srgbClr val="4A6300"/>
                </a:solidFill>
                <a:latin typeface="Avenir Book"/>
                <a:cs typeface="Avenir Book"/>
              </a:rPr>
              <a:t>E.g. Give me values for fib(5) and fib(6)! </a:t>
            </a:r>
          </a:p>
          <a:p>
            <a:pPr lvl="1"/>
            <a:r>
              <a:rPr lang="en-US" dirty="0" smtClean="0">
                <a:solidFill>
                  <a:srgbClr val="4A6300"/>
                </a:solidFill>
                <a:latin typeface="Avenir Book"/>
                <a:cs typeface="Avenir Book"/>
              </a:rPr>
              <a:t>E.g. Give me ways to count change for $0.20 with just pennies or $0.15 with nickels + pennies. </a:t>
            </a:r>
          </a:p>
          <a:p>
            <a:pPr lvl="2"/>
            <a:r>
              <a:rPr lang="en-US" dirty="0" err="1" smtClean="0">
                <a:solidFill>
                  <a:srgbClr val="4A6300"/>
                </a:solidFill>
                <a:latin typeface="Avenir Book"/>
                <a:cs typeface="Avenir Book"/>
              </a:rPr>
              <a:t>count_change</a:t>
            </a:r>
            <a:r>
              <a:rPr lang="en-US" dirty="0" smtClean="0">
                <a:solidFill>
                  <a:srgbClr val="4A6300"/>
                </a:solidFill>
                <a:latin typeface="Avenir Book"/>
                <a:cs typeface="Avenir Book"/>
              </a:rPr>
              <a:t>(20, [1]), </a:t>
            </a:r>
            <a:r>
              <a:rPr lang="en-US" dirty="0" err="1" smtClean="0">
                <a:solidFill>
                  <a:srgbClr val="4A6300"/>
                </a:solidFill>
                <a:latin typeface="Avenir Book"/>
                <a:cs typeface="Avenir Book"/>
              </a:rPr>
              <a:t>count_change</a:t>
            </a:r>
            <a:r>
              <a:rPr lang="en-US" dirty="0" smtClean="0">
                <a:solidFill>
                  <a:srgbClr val="4A6300"/>
                </a:solidFill>
                <a:latin typeface="Avenir Book"/>
                <a:cs typeface="Avenir Book"/>
              </a:rPr>
              <a:t>(15, [5, 1])</a:t>
            </a:r>
          </a:p>
          <a:p>
            <a:r>
              <a:rPr lang="en-US" dirty="0" smtClean="0">
                <a:solidFill>
                  <a:srgbClr val="4A6300"/>
                </a:solidFill>
                <a:latin typeface="Avenir Book"/>
                <a:cs typeface="Avenir Book"/>
              </a:rPr>
              <a:t>Useful when you have to return a value based on the various sub-possibilities/sub-problems</a:t>
            </a:r>
          </a:p>
          <a:p>
            <a:pPr lvl="1"/>
            <a:r>
              <a:rPr lang="en-US" dirty="0" smtClean="0">
                <a:solidFill>
                  <a:srgbClr val="4A6300"/>
                </a:solidFill>
                <a:latin typeface="Avenir Book"/>
                <a:cs typeface="Avenir Book"/>
              </a:rPr>
              <a:t>E.g. make a decision or sum up sub-values</a:t>
            </a:r>
          </a:p>
          <a:p>
            <a:r>
              <a:rPr lang="en-US" dirty="0" smtClean="0">
                <a:solidFill>
                  <a:srgbClr val="4A6300"/>
                </a:solidFill>
                <a:latin typeface="Avenir Book"/>
                <a:cs typeface="Avenir Book"/>
              </a:rPr>
              <a:t>Again, expressiveness of call expressions saves the day!</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35</a:t>
            </a:fld>
            <a:endParaRPr lang="en-US">
              <a:solidFill>
                <a:srgbClr val="FEFEFE"/>
              </a:solidFill>
            </a:endParaRPr>
          </a:p>
        </p:txBody>
      </p:sp>
    </p:spTree>
    <p:extLst>
      <p:ext uri="{BB962C8B-B14F-4D97-AF65-F5344CB8AC3E}">
        <p14:creationId xmlns:p14="http://schemas.microsoft.com/office/powerpoint/2010/main" val="37087864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Break</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823913" lvl="1" indent="-457200">
              <a:buFont typeface="+mj-lt"/>
              <a:buAutoNum type="arabicPeriod"/>
            </a:pPr>
            <a:endParaRPr lang="en-US"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36</a:t>
            </a:fld>
            <a:endParaRPr lang="en-US">
              <a:solidFill>
                <a:srgbClr val="FEFEFE"/>
              </a:solidFill>
            </a:endParaRPr>
          </a:p>
        </p:txBody>
      </p:sp>
    </p:spTree>
    <p:extLst>
      <p:ext uri="{BB962C8B-B14F-4D97-AF65-F5344CB8AC3E}">
        <p14:creationId xmlns:p14="http://schemas.microsoft.com/office/powerpoint/2010/main" val="154443474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Iteration </a:t>
            </a:r>
            <a:r>
              <a:rPr lang="en-US" dirty="0" err="1" smtClean="0">
                <a:latin typeface="Century Gothic" charset="0"/>
              </a:rPr>
              <a:t>vs</a:t>
            </a:r>
            <a:r>
              <a:rPr lang="en-US" dirty="0" smtClean="0">
                <a:latin typeface="Century Gothic" charset="0"/>
              </a:rPr>
              <a:t> Recursion</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823913" lvl="1" indent="-457200">
              <a:buFont typeface="+mj-lt"/>
              <a:buAutoNum type="arabicPeriod"/>
            </a:pPr>
            <a:r>
              <a:rPr lang="en-US" dirty="0" smtClean="0">
                <a:solidFill>
                  <a:srgbClr val="4A6300"/>
                </a:solidFill>
                <a:latin typeface="Avenir Book" charset="0"/>
                <a:cs typeface="Avenir Book" charset="0"/>
              </a:rPr>
              <a:t>Every time you make a recursive call, you’ll loop through the same code</a:t>
            </a:r>
          </a:p>
          <a:p>
            <a:pPr marL="1098550" lvl="2" indent="-457200">
              <a:buFont typeface="+mj-lt"/>
              <a:buAutoNum type="arabicPeriod"/>
            </a:pPr>
            <a:r>
              <a:rPr lang="en-US" dirty="0" smtClean="0">
                <a:solidFill>
                  <a:srgbClr val="4A6300"/>
                </a:solidFill>
                <a:latin typeface="Avenir Book" charset="0"/>
                <a:cs typeface="Avenir Book" charset="0"/>
              </a:rPr>
              <a:t>More convenient than iteration because parameters will take care of “name-updating” for you</a:t>
            </a:r>
          </a:p>
          <a:p>
            <a:pPr marL="1098550" lvl="2" indent="-457200">
              <a:buFont typeface="+mj-lt"/>
              <a:buAutoNum type="arabicPeriod"/>
            </a:pPr>
            <a:r>
              <a:rPr lang="en-US" dirty="0" smtClean="0">
                <a:solidFill>
                  <a:srgbClr val="4A6300"/>
                </a:solidFill>
                <a:latin typeface="Avenir Book" charset="0"/>
                <a:cs typeface="Avenir Book" charset="0"/>
              </a:rPr>
              <a:t>Also, you have the power to make multiple mini-loops (tree recursion)</a:t>
            </a:r>
          </a:p>
          <a:p>
            <a:pPr marL="823913" lvl="1" indent="-457200">
              <a:buFont typeface="+mj-lt"/>
              <a:buAutoNum type="arabicPeriod"/>
            </a:pPr>
            <a:r>
              <a:rPr lang="en-US" dirty="0" smtClean="0">
                <a:solidFill>
                  <a:srgbClr val="4A6300"/>
                </a:solidFill>
                <a:latin typeface="Avenir Book" charset="0"/>
                <a:cs typeface="Avenir Book" charset="0"/>
              </a:rPr>
              <a:t>Iteration uses a header to stop. Recursion uses base cases to stop.</a:t>
            </a:r>
          </a:p>
          <a:p>
            <a:pPr marL="823913" lvl="1" indent="-457200">
              <a:buFont typeface="+mj-lt"/>
              <a:buAutoNum type="arabicPeriod"/>
            </a:pPr>
            <a:r>
              <a:rPr lang="en-US" dirty="0" smtClean="0">
                <a:solidFill>
                  <a:srgbClr val="4A6300"/>
                </a:solidFill>
                <a:latin typeface="Avenir Book" charset="0"/>
                <a:cs typeface="Avenir Book" charset="0"/>
              </a:rPr>
              <a:t>Iterations has current frame to keep track of info. Recursion must use parameters + RV because a new frame is created for each recursive call</a:t>
            </a:r>
          </a:p>
          <a:p>
            <a:pPr marL="823913" lvl="1" indent="-457200">
              <a:buFont typeface="+mj-lt"/>
              <a:buAutoNum type="arabicPeriod"/>
            </a:pPr>
            <a:endParaRPr lang="en-US"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37</a:t>
            </a:fld>
            <a:endParaRPr lang="en-US">
              <a:solidFill>
                <a:srgbClr val="FEFEFE"/>
              </a:solidFill>
            </a:endParaRPr>
          </a:p>
        </p:txBody>
      </p:sp>
    </p:spTree>
    <p:extLst>
      <p:ext uri="{BB962C8B-B14F-4D97-AF65-F5344CB8AC3E}">
        <p14:creationId xmlns:p14="http://schemas.microsoft.com/office/powerpoint/2010/main" val="388995418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Iteration </a:t>
            </a:r>
            <a:r>
              <a:rPr lang="en-US" dirty="0" err="1" smtClean="0">
                <a:latin typeface="Century Gothic" charset="0"/>
              </a:rPr>
              <a:t>vs</a:t>
            </a:r>
            <a:r>
              <a:rPr lang="en-US" dirty="0" smtClean="0">
                <a:latin typeface="Century Gothic" charset="0"/>
              </a:rPr>
              <a:t> Recursion</a:t>
            </a:r>
            <a:endParaRPr lang="en-US"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38</a:t>
            </a:fld>
            <a:endParaRPr lang="en-US">
              <a:solidFill>
                <a:srgbClr val="FEFEFE"/>
              </a:solidFill>
            </a:endParaRPr>
          </a:p>
        </p:txBody>
      </p:sp>
      <p:sp>
        <p:nvSpPr>
          <p:cNvPr id="6" name="TextBox 5"/>
          <p:cNvSpPr txBox="1"/>
          <p:nvPr/>
        </p:nvSpPr>
        <p:spPr>
          <a:xfrm>
            <a:off x="590141" y="2233676"/>
            <a:ext cx="5580695" cy="1323439"/>
          </a:xfrm>
          <a:prstGeom prst="rect">
            <a:avLst/>
          </a:prstGeom>
          <a:noFill/>
        </p:spPr>
        <p:txBody>
          <a:bodyPr wrap="square" rtlCol="0">
            <a:spAutoFit/>
          </a:bodyPr>
          <a:lstStyle/>
          <a:p>
            <a:pPr marL="366713" lvl="1" indent="0">
              <a:buNone/>
            </a:pPr>
            <a:r>
              <a:rPr lang="en-US" sz="2000" dirty="0" err="1" smtClean="0">
                <a:solidFill>
                  <a:srgbClr val="4A6300"/>
                </a:solidFill>
                <a:latin typeface="Consolas"/>
                <a:cs typeface="Consolas"/>
              </a:rPr>
              <a:t>def</a:t>
            </a:r>
            <a:r>
              <a:rPr lang="en-US" sz="2000" dirty="0" smtClean="0">
                <a:solidFill>
                  <a:srgbClr val="4A6300"/>
                </a:solidFill>
                <a:latin typeface="Consolas"/>
                <a:cs typeface="Consolas"/>
              </a:rPr>
              <a:t> </a:t>
            </a:r>
            <a:r>
              <a:rPr lang="en-US" sz="2000" dirty="0" smtClean="0">
                <a:solidFill>
                  <a:srgbClr val="FF6600"/>
                </a:solidFill>
                <a:latin typeface="Consolas"/>
                <a:cs typeface="Consolas"/>
              </a:rPr>
              <a:t>fact</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r>
              <a:rPr lang="en-US" sz="2000" dirty="0" smtClean="0">
                <a:solidFill>
                  <a:srgbClr val="4A6300"/>
                </a:solidFill>
                <a:latin typeface="Consolas"/>
                <a:cs typeface="Consolas"/>
              </a:rPr>
              <a:t>:</a:t>
            </a:r>
          </a:p>
          <a:p>
            <a:pPr marL="366713" lvl="1" indent="0">
              <a:buNone/>
            </a:pPr>
            <a:r>
              <a:rPr lang="en-US" sz="2000" dirty="0" smtClean="0">
                <a:solidFill>
                  <a:srgbClr val="3366FF"/>
                </a:solidFill>
                <a:latin typeface="Consolas"/>
                <a:cs typeface="Consolas"/>
              </a:rPr>
              <a:t>  if n == 0:</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a:t>
            </a:r>
            <a:r>
              <a:rPr lang="en-US" sz="2000" dirty="0" smtClean="0">
                <a:solidFill>
                  <a:srgbClr val="660066"/>
                </a:solidFill>
                <a:latin typeface="Consolas"/>
                <a:cs typeface="Consolas"/>
              </a:rPr>
              <a:t>return 1</a:t>
            </a:r>
            <a:endParaRPr lang="en-US" sz="2000" dirty="0">
              <a:solidFill>
                <a:srgbClr val="660066"/>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FF0000"/>
                </a:solidFill>
                <a:latin typeface="Consolas"/>
                <a:cs typeface="Consolas"/>
              </a:rPr>
              <a:t>return</a:t>
            </a:r>
            <a:r>
              <a:rPr lang="en-US" sz="2000" dirty="0" smtClean="0">
                <a:solidFill>
                  <a:srgbClr val="4A6300"/>
                </a:solidFill>
                <a:latin typeface="Consolas"/>
                <a:cs typeface="Consolas"/>
              </a:rPr>
              <a:t> </a:t>
            </a:r>
            <a:r>
              <a:rPr lang="en-US" sz="2000" dirty="0">
                <a:solidFill>
                  <a:schemeClr val="bg2">
                    <a:lumMod val="50000"/>
                  </a:schemeClr>
                </a:solidFill>
                <a:latin typeface="Consolas"/>
                <a:cs typeface="Consolas"/>
              </a:rPr>
              <a:t>n</a:t>
            </a:r>
            <a:r>
              <a:rPr lang="en-US" sz="2000" dirty="0" smtClean="0">
                <a:solidFill>
                  <a:schemeClr val="bg2">
                    <a:lumMod val="50000"/>
                  </a:schemeClr>
                </a:solidFill>
                <a:latin typeface="Consolas"/>
                <a:cs typeface="Consolas"/>
              </a:rPr>
              <a:t> *</a:t>
            </a:r>
            <a:r>
              <a:rPr lang="en-US" sz="2000" dirty="0" smtClean="0">
                <a:solidFill>
                  <a:srgbClr val="4A6300"/>
                </a:solidFill>
                <a:latin typeface="Consolas"/>
                <a:cs typeface="Consolas"/>
              </a:rPr>
              <a:t> </a:t>
            </a:r>
            <a:r>
              <a:rPr lang="en-US" sz="2000" dirty="0" smtClean="0">
                <a:solidFill>
                  <a:srgbClr val="FF00FF"/>
                </a:solidFill>
                <a:latin typeface="Consolas"/>
                <a:cs typeface="Consolas"/>
              </a:rPr>
              <a:t>fact(n-1)</a:t>
            </a:r>
            <a:endParaRPr lang="en-US" dirty="0">
              <a:solidFill>
                <a:srgbClr val="FF00FF"/>
              </a:solidFill>
            </a:endParaRPr>
          </a:p>
        </p:txBody>
      </p:sp>
      <p:sp>
        <p:nvSpPr>
          <p:cNvPr id="7" name="TextBox 6"/>
          <p:cNvSpPr txBox="1"/>
          <p:nvPr/>
        </p:nvSpPr>
        <p:spPr>
          <a:xfrm>
            <a:off x="590141" y="4194906"/>
            <a:ext cx="5580695" cy="1938992"/>
          </a:xfrm>
          <a:prstGeom prst="rect">
            <a:avLst/>
          </a:prstGeom>
          <a:noFill/>
        </p:spPr>
        <p:txBody>
          <a:bodyPr wrap="square" rtlCol="0">
            <a:spAutoFit/>
          </a:bodyPr>
          <a:lstStyle/>
          <a:p>
            <a:pPr marL="366713" lvl="1" indent="0">
              <a:buNone/>
            </a:pPr>
            <a:r>
              <a:rPr lang="en-US" sz="2000" dirty="0" err="1" smtClean="0">
                <a:solidFill>
                  <a:srgbClr val="4A6300"/>
                </a:solidFill>
                <a:latin typeface="Consolas"/>
                <a:cs typeface="Consolas"/>
              </a:rPr>
              <a:t>def</a:t>
            </a:r>
            <a:r>
              <a:rPr lang="en-US" sz="2000" dirty="0" smtClean="0">
                <a:solidFill>
                  <a:srgbClr val="4A6300"/>
                </a:solidFill>
                <a:latin typeface="Consolas"/>
                <a:cs typeface="Consolas"/>
              </a:rPr>
              <a:t> </a:t>
            </a:r>
            <a:r>
              <a:rPr lang="en-US" sz="2000" dirty="0" err="1" smtClean="0">
                <a:solidFill>
                  <a:srgbClr val="FF6600"/>
                </a:solidFill>
                <a:latin typeface="Consolas"/>
                <a:cs typeface="Consolas"/>
              </a:rPr>
              <a:t>fact_iter</a:t>
            </a:r>
            <a:r>
              <a:rPr lang="en-US" sz="2000" dirty="0" smtClean="0">
                <a:solidFill>
                  <a:srgbClr val="4A6300"/>
                </a:solidFill>
                <a:latin typeface="Consolas"/>
                <a:cs typeface="Consolas"/>
              </a:rPr>
              <a:t>(</a:t>
            </a:r>
            <a:r>
              <a:rPr lang="en-US" sz="2000" dirty="0">
                <a:solidFill>
                  <a:srgbClr val="FF0000"/>
                </a:solidFill>
                <a:latin typeface="Consolas"/>
                <a:cs typeface="Consolas"/>
              </a:rPr>
              <a:t>n</a:t>
            </a:r>
            <a:r>
              <a:rPr lang="en-US" sz="2000" dirty="0">
                <a:solidFill>
                  <a:srgbClr val="4A6300"/>
                </a:solidFill>
                <a:latin typeface="Consolas"/>
                <a:cs typeface="Consolas"/>
              </a:rPr>
              <a:t>)</a:t>
            </a:r>
            <a:r>
              <a:rPr lang="en-US" sz="2000" dirty="0" smtClean="0">
                <a:solidFill>
                  <a:srgbClr val="4A6300"/>
                </a:solidFill>
                <a:latin typeface="Consolas"/>
                <a:cs typeface="Consolas"/>
              </a:rPr>
              <a:t>:</a:t>
            </a:r>
          </a:p>
          <a:p>
            <a:pPr marL="366713" lvl="1" indent="0">
              <a:buNone/>
            </a:pPr>
            <a:r>
              <a:rPr lang="en-US" sz="2000" dirty="0" smtClean="0">
                <a:solidFill>
                  <a:srgbClr val="FF0000"/>
                </a:solidFill>
                <a:latin typeface="Consolas"/>
                <a:cs typeface="Consolas"/>
              </a:rPr>
              <a:t>  </a:t>
            </a:r>
            <a:r>
              <a:rPr lang="en-US" sz="2000" dirty="0" smtClean="0">
                <a:solidFill>
                  <a:srgbClr val="660066"/>
                </a:solidFill>
                <a:latin typeface="Consolas"/>
                <a:cs typeface="Consolas"/>
              </a:rPr>
              <a:t>total = 1</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while n &gt; 0:</a:t>
            </a:r>
          </a:p>
          <a:p>
            <a:pPr marL="366713" lvl="1" indent="0">
              <a:buNone/>
            </a:pPr>
            <a:r>
              <a:rPr lang="en-US" sz="2000" dirty="0">
                <a:solidFill>
                  <a:schemeClr val="bg2">
                    <a:lumMod val="50000"/>
                  </a:schemeClr>
                </a:solidFill>
                <a:latin typeface="Consolas"/>
                <a:cs typeface="Consolas"/>
              </a:rPr>
              <a:t> </a:t>
            </a:r>
            <a:r>
              <a:rPr lang="en-US" sz="2000" dirty="0" smtClean="0">
                <a:solidFill>
                  <a:schemeClr val="bg2">
                    <a:lumMod val="50000"/>
                  </a:schemeClr>
                </a:solidFill>
                <a:latin typeface="Consolas"/>
                <a:cs typeface="Consolas"/>
              </a:rPr>
              <a:t>   total *= n</a:t>
            </a:r>
          </a:p>
          <a:p>
            <a:pPr marL="366713" lvl="1" indent="0">
              <a:buNone/>
            </a:pPr>
            <a:r>
              <a:rPr lang="en-US" sz="2000" dirty="0">
                <a:solidFill>
                  <a:srgbClr val="3366FF"/>
                </a:solidFill>
                <a:latin typeface="Consolas"/>
                <a:cs typeface="Consolas"/>
              </a:rPr>
              <a:t> </a:t>
            </a:r>
            <a:r>
              <a:rPr lang="en-US" sz="2000" dirty="0" smtClean="0">
                <a:solidFill>
                  <a:srgbClr val="3366FF"/>
                </a:solidFill>
                <a:latin typeface="Consolas"/>
                <a:cs typeface="Consolas"/>
              </a:rPr>
              <a:t>   </a:t>
            </a:r>
            <a:r>
              <a:rPr lang="en-US" sz="2000" dirty="0" smtClean="0">
                <a:solidFill>
                  <a:srgbClr val="FF00FF"/>
                </a:solidFill>
                <a:latin typeface="Consolas"/>
                <a:cs typeface="Consolas"/>
              </a:rPr>
              <a:t>n -= 1</a:t>
            </a:r>
            <a:endParaRPr lang="en-US" sz="2000" dirty="0">
              <a:solidFill>
                <a:srgbClr val="FF00FF"/>
              </a:solidFill>
              <a:latin typeface="Consolas"/>
              <a:cs typeface="Consolas"/>
            </a:endParaRPr>
          </a:p>
          <a:p>
            <a:pPr marL="366713" lvl="1" indent="0">
              <a:buNone/>
            </a:pPr>
            <a:r>
              <a:rPr lang="en-US" sz="2000" dirty="0">
                <a:solidFill>
                  <a:srgbClr val="4A6300"/>
                </a:solidFill>
                <a:latin typeface="Consolas"/>
                <a:cs typeface="Consolas"/>
              </a:rPr>
              <a:t>  </a:t>
            </a:r>
            <a:r>
              <a:rPr lang="en-US" sz="2000" dirty="0" smtClean="0">
                <a:solidFill>
                  <a:srgbClr val="4A6300"/>
                </a:solidFill>
                <a:latin typeface="Consolas"/>
                <a:cs typeface="Consolas"/>
              </a:rPr>
              <a:t>return </a:t>
            </a:r>
            <a:r>
              <a:rPr lang="en-US" sz="2000" dirty="0" smtClean="0">
                <a:solidFill>
                  <a:srgbClr val="FF0000"/>
                </a:solidFill>
                <a:latin typeface="Consolas"/>
                <a:cs typeface="Consolas"/>
              </a:rPr>
              <a:t>total</a:t>
            </a:r>
            <a:endParaRPr lang="en-US" dirty="0">
              <a:solidFill>
                <a:srgbClr val="FF0000"/>
              </a:solidFill>
            </a:endParaRPr>
          </a:p>
        </p:txBody>
      </p:sp>
      <p:sp>
        <p:nvSpPr>
          <p:cNvPr id="4" name="TextBox 3"/>
          <p:cNvSpPr txBox="1"/>
          <p:nvPr/>
        </p:nvSpPr>
        <p:spPr>
          <a:xfrm>
            <a:off x="4400410" y="2233676"/>
            <a:ext cx="4337189" cy="2062103"/>
          </a:xfrm>
          <a:prstGeom prst="rect">
            <a:avLst/>
          </a:prstGeom>
          <a:noFill/>
        </p:spPr>
        <p:txBody>
          <a:bodyPr wrap="square" rtlCol="0">
            <a:spAutoFit/>
          </a:bodyPr>
          <a:lstStyle/>
          <a:p>
            <a:r>
              <a:rPr lang="en-US" sz="1600" dirty="0" smtClean="0"/>
              <a:t>Keep track:</a:t>
            </a:r>
          </a:p>
          <a:p>
            <a:r>
              <a:rPr lang="en-US" sz="1600" dirty="0"/>
              <a:t> </a:t>
            </a:r>
            <a:r>
              <a:rPr lang="en-US" sz="1600" dirty="0" smtClean="0"/>
              <a:t> n – current number</a:t>
            </a:r>
          </a:p>
          <a:p>
            <a:r>
              <a:rPr lang="en-US" sz="1600" dirty="0"/>
              <a:t> </a:t>
            </a:r>
            <a:r>
              <a:rPr lang="en-US" sz="1600" dirty="0" smtClean="0"/>
              <a:t> RV – total</a:t>
            </a:r>
          </a:p>
          <a:p>
            <a:r>
              <a:rPr lang="en-US" sz="1600" dirty="0" smtClean="0"/>
              <a:t>Loop:</a:t>
            </a:r>
          </a:p>
          <a:p>
            <a:r>
              <a:rPr lang="en-US" sz="1600" dirty="0"/>
              <a:t> </a:t>
            </a:r>
            <a:r>
              <a:rPr lang="en-US" sz="1600" dirty="0" smtClean="0"/>
              <a:t> Next iteration: n = n – 1</a:t>
            </a:r>
          </a:p>
          <a:p>
            <a:r>
              <a:rPr lang="en-US" sz="1600" dirty="0" smtClean="0"/>
              <a:t>Stop/Loop until:</a:t>
            </a:r>
          </a:p>
          <a:p>
            <a:r>
              <a:rPr lang="en-US" sz="1600" dirty="0"/>
              <a:t> </a:t>
            </a:r>
            <a:r>
              <a:rPr lang="en-US" sz="1600" dirty="0" smtClean="0"/>
              <a:t> When n == 0. Then return what</a:t>
            </a:r>
          </a:p>
          <a:p>
            <a:r>
              <a:rPr lang="en-US" sz="1600" dirty="0"/>
              <a:t> </a:t>
            </a:r>
            <a:r>
              <a:rPr lang="en-US" sz="1600" dirty="0" smtClean="0"/>
              <a:t> the RV should start with </a:t>
            </a:r>
            <a:endParaRPr lang="en-US" sz="1600" dirty="0"/>
          </a:p>
        </p:txBody>
      </p:sp>
      <p:sp>
        <p:nvSpPr>
          <p:cNvPr id="9" name="TextBox 8"/>
          <p:cNvSpPr txBox="1"/>
          <p:nvPr/>
        </p:nvSpPr>
        <p:spPr>
          <a:xfrm>
            <a:off x="4400410" y="4425677"/>
            <a:ext cx="4337189" cy="1815882"/>
          </a:xfrm>
          <a:prstGeom prst="rect">
            <a:avLst/>
          </a:prstGeom>
          <a:noFill/>
        </p:spPr>
        <p:txBody>
          <a:bodyPr wrap="square" rtlCol="0">
            <a:spAutoFit/>
          </a:bodyPr>
          <a:lstStyle/>
          <a:p>
            <a:r>
              <a:rPr lang="en-US" sz="1600" dirty="0" smtClean="0"/>
              <a:t>Keep track:</a:t>
            </a:r>
          </a:p>
          <a:p>
            <a:r>
              <a:rPr lang="en-US" sz="1600" dirty="0"/>
              <a:t> </a:t>
            </a:r>
            <a:r>
              <a:rPr lang="en-US" sz="1600" dirty="0" smtClean="0"/>
              <a:t> n – current number</a:t>
            </a:r>
          </a:p>
          <a:p>
            <a:r>
              <a:rPr lang="en-US" sz="1600" dirty="0"/>
              <a:t> </a:t>
            </a:r>
            <a:r>
              <a:rPr lang="en-US" sz="1600" dirty="0" smtClean="0"/>
              <a:t> total – total</a:t>
            </a:r>
          </a:p>
          <a:p>
            <a:r>
              <a:rPr lang="en-US" sz="1600" dirty="0" smtClean="0"/>
              <a:t>Loop:</a:t>
            </a:r>
          </a:p>
          <a:p>
            <a:r>
              <a:rPr lang="en-US" sz="1600" dirty="0"/>
              <a:t> </a:t>
            </a:r>
            <a:r>
              <a:rPr lang="en-US" sz="1600" dirty="0" smtClean="0"/>
              <a:t> Next iteration: n = n – 1</a:t>
            </a:r>
          </a:p>
          <a:p>
            <a:r>
              <a:rPr lang="en-US" sz="1600" dirty="0" smtClean="0"/>
              <a:t>Loop while:</a:t>
            </a:r>
          </a:p>
          <a:p>
            <a:r>
              <a:rPr lang="en-US" sz="1600" dirty="0"/>
              <a:t> </a:t>
            </a:r>
            <a:r>
              <a:rPr lang="en-US" sz="1600" dirty="0" smtClean="0"/>
              <a:t> n &gt; 0. Then return the accumulated result</a:t>
            </a:r>
            <a:endParaRPr lang="en-US" sz="1600" dirty="0"/>
          </a:p>
        </p:txBody>
      </p:sp>
    </p:spTree>
    <p:extLst>
      <p:ext uri="{BB962C8B-B14F-4D97-AF65-F5344CB8AC3E}">
        <p14:creationId xmlns:p14="http://schemas.microsoft.com/office/powerpoint/2010/main" val="96216860"/>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347246"/>
            <a:ext cx="8263466" cy="1143000"/>
          </a:xfrm>
        </p:spPr>
        <p:txBody>
          <a:bodyPr/>
          <a:lstStyle/>
          <a:p>
            <a:pPr algn="ctr"/>
            <a:r>
              <a:rPr lang="en-US" dirty="0" err="1" smtClean="0">
                <a:latin typeface="Century Gothic" charset="0"/>
              </a:rPr>
              <a:t>Env</a:t>
            </a:r>
            <a:r>
              <a:rPr lang="en-US" dirty="0" smtClean="0">
                <a:latin typeface="Century Gothic" charset="0"/>
              </a:rPr>
              <a:t> Diagram Rules </a:t>
            </a:r>
            <a:r>
              <a:rPr lang="en-US" sz="2000" dirty="0" smtClean="0">
                <a:latin typeface="Century Gothic" charset="0"/>
              </a:rPr>
              <a:t>Source: Andrew Huang</a:t>
            </a:r>
            <a:endParaRPr lang="en-US" sz="2000"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39</a:t>
            </a:fld>
            <a:endParaRPr lang="en-US">
              <a:solidFill>
                <a:srgbClr val="FEFEFE"/>
              </a:solidFill>
            </a:endParaRPr>
          </a:p>
        </p:txBody>
      </p:sp>
      <p:sp>
        <p:nvSpPr>
          <p:cNvPr id="4" name="TextBox 3"/>
          <p:cNvSpPr txBox="1"/>
          <p:nvPr/>
        </p:nvSpPr>
        <p:spPr>
          <a:xfrm>
            <a:off x="718433" y="1503074"/>
            <a:ext cx="7838631" cy="4770537"/>
          </a:xfrm>
          <a:prstGeom prst="rect">
            <a:avLst/>
          </a:prstGeom>
          <a:noFill/>
        </p:spPr>
        <p:txBody>
          <a:bodyPr wrap="square" rtlCol="0">
            <a:spAutoFit/>
          </a:bodyPr>
          <a:lstStyle/>
          <a:p>
            <a:r>
              <a:rPr lang="en-US" sz="1600" dirty="0" smtClean="0"/>
              <a:t>Creating a function using </a:t>
            </a:r>
            <a:r>
              <a:rPr lang="en-US" sz="1600" dirty="0" err="1" smtClean="0"/>
              <a:t>def</a:t>
            </a:r>
            <a:r>
              <a:rPr lang="en-US" sz="1600" dirty="0" smtClean="0"/>
              <a:t>/lambda:</a:t>
            </a:r>
          </a:p>
          <a:p>
            <a:pPr marL="342900" indent="-342900">
              <a:buFont typeface="+mj-lt"/>
              <a:buAutoNum type="arabicPeriod"/>
            </a:pPr>
            <a:r>
              <a:rPr lang="en-US" sz="1600" dirty="0" smtClean="0"/>
              <a:t>Draw </a:t>
            </a:r>
            <a:r>
              <a:rPr lang="en-US" sz="1600" dirty="0" err="1" smtClean="0"/>
              <a:t>func</a:t>
            </a:r>
            <a:r>
              <a:rPr lang="en-US" sz="1600" dirty="0" smtClean="0"/>
              <a:t> &lt;name&gt;(&lt;param1&gt;, &lt;param2&gt;, …) [parent=?]</a:t>
            </a:r>
          </a:p>
          <a:p>
            <a:pPr marL="342900" indent="-342900">
              <a:buFont typeface="+mj-lt"/>
              <a:buAutoNum type="arabicPeriod"/>
            </a:pPr>
            <a:r>
              <a:rPr lang="en-US" sz="1600" dirty="0" smtClean="0"/>
              <a:t>The parent of the function is the current frame</a:t>
            </a:r>
          </a:p>
          <a:p>
            <a:pPr marL="342900" indent="-342900">
              <a:buFont typeface="+mj-lt"/>
              <a:buAutoNum type="arabicPeriod"/>
            </a:pPr>
            <a:r>
              <a:rPr lang="en-US" sz="1600" dirty="0" smtClean="0"/>
              <a:t>For </a:t>
            </a:r>
            <a:r>
              <a:rPr lang="en-US" sz="1600" dirty="0" err="1" smtClean="0"/>
              <a:t>def</a:t>
            </a:r>
            <a:r>
              <a:rPr lang="en-US" sz="1600" dirty="0" smtClean="0"/>
              <a:t> only: bind this function to the same name in the current frame</a:t>
            </a:r>
          </a:p>
          <a:p>
            <a:pPr marL="342900" indent="-342900">
              <a:buFont typeface="+mj-lt"/>
              <a:buAutoNum type="arabicPeriod"/>
            </a:pPr>
            <a:endParaRPr lang="en-US" sz="1600" dirty="0"/>
          </a:p>
          <a:p>
            <a:r>
              <a:rPr lang="en-US" sz="1600" dirty="0" smtClean="0"/>
              <a:t>Calling user-defined functions:</a:t>
            </a:r>
          </a:p>
          <a:p>
            <a:pPr marL="342900" indent="-342900">
              <a:buAutoNum type="arabicPeriod"/>
            </a:pPr>
            <a:r>
              <a:rPr lang="en-US" sz="1600" dirty="0" smtClean="0"/>
              <a:t>Evaluate the operator and operands</a:t>
            </a:r>
          </a:p>
          <a:p>
            <a:pPr marL="342900" indent="-342900">
              <a:buAutoNum type="arabicPeriod"/>
            </a:pPr>
            <a:r>
              <a:rPr lang="en-US" sz="1600" dirty="0" smtClean="0"/>
              <a:t>Create a new frame. Label the frame with the info from the function object &lt;name&gt; [parent=?]</a:t>
            </a:r>
          </a:p>
          <a:p>
            <a:pPr marL="342900" indent="-342900">
              <a:buAutoNum type="arabicPeriod"/>
            </a:pPr>
            <a:r>
              <a:rPr lang="en-US" sz="1600" dirty="0" smtClean="0"/>
              <a:t>Bind the formal parameters to the arguments (values of operands)</a:t>
            </a:r>
          </a:p>
          <a:p>
            <a:pPr marL="342900" indent="-342900">
              <a:buAutoNum type="arabicPeriod"/>
            </a:pPr>
            <a:r>
              <a:rPr lang="en-US" sz="1600" dirty="0" smtClean="0"/>
              <a:t>Evaluate the body with new frame as current frame</a:t>
            </a:r>
          </a:p>
          <a:p>
            <a:pPr marL="342900" indent="-342900">
              <a:buAutoNum type="arabicPeriod"/>
            </a:pPr>
            <a:r>
              <a:rPr lang="en-US" sz="1600" dirty="0" smtClean="0"/>
              <a:t>Return back to the frame that called the function</a:t>
            </a:r>
          </a:p>
          <a:p>
            <a:pPr marL="342900" indent="-342900">
              <a:buAutoNum type="arabicPeriod"/>
            </a:pPr>
            <a:endParaRPr lang="en-US" sz="1600" dirty="0"/>
          </a:p>
          <a:p>
            <a:r>
              <a:rPr lang="en-US" sz="1600" dirty="0" smtClean="0"/>
              <a:t>Assignment</a:t>
            </a:r>
          </a:p>
          <a:p>
            <a:pPr marL="342900" indent="-342900">
              <a:buAutoNum type="arabicPeriod"/>
            </a:pPr>
            <a:r>
              <a:rPr lang="en-US" sz="1600" dirty="0" smtClean="0"/>
              <a:t>Evaluate the RHS 2. Bind name on LHS to value on RHS in current frame</a:t>
            </a:r>
          </a:p>
          <a:p>
            <a:pPr marL="342900" indent="-342900">
              <a:buAutoNum type="arabicPeriod"/>
            </a:pPr>
            <a:endParaRPr lang="en-US" sz="1600" dirty="0"/>
          </a:p>
          <a:p>
            <a:r>
              <a:rPr lang="en-US" sz="1600" dirty="0" smtClean="0"/>
              <a:t>Lookup</a:t>
            </a:r>
          </a:p>
          <a:p>
            <a:pPr marL="342900" indent="-342900">
              <a:buAutoNum type="arabicPeriod"/>
            </a:pPr>
            <a:r>
              <a:rPr lang="en-US" sz="1600" dirty="0" smtClean="0"/>
              <a:t>Start at current frame. If name is there, great! If not, go to the </a:t>
            </a:r>
            <a:r>
              <a:rPr lang="en-US" sz="1600" b="1" u="sng" dirty="0" smtClean="0"/>
              <a:t>parent</a:t>
            </a:r>
            <a:r>
              <a:rPr lang="en-US" sz="1600" dirty="0" smtClean="0"/>
              <a:t> frame. Keep going until you cannot find the name in the global frame.</a:t>
            </a:r>
          </a:p>
        </p:txBody>
      </p:sp>
    </p:spTree>
    <p:extLst>
      <p:ext uri="{BB962C8B-B14F-4D97-AF65-F5344CB8AC3E}">
        <p14:creationId xmlns:p14="http://schemas.microsoft.com/office/powerpoint/2010/main" val="4007948918"/>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err="1" smtClean="0">
                <a:latin typeface="Century Gothic" charset="0"/>
              </a:rPr>
              <a:t>Env</a:t>
            </a:r>
            <a:r>
              <a:rPr lang="en-US" dirty="0" smtClean="0">
                <a:latin typeface="Century Gothic" charset="0"/>
              </a:rPr>
              <a:t> Diagram Rules</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823913" lvl="1" indent="-457200">
              <a:buFont typeface="+mj-lt"/>
              <a:buAutoNum type="arabicPeriod"/>
            </a:pPr>
            <a:r>
              <a:rPr lang="en-US" dirty="0" smtClean="0">
                <a:solidFill>
                  <a:srgbClr val="4A6300"/>
                </a:solidFill>
                <a:latin typeface="Avenir Book" charset="0"/>
                <a:cs typeface="Avenir Book" charset="0"/>
              </a:rPr>
              <a:t>Don’t follow your intuition, because you have never seen rules like these (unless you programmed before, kudos!)</a:t>
            </a:r>
          </a:p>
          <a:p>
            <a:pPr marL="823913" lvl="1" indent="-457200">
              <a:buFont typeface="+mj-lt"/>
              <a:buAutoNum type="arabicPeriod"/>
            </a:pPr>
            <a:r>
              <a:rPr lang="en-US" dirty="0" smtClean="0">
                <a:solidFill>
                  <a:srgbClr val="4A6300"/>
                </a:solidFill>
                <a:latin typeface="Avenir Book" charset="0"/>
                <a:cs typeface="Avenir Book" charset="0"/>
              </a:rPr>
              <a:t>Follow these rules until you get the right intuition.</a:t>
            </a:r>
          </a:p>
          <a:p>
            <a:pPr marL="823913" lvl="1" indent="-457200">
              <a:buFont typeface="+mj-lt"/>
              <a:buAutoNum type="arabicPeriod"/>
            </a:pPr>
            <a:r>
              <a:rPr lang="en-US" dirty="0" err="1" smtClean="0">
                <a:solidFill>
                  <a:srgbClr val="4A6300"/>
                </a:solidFill>
                <a:latin typeface="Avenir Book" charset="0"/>
                <a:cs typeface="Avenir Book" charset="0"/>
              </a:rPr>
              <a:t>Env</a:t>
            </a:r>
            <a:r>
              <a:rPr lang="en-US" dirty="0" smtClean="0">
                <a:solidFill>
                  <a:srgbClr val="4A6300"/>
                </a:solidFill>
                <a:latin typeface="Avenir Book" charset="0"/>
                <a:cs typeface="Avenir Book" charset="0"/>
              </a:rPr>
              <a:t> diagrams are fun! They just take time to master. </a:t>
            </a:r>
          </a:p>
          <a:p>
            <a:pPr marL="823913" lvl="1" indent="-457200">
              <a:buFont typeface="+mj-lt"/>
              <a:buAutoNum type="arabicPeriod"/>
            </a:pPr>
            <a:r>
              <a:rPr lang="en-US" dirty="0" smtClean="0">
                <a:solidFill>
                  <a:srgbClr val="4A6300"/>
                </a:solidFill>
                <a:latin typeface="Avenir Book" charset="0"/>
                <a:cs typeface="Avenir Book" charset="0"/>
              </a:rPr>
              <a:t>Some sacrifice now will be rewarding in the long run </a:t>
            </a:r>
            <a:r>
              <a:rPr lang="en-US" dirty="0" smtClean="0">
                <a:solidFill>
                  <a:srgbClr val="4A6300"/>
                </a:solidFill>
                <a:latin typeface="Avenir Book" charset="0"/>
                <a:cs typeface="Avenir Book" charset="0"/>
                <a:sym typeface="Wingdings"/>
              </a:rPr>
              <a:t></a:t>
            </a:r>
          </a:p>
          <a:p>
            <a:pPr marL="823913" lvl="1" indent="-457200">
              <a:buFont typeface="+mj-lt"/>
              <a:buAutoNum type="arabicPeriod"/>
            </a:pPr>
            <a:r>
              <a:rPr lang="en-US" dirty="0" smtClean="0">
                <a:solidFill>
                  <a:srgbClr val="4A6300"/>
                </a:solidFill>
                <a:latin typeface="Avenir Book" charset="0"/>
                <a:cs typeface="Avenir Book" charset="0"/>
                <a:sym typeface="Wingdings"/>
              </a:rPr>
              <a:t>Now let’s look at the rules again.</a:t>
            </a:r>
            <a:endParaRPr lang="en-US"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40</a:t>
            </a:fld>
            <a:endParaRPr lang="en-US">
              <a:solidFill>
                <a:srgbClr val="FEFEFE"/>
              </a:solidFill>
            </a:endParaRPr>
          </a:p>
        </p:txBody>
      </p:sp>
    </p:spTree>
    <p:extLst>
      <p:ext uri="{BB962C8B-B14F-4D97-AF65-F5344CB8AC3E}">
        <p14:creationId xmlns:p14="http://schemas.microsoft.com/office/powerpoint/2010/main" val="330030856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347246"/>
            <a:ext cx="8263466" cy="1143000"/>
          </a:xfrm>
        </p:spPr>
        <p:txBody>
          <a:bodyPr/>
          <a:lstStyle/>
          <a:p>
            <a:pPr algn="ctr"/>
            <a:r>
              <a:rPr lang="en-US" dirty="0" err="1" smtClean="0">
                <a:latin typeface="Century Gothic" charset="0"/>
              </a:rPr>
              <a:t>Env</a:t>
            </a:r>
            <a:r>
              <a:rPr lang="en-US" dirty="0" smtClean="0">
                <a:latin typeface="Century Gothic" charset="0"/>
              </a:rPr>
              <a:t> Diagram Rules </a:t>
            </a:r>
            <a:r>
              <a:rPr lang="en-US" sz="2000" dirty="0" smtClean="0">
                <a:latin typeface="Century Gothic" charset="0"/>
              </a:rPr>
              <a:t>Source: Andrew Huang</a:t>
            </a:r>
            <a:endParaRPr lang="en-US" sz="2000" dirty="0">
              <a:latin typeface="Century Gothic"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41</a:t>
            </a:fld>
            <a:endParaRPr lang="en-US">
              <a:solidFill>
                <a:srgbClr val="FEFEFE"/>
              </a:solidFill>
            </a:endParaRPr>
          </a:p>
        </p:txBody>
      </p:sp>
      <p:sp>
        <p:nvSpPr>
          <p:cNvPr id="4" name="TextBox 3"/>
          <p:cNvSpPr txBox="1"/>
          <p:nvPr/>
        </p:nvSpPr>
        <p:spPr>
          <a:xfrm>
            <a:off x="718433" y="1503074"/>
            <a:ext cx="7838631" cy="4770537"/>
          </a:xfrm>
          <a:prstGeom prst="rect">
            <a:avLst/>
          </a:prstGeom>
          <a:noFill/>
        </p:spPr>
        <p:txBody>
          <a:bodyPr wrap="square" rtlCol="0">
            <a:spAutoFit/>
          </a:bodyPr>
          <a:lstStyle/>
          <a:p>
            <a:r>
              <a:rPr lang="en-US" sz="1600" dirty="0" smtClean="0"/>
              <a:t>Creating a function using </a:t>
            </a:r>
            <a:r>
              <a:rPr lang="en-US" sz="1600" dirty="0" err="1" smtClean="0"/>
              <a:t>def</a:t>
            </a:r>
            <a:r>
              <a:rPr lang="en-US" sz="1600" dirty="0" smtClean="0"/>
              <a:t>/lambda:</a:t>
            </a:r>
          </a:p>
          <a:p>
            <a:pPr marL="342900" indent="-342900">
              <a:buFont typeface="+mj-lt"/>
              <a:buAutoNum type="arabicPeriod"/>
            </a:pPr>
            <a:r>
              <a:rPr lang="en-US" sz="1600" dirty="0" smtClean="0"/>
              <a:t>Draw </a:t>
            </a:r>
            <a:r>
              <a:rPr lang="en-US" sz="1600" dirty="0" err="1" smtClean="0"/>
              <a:t>func</a:t>
            </a:r>
            <a:r>
              <a:rPr lang="en-US" sz="1600" dirty="0" smtClean="0"/>
              <a:t> &lt;name&gt;(&lt;param1&gt;, &lt;param2&gt;, …) [parent=?]</a:t>
            </a:r>
          </a:p>
          <a:p>
            <a:pPr marL="342900" indent="-342900">
              <a:buFont typeface="+mj-lt"/>
              <a:buAutoNum type="arabicPeriod"/>
            </a:pPr>
            <a:r>
              <a:rPr lang="en-US" sz="1600" dirty="0" smtClean="0"/>
              <a:t>The parent of the function is the current frame</a:t>
            </a:r>
          </a:p>
          <a:p>
            <a:pPr marL="342900" indent="-342900">
              <a:buFont typeface="+mj-lt"/>
              <a:buAutoNum type="arabicPeriod"/>
            </a:pPr>
            <a:r>
              <a:rPr lang="en-US" sz="1600" dirty="0" smtClean="0"/>
              <a:t>For </a:t>
            </a:r>
            <a:r>
              <a:rPr lang="en-US" sz="1600" dirty="0" err="1" smtClean="0"/>
              <a:t>def</a:t>
            </a:r>
            <a:r>
              <a:rPr lang="en-US" sz="1600" dirty="0" smtClean="0"/>
              <a:t> only: bind this function to the same name in the current frame</a:t>
            </a:r>
          </a:p>
          <a:p>
            <a:pPr marL="342900" indent="-342900">
              <a:buFont typeface="+mj-lt"/>
              <a:buAutoNum type="arabicPeriod"/>
            </a:pPr>
            <a:endParaRPr lang="en-US" sz="1600" dirty="0"/>
          </a:p>
          <a:p>
            <a:r>
              <a:rPr lang="en-US" sz="1600" dirty="0" smtClean="0"/>
              <a:t>Calling user-defined functions:</a:t>
            </a:r>
          </a:p>
          <a:p>
            <a:pPr marL="342900" indent="-342900">
              <a:buAutoNum type="arabicPeriod"/>
            </a:pPr>
            <a:r>
              <a:rPr lang="en-US" sz="1600" dirty="0" smtClean="0"/>
              <a:t>Evaluate the operator and operands</a:t>
            </a:r>
          </a:p>
          <a:p>
            <a:pPr marL="342900" indent="-342900">
              <a:buAutoNum type="arabicPeriod"/>
            </a:pPr>
            <a:r>
              <a:rPr lang="en-US" sz="1600" dirty="0" smtClean="0"/>
              <a:t>Create a new frame. Label the frame with the info from the function object &lt;name&gt; [parent=?]</a:t>
            </a:r>
          </a:p>
          <a:p>
            <a:pPr marL="342900" indent="-342900">
              <a:buAutoNum type="arabicPeriod"/>
            </a:pPr>
            <a:r>
              <a:rPr lang="en-US" sz="1600" dirty="0" smtClean="0"/>
              <a:t>Bind the formal parameters to the arguments (values of operands)</a:t>
            </a:r>
          </a:p>
          <a:p>
            <a:pPr marL="342900" indent="-342900">
              <a:buAutoNum type="arabicPeriod"/>
            </a:pPr>
            <a:r>
              <a:rPr lang="en-US" sz="1600" dirty="0" smtClean="0"/>
              <a:t>Evaluate the body with new frame as current frame</a:t>
            </a:r>
          </a:p>
          <a:p>
            <a:pPr marL="342900" indent="-342900">
              <a:buAutoNum type="arabicPeriod"/>
            </a:pPr>
            <a:r>
              <a:rPr lang="en-US" sz="1600" dirty="0" smtClean="0"/>
              <a:t>Return back to the frame that called the function</a:t>
            </a:r>
          </a:p>
          <a:p>
            <a:pPr marL="342900" indent="-342900">
              <a:buAutoNum type="arabicPeriod"/>
            </a:pPr>
            <a:endParaRPr lang="en-US" sz="1600" dirty="0"/>
          </a:p>
          <a:p>
            <a:r>
              <a:rPr lang="en-US" sz="1600" dirty="0" smtClean="0"/>
              <a:t>Assignment</a:t>
            </a:r>
          </a:p>
          <a:p>
            <a:pPr marL="342900" indent="-342900">
              <a:buAutoNum type="arabicPeriod"/>
            </a:pPr>
            <a:r>
              <a:rPr lang="en-US" sz="1600" dirty="0" smtClean="0"/>
              <a:t>Evaluate the RHS 2. Bind name on LHS to value on RHS in current frame</a:t>
            </a:r>
          </a:p>
          <a:p>
            <a:pPr marL="342900" indent="-342900">
              <a:buAutoNum type="arabicPeriod"/>
            </a:pPr>
            <a:endParaRPr lang="en-US" sz="1600" dirty="0"/>
          </a:p>
          <a:p>
            <a:r>
              <a:rPr lang="en-US" sz="1600" dirty="0" smtClean="0"/>
              <a:t>Lookup</a:t>
            </a:r>
          </a:p>
          <a:p>
            <a:pPr marL="342900" indent="-342900">
              <a:buAutoNum type="arabicPeriod"/>
            </a:pPr>
            <a:r>
              <a:rPr lang="en-US" sz="1600" dirty="0" smtClean="0"/>
              <a:t>Start at current frame. If name is there, great! If not, go to the </a:t>
            </a:r>
            <a:r>
              <a:rPr lang="en-US" sz="1600" b="1" u="sng" dirty="0" smtClean="0"/>
              <a:t>parent</a:t>
            </a:r>
            <a:r>
              <a:rPr lang="en-US" sz="1600" dirty="0" smtClean="0"/>
              <a:t> frame. Keep going until you cannot find the name in the global frame.</a:t>
            </a:r>
          </a:p>
        </p:txBody>
      </p:sp>
    </p:spTree>
    <p:extLst>
      <p:ext uri="{BB962C8B-B14F-4D97-AF65-F5344CB8AC3E}">
        <p14:creationId xmlns:p14="http://schemas.microsoft.com/office/powerpoint/2010/main" val="2395207777"/>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Midterm Tips</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527050" indent="-457200">
              <a:buFont typeface="+mj-lt"/>
              <a:buAutoNum type="arabicPeriod"/>
            </a:pPr>
            <a:r>
              <a:rPr lang="en-US" sz="1800" dirty="0" smtClean="0">
                <a:solidFill>
                  <a:srgbClr val="4A6300"/>
                </a:solidFill>
                <a:latin typeface="Avenir Book" charset="0"/>
                <a:cs typeface="Avenir Book" charset="0"/>
              </a:rPr>
              <a:t>Try out simple examples with your code! Best debugging tool for simple code (and sanity check).</a:t>
            </a:r>
          </a:p>
          <a:p>
            <a:pPr marL="527050" indent="-457200">
              <a:buFont typeface="+mj-lt"/>
              <a:buAutoNum type="arabicPeriod"/>
            </a:pPr>
            <a:r>
              <a:rPr lang="en-US" sz="1800" dirty="0" smtClean="0">
                <a:solidFill>
                  <a:srgbClr val="4A6300"/>
                </a:solidFill>
                <a:latin typeface="Avenir Book" charset="0"/>
                <a:cs typeface="Avenir Book" charset="0"/>
              </a:rPr>
              <a:t>Understand our </a:t>
            </a:r>
            <a:r>
              <a:rPr lang="en-US" sz="1800" dirty="0" err="1" smtClean="0">
                <a:solidFill>
                  <a:srgbClr val="4A6300"/>
                </a:solidFill>
                <a:latin typeface="Avenir Book" charset="0"/>
                <a:cs typeface="Avenir Book" charset="0"/>
              </a:rPr>
              <a:t>doctests</a:t>
            </a:r>
            <a:r>
              <a:rPr lang="en-US" sz="1800" dirty="0" smtClean="0">
                <a:solidFill>
                  <a:srgbClr val="4A6300"/>
                </a:solidFill>
                <a:latin typeface="Avenir Book" charset="0"/>
                <a:cs typeface="Avenir Book" charset="0"/>
              </a:rPr>
              <a:t> and/or try to write your own </a:t>
            </a:r>
            <a:r>
              <a:rPr lang="en-US" sz="1800" dirty="0" err="1" smtClean="0">
                <a:solidFill>
                  <a:srgbClr val="4A6300"/>
                </a:solidFill>
                <a:latin typeface="Avenir Book" charset="0"/>
                <a:cs typeface="Avenir Book" charset="0"/>
              </a:rPr>
              <a:t>doctests</a:t>
            </a:r>
            <a:r>
              <a:rPr lang="en-US" sz="1800" dirty="0" smtClean="0">
                <a:solidFill>
                  <a:srgbClr val="4A6300"/>
                </a:solidFill>
                <a:latin typeface="Avenir Book" charset="0"/>
                <a:cs typeface="Avenir Book" charset="0"/>
              </a:rPr>
              <a:t>.</a:t>
            </a:r>
          </a:p>
          <a:p>
            <a:pPr marL="527050" indent="-457200">
              <a:buFont typeface="+mj-lt"/>
              <a:buAutoNum type="arabicPeriod"/>
            </a:pPr>
            <a:r>
              <a:rPr lang="en-US" sz="1800" dirty="0" smtClean="0">
                <a:solidFill>
                  <a:srgbClr val="4A6300"/>
                </a:solidFill>
                <a:latin typeface="Avenir Book" charset="0"/>
                <a:cs typeface="Avenir Book" charset="0"/>
              </a:rPr>
              <a:t>Do heavy lifting with what the problem’s asking before you write code!</a:t>
            </a:r>
            <a:endParaRPr lang="en-US" sz="1800" dirty="0">
              <a:solidFill>
                <a:srgbClr val="4A6300"/>
              </a:solidFill>
              <a:latin typeface="Avenir Book" charset="0"/>
              <a:cs typeface="Avenir Book" charset="0"/>
            </a:endParaRPr>
          </a:p>
          <a:p>
            <a:pPr marL="823913" lvl="1" indent="-457200">
              <a:buFont typeface="+mj-lt"/>
              <a:buAutoNum type="arabicPeriod"/>
            </a:pPr>
            <a:r>
              <a:rPr lang="en-US" sz="1600" dirty="0" smtClean="0">
                <a:solidFill>
                  <a:srgbClr val="4A6300"/>
                </a:solidFill>
                <a:latin typeface="Avenir Book" charset="0"/>
                <a:cs typeface="Avenir Book" charset="0"/>
              </a:rPr>
              <a:t>Function boxes</a:t>
            </a:r>
            <a:endParaRPr lang="en-US" sz="1600" dirty="0" smtClean="0">
              <a:solidFill>
                <a:srgbClr val="4A6300"/>
              </a:solidFill>
              <a:latin typeface="Avenir Book" charset="0"/>
              <a:cs typeface="Avenir Book" charset="0"/>
            </a:endParaRPr>
          </a:p>
          <a:p>
            <a:pPr marL="823913" lvl="1" indent="-457200">
              <a:buFont typeface="+mj-lt"/>
              <a:buAutoNum type="arabicPeriod"/>
            </a:pPr>
            <a:r>
              <a:rPr lang="en-US" sz="1600" dirty="0" smtClean="0">
                <a:solidFill>
                  <a:srgbClr val="4A6300"/>
                </a:solidFill>
                <a:latin typeface="Avenir Book" charset="0"/>
                <a:cs typeface="Avenir Book" charset="0"/>
              </a:rPr>
              <a:t>High-level </a:t>
            </a:r>
            <a:r>
              <a:rPr lang="en-US" sz="1600" dirty="0" err="1" smtClean="0">
                <a:solidFill>
                  <a:srgbClr val="4A6300"/>
                </a:solidFill>
                <a:latin typeface="Avenir Book" charset="0"/>
                <a:cs typeface="Avenir Book" charset="0"/>
              </a:rPr>
              <a:t>pseudocode</a:t>
            </a:r>
            <a:r>
              <a:rPr lang="en-US" sz="1600" dirty="0" smtClean="0">
                <a:solidFill>
                  <a:srgbClr val="4A6300"/>
                </a:solidFill>
                <a:latin typeface="Avenir Book" charset="0"/>
                <a:cs typeface="Avenir Book" charset="0"/>
              </a:rPr>
              <a:t>: e.g. print this, then make this recursive call, etc.</a:t>
            </a:r>
            <a:endParaRPr lang="en-US" sz="1600" dirty="0" smtClean="0">
              <a:solidFill>
                <a:srgbClr val="4A6300"/>
              </a:solidFill>
              <a:latin typeface="Avenir Book" charset="0"/>
              <a:cs typeface="Avenir Book" charset="0"/>
            </a:endParaRPr>
          </a:p>
          <a:p>
            <a:pPr marL="527050" indent="-457200">
              <a:buFont typeface="+mj-lt"/>
              <a:buAutoNum type="arabicPeriod"/>
            </a:pPr>
            <a:r>
              <a:rPr lang="en-US" sz="1800" dirty="0" smtClean="0">
                <a:solidFill>
                  <a:srgbClr val="4A6300"/>
                </a:solidFill>
                <a:latin typeface="Avenir Book" charset="0"/>
                <a:cs typeface="Avenir Book" charset="0"/>
              </a:rPr>
              <a:t>Write out your thoughts. It’s really hard to remember everything in your head at once. Plus, once you review you test, you can see what thoughts you made on the exam.</a:t>
            </a:r>
          </a:p>
          <a:p>
            <a:pPr marL="527050" indent="-457200">
              <a:buFont typeface="+mj-lt"/>
              <a:buAutoNum type="arabicPeriod"/>
            </a:pPr>
            <a:r>
              <a:rPr lang="en-US" sz="1800" dirty="0" smtClean="0">
                <a:solidFill>
                  <a:srgbClr val="4A6300"/>
                </a:solidFill>
                <a:latin typeface="Avenir Book" charset="0"/>
                <a:cs typeface="Avenir Book" charset="0"/>
              </a:rPr>
              <a:t>Remember that concepts can be combined together. Practice combining concepts. It’s like learning a language!</a:t>
            </a:r>
          </a:p>
          <a:p>
            <a:pPr marL="527050" indent="-457200">
              <a:buFont typeface="+mj-lt"/>
              <a:buAutoNum type="arabicPeriod"/>
            </a:pPr>
            <a:r>
              <a:rPr lang="en-US" sz="1800" dirty="0" smtClean="0">
                <a:solidFill>
                  <a:srgbClr val="4A6300"/>
                </a:solidFill>
                <a:latin typeface="Avenir Book" charset="0"/>
                <a:cs typeface="Avenir Book" charset="0"/>
              </a:rPr>
              <a:t>You cannot avoid knowing the rules for a CS class. Please practice the rules on simple examples. The same rules apply to easy and </a:t>
            </a:r>
            <a:r>
              <a:rPr lang="en-US" sz="1800" smtClean="0">
                <a:solidFill>
                  <a:srgbClr val="4A6300"/>
                </a:solidFill>
                <a:latin typeface="Avenir Book" charset="0"/>
                <a:cs typeface="Avenir Book" charset="0"/>
              </a:rPr>
              <a:t>hard examples!</a:t>
            </a:r>
            <a:endParaRPr lang="en-US" sz="1800" dirty="0" smtClean="0">
              <a:solidFill>
                <a:srgbClr val="4A6300"/>
              </a:solidFill>
              <a:latin typeface="Avenir Book" charset="0"/>
              <a:cs typeface="Avenir Book" charset="0"/>
            </a:endParaRP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42</a:t>
            </a:fld>
            <a:endParaRPr lang="en-US">
              <a:solidFill>
                <a:srgbClr val="FEFEFE"/>
              </a:solidFill>
            </a:endParaRPr>
          </a:p>
        </p:txBody>
      </p:sp>
    </p:spTree>
    <p:extLst>
      <p:ext uri="{BB962C8B-B14F-4D97-AF65-F5344CB8AC3E}">
        <p14:creationId xmlns:p14="http://schemas.microsoft.com/office/powerpoint/2010/main" val="213695540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474133" y="1027113"/>
            <a:ext cx="8263466" cy="1143000"/>
          </a:xfrm>
        </p:spPr>
        <p:txBody>
          <a:bodyPr/>
          <a:lstStyle/>
          <a:p>
            <a:pPr algn="ctr"/>
            <a:r>
              <a:rPr lang="en-US" dirty="0" smtClean="0">
                <a:latin typeface="Century Gothic" charset="0"/>
              </a:rPr>
              <a:t>Optional Conceptual Questions (Wednesday 9/17 lecture)</a:t>
            </a:r>
            <a:endParaRPr lang="en-US" dirty="0">
              <a:latin typeface="Century Gothic" charset="0"/>
            </a:endParaRPr>
          </a:p>
        </p:txBody>
      </p:sp>
      <p:sp>
        <p:nvSpPr>
          <p:cNvPr id="3" name="Content Placeholder 2"/>
          <p:cNvSpPr>
            <a:spLocks noGrp="1"/>
          </p:cNvSpPr>
          <p:nvPr>
            <p:ph idx="1"/>
          </p:nvPr>
        </p:nvSpPr>
        <p:spPr>
          <a:xfrm>
            <a:off x="474132" y="2324100"/>
            <a:ext cx="8263467" cy="4195233"/>
          </a:xfrm>
        </p:spPr>
        <p:txBody>
          <a:bodyPr/>
          <a:lstStyle/>
          <a:p>
            <a:pPr marL="527050" indent="-457200">
              <a:buFont typeface="+mj-lt"/>
              <a:buAutoNum type="arabicPeriod"/>
            </a:pPr>
            <a:r>
              <a:rPr lang="en-US" sz="1800" dirty="0" smtClean="0">
                <a:solidFill>
                  <a:srgbClr val="4A6300"/>
                </a:solidFill>
                <a:latin typeface="Avenir Book" charset="0"/>
                <a:cs typeface="Avenir Book" charset="0"/>
              </a:rPr>
              <a:t>In cascade, why does the first print function print in decreasing order and why does the second one print in increasing order? Please explain using an environment diagram.</a:t>
            </a:r>
            <a:endParaRPr lang="en-US" sz="1800" dirty="0">
              <a:solidFill>
                <a:srgbClr val="4A6300"/>
              </a:solidFill>
              <a:latin typeface="Avenir Book" charset="0"/>
              <a:cs typeface="Avenir Book" charset="0"/>
            </a:endParaRPr>
          </a:p>
          <a:p>
            <a:pPr marL="823913" lvl="1" indent="-457200">
              <a:buFont typeface="+mj-lt"/>
              <a:buAutoNum type="arabicPeriod"/>
            </a:pPr>
            <a:r>
              <a:rPr lang="en-US" sz="1600" dirty="0" smtClean="0">
                <a:solidFill>
                  <a:srgbClr val="4A6300"/>
                </a:solidFill>
                <a:latin typeface="Avenir Book" charset="0"/>
                <a:cs typeface="Avenir Book" charset="0"/>
              </a:rPr>
              <a:t>print(n)</a:t>
            </a:r>
          </a:p>
          <a:p>
            <a:pPr marL="823913" lvl="1" indent="-457200">
              <a:buFont typeface="+mj-lt"/>
              <a:buAutoNum type="arabicPeriod"/>
            </a:pPr>
            <a:r>
              <a:rPr lang="en-US" sz="1600" dirty="0" smtClean="0">
                <a:solidFill>
                  <a:srgbClr val="4A6300"/>
                </a:solidFill>
                <a:latin typeface="Avenir Book" charset="0"/>
                <a:cs typeface="Avenir Book" charset="0"/>
              </a:rPr>
              <a:t>cascade(n // 10)</a:t>
            </a:r>
          </a:p>
          <a:p>
            <a:pPr marL="823913" lvl="1" indent="-457200">
              <a:buFont typeface="+mj-lt"/>
              <a:buAutoNum type="arabicPeriod"/>
            </a:pPr>
            <a:r>
              <a:rPr lang="en-US" sz="1600" dirty="0" smtClean="0">
                <a:solidFill>
                  <a:srgbClr val="4A6300"/>
                </a:solidFill>
                <a:latin typeface="Avenir Book" charset="0"/>
                <a:cs typeface="Avenir Book" charset="0"/>
              </a:rPr>
              <a:t>print(n)</a:t>
            </a:r>
          </a:p>
          <a:p>
            <a:pPr marL="527050" indent="-457200">
              <a:buFont typeface="+mj-lt"/>
              <a:buAutoNum type="arabicPeriod"/>
            </a:pPr>
            <a:r>
              <a:rPr lang="en-US" sz="1800" dirty="0" smtClean="0">
                <a:solidFill>
                  <a:srgbClr val="4A6300"/>
                </a:solidFill>
                <a:latin typeface="Avenir Book" charset="0"/>
                <a:cs typeface="Avenir Book" charset="0"/>
              </a:rPr>
              <a:t>How would you summarize the behavior of cascade? Now write </a:t>
            </a:r>
            <a:r>
              <a:rPr lang="en-US" sz="1800" dirty="0" err="1" smtClean="0">
                <a:solidFill>
                  <a:srgbClr val="4A6300"/>
                </a:solidFill>
                <a:latin typeface="Avenir Book" charset="0"/>
                <a:cs typeface="Avenir Book" charset="0"/>
              </a:rPr>
              <a:t>pseudocode</a:t>
            </a:r>
            <a:r>
              <a:rPr lang="en-US" sz="1800" dirty="0" smtClean="0">
                <a:solidFill>
                  <a:srgbClr val="4A6300"/>
                </a:solidFill>
                <a:latin typeface="Avenir Book" charset="0"/>
                <a:cs typeface="Avenir Book" charset="0"/>
              </a:rPr>
              <a:t> for cascade, replacing the recursive call with the behavior summary you came up with. Compare it with the actual output.</a:t>
            </a:r>
          </a:p>
          <a:p>
            <a:pPr marL="527050" indent="-457200">
              <a:buFont typeface="+mj-lt"/>
              <a:buAutoNum type="arabicPeriod"/>
            </a:pPr>
            <a:r>
              <a:rPr lang="en-US" sz="1800" dirty="0" smtClean="0">
                <a:solidFill>
                  <a:srgbClr val="4A6300"/>
                </a:solidFill>
                <a:latin typeface="Avenir Book" charset="0"/>
                <a:cs typeface="Avenir Book" charset="0"/>
              </a:rPr>
              <a:t>What makes tree recursion a special case of recursion? Why is tree recursion useful?</a:t>
            </a:r>
          </a:p>
          <a:p>
            <a:pPr marL="527050" indent="-457200">
              <a:buFont typeface="+mj-lt"/>
              <a:buAutoNum type="arabicPeriod"/>
            </a:pPr>
            <a:r>
              <a:rPr lang="en-US" sz="1800" dirty="0" smtClean="0">
                <a:solidFill>
                  <a:srgbClr val="4A6300"/>
                </a:solidFill>
                <a:latin typeface="Avenir Book" charset="0"/>
                <a:cs typeface="Avenir Book" charset="0"/>
              </a:rPr>
              <a:t>In </a:t>
            </a:r>
            <a:r>
              <a:rPr lang="en-US" sz="1800" dirty="0" err="1" smtClean="0">
                <a:solidFill>
                  <a:srgbClr val="4A6300"/>
                </a:solidFill>
                <a:latin typeface="Avenir Book" charset="0"/>
                <a:cs typeface="Avenir Book" charset="0"/>
              </a:rPr>
              <a:t>count_partitions</a:t>
            </a:r>
            <a:r>
              <a:rPr lang="en-US" sz="1800" dirty="0" smtClean="0">
                <a:solidFill>
                  <a:srgbClr val="4A6300"/>
                </a:solidFill>
                <a:latin typeface="Avenir Book" charset="0"/>
                <a:cs typeface="Avenir Book" charset="0"/>
              </a:rPr>
              <a:t>, what are the two simpler instances of the problem? How can you express the solution to those simpler instances using call expressions with </a:t>
            </a:r>
            <a:r>
              <a:rPr lang="en-US" sz="1800" dirty="0" err="1" smtClean="0">
                <a:solidFill>
                  <a:srgbClr val="4A6300"/>
                </a:solidFill>
                <a:latin typeface="Avenir Book" charset="0"/>
                <a:cs typeface="Avenir Book" charset="0"/>
              </a:rPr>
              <a:t>count_partitions</a:t>
            </a:r>
            <a:r>
              <a:rPr lang="en-US" sz="1800" dirty="0" smtClean="0">
                <a:solidFill>
                  <a:srgbClr val="4A6300"/>
                </a:solidFill>
                <a:latin typeface="Avenir Book" charset="0"/>
                <a:cs typeface="Avenir Book" charset="0"/>
              </a:rPr>
              <a:t>?</a:t>
            </a:r>
          </a:p>
        </p:txBody>
      </p:sp>
      <p:sp>
        <p:nvSpPr>
          <p:cNvPr id="614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charset="0"/>
                <a:ea typeface="ＭＳ Ｐゴシック" charset="0"/>
                <a:cs typeface="ＭＳ Ｐゴシック" charset="0"/>
              </a:defRPr>
            </a:lvl1pPr>
            <a:lvl2pPr marL="742950" indent="-285750">
              <a:defRPr>
                <a:solidFill>
                  <a:schemeClr val="tx1"/>
                </a:solidFill>
                <a:latin typeface="Century Gothic" charset="0"/>
                <a:ea typeface="ＭＳ Ｐゴシック" charset="0"/>
              </a:defRPr>
            </a:lvl2pPr>
            <a:lvl3pPr marL="1143000" indent="-228600">
              <a:defRPr>
                <a:solidFill>
                  <a:schemeClr val="tx1"/>
                </a:solidFill>
                <a:latin typeface="Century Gothic" charset="0"/>
                <a:ea typeface="ＭＳ Ｐゴシック" charset="0"/>
              </a:defRPr>
            </a:lvl3pPr>
            <a:lvl4pPr marL="1600200" indent="-228600">
              <a:defRPr>
                <a:solidFill>
                  <a:schemeClr val="tx1"/>
                </a:solidFill>
                <a:latin typeface="Century Gothic" charset="0"/>
                <a:ea typeface="ＭＳ Ｐゴシック" charset="0"/>
              </a:defRPr>
            </a:lvl4pPr>
            <a:lvl5pPr marL="2057400" indent="-228600">
              <a:defRPr>
                <a:solidFill>
                  <a:schemeClr val="tx1"/>
                </a:solidFill>
                <a:latin typeface="Century Gothic" charset="0"/>
                <a:ea typeface="ＭＳ Ｐゴシック" charset="0"/>
              </a:defRPr>
            </a:lvl5pPr>
            <a:lvl6pPr marL="2514600" indent="-228600" fontAlgn="base">
              <a:spcBef>
                <a:spcPct val="0"/>
              </a:spcBef>
              <a:spcAft>
                <a:spcPct val="0"/>
              </a:spcAft>
              <a:defRPr>
                <a:solidFill>
                  <a:schemeClr val="tx1"/>
                </a:solidFill>
                <a:latin typeface="Century Gothic" charset="0"/>
                <a:ea typeface="ＭＳ Ｐゴシック" charset="0"/>
              </a:defRPr>
            </a:lvl6pPr>
            <a:lvl7pPr marL="2971800" indent="-228600" fontAlgn="base">
              <a:spcBef>
                <a:spcPct val="0"/>
              </a:spcBef>
              <a:spcAft>
                <a:spcPct val="0"/>
              </a:spcAft>
              <a:defRPr>
                <a:solidFill>
                  <a:schemeClr val="tx1"/>
                </a:solidFill>
                <a:latin typeface="Century Gothic" charset="0"/>
                <a:ea typeface="ＭＳ Ｐゴシック" charset="0"/>
              </a:defRPr>
            </a:lvl7pPr>
            <a:lvl8pPr marL="3429000" indent="-228600" fontAlgn="base">
              <a:spcBef>
                <a:spcPct val="0"/>
              </a:spcBef>
              <a:spcAft>
                <a:spcPct val="0"/>
              </a:spcAft>
              <a:defRPr>
                <a:solidFill>
                  <a:schemeClr val="tx1"/>
                </a:solidFill>
                <a:latin typeface="Century Gothic" charset="0"/>
                <a:ea typeface="ＭＳ Ｐゴシック" charset="0"/>
              </a:defRPr>
            </a:lvl8pPr>
            <a:lvl9pPr marL="3886200" indent="-228600" fontAlgn="base">
              <a:spcBef>
                <a:spcPct val="0"/>
              </a:spcBef>
              <a:spcAft>
                <a:spcPct val="0"/>
              </a:spcAft>
              <a:defRPr>
                <a:solidFill>
                  <a:schemeClr val="tx1"/>
                </a:solidFill>
                <a:latin typeface="Century Gothic" charset="0"/>
                <a:ea typeface="ＭＳ Ｐゴシック" charset="0"/>
              </a:defRPr>
            </a:lvl9pPr>
          </a:lstStyle>
          <a:p>
            <a:pPr fontAlgn="base">
              <a:spcBef>
                <a:spcPct val="0"/>
              </a:spcBef>
              <a:spcAft>
                <a:spcPct val="0"/>
              </a:spcAft>
            </a:pPr>
            <a:fld id="{9B6F7E0B-2963-1842-872C-CA99E62BCD77}" type="slidenum">
              <a:rPr lang="en-US">
                <a:solidFill>
                  <a:srgbClr val="FEFEFE"/>
                </a:solidFill>
              </a:rPr>
              <a:pPr fontAlgn="base">
                <a:spcBef>
                  <a:spcPct val="0"/>
                </a:spcBef>
                <a:spcAft>
                  <a:spcPct val="0"/>
                </a:spcAft>
              </a:pPr>
              <a:t>43</a:t>
            </a:fld>
            <a:endParaRPr lang="en-US">
              <a:solidFill>
                <a:srgbClr val="FEFEFE"/>
              </a:solidFill>
            </a:endParaRPr>
          </a:p>
        </p:txBody>
      </p:sp>
    </p:spTree>
    <p:extLst>
      <p:ext uri="{BB962C8B-B14F-4D97-AF65-F5344CB8AC3E}">
        <p14:creationId xmlns:p14="http://schemas.microsoft.com/office/powerpoint/2010/main" val="98789922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scussion0">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discussion0.ppt</Template>
  <TotalTime>12063</TotalTime>
  <Words>4366</Words>
  <Application>Microsoft Macintosh PowerPoint</Application>
  <PresentationFormat>On-screen Show (4:3)</PresentationFormat>
  <Paragraphs>602</Paragraphs>
  <Slides>43</Slides>
  <Notes>42</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discussion0</vt:lpstr>
      <vt:lpstr>Welcome to CS61A Disc 3 Sect. 29/47 :D</vt:lpstr>
      <vt:lpstr>Section Quiz Logistics</vt:lpstr>
      <vt:lpstr>Section Quiz</vt:lpstr>
      <vt:lpstr>Section Quiz [Solution]</vt:lpstr>
      <vt:lpstr>Section Quiz [Solution]</vt:lpstr>
      <vt:lpstr>Anuncios</vt:lpstr>
      <vt:lpstr>Tip of the Day</vt:lpstr>
      <vt:lpstr>Tip of the Day</vt:lpstr>
      <vt:lpstr>Tip of the Day</vt:lpstr>
      <vt:lpstr>Recall: Characteristics of Functions</vt:lpstr>
      <vt:lpstr>Characteristics of Functions</vt:lpstr>
      <vt:lpstr>Characteristics of Functions</vt:lpstr>
      <vt:lpstr>Characteristics of Functions</vt:lpstr>
      <vt:lpstr>Characteristics of Functions</vt:lpstr>
      <vt:lpstr>Characteristics of Functions</vt:lpstr>
      <vt:lpstr>Recursion Important Q’s</vt:lpstr>
      <vt:lpstr>Goal</vt:lpstr>
      <vt:lpstr>Recursion Qs: Example</vt:lpstr>
      <vt:lpstr>Recursion Qs: Example</vt:lpstr>
      <vt:lpstr>Recursion Qs: Example</vt:lpstr>
      <vt:lpstr>Recursion Qs: Example</vt:lpstr>
      <vt:lpstr>Recursion Qs: Example</vt:lpstr>
      <vt:lpstr>Recursion Qs: Example</vt:lpstr>
      <vt:lpstr>Recursion Qs: Example</vt:lpstr>
      <vt:lpstr>Recursion Qs: Example</vt:lpstr>
      <vt:lpstr>Recursion Qs: Example</vt:lpstr>
      <vt:lpstr>Recursion Qs: Example</vt:lpstr>
      <vt:lpstr>Recursion Takeaways</vt:lpstr>
      <vt:lpstr>Break</vt:lpstr>
      <vt:lpstr>Tree Recursion</vt:lpstr>
      <vt:lpstr>Tree Recursion Important Q’s</vt:lpstr>
      <vt:lpstr>Tree Recursion Qs: Example</vt:lpstr>
      <vt:lpstr>Tree Recursion Qs: Example</vt:lpstr>
      <vt:lpstr>Recursion Qs: Example</vt:lpstr>
      <vt:lpstr>What Makes Tree Recursion Special?</vt:lpstr>
      <vt:lpstr>Break</vt:lpstr>
      <vt:lpstr>Iteration vs Recursion</vt:lpstr>
      <vt:lpstr>Iteration vs Recursion</vt:lpstr>
      <vt:lpstr>Env Diagram Rules Source: Andrew Huang</vt:lpstr>
      <vt:lpstr>Env Diagram Rules</vt:lpstr>
      <vt:lpstr>Env Diagram Rules Source: Andrew Huang</vt:lpstr>
      <vt:lpstr>Midterm Tips</vt:lpstr>
      <vt:lpstr>Optional Conceptual Questions (Wednesday 9/17 lecture)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CS61A Section 47 :D</dc:title>
  <dc:creator>Dickson Tsai</dc:creator>
  <cp:lastModifiedBy>Dickson Tsai</cp:lastModifiedBy>
  <cp:revision>152</cp:revision>
  <dcterms:created xsi:type="dcterms:W3CDTF">2014-08-28T16:21:02Z</dcterms:created>
  <dcterms:modified xsi:type="dcterms:W3CDTF">2014-09-26T05:13:24Z</dcterms:modified>
</cp:coreProperties>
</file>