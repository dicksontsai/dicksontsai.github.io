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66" r:id="rId4"/>
    <p:sldId id="260" r:id="rId5"/>
    <p:sldId id="264" r:id="rId6"/>
    <p:sldId id="262" r:id="rId7"/>
    <p:sldId id="259" r:id="rId8"/>
    <p:sldId id="265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9" d="100"/>
          <a:sy n="99" d="100"/>
        </p:scale>
        <p:origin x="-408" y="7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handoutMaster" Target="handoutMasters/handoutMaster1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D6FA6C3-894D-9342-858C-89781436E0BA}" type="datetimeFigureOut">
              <a:rPr lang="en-US"/>
              <a:pPr>
                <a:defRPr/>
              </a:pPr>
              <a:t>9/30/14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C915EBA-7225-EA45-954F-AB711B4338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512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F11027A8-00FB-C24C-8EBA-1EDF84C5EE30}" type="datetimeFigureOut">
              <a:rPr lang="en-US"/>
              <a:pPr>
                <a:defRPr/>
              </a:pPr>
              <a:t>9/30/14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 noProof="0" smtClean="0"/>
              <a:t>Click to edit Master text styles</a:t>
            </a:r>
          </a:p>
          <a:p>
            <a:pPr lvl="1"/>
            <a:r>
              <a:rPr lang="x-none" noProof="0" smtClean="0"/>
              <a:t>Second level</a:t>
            </a:r>
          </a:p>
          <a:p>
            <a:pPr lvl="2"/>
            <a:r>
              <a:rPr lang="x-none" noProof="0" smtClean="0"/>
              <a:t>Third level</a:t>
            </a:r>
          </a:p>
          <a:p>
            <a:pPr lvl="3"/>
            <a:r>
              <a:rPr lang="x-none" noProof="0" smtClean="0"/>
              <a:t>Fourth level</a:t>
            </a:r>
          </a:p>
          <a:p>
            <a:pPr lvl="4"/>
            <a:r>
              <a:rPr lang="x-none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EB6E1B7-B6E5-514A-9283-C0DC69B17F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435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5" name="Group 44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8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0" name="Rectangle 39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1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2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29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7" name="Rectangle 36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8" name="Rectangle 37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4" name="Rectangle 33"/>
                <p:cNvSpPr/>
                <p:nvPr/>
              </p:nvSpPr>
              <p:spPr>
                <a:xfrm>
                  <a:off x="916372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5" name="Rectangle 34"/>
                <p:cNvSpPr/>
                <p:nvPr/>
              </p:nvSpPr>
              <p:spPr>
                <a:xfrm>
                  <a:off x="2032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230617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31" name="Rectangle 30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6" name="Freeform 5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Hexagon 10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Hexagon 16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Freeform 25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3" name="Rectangle 42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4649788" y="-22225"/>
            <a:ext cx="3505200" cy="23129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en-US" dirty="0"/>
          </a:p>
        </p:txBody>
      </p:sp>
      <p:sp>
        <p:nvSpPr>
          <p:cNvPr id="47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688" y="1516063"/>
            <a:ext cx="2133600" cy="752475"/>
          </a:xfrm>
        </p:spPr>
        <p:txBody>
          <a:bodyPr anchor="b"/>
          <a:lstStyle>
            <a:lvl1pPr algn="l">
              <a:defRPr sz="2400" smtClean="0"/>
            </a:lvl1pPr>
          </a:lstStyle>
          <a:p>
            <a:pPr>
              <a:defRPr/>
            </a:pPr>
            <a:fld id="{6655137A-6FB0-1C4E-94C3-267D0A594E98}" type="datetime4">
              <a:rPr lang="en-US"/>
              <a:pPr>
                <a:defRPr/>
              </a:pPr>
              <a:t>September 30, 2014</a:t>
            </a:fld>
            <a:endParaRPr lang="en-US" dirty="0"/>
          </a:p>
        </p:txBody>
      </p:sp>
      <p:sp>
        <p:nvSpPr>
          <p:cNvPr id="4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838" y="5719763"/>
            <a:ext cx="2830512" cy="365125"/>
          </a:xfrm>
        </p:spPr>
        <p:txBody>
          <a:bodyPr>
            <a:normAutofit/>
          </a:bodyPr>
          <a:lstStyle>
            <a:lvl1pPr>
              <a:defRPr dirty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788" y="5719763"/>
            <a:ext cx="642937" cy="365125"/>
          </a:xfrm>
        </p:spPr>
        <p:txBody>
          <a:bodyPr/>
          <a:lstStyle>
            <a:lvl1pPr>
              <a:defRPr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C8AB3673-7F39-5843-8E75-30B1437A0E6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629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F16100-0000-9F4B-9427-59A4B6C5F6E8}" type="datetime4">
              <a:rPr lang="en-US"/>
              <a:pPr>
                <a:defRPr/>
              </a:pPr>
              <a:t>September 30,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115C37-9862-4A4D-8ED0-DA94B4E9ED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70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/>
          <a:lstStyle>
            <a:lvl1pPr algn="l">
              <a:defRPr sz="4000" b="0" cap="none" baseline="0"/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E6BC0-9B5A-E141-AC34-D53ED23DCC8B}" type="datetime4">
              <a:rPr lang="en-US"/>
              <a:pPr>
                <a:defRPr/>
              </a:pPr>
              <a:t>September 30,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F6B77E-877A-634E-8367-933DCBBB0C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680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4F12F-EAF1-5D4C-880F-775AA42497DD}" type="datetime4">
              <a:rPr lang="en-US"/>
              <a:pPr>
                <a:defRPr/>
              </a:pPr>
              <a:t>September 30, 2014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934F99-59E1-674F-B576-6D449172EE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960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CA0580-2F88-7044-9CC5-C84EE5CA0F77}" type="datetime4">
              <a:rPr lang="en-US"/>
              <a:pPr>
                <a:defRPr/>
              </a:pPr>
              <a:t>September 30, 2014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650751-79D9-1344-AD3D-FA20E34824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893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A403FB-6F30-AC4D-8EDB-8F62E14D9E80}" type="datetime4">
              <a:rPr lang="en-US"/>
              <a:pPr>
                <a:defRPr/>
              </a:pPr>
              <a:t>September 30, 2014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8FC7C-C76F-7B4C-A7EE-E50F653139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245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8429B-D636-EC4D-85FC-9BD3CD488279}" type="datetime4">
              <a:rPr lang="en-US"/>
              <a:pPr>
                <a:defRPr/>
              </a:pPr>
              <a:t>September 30, 2014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5C0BBE-D4FC-4844-8BE2-FB25DC1A1A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995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6" name="Group 61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9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1" name="Rectangle 40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2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3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8" name="Rectangle 37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0" name="Rectangle 39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1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5" name="Rectangle 34"/>
                <p:cNvSpPr/>
                <p:nvPr/>
              </p:nvSpPr>
              <p:spPr>
                <a:xfrm>
                  <a:off x="916372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2032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7" name="Rectangle 36"/>
                <p:cNvSpPr/>
                <p:nvPr/>
              </p:nvSpPr>
              <p:spPr>
                <a:xfrm>
                  <a:off x="230617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32" name="Rectangle 31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7" name="Freeform 6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Hexagon 15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Hexagon 25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4" name="Rectangle 43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904875" y="601663"/>
            <a:ext cx="3562350" cy="56483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>
            <a:normAutofit/>
          </a:bodyPr>
          <a:lstStyle>
            <a:lvl1pPr algn="l">
              <a:defRPr sz="2800" b="0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CFDE1A-A3B7-4942-8E99-F13B05783BF1}" type="datetime4">
              <a:rPr lang="en-US"/>
              <a:pPr>
                <a:defRPr/>
              </a:pPr>
              <a:t>September 30, 2014</a:t>
            </a:fld>
            <a:endParaRPr lang="en-US"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198C8-ACE9-D74A-862F-4CCA0EB14A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0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4641850" y="5724525"/>
            <a:ext cx="3492500" cy="365125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56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6" name="Group 61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9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1" name="Rectangle 40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2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3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8" name="Rectangle 37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0" name="Rectangle 39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1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5" name="Rectangle 34"/>
                <p:cNvSpPr/>
                <p:nvPr/>
              </p:nvSpPr>
              <p:spPr>
                <a:xfrm>
                  <a:off x="916372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2032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7" name="Rectangle 36"/>
                <p:cNvSpPr/>
                <p:nvPr/>
              </p:nvSpPr>
              <p:spPr>
                <a:xfrm>
                  <a:off x="230617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32" name="Rectangle 31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7" name="Freeform 6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Hexagon 15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Hexagon 25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4" name="Rectangle 43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904875" y="601663"/>
            <a:ext cx="3562350" cy="564832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>
            <a:normAutofit/>
          </a:bodyPr>
          <a:lstStyle>
            <a:lvl1pPr algn="l">
              <a:defRPr sz="2800" b="0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 rtlCol="0">
            <a:norm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DDEC9-34B2-2B47-8562-0DB2DDF36A93}" type="datetime4">
              <a:rPr lang="en-US"/>
              <a:pPr>
                <a:defRPr/>
              </a:pPr>
              <a:t>September 30, 2014</a:t>
            </a:fld>
            <a:endParaRPr lang="en-US"/>
          </a:p>
        </p:txBody>
      </p:sp>
      <p:sp>
        <p:nvSpPr>
          <p:cNvPr id="4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850" y="5724525"/>
            <a:ext cx="3492500" cy="365125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54C8CE-B679-E249-8A21-F0C3828050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312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753F03-5748-284E-8EA1-FA16176281C4}" type="datetime4">
              <a:rPr lang="en-US"/>
              <a:pPr>
                <a:defRPr/>
              </a:pPr>
              <a:t>September 30,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80443-B5BA-1441-A0F5-E0E8C82EE8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67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6883A8-6536-C340-9C9B-990BB2391E14}" type="datetime4">
              <a:rPr lang="en-US"/>
              <a:pPr>
                <a:defRPr/>
              </a:pPr>
              <a:t>September 30,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6EAA6B-3350-4147-9EAD-27A9D5A683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39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1"/>
          <p:cNvGrpSpPr>
            <a:grpSpLocks/>
          </p:cNvGrpSpPr>
          <p:nvPr/>
        </p:nvGrpSpPr>
        <p:grpSpPr bwMode="auto">
          <a:xfrm>
            <a:off x="-304800" y="0"/>
            <a:ext cx="9932988" cy="6858000"/>
            <a:chOff x="-382404" y="0"/>
            <a:chExt cx="9932332" cy="6858000"/>
          </a:xfrm>
        </p:grpSpPr>
        <p:grpSp>
          <p:nvGrpSpPr>
            <p:cNvPr id="1035" name="Group 44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58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1059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1060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6373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2033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30618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2540" y="5035550"/>
              <a:ext cx="9144983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2540" y="3467100"/>
              <a:ext cx="9144983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2540" y="5284788"/>
              <a:ext cx="9144983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6793" y="5132388"/>
              <a:ext cx="6982951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5573" y="28590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19425" y="41259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8949" y="15922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6524" y="32543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2326" y="53832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3969" y="54022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542" y="28495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394" y="41259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09771" y="54117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8820" y="28590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443" y="15636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997" y="4056063"/>
              <a:ext cx="1242931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997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375"/>
            <a:ext cx="8229600" cy="61864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0888" y="-22225"/>
            <a:ext cx="3679825" cy="700088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30" name="Title Placeholder 1"/>
          <p:cNvSpPr>
            <a:spLocks noGrp="1"/>
          </p:cNvSpPr>
          <p:nvPr>
            <p:ph type="title"/>
          </p:nvPr>
        </p:nvSpPr>
        <p:spPr bwMode="auto">
          <a:xfrm>
            <a:off x="1042988" y="1027113"/>
            <a:ext cx="70246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42988" y="2324100"/>
            <a:ext cx="6777037" cy="350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EFEFE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3356F25-E6A9-6B44-B749-785EDDA8CCD6}" type="datetime4">
              <a:rPr lang="en-US"/>
              <a:pPr>
                <a:defRPr/>
              </a:pPr>
              <a:t>September 30,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EFEFE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258D96C5-9F30-DE44-9E70-A9B1977192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6" r:id="rId8"/>
    <p:sldLayoutId id="2147483817" r:id="rId9"/>
    <p:sldLayoutId id="2147483813" r:id="rId10"/>
    <p:sldLayoutId id="2147483814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kern="1200">
          <a:solidFill>
            <a:schemeClr val="accent1"/>
          </a:solidFill>
          <a:latin typeface="+mj-lt"/>
          <a:ea typeface="ＭＳ Ｐゴシック" charset="0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30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2400" kern="1200">
          <a:solidFill>
            <a:schemeClr val="tx2"/>
          </a:solidFill>
          <a:latin typeface="+mn-lt"/>
          <a:ea typeface="ＭＳ Ｐゴシック" charset="0"/>
          <a:cs typeface="ＭＳ Ｐゴシック" charset="0"/>
        </a:defRPr>
      </a:lvl1pPr>
      <a:lvl2pPr marL="639763" indent="-2730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2200" kern="1200">
          <a:solidFill>
            <a:schemeClr val="tx2"/>
          </a:solidFill>
          <a:latin typeface="+mn-lt"/>
          <a:ea typeface="ＭＳ Ｐゴシック" charset="0"/>
          <a:cs typeface="+mn-cs"/>
        </a:defRPr>
      </a:lvl2pPr>
      <a:lvl3pPr marL="914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2000" kern="1200">
          <a:solidFill>
            <a:schemeClr val="tx2"/>
          </a:solidFill>
          <a:latin typeface="+mn-lt"/>
          <a:ea typeface="ＭＳ Ｐゴシック" charset="0"/>
          <a:cs typeface="+mn-cs"/>
        </a:defRPr>
      </a:lvl3pPr>
      <a:lvl4pPr marL="112395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kern="1200">
          <a:solidFill>
            <a:schemeClr val="tx2"/>
          </a:solidFill>
          <a:latin typeface="+mn-lt"/>
          <a:ea typeface="ＭＳ Ｐゴシック" charset="0"/>
          <a:cs typeface="+mn-cs"/>
        </a:defRPr>
      </a:lvl4pPr>
      <a:lvl5pPr marL="1325563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1600" kern="1200">
          <a:solidFill>
            <a:schemeClr val="tx2"/>
          </a:solidFill>
          <a:latin typeface="+mn-lt"/>
          <a:ea typeface="ＭＳ Ｐゴシック" charset="0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dickson.tsai@berkeley.ed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dicksontsai.com/meet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itle 1"/>
          <p:cNvSpPr>
            <a:spLocks noGrp="1"/>
          </p:cNvSpPr>
          <p:nvPr>
            <p:ph type="ctrTitle"/>
          </p:nvPr>
        </p:nvSpPr>
        <p:spPr>
          <a:xfrm>
            <a:off x="4733925" y="2446338"/>
            <a:ext cx="3313113" cy="1963737"/>
          </a:xfrm>
        </p:spPr>
        <p:txBody>
          <a:bodyPr/>
          <a:lstStyle/>
          <a:p>
            <a:r>
              <a:rPr lang="en-US" dirty="0">
                <a:latin typeface="Century Gothic" charset="0"/>
              </a:rPr>
              <a:t>Welcome to CS61A </a:t>
            </a:r>
            <a:r>
              <a:rPr lang="en-US" dirty="0" smtClean="0">
                <a:latin typeface="Century Gothic" charset="0"/>
              </a:rPr>
              <a:t>Lab </a:t>
            </a:r>
            <a:r>
              <a:rPr lang="en-US" dirty="0" smtClean="0">
                <a:latin typeface="Century Gothic" charset="0"/>
              </a:rPr>
              <a:t>4 </a:t>
            </a:r>
            <a:r>
              <a:rPr lang="en-US" dirty="0" smtClean="0">
                <a:latin typeface="Century Gothic" charset="0"/>
              </a:rPr>
              <a:t>Sect. 29</a:t>
            </a:r>
            <a:r>
              <a:rPr lang="en-US" dirty="0">
                <a:latin typeface="Century Gothic" charset="0"/>
              </a:rPr>
              <a:t>/47 :D</a:t>
            </a:r>
          </a:p>
        </p:txBody>
      </p:sp>
      <p:sp>
        <p:nvSpPr>
          <p:cNvPr id="5122" name="Subtitle 2"/>
          <p:cNvSpPr>
            <a:spLocks noGrp="1"/>
          </p:cNvSpPr>
          <p:nvPr>
            <p:ph type="subTitle" idx="1"/>
          </p:nvPr>
        </p:nvSpPr>
        <p:spPr>
          <a:xfrm>
            <a:off x="4733925" y="4421188"/>
            <a:ext cx="3309938" cy="1260475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Century Gothic" charset="0"/>
              </a:rPr>
              <a:t>Dickson Tsai</a:t>
            </a:r>
          </a:p>
          <a:p>
            <a:r>
              <a:rPr lang="en-US" dirty="0" smtClean="0">
                <a:latin typeface="Century Gothic" charset="0"/>
                <a:hlinkClick r:id="rId2"/>
              </a:rPr>
              <a:t>dickson.tsai+cs61a@</a:t>
            </a:r>
            <a:r>
              <a:rPr lang="en-US" dirty="0">
                <a:latin typeface="Century Gothic" charset="0"/>
                <a:hlinkClick r:id="rId2"/>
              </a:rPr>
              <a:t>berkeley.edu</a:t>
            </a:r>
            <a:endParaRPr lang="en-US" dirty="0">
              <a:latin typeface="Century Gothic" charset="0"/>
            </a:endParaRPr>
          </a:p>
          <a:p>
            <a:r>
              <a:rPr lang="en-US" dirty="0">
                <a:latin typeface="Century Gothic" charset="0"/>
              </a:rPr>
              <a:t>OH: </a:t>
            </a:r>
            <a:r>
              <a:rPr lang="en-US" dirty="0" err="1">
                <a:latin typeface="Century Gothic" charset="0"/>
              </a:rPr>
              <a:t>Tu</a:t>
            </a:r>
            <a:r>
              <a:rPr lang="en-US" dirty="0">
                <a:latin typeface="Century Gothic" charset="0"/>
              </a:rPr>
              <a:t>, </a:t>
            </a:r>
            <a:r>
              <a:rPr lang="en-US" dirty="0" err="1">
                <a:latin typeface="Century Gothic" charset="0"/>
              </a:rPr>
              <a:t>Th</a:t>
            </a:r>
            <a:r>
              <a:rPr lang="en-US" dirty="0">
                <a:latin typeface="Century Gothic" charset="0"/>
              </a:rPr>
              <a:t> 4-5pm 411 Soda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 bwMode="auto">
          <a:xfrm>
            <a:off x="-282575" y="4425950"/>
            <a:ext cx="4781550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  <a:buSzPct val="76000"/>
              <a:buFont typeface="Arial" charset="0"/>
              <a:buChar char="•"/>
            </a:pPr>
            <a:r>
              <a:rPr lang="en-US" dirty="0" smtClean="0">
                <a:solidFill>
                  <a:srgbClr val="424242"/>
                </a:solidFill>
              </a:rPr>
              <a:t>Previous: </a:t>
            </a:r>
            <a:r>
              <a:rPr lang="en-US" dirty="0" smtClean="0">
                <a:solidFill>
                  <a:srgbClr val="424242"/>
                </a:solidFill>
              </a:rPr>
              <a:t>Midterm (functions)</a:t>
            </a:r>
            <a:r>
              <a:rPr lang="en-US" dirty="0" smtClean="0">
                <a:solidFill>
                  <a:srgbClr val="424242"/>
                </a:solidFill>
              </a:rPr>
              <a:t> </a:t>
            </a:r>
            <a:r>
              <a:rPr lang="en-US" b="1" dirty="0" smtClean="0">
                <a:solidFill>
                  <a:srgbClr val="424242"/>
                </a:solidFill>
              </a:rPr>
              <a:t>&gt;</a:t>
            </a:r>
            <a:r>
              <a:rPr lang="en-US" b="1" dirty="0">
                <a:solidFill>
                  <a:srgbClr val="424242"/>
                </a:solidFill>
              </a:rPr>
              <a:t>&gt;&gt;</a:t>
            </a:r>
          </a:p>
          <a:p>
            <a:pPr>
              <a:spcBef>
                <a:spcPct val="20000"/>
              </a:spcBef>
              <a:buClr>
                <a:schemeClr val="accent1"/>
              </a:buClr>
              <a:buSzPct val="76000"/>
              <a:buFont typeface="Arial" charset="0"/>
              <a:buChar char="•"/>
            </a:pPr>
            <a:r>
              <a:rPr lang="en-US" b="1" dirty="0">
                <a:solidFill>
                  <a:srgbClr val="424242"/>
                </a:solidFill>
              </a:rPr>
              <a:t>Today: </a:t>
            </a:r>
            <a:r>
              <a:rPr lang="en-US" b="1" dirty="0" smtClean="0">
                <a:solidFill>
                  <a:srgbClr val="424242"/>
                </a:solidFill>
              </a:rPr>
              <a:t>Lists (data)</a:t>
            </a:r>
            <a:r>
              <a:rPr lang="en-US" b="1" dirty="0" smtClean="0">
                <a:solidFill>
                  <a:srgbClr val="424242"/>
                </a:solidFill>
              </a:rPr>
              <a:t> </a:t>
            </a:r>
            <a:r>
              <a:rPr lang="en-US" b="1" dirty="0" smtClean="0">
                <a:solidFill>
                  <a:srgbClr val="424242"/>
                </a:solidFill>
              </a:rPr>
              <a:t>&gt;</a:t>
            </a:r>
            <a:r>
              <a:rPr lang="en-US" b="1" dirty="0">
                <a:solidFill>
                  <a:srgbClr val="424242"/>
                </a:solidFill>
              </a:rPr>
              <a:t>&gt;&gt;</a:t>
            </a:r>
          </a:p>
          <a:p>
            <a:pPr>
              <a:spcBef>
                <a:spcPct val="20000"/>
              </a:spcBef>
              <a:buClr>
                <a:schemeClr val="accent1"/>
              </a:buClr>
              <a:buSzPct val="76000"/>
              <a:buFont typeface="Arial" charset="0"/>
              <a:buChar char="•"/>
            </a:pPr>
            <a:r>
              <a:rPr lang="en-US" dirty="0">
                <a:solidFill>
                  <a:srgbClr val="424242"/>
                </a:solidFill>
              </a:rPr>
              <a:t>Next stop: </a:t>
            </a:r>
            <a:r>
              <a:rPr lang="en-US" dirty="0" smtClean="0">
                <a:solidFill>
                  <a:srgbClr val="424242"/>
                </a:solidFill>
              </a:rPr>
              <a:t>Linked lists, mutable data, and dictionaries</a:t>
            </a:r>
            <a:endParaRPr lang="en-US" dirty="0">
              <a:solidFill>
                <a:srgbClr val="424242"/>
              </a:solidFill>
            </a:endParaRPr>
          </a:p>
        </p:txBody>
      </p:sp>
      <p:sp>
        <p:nvSpPr>
          <p:cNvPr id="5124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04F7D4B-5206-4F42-A4A3-937B571AE82A}" type="slidenum">
              <a:rPr lang="en-US">
                <a:solidFill>
                  <a:schemeClr val="accent1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entury Gothic" charset="0"/>
              </a:rPr>
              <a:t>Anuncios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4100"/>
            <a:ext cx="8128000" cy="400896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Project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2 due 10/9, I believe. It will be out soon.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HW3 is due tomorrow 10/1. It is hard, so get started!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 made a place where you can book private appointments with me!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  <a:hlinkClick r:id="rId3"/>
              </a:rPr>
              <a:t>dicksontsai.com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  <a:hlinkClick r:id="rId3"/>
              </a:rPr>
              <a:t>/meet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(idea from Prof.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DeNero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)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Reminder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: My OH are Tuesdays, Thursdays 4-5 PM</a:t>
            </a:r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in Soda 411</a:t>
            </a:r>
          </a:p>
          <a:p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>
              <a:solidFill>
                <a:srgbClr val="FEFEFE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entury Gothic" charset="0"/>
              </a:rPr>
              <a:t>Midterm Common Patterns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4100"/>
            <a:ext cx="8128000" cy="400896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You can write as much as you want on the test.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E.g. you can write the expressions you are currently evaluating to the left of the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env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diagram so you won’t get lost.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 quick way to check your answer is to run it with the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doctest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examples or other simple examples. That way, you guess can be ‘more educated’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The class as a whole did well on WWPP and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env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diagrams, but had much more trouble on the coding problems.	Practice!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  <a:sym typeface="Wingdings"/>
              </a:rPr>
              <a:t>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There is no ‘formula’ for you to follow. Try to understand your tools intuitively, e.g. when is a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func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useful, etc.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7260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808239" y="455613"/>
            <a:ext cx="7428095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Tip of the </a:t>
            </a:r>
            <a:r>
              <a:rPr lang="en-US" dirty="0" smtClean="0">
                <a:latin typeface="Century Gothic" charset="0"/>
              </a:rPr>
              <a:t>Day [Daily double!]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Test-driven development</a:t>
            </a:r>
            <a:endParaRPr lang="en-US" dirty="0" smtClean="0">
              <a:solidFill>
                <a:srgbClr val="4A6300"/>
              </a:solidFill>
              <a:latin typeface="Avenir Book"/>
              <a:cs typeface="Avenir Book"/>
            </a:endParaRP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Find yourself using print/python3 –</a:t>
            </a:r>
            <a:r>
              <a:rPr lang="en-US" dirty="0" err="1" smtClean="0">
                <a:solidFill>
                  <a:srgbClr val="4A6300"/>
                </a:solidFill>
                <a:latin typeface="Avenir Book"/>
                <a:cs typeface="Avenir Book"/>
              </a:rPr>
              <a:t>i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 </a:t>
            </a:r>
            <a:r>
              <a:rPr lang="en-US" dirty="0" err="1" smtClean="0">
                <a:solidFill>
                  <a:srgbClr val="4A6300"/>
                </a:solidFill>
                <a:latin typeface="Avenir Book"/>
                <a:cs typeface="Avenir Book"/>
              </a:rPr>
              <a:t>file.py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 a lot? Here are some suggestions you can try out.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If you don’t understand a problem, make tests for it. Having edge cases written especially helps.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Practice running through code in your head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Great for exams and programming interviews!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…but it’s not a skill you acquire for free. You must develop those skills.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This skill + regular testing (and informative test output) = success!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5473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Directions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Access the lab at cs61a.org</a:t>
            </a:r>
          </a:p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Please do not skip the WWPP questions. You should be actually typing the code into the interpreter.</a:t>
            </a:r>
          </a:p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My lab assistants and I will make two passes: 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one pass where you will explain the WWPP problems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one pass where you have to walk us through how you solve a problem from this lab/HW3.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Must submit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: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Q6, Q7, Q11, Q12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in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lab04.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py</a:t>
            </a:r>
            <a:endParaRPr lang="en-US" dirty="0" smtClean="0">
              <a:solidFill>
                <a:srgbClr val="4A6300"/>
              </a:solidFill>
              <a:latin typeface="Avenir Book"/>
              <a:cs typeface="Avenir Book"/>
            </a:endParaRPr>
          </a:p>
          <a:p>
            <a:pPr marL="69850" indent="0">
              <a:buNone/>
            </a:pPr>
            <a:endParaRPr lang="en-US" dirty="0" smtClean="0">
              <a:solidFill>
                <a:srgbClr val="4A6300"/>
              </a:solidFill>
              <a:latin typeface="Avenir Book"/>
              <a:cs typeface="Avenir Book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2264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To get to my website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r>
              <a:rPr lang="en-US" dirty="0" err="1" smtClean="0">
                <a:solidFill>
                  <a:srgbClr val="4A6300"/>
                </a:solidFill>
                <a:latin typeface="Avenir Book"/>
                <a:cs typeface="Avenir Book"/>
              </a:rPr>
              <a:t>dicksontsai.com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/cs61a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OR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Go to cs61a.org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Click the “Staff” link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Click my name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Go to Discussion for discussion materials</a:t>
            </a:r>
          </a:p>
          <a:p>
            <a:pPr lvl="1"/>
            <a:endParaRPr lang="en-US" dirty="0">
              <a:solidFill>
                <a:srgbClr val="4A6300"/>
              </a:solidFill>
              <a:latin typeface="Avenir Book"/>
              <a:cs typeface="Avenir Book"/>
            </a:endParaRPr>
          </a:p>
          <a:p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You will find my slides to discussion/lab. They will be different, because I add more content along the day based on student feedback. 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7864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Optional Conceptual Questions (Friday 9</a:t>
            </a:r>
            <a:r>
              <a:rPr lang="en-US" dirty="0" smtClean="0">
                <a:latin typeface="Century Gothic" charset="0"/>
              </a:rPr>
              <a:t>/</a:t>
            </a:r>
            <a:r>
              <a:rPr lang="en-US" dirty="0" smtClean="0">
                <a:latin typeface="Century Gothic" charset="0"/>
              </a:rPr>
              <a:t>26</a:t>
            </a:r>
            <a:r>
              <a:rPr lang="en-US" dirty="0" smtClean="0">
                <a:latin typeface="Century Gothic" charset="0"/>
              </a:rPr>
              <a:t> </a:t>
            </a:r>
            <a:r>
              <a:rPr lang="en-US" dirty="0" smtClean="0">
                <a:latin typeface="Century Gothic" charset="0"/>
              </a:rPr>
              <a:t>lecture)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are the two behaviors that all ‘sequences’ must have?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How do lists conform to the sequence abstraction?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How do for loops work? State the rules, and provide an example.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How are for loops different from while loops?</a:t>
            </a: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does it mean to ‘unpack’ a sequence? Is `x, y = [1, 2]` 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an instance of sequence unpacking?</a:t>
            </a:r>
            <a:endParaRPr lang="en-US" sz="1800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  <a:sym typeface="Wingdings"/>
              </a:rPr>
              <a:t>P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  <a:sym typeface="Wingdings"/>
              </a:rPr>
              <a:t>rint -5 to 10 using a for loop and range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  <a:sym typeface="Wingdings"/>
              </a:rPr>
              <a:t>Construct a list from -5 to 10 using a list comprehension.</a:t>
            </a: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  <a:sym typeface="Wingdings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  <a:sym typeface="Wingdings"/>
              </a:rPr>
              <a:t>Let’s tweak our list comprehension a bit. Construct a list of squares from -5 to 10. 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  <a:sym typeface="Wingdings"/>
              </a:rPr>
              <a:t>i.e. [25, 16, 9, 4, 1, 0, 1, 4, …, 100]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  <a:sym typeface="Wingdings"/>
              </a:rPr>
              <a:t>Now try creating a list with the same numbers, but with th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  <a:sym typeface="Wingdings"/>
              </a:rPr>
              <a:t>e odd ones removed, i.e. [16, 4, 0, 4, 16, …, 100]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  <a:sym typeface="Wingdings"/>
              </a:rPr>
              <a:t>Try using </a:t>
            </a:r>
            <a:r>
              <a:rPr lang="en-US" sz="1800" dirty="0" err="1" smtClean="0">
                <a:solidFill>
                  <a:srgbClr val="4A6300"/>
                </a:solidFill>
                <a:latin typeface="Avenir Book" charset="0"/>
                <a:cs typeface="Avenir Book" charset="0"/>
                <a:sym typeface="Wingdings"/>
              </a:rPr>
              <a:t>keep_if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  <a:sym typeface="Wingdings"/>
              </a:rPr>
              <a:t>, </a:t>
            </a:r>
            <a:r>
              <a:rPr lang="en-US" sz="1800" dirty="0" err="1" smtClean="0">
                <a:solidFill>
                  <a:srgbClr val="4A6300"/>
                </a:solidFill>
                <a:latin typeface="Avenir Book" charset="0"/>
                <a:cs typeface="Avenir Book" charset="0"/>
                <a:sym typeface="Wingdings"/>
              </a:rPr>
              <a:t>apply_to_all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  <a:sym typeface="Wingdings"/>
              </a:rPr>
              <a:t>, and reduce on the list you just created</a:t>
            </a: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  <a:sym typeface="Wingdings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8605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Optional Conceptual Questions (Monday 9</a:t>
            </a:r>
            <a:r>
              <a:rPr lang="en-US" dirty="0" smtClean="0">
                <a:latin typeface="Century Gothic" charset="0"/>
              </a:rPr>
              <a:t>/</a:t>
            </a:r>
            <a:r>
              <a:rPr lang="en-US" dirty="0" smtClean="0">
                <a:latin typeface="Century Gothic" charset="0"/>
              </a:rPr>
              <a:t>29</a:t>
            </a:r>
            <a:r>
              <a:rPr lang="en-US" dirty="0" smtClean="0">
                <a:latin typeface="Century Gothic" charset="0"/>
              </a:rPr>
              <a:t> </a:t>
            </a:r>
            <a:r>
              <a:rPr lang="en-US" dirty="0" smtClean="0">
                <a:latin typeface="Century Gothic" charset="0"/>
              </a:rPr>
              <a:t>lecture)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is the closure property of data types? Give a real lif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 example.</a:t>
            </a: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Draw a box-and-pointer diagram for [[1, [2, [[3]]], 4]], [5, 6]]</a:t>
            </a: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Draw out the </a:t>
            </a:r>
            <a:r>
              <a:rPr lang="en-US" sz="1800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tree for [[1, [2], 3, []], [[4], [5, 6]], 7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]</a:t>
            </a: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How do I get the 3</a:t>
            </a:r>
            <a:r>
              <a:rPr lang="en-US" sz="1800" baseline="30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rd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element of [1, 2, 3, 4, 5]?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How do I get the last two elements of [1, 2, 3, 4, 5]?</a:t>
            </a: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T/F: All trees are binary trees. 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How do I check if ‘w’ is in ‘tungsten’? Write out the Python expression.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Dictionaries are _________ collections of ___________. 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are the restrictions on dictionary keys?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 have an empty dictionary `a = {}`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How do I add values to it? Try `a[2] = 5`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How do I look up values from it? Try `a[2]`. Now try `a[3]`. What’s th</a:t>
            </a:r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 difference?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How do I re-write the value `a[2]`?</a:t>
            </a:r>
          </a:p>
          <a:p>
            <a:pPr marL="527050" indent="-457200">
              <a:buFont typeface="+mj-lt"/>
              <a:buAutoNum type="arabicPeriod"/>
            </a:pP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00123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iscussion0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discussion0.ppt</Template>
  <TotalTime>5293</TotalTime>
  <Words>917</Words>
  <Application>Microsoft Macintosh PowerPoint</Application>
  <PresentationFormat>On-screen Show (4:3)</PresentationFormat>
  <Paragraphs>81</Paragraphs>
  <Slides>8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discussion0</vt:lpstr>
      <vt:lpstr>Welcome to CS61A Lab 4 Sect. 29/47 :D</vt:lpstr>
      <vt:lpstr>Anuncios</vt:lpstr>
      <vt:lpstr>Midterm Common Patterns</vt:lpstr>
      <vt:lpstr>Tip of the Day [Daily double!]</vt:lpstr>
      <vt:lpstr>Directions</vt:lpstr>
      <vt:lpstr>To get to my website</vt:lpstr>
      <vt:lpstr>Optional Conceptual Questions (Friday 9/26 lecture)</vt:lpstr>
      <vt:lpstr>Optional Conceptual Questions (Monday 9/29 lecture)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CS61A Section 47 :D</dc:title>
  <dc:creator>Dickson Tsai</dc:creator>
  <cp:lastModifiedBy>Dickson Tsai</cp:lastModifiedBy>
  <cp:revision>75</cp:revision>
  <dcterms:created xsi:type="dcterms:W3CDTF">2014-08-28T16:21:02Z</dcterms:created>
  <dcterms:modified xsi:type="dcterms:W3CDTF">2014-09-30T09:56:47Z</dcterms:modified>
</cp:coreProperties>
</file>