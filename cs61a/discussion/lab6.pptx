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9" r:id="rId4"/>
    <p:sldId id="260" r:id="rId5"/>
    <p:sldId id="268" r:id="rId6"/>
    <p:sldId id="269" r:id="rId7"/>
    <p:sldId id="26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408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10/13/14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10/13/14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October 13,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October 13,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icksontsai.com/mee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python.org/3.4/library/pdb.htm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Lab </a:t>
            </a:r>
            <a:r>
              <a:rPr lang="en-US" dirty="0" smtClean="0">
                <a:latin typeface="Century Gothic" charset="0"/>
              </a:rPr>
              <a:t>6 </a:t>
            </a:r>
            <a:r>
              <a:rPr lang="en-US" dirty="0" smtClean="0">
                <a:latin typeface="Century Gothic" charset="0"/>
              </a:rPr>
              <a:t>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</a:t>
            </a:r>
            <a:r>
              <a:rPr lang="en-US" dirty="0" smtClean="0">
                <a:solidFill>
                  <a:srgbClr val="424242"/>
                </a:solidFill>
              </a:rPr>
              <a:t>Rooted Trees, Dictionaries, Linked lists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OOP 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Generic functions, linked lists, </a:t>
            </a:r>
            <a:r>
              <a:rPr lang="en-US" dirty="0" err="1" smtClean="0">
                <a:solidFill>
                  <a:srgbClr val="424242"/>
                </a:solidFill>
              </a:rPr>
              <a:t>memoization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Anuncios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HW5 due on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Wednesday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10/15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@ 11:59PM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Project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3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due 11:59 PM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next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Thur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sday 10/23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Master OOP on simple examples before attempting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Try things that don’t work as well.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Familiarize yourself with Python’s OOP-related error messages beforehand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Midterm 2 on Monday 10/27 7-9 PM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Lots of material! If you feel like you have fallen behind, please set up an appointment at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  <a:hlinkClick r:id="rId3"/>
              </a:rPr>
              <a:t>dicksontsai.com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  <a:hlinkClick r:id="rId3"/>
              </a:rPr>
              <a:t>/meet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, and I will try my best to help you.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OOP Meets </a:t>
            </a:r>
            <a:r>
              <a:rPr lang="en-US" dirty="0" err="1" smtClean="0">
                <a:latin typeface="Century Gothic" charset="0"/>
              </a:rPr>
              <a:t>Env</a:t>
            </a:r>
            <a:r>
              <a:rPr lang="en-US" dirty="0" smtClean="0">
                <a:latin typeface="Century Gothic" charset="0"/>
              </a:rPr>
              <a:t> Diagram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Rules when seeing class statement: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Create a new class object. 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Run through the code in the body, with all saved names going to the class object instead of the current frame</a:t>
            </a:r>
          </a:p>
          <a:p>
            <a:pPr marL="1098550" lvl="2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the assignment </a:t>
            </a:r>
            <a:r>
              <a:rPr lang="en-US" sz="1600" dirty="0" smtClean="0">
                <a:solidFill>
                  <a:srgbClr val="4A6300"/>
                </a:solidFill>
                <a:latin typeface="Consolas"/>
                <a:cs typeface="Consolas"/>
              </a:rPr>
              <a:t>a = 2</a:t>
            </a: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will save in the class object as a class attribute, not in the current frame.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Function parents are still the current frame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Rules for calling class constructor: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Create an empty instance object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Run the class object’s __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init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__ with self bound to the empty object and the other parameters bound to the other operands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__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init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__ does not return, but the constructor call expression evaluates to the instance object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860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Tired of using print statements? Use a debugger!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Python, there is a standard library module </a:t>
            </a:r>
            <a:r>
              <a:rPr lang="en-US" u="sng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pdb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You can also use a debugger to help you understand new code (along with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Pythontutor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)!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Demo: 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Download </a:t>
            </a:r>
            <a:r>
              <a:rPr lang="en-US" sz="2000" dirty="0" err="1" smtClean="0">
                <a:solidFill>
                  <a:srgbClr val="4A6300"/>
                </a:solidFill>
                <a:latin typeface="Avenir Book"/>
                <a:cs typeface="Avenir Book"/>
              </a:rPr>
              <a:t>dicksontsai.com</a:t>
            </a: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/cs61a/discussion/</a:t>
            </a:r>
            <a:r>
              <a:rPr lang="en-US" sz="2000" dirty="0" err="1" smtClean="0">
                <a:solidFill>
                  <a:srgbClr val="4A6300"/>
                </a:solidFill>
                <a:latin typeface="Avenir Book"/>
                <a:cs typeface="Avenir Book"/>
              </a:rPr>
              <a:t>pdb_example</a:t>
            </a:r>
            <a:r>
              <a:rPr lang="en-US" sz="2000" dirty="0" err="1" smtClean="0">
                <a:solidFill>
                  <a:srgbClr val="4A6300"/>
                </a:solidFill>
                <a:latin typeface="Avenir Book"/>
                <a:cs typeface="Avenir Book"/>
              </a:rPr>
              <a:t>.py</a:t>
            </a:r>
            <a:endParaRPr lang="en-US" sz="2000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Start up the debugging with `python3 –m </a:t>
            </a:r>
            <a:r>
              <a:rPr lang="en-US" sz="2000" dirty="0" err="1" smtClean="0">
                <a:solidFill>
                  <a:srgbClr val="4A6300"/>
                </a:solidFill>
                <a:latin typeface="Avenir Book"/>
                <a:cs typeface="Avenir Book"/>
              </a:rPr>
              <a:t>pdb</a:t>
            </a:r>
            <a:r>
              <a:rPr lang="en-US" sz="2000" dirty="0" smtClean="0">
                <a:solidFill>
                  <a:srgbClr val="4A6300"/>
                </a:solidFill>
                <a:latin typeface="Avenir Book"/>
                <a:cs typeface="Avenir Book"/>
              </a:rPr>
              <a:t> </a:t>
            </a:r>
            <a:r>
              <a:rPr lang="en-US" sz="2000" dirty="0" err="1" smtClean="0">
                <a:solidFill>
                  <a:srgbClr val="4A6300"/>
                </a:solidFill>
                <a:latin typeface="Avenir Book"/>
                <a:cs typeface="Avenir Book"/>
              </a:rPr>
              <a:t>pdb_example.py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`</a:t>
            </a: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Or you can have `import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pdb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;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pdb.set_trace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()` somewhere in your code. Once that code is executed, you will start a debugging session.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Common commands are on the next slide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Tired of using print statements? Use a debugger!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Some common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pdb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commands: (you can use the one letter)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For </a:t>
            </a:r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</a:rPr>
              <a:t>more info: </a:t>
            </a:r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  <a:hlinkClick r:id="rId3"/>
              </a:rPr>
              <a:t>https://</a:t>
            </a:r>
            <a:r>
              <a:rPr lang="en-US" dirty="0" err="1">
                <a:solidFill>
                  <a:srgbClr val="4A6300"/>
                </a:solidFill>
                <a:latin typeface="Avenir Book"/>
                <a:cs typeface="Avenir Book"/>
                <a:hlinkClick r:id="rId3"/>
              </a:rPr>
              <a:t>docs.python.org</a:t>
            </a:r>
            <a:r>
              <a:rPr lang="en-US" dirty="0">
                <a:solidFill>
                  <a:srgbClr val="4A6300"/>
                </a:solidFill>
                <a:latin typeface="Avenir Book"/>
                <a:cs typeface="Avenir Book"/>
                <a:hlinkClick r:id="rId3"/>
              </a:rPr>
              <a:t>/3.4/library/</a:t>
            </a:r>
            <a:r>
              <a:rPr lang="en-US" dirty="0" err="1">
                <a:solidFill>
                  <a:srgbClr val="4A6300"/>
                </a:solidFill>
                <a:latin typeface="Avenir Book"/>
                <a:cs typeface="Avenir Book"/>
                <a:hlinkClick r:id="rId3"/>
              </a:rPr>
              <a:t>pdb.html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h(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elp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 [command]</a:t>
            </a:r>
          </a:p>
          <a:p>
            <a:pPr marL="1098550" lvl="2" indent="-457200"/>
            <a:r>
              <a:rPr lang="en-US" sz="1800" dirty="0" smtClean="0">
                <a:solidFill>
                  <a:srgbClr val="4A6300"/>
                </a:solidFill>
                <a:latin typeface="Avenir Book"/>
                <a:cs typeface="Avenir Book"/>
              </a:rPr>
              <a:t>You can use this to look at all available commands. If you input a command, will tell you how to use it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b(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reak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 [(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linenumber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| function) [,condition]]</a:t>
            </a:r>
          </a:p>
          <a:p>
            <a:pPr marL="1098550" lvl="2" indent="-457200"/>
            <a:r>
              <a:rPr lang="en-US" sz="1800" dirty="0" smtClean="0">
                <a:solidFill>
                  <a:srgbClr val="4A6300"/>
                </a:solidFill>
                <a:latin typeface="Avenir Book"/>
                <a:cs typeface="Avenir Book"/>
              </a:rPr>
              <a:t>Set a breakpoint. Then when the program is running, it will stop execution as soon as it hits the breakpoint</a:t>
            </a:r>
            <a:endParaRPr lang="en-US" sz="1800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s(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tep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), n(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ext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</a:t>
            </a:r>
          </a:p>
          <a:p>
            <a:pPr marL="1098550" lvl="2" indent="-457200"/>
            <a:r>
              <a:rPr lang="en-US" sz="1800" dirty="0" smtClean="0">
                <a:solidFill>
                  <a:srgbClr val="4A6300"/>
                </a:solidFill>
                <a:latin typeface="Avenir Book"/>
                <a:cs typeface="Avenir Book"/>
              </a:rPr>
              <a:t>Step into a function call or next line. Next just goes to the next line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c(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ontinue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</a:t>
            </a:r>
          </a:p>
          <a:p>
            <a:pPr marL="1098550" lvl="2" indent="-457200"/>
            <a:r>
              <a:rPr lang="en-US" sz="1800" dirty="0" smtClean="0">
                <a:solidFill>
                  <a:srgbClr val="4A6300"/>
                </a:solidFill>
                <a:latin typeface="Avenir Book"/>
                <a:cs typeface="Avenir Book"/>
              </a:rPr>
              <a:t>Continue execution of the program (stop when you hit breakpoint or finish execution)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916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(Friday </a:t>
            </a:r>
            <a:r>
              <a:rPr lang="en-US" dirty="0" smtClean="0">
                <a:latin typeface="Century Gothic" charset="0"/>
              </a:rPr>
              <a:t>10/10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True/False: Classes cannot take attributes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True/False: An instance attribute whose value is a function is a method for that object.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Suppose </a:t>
            </a:r>
            <a:r>
              <a:rPr lang="en-US" sz="2000" dirty="0" err="1" smtClean="0">
                <a:solidFill>
                  <a:srgbClr val="4A6300"/>
                </a:solidFill>
                <a:latin typeface="Consolas"/>
                <a:cs typeface="Consolas"/>
              </a:rPr>
              <a:t>A.foo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 = lambda x: x * x 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 a class A. Suppose 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a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is an instance object for 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</a:rPr>
              <a:t>A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 Is the bound method object </a:t>
            </a:r>
            <a:r>
              <a:rPr lang="en-US" sz="2000" dirty="0" err="1" smtClean="0">
                <a:solidFill>
                  <a:srgbClr val="4A6300"/>
                </a:solidFill>
                <a:latin typeface="Consolas"/>
                <a:cs typeface="Consolas"/>
              </a:rPr>
              <a:t>a.foo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the same as the function object </a:t>
            </a:r>
            <a:r>
              <a:rPr lang="en-US" sz="2000" dirty="0" err="1" smtClean="0">
                <a:solidFill>
                  <a:srgbClr val="4A6300"/>
                </a:solidFill>
                <a:latin typeface="Consolas"/>
                <a:cs typeface="Consolas"/>
              </a:rPr>
              <a:t>A.foo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?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does inheritance provide us? Give a real life example of inheritance. (e.g. what classes inherit from Verb?)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  <a:sym typeface="Wingdings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When designing for inheritance, why should we always try to look up attributes from the instance?</a:t>
            </a:r>
            <a:endParaRPr lang="en-US" sz="20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are is-a relationships represented? Has-a relationships? What do these relationships mean?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89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(Monday </a:t>
            </a:r>
            <a:r>
              <a:rPr lang="en-US" dirty="0" smtClean="0">
                <a:latin typeface="Century Gothic" charset="0"/>
              </a:rPr>
              <a:t>10/13</a:t>
            </a:r>
            <a:r>
              <a:rPr lang="en-US" dirty="0" smtClean="0">
                <a:latin typeface="Century Gothic" charset="0"/>
              </a:rPr>
              <a:t>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 tw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 string representations that all objects produce? Why do we make a distinction between them?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Which function’s result is the same as what comes out of the interactive session?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Out of the print function?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What’s a polymorphic function?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What’s an interface?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What’s the purpose of a property method? Compare using @property with using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just an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instance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attribute.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Summarize at a high level how we can support a Complex class with addition using rectangular coordinates and multiplication using polar coordinates through interfaces. How was the complex number interface specified?</a:t>
            </a:r>
          </a:p>
          <a:p>
            <a:pPr marL="527050" indent="-457200">
              <a:buFont typeface="+mj-lt"/>
              <a:buAutoNum type="arabicPeriod"/>
            </a:pP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012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5655</TotalTime>
  <Words>781</Words>
  <Application>Microsoft Macintosh PowerPoint</Application>
  <PresentationFormat>On-screen Show (4:3)</PresentationFormat>
  <Paragraphs>72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discussion0</vt:lpstr>
      <vt:lpstr>Welcome to CS61A Lab 6 Sect. 29/47 :D</vt:lpstr>
      <vt:lpstr>Anuncios</vt:lpstr>
      <vt:lpstr>OOP Meets Env Diagram</vt:lpstr>
      <vt:lpstr>Tip of the Day</vt:lpstr>
      <vt:lpstr>Tip of the Day</vt:lpstr>
      <vt:lpstr>Optional Conceptual Questions (Friday 10/10 lecture)</vt:lpstr>
      <vt:lpstr>Optional Conceptual Questions (Monday 10/13 lecture)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65</cp:revision>
  <dcterms:created xsi:type="dcterms:W3CDTF">2014-08-28T16:21:02Z</dcterms:created>
  <dcterms:modified xsi:type="dcterms:W3CDTF">2014-10-14T08:44:49Z</dcterms:modified>
</cp:coreProperties>
</file>