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39"/>
  </p:notesMasterIdLst>
  <p:handoutMasterIdLst>
    <p:handoutMasterId r:id="rId40"/>
  </p:handoutMasterIdLst>
  <p:sldIdLst>
    <p:sldId id="256" r:id="rId2"/>
    <p:sldId id="268" r:id="rId3"/>
    <p:sldId id="269" r:id="rId4"/>
    <p:sldId id="271" r:id="rId5"/>
    <p:sldId id="270" r:id="rId6"/>
    <p:sldId id="258" r:id="rId7"/>
    <p:sldId id="257" r:id="rId8"/>
    <p:sldId id="260" r:id="rId9"/>
    <p:sldId id="272" r:id="rId10"/>
    <p:sldId id="265" r:id="rId11"/>
    <p:sldId id="276" r:id="rId12"/>
    <p:sldId id="275" r:id="rId13"/>
    <p:sldId id="278" r:id="rId14"/>
    <p:sldId id="286" r:id="rId15"/>
    <p:sldId id="277" r:id="rId16"/>
    <p:sldId id="284" r:id="rId17"/>
    <p:sldId id="283" r:id="rId18"/>
    <p:sldId id="288" r:id="rId19"/>
    <p:sldId id="289" r:id="rId20"/>
    <p:sldId id="290" r:id="rId21"/>
    <p:sldId id="291" r:id="rId22"/>
    <p:sldId id="292" r:id="rId23"/>
    <p:sldId id="293" r:id="rId24"/>
    <p:sldId id="287" r:id="rId25"/>
    <p:sldId id="285" r:id="rId26"/>
    <p:sldId id="262" r:id="rId27"/>
    <p:sldId id="273" r:id="rId28"/>
    <p:sldId id="274" r:id="rId29"/>
    <p:sldId id="294" r:id="rId30"/>
    <p:sldId id="295" r:id="rId31"/>
    <p:sldId id="296" r:id="rId32"/>
    <p:sldId id="280" r:id="rId33"/>
    <p:sldId id="282" r:id="rId34"/>
    <p:sldId id="281" r:id="rId35"/>
    <p:sldId id="297" r:id="rId36"/>
    <p:sldId id="298" r:id="rId37"/>
    <p:sldId id="279" r:id="rId3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9" d="100"/>
          <a:sy n="99" d="100"/>
        </p:scale>
        <p:origin x="-896" y="5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interSettings" Target="printerSettings/printerSettings1.bin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3D6FA6C3-894D-9342-858C-89781436E0BA}" type="datetimeFigureOut">
              <a:rPr lang="en-US"/>
              <a:pPr>
                <a:defRPr/>
              </a:pPr>
              <a:t>9/12/14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1C915EBA-7225-EA45-954F-AB711B4338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512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F11027A8-00FB-C24C-8EBA-1EDF84C5EE30}" type="datetimeFigureOut">
              <a:rPr lang="en-US"/>
              <a:pPr>
                <a:defRPr/>
              </a:pPr>
              <a:t>9/12/14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x-none" noProof="0" smtClean="0"/>
              <a:t>Click to edit Master text styles</a:t>
            </a:r>
          </a:p>
          <a:p>
            <a:pPr lvl="1"/>
            <a:r>
              <a:rPr lang="x-none" noProof="0" smtClean="0"/>
              <a:t>Second level</a:t>
            </a:r>
          </a:p>
          <a:p>
            <a:pPr lvl="2"/>
            <a:r>
              <a:rPr lang="x-none" noProof="0" smtClean="0"/>
              <a:t>Third level</a:t>
            </a:r>
          </a:p>
          <a:p>
            <a:pPr lvl="3"/>
            <a:r>
              <a:rPr lang="x-none" noProof="0" smtClean="0"/>
              <a:t>Fourth level</a:t>
            </a:r>
          </a:p>
          <a:p>
            <a:pPr lvl="4"/>
            <a:r>
              <a:rPr lang="x-none" noProof="0" smtClean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BEB6E1B7-B6E5-514A-9283-C0DC69B17F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435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1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2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7" name="Rectangle 36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4" name="Rectangle 33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5" name="Rectangle 34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1" name="Rectangle 30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6" name="Freeform 5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" name="Freeform 6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Hexagon 10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Hexagon 16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Freeform 25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3" name="Rectangle 42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4649788" y="-22225"/>
            <a:ext cx="3505200" cy="2312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33365" y="2708476"/>
            <a:ext cx="3313355" cy="170216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33365" y="4421080"/>
            <a:ext cx="3309803" cy="1260629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42424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 dirty="0"/>
          </a:p>
        </p:txBody>
      </p:sp>
      <p:sp>
        <p:nvSpPr>
          <p:cNvPr id="47" name="Date Placeholder 3"/>
          <p:cNvSpPr>
            <a:spLocks noGrp="1"/>
          </p:cNvSpPr>
          <p:nvPr>
            <p:ph type="dt" sz="half" idx="10"/>
          </p:nvPr>
        </p:nvSpPr>
        <p:spPr>
          <a:xfrm>
            <a:off x="4738688" y="1516063"/>
            <a:ext cx="2133600" cy="752475"/>
          </a:xfrm>
        </p:spPr>
        <p:txBody>
          <a:bodyPr anchor="b"/>
          <a:lstStyle>
            <a:lvl1pPr algn="l">
              <a:defRPr sz="2400" smtClean="0"/>
            </a:lvl1pPr>
          </a:lstStyle>
          <a:p>
            <a:pPr>
              <a:defRPr/>
            </a:pPr>
            <a:fld id="{6655137A-6FB0-1C4E-94C3-267D0A594E98}" type="datetime4">
              <a:rPr lang="en-US"/>
              <a:pPr>
                <a:defRPr/>
              </a:pPr>
              <a:t>September 12, 2014</a:t>
            </a:fld>
            <a:endParaRPr lang="en-US" dirty="0"/>
          </a:p>
        </p:txBody>
      </p:sp>
      <p:sp>
        <p:nvSpPr>
          <p:cNvPr id="4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03838" y="5719763"/>
            <a:ext cx="2830512" cy="365125"/>
          </a:xfrm>
        </p:spPr>
        <p:txBody>
          <a:bodyPr>
            <a:normAutofit/>
          </a:bodyPr>
          <a:lstStyle>
            <a:lvl1pPr>
              <a:defRPr dirty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9788" y="5719763"/>
            <a:ext cx="642937" cy="365125"/>
          </a:xfrm>
        </p:spPr>
        <p:txBody>
          <a:bodyPr/>
          <a:lstStyle>
            <a:lvl1pPr>
              <a:defRPr smtClean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fld id="{C8AB3673-7F39-5843-8E75-30B1437A0E6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629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F16100-0000-9F4B-9427-59A4B6C5F6E8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115C37-9862-4A4D-8ED0-DA94B4E9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7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8645" y="2900829"/>
            <a:ext cx="6637468" cy="1362075"/>
          </a:xfrm>
        </p:spPr>
        <p:txBody>
          <a:bodyPr/>
          <a:lstStyle>
            <a:lvl1pPr algn="l">
              <a:defRPr sz="4000" b="0" cap="none" baseline="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8645" y="4267200"/>
            <a:ext cx="6637467" cy="1520413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8E6BC0-9B5A-E141-AC34-D53ED23DCC8B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F6B77E-877A-634E-8367-933DCBBB0C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80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042416" y="2313432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313431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D4F12F-EAF1-5D4C-880F-775AA42497DD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934F99-59E1-674F-B576-6D449172EE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960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2111" y="2316009"/>
            <a:ext cx="305714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721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1837" y="2316010"/>
            <a:ext cx="30557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152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CA0580-2F88-7044-9CC5-C84EE5CA0F77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50751-79D9-1344-AD3D-FA20E3482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893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A403FB-6F30-AC4D-8EDB-8F62E14D9E80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68FC7C-C76F-7B4C-A7EE-E50F653139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4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08429B-D636-EC4D-85FC-9BD3CD488279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5C0BBE-D4FC-4844-8BE2-FB25DC1A1A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99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5894" y="856527"/>
            <a:ext cx="3090440" cy="5150734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9833" y="2657434"/>
            <a:ext cx="3304572" cy="1463153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6592" y="4136994"/>
            <a:ext cx="3298784" cy="151790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FDE1A-A3B7-4942-8E99-F13B05783BF1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5198C8-ACE9-D74A-862F-4CCA0EB14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0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5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4424" y="2660904"/>
            <a:ext cx="3300984" cy="1463040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05208" y="693795"/>
            <a:ext cx="3359623" cy="5468112"/>
          </a:xfrm>
        </p:spPr>
        <p:txBody>
          <a:bodyPr rtlCol="0">
            <a:normAutofit/>
          </a:bodyPr>
          <a:lstStyle>
            <a:lvl1pPr marL="0" indent="0">
              <a:buNone/>
              <a:defRPr sz="3200">
                <a:solidFill>
                  <a:schemeClr val="accent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 smtClean="0"/>
              <a:t>Drag picture to placeholder or click icon to add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4630" y="4133088"/>
            <a:ext cx="3300573" cy="151956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EDDEC9-34B2-2B47-8562-0DB2DDF36A93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49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54C8CE-B679-E249-8A21-F0C3828050E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12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753F03-5748-284E-8EA1-FA16176281C4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80443-B5BA-1441-A0F5-E0E8C82EE8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67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030147"/>
            <a:ext cx="1484453" cy="4780344"/>
          </a:xfrm>
        </p:spPr>
        <p:txBody>
          <a:bodyPr vert="eaVert" anchor="ctr"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53296" y="1030147"/>
            <a:ext cx="5423704" cy="4780344"/>
          </a:xfrm>
        </p:spPr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6883A8-6536-C340-9C9B-990BB2391E14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6EAA6B-3350-4147-9EAD-27A9D5A683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39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1"/>
          <p:cNvGrpSpPr>
            <a:grpSpLocks/>
          </p:cNvGrpSpPr>
          <p:nvPr/>
        </p:nvGrpSpPr>
        <p:grpSpPr bwMode="auto">
          <a:xfrm>
            <a:off x="-304800" y="0"/>
            <a:ext cx="9932988" cy="6858000"/>
            <a:chOff x="-382404" y="0"/>
            <a:chExt cx="9932332" cy="6858000"/>
          </a:xfrm>
        </p:grpSpPr>
        <p:grpSp>
          <p:nvGrpSpPr>
            <p:cNvPr id="103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5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5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6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6373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2033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30618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2540" y="5035550"/>
              <a:ext cx="9144983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2540" y="3467100"/>
              <a:ext cx="9144983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2540" y="5284788"/>
              <a:ext cx="9144983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6793" y="5132388"/>
              <a:ext cx="6982951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5573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19425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8949" y="159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6524" y="32543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2326" y="53832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3969" y="540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542" y="28495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394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09771" y="54117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8820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443" y="15636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997" y="4056063"/>
              <a:ext cx="1242931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997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457200" y="333375"/>
            <a:ext cx="8229600" cy="618648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4560888" y="-22225"/>
            <a:ext cx="3679825" cy="700088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1042988" y="1027113"/>
            <a:ext cx="70246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42988" y="2324100"/>
            <a:ext cx="6777037" cy="350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7575" y="2238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3356F25-E6A9-6B44-B749-785EDDA8CCD6}" type="datetime4">
              <a:rPr lang="en-US"/>
              <a:pPr>
                <a:defRPr/>
              </a:pPr>
              <a:t>September 12,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1850" y="5851525"/>
            <a:ext cx="350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49788" y="223838"/>
            <a:ext cx="13319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258D96C5-9F30-DE44-9E70-A9B1977192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6" r:id="rId8"/>
    <p:sldLayoutId id="2147483817" r:id="rId9"/>
    <p:sldLayoutId id="2147483813" r:id="rId10"/>
    <p:sldLayoutId id="2147483814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000" kern="1200">
          <a:solidFill>
            <a:schemeClr val="accent1"/>
          </a:solidFill>
          <a:latin typeface="+mj-lt"/>
          <a:ea typeface="ＭＳ Ｐゴシック" charset="0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400" kern="1200">
          <a:solidFill>
            <a:schemeClr val="tx2"/>
          </a:solidFill>
          <a:latin typeface="+mn-lt"/>
          <a:ea typeface="ＭＳ Ｐゴシック" charset="0"/>
          <a:cs typeface="ＭＳ Ｐゴシック" charset="0"/>
        </a:defRPr>
      </a:lvl1pPr>
      <a:lvl2pPr marL="639763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200" kern="1200">
          <a:solidFill>
            <a:schemeClr val="tx2"/>
          </a:solidFill>
          <a:latin typeface="+mn-lt"/>
          <a:ea typeface="ＭＳ Ｐゴシック" charset="0"/>
          <a:cs typeface="+mn-cs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000" kern="1200">
          <a:solidFill>
            <a:schemeClr val="tx2"/>
          </a:solidFill>
          <a:latin typeface="+mn-lt"/>
          <a:ea typeface="ＭＳ Ｐゴシック" charset="0"/>
          <a:cs typeface="+mn-cs"/>
        </a:defRPr>
      </a:lvl3pPr>
      <a:lvl4pPr marL="112395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kern="1200">
          <a:solidFill>
            <a:schemeClr val="tx2"/>
          </a:solidFill>
          <a:latin typeface="+mn-lt"/>
          <a:ea typeface="ＭＳ Ｐゴシック" charset="0"/>
          <a:cs typeface="+mn-cs"/>
        </a:defRPr>
      </a:lvl4pPr>
      <a:lvl5pPr marL="1325563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1600" kern="1200">
          <a:solidFill>
            <a:schemeClr val="tx2"/>
          </a:solidFill>
          <a:latin typeface="+mn-lt"/>
          <a:ea typeface="ＭＳ Ｐゴシック" charset="0"/>
          <a:cs typeface="+mn-cs"/>
        </a:defRPr>
      </a:lvl5pPr>
      <a:lvl6pPr marL="1517904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1920240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121408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ickson.tsai@berkeley.edu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itle 1"/>
          <p:cNvSpPr>
            <a:spLocks noGrp="1"/>
          </p:cNvSpPr>
          <p:nvPr>
            <p:ph type="ctrTitle"/>
          </p:nvPr>
        </p:nvSpPr>
        <p:spPr>
          <a:xfrm>
            <a:off x="4733925" y="2446338"/>
            <a:ext cx="3313113" cy="1963737"/>
          </a:xfrm>
        </p:spPr>
        <p:txBody>
          <a:bodyPr/>
          <a:lstStyle/>
          <a:p>
            <a:r>
              <a:rPr lang="en-US" dirty="0">
                <a:latin typeface="Century Gothic" charset="0"/>
              </a:rPr>
              <a:t>Welcome to CS61A </a:t>
            </a:r>
            <a:r>
              <a:rPr lang="en-US" dirty="0" smtClean="0">
                <a:latin typeface="Century Gothic" charset="0"/>
              </a:rPr>
              <a:t>Disc 2 Sect. 29</a:t>
            </a:r>
            <a:r>
              <a:rPr lang="en-US" dirty="0">
                <a:latin typeface="Century Gothic" charset="0"/>
              </a:rPr>
              <a:t>/47 :D</a:t>
            </a:r>
          </a:p>
        </p:txBody>
      </p:sp>
      <p:sp>
        <p:nvSpPr>
          <p:cNvPr id="5122" name="Subtitle 2"/>
          <p:cNvSpPr>
            <a:spLocks noGrp="1"/>
          </p:cNvSpPr>
          <p:nvPr>
            <p:ph type="subTitle" idx="1"/>
          </p:nvPr>
        </p:nvSpPr>
        <p:spPr>
          <a:xfrm>
            <a:off x="4733925" y="4421188"/>
            <a:ext cx="3309938" cy="126047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Century Gothic" charset="0"/>
              </a:rPr>
              <a:t>Dickson Tsai</a:t>
            </a:r>
          </a:p>
          <a:p>
            <a:r>
              <a:rPr lang="en-US" dirty="0" smtClean="0">
                <a:latin typeface="Century Gothic" charset="0"/>
                <a:hlinkClick r:id="rId2"/>
              </a:rPr>
              <a:t>dickson.tsai+cs61a@</a:t>
            </a:r>
            <a:r>
              <a:rPr lang="en-US" dirty="0">
                <a:latin typeface="Century Gothic" charset="0"/>
                <a:hlinkClick r:id="rId2"/>
              </a:rPr>
              <a:t>berkeley.edu</a:t>
            </a:r>
            <a:endParaRPr lang="en-US" dirty="0">
              <a:latin typeface="Century Gothic" charset="0"/>
            </a:endParaRPr>
          </a:p>
          <a:p>
            <a:r>
              <a:rPr lang="en-US" dirty="0">
                <a:latin typeface="Century Gothic" charset="0"/>
              </a:rPr>
              <a:t>OH: </a:t>
            </a:r>
            <a:r>
              <a:rPr lang="en-US" dirty="0" err="1">
                <a:latin typeface="Century Gothic" charset="0"/>
              </a:rPr>
              <a:t>Tu</a:t>
            </a:r>
            <a:r>
              <a:rPr lang="en-US" dirty="0">
                <a:latin typeface="Century Gothic" charset="0"/>
              </a:rPr>
              <a:t>, </a:t>
            </a:r>
            <a:r>
              <a:rPr lang="en-US" dirty="0" err="1">
                <a:latin typeface="Century Gothic" charset="0"/>
              </a:rPr>
              <a:t>Th</a:t>
            </a:r>
            <a:r>
              <a:rPr lang="en-US" dirty="0">
                <a:latin typeface="Century Gothic" charset="0"/>
              </a:rPr>
              <a:t> 4-5pm 411 Soda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 bwMode="auto">
          <a:xfrm>
            <a:off x="-282575" y="4425950"/>
            <a:ext cx="4781550" cy="141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857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 smtClean="0">
                <a:solidFill>
                  <a:srgbClr val="424242"/>
                </a:solidFill>
              </a:rPr>
              <a:t>Previous: Expressions, Statements and Functions </a:t>
            </a:r>
            <a:r>
              <a:rPr lang="en-US" b="1" dirty="0" smtClean="0">
                <a:solidFill>
                  <a:srgbClr val="424242"/>
                </a:solidFill>
              </a:rPr>
              <a:t>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b="1" dirty="0">
                <a:solidFill>
                  <a:srgbClr val="424242"/>
                </a:solidFill>
              </a:rPr>
              <a:t>Today: </a:t>
            </a:r>
            <a:r>
              <a:rPr lang="en-US" b="1" dirty="0" smtClean="0">
                <a:solidFill>
                  <a:srgbClr val="424242"/>
                </a:solidFill>
              </a:rPr>
              <a:t>Higher order functions 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>
                <a:solidFill>
                  <a:srgbClr val="424242"/>
                </a:solidFill>
              </a:rPr>
              <a:t>Next stop: </a:t>
            </a:r>
            <a:r>
              <a:rPr lang="en-US" dirty="0" smtClean="0">
                <a:solidFill>
                  <a:srgbClr val="424242"/>
                </a:solidFill>
              </a:rPr>
              <a:t>Recursion</a:t>
            </a:r>
            <a:endParaRPr lang="en-US" dirty="0">
              <a:solidFill>
                <a:srgbClr val="424242"/>
              </a:solidFill>
            </a:endParaRPr>
          </a:p>
        </p:txBody>
      </p:sp>
      <p:sp>
        <p:nvSpPr>
          <p:cNvPr id="5124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04F7D4B-5206-4F42-A4A3-937B571AE82A}" type="slidenum">
              <a:rPr lang="en-US">
                <a:solidFill>
                  <a:schemeClr val="accent1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 Logistics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Please take out a piece of paper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Put your name, login (e.g. cs61a-ty), SID, and section number (#47 for 11-12:30 pm, #29 for 6:30-8pm)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Graded on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effort: effort = revise your quiz with diff color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Before we begin, please answer: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can I do to make your discussion experience better?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Which topics do you feel most/least confident in?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 are bored, you can answer: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Anything interesting: poem, art, code, fun fact, anecdote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6690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>
                <a:latin typeface="Century Gothic" charset="0"/>
              </a:rPr>
              <a:t>Env</a:t>
            </a:r>
            <a:r>
              <a:rPr lang="en-US" dirty="0" smtClean="0">
                <a:latin typeface="Century Gothic" charset="0"/>
              </a:rPr>
              <a:t>. Diagram Review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Draw an environment diagram for the following code: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69751" y="2655330"/>
            <a:ext cx="26556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square(x):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return x * x</a:t>
            </a:r>
          </a:p>
          <a:p>
            <a:r>
              <a:rPr lang="en-US" dirty="0" smtClean="0">
                <a:latin typeface="Consolas"/>
                <a:cs typeface="Consolas"/>
              </a:rPr>
              <a:t>square(2)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1975" y="2911884"/>
            <a:ext cx="4903225" cy="2862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Tips:</a:t>
            </a:r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You should label every parent, even if the parent is the global frame</a:t>
            </a:r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It may be helpful to keep track of the current environment (a “stack” of frames)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 smtClean="0"/>
              <a:t>Add to the stack when you create a new frame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 smtClean="0"/>
              <a:t>Pop from the stack when you return from a frame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457200" y="3698848"/>
            <a:ext cx="4903225" cy="2862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Rules we need: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 smtClean="0"/>
              <a:t>def</a:t>
            </a:r>
            <a:r>
              <a:rPr lang="en-US" dirty="0" smtClean="0"/>
              <a:t> statement rules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 smtClean="0"/>
              <a:t>Eval</a:t>
            </a:r>
            <a:r>
              <a:rPr lang="en-US" dirty="0" smtClean="0"/>
              <a:t> call expression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 err="1" smtClean="0"/>
              <a:t>Eval</a:t>
            </a:r>
            <a:r>
              <a:rPr lang="en-US" dirty="0" smtClean="0"/>
              <a:t> operator, operands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 smtClean="0"/>
              <a:t>Apply </a:t>
            </a:r>
            <a:r>
              <a:rPr lang="en-US" dirty="0" err="1" smtClean="0"/>
              <a:t>func</a:t>
            </a:r>
            <a:r>
              <a:rPr lang="en-US" dirty="0" smtClean="0"/>
              <a:t> to </a:t>
            </a:r>
            <a:r>
              <a:rPr lang="en-US" dirty="0" err="1" smtClean="0"/>
              <a:t>args</a:t>
            </a:r>
            <a:endParaRPr lang="en-US" dirty="0" smtClean="0"/>
          </a:p>
          <a:p>
            <a:pPr marL="1200150" lvl="2" indent="-285750">
              <a:buFont typeface="Arial"/>
              <a:buChar char="•"/>
            </a:pPr>
            <a:r>
              <a:rPr lang="en-US" dirty="0" smtClean="0"/>
              <a:t>Create new frame</a:t>
            </a:r>
          </a:p>
          <a:p>
            <a:pPr marL="1200150" lvl="2" indent="-285750">
              <a:buFont typeface="Arial"/>
              <a:buChar char="•"/>
            </a:pPr>
            <a:r>
              <a:rPr lang="en-US" dirty="0" smtClean="0"/>
              <a:t>Bind formals to </a:t>
            </a:r>
            <a:r>
              <a:rPr lang="en-US" dirty="0" err="1" smtClean="0"/>
              <a:t>args</a:t>
            </a:r>
            <a:endParaRPr lang="en-US" dirty="0" smtClean="0"/>
          </a:p>
          <a:p>
            <a:pPr marL="1200150" lvl="2" indent="-285750">
              <a:buFont typeface="Arial"/>
              <a:buChar char="•"/>
            </a:pPr>
            <a:r>
              <a:rPr lang="en-US" dirty="0" smtClean="0"/>
              <a:t>Evaluate body w/ new frame as current frame</a:t>
            </a:r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Name lookup</a:t>
            </a:r>
          </a:p>
        </p:txBody>
      </p:sp>
    </p:spTree>
    <p:extLst>
      <p:ext uri="{BB962C8B-B14F-4D97-AF65-F5344CB8AC3E}">
        <p14:creationId xmlns:p14="http://schemas.microsoft.com/office/powerpoint/2010/main" val="325040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Draw an environment diagram for the following code: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69751" y="2911884"/>
            <a:ext cx="27967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/>
                <a:cs typeface="Consolas"/>
              </a:rPr>
              <a:t>a = 2</a:t>
            </a:r>
          </a:p>
          <a:p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foo(x=2):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a = 1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return a + x</a:t>
            </a:r>
          </a:p>
          <a:p>
            <a:r>
              <a:rPr lang="en-US" dirty="0" err="1">
                <a:latin typeface="Consolas"/>
                <a:cs typeface="Consolas"/>
              </a:rPr>
              <a:t>d</a:t>
            </a:r>
            <a:r>
              <a:rPr lang="en-US" dirty="0" err="1" smtClean="0">
                <a:latin typeface="Consolas"/>
                <a:cs typeface="Consolas"/>
              </a:rPr>
              <a:t>ef</a:t>
            </a:r>
            <a:r>
              <a:rPr lang="en-US" dirty="0" smtClean="0">
                <a:latin typeface="Consolas"/>
                <a:cs typeface="Consolas"/>
              </a:rPr>
              <a:t> bar(x):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return a + x</a:t>
            </a:r>
          </a:p>
          <a:p>
            <a:r>
              <a:rPr lang="en-US" dirty="0" smtClean="0">
                <a:latin typeface="Consolas"/>
                <a:cs typeface="Consolas"/>
              </a:rPr>
              <a:t>print(foo(), bar(1))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1975" y="2911884"/>
            <a:ext cx="4903225" cy="2862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Tips:</a:t>
            </a:r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You should label every parent, even if the parent is the global frame</a:t>
            </a:r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It may be helpful to keep track of the current environment (a “stack” of frames)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 smtClean="0"/>
              <a:t>Add to the stack when you create a new frame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 smtClean="0"/>
              <a:t>Pop from the stack when you return from a frame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26294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 - Advanced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Draw an environment diagram for the following code: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69751" y="2911884"/>
            <a:ext cx="265564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/>
                <a:cs typeface="Consolas"/>
              </a:rPr>
              <a:t>b = 2</a:t>
            </a:r>
          </a:p>
          <a:p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a(a):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b(a):</a:t>
            </a:r>
          </a:p>
          <a:p>
            <a:r>
              <a:rPr lang="en-US" dirty="0" smtClean="0">
                <a:latin typeface="Consolas"/>
                <a:cs typeface="Consolas"/>
              </a:rPr>
              <a:t>    print(b)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  return a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b, a = a, b</a:t>
            </a:r>
          </a:p>
          <a:p>
            <a:r>
              <a:rPr lang="en-US" dirty="0" smtClean="0">
                <a:latin typeface="Consolas"/>
                <a:cs typeface="Consolas"/>
              </a:rPr>
              <a:t>  return a(a)</a:t>
            </a:r>
          </a:p>
          <a:p>
            <a:r>
              <a:rPr lang="en-US" dirty="0">
                <a:latin typeface="Consolas"/>
                <a:cs typeface="Consolas"/>
              </a:rPr>
              <a:t>p</a:t>
            </a:r>
            <a:r>
              <a:rPr lang="en-US" dirty="0" smtClean="0">
                <a:latin typeface="Consolas"/>
                <a:cs typeface="Consolas"/>
              </a:rPr>
              <a:t>rint(a(1)(3))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1975" y="3014505"/>
            <a:ext cx="4903225" cy="2862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Tips:</a:t>
            </a:r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You should label every parent, even if the parent is the global frame</a:t>
            </a:r>
          </a:p>
          <a:p>
            <a:pPr marL="285750" indent="-285750">
              <a:buFont typeface="Arial"/>
              <a:buChar char="•"/>
            </a:pPr>
            <a:r>
              <a:rPr lang="en-US" dirty="0" smtClean="0"/>
              <a:t>It may be helpful to keep track of the current environment (a “stack” of frames)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 smtClean="0"/>
              <a:t>Add to the stack when you create a new frame</a:t>
            </a:r>
          </a:p>
          <a:p>
            <a:pPr marL="742950" lvl="1" indent="-285750">
              <a:buFont typeface="Arial"/>
              <a:buChar char="•"/>
            </a:pPr>
            <a:r>
              <a:rPr lang="en-US" dirty="0" smtClean="0"/>
              <a:t>Pop from the stack when you return from a frame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841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xmlns:p14="http://schemas.microsoft.com/office/powerpoint/2010/main" spd="slow"/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Optional Section Homework </a:t>
            </a:r>
            <a:r>
              <a:rPr lang="en-US" dirty="0" smtClean="0">
                <a:solidFill>
                  <a:srgbClr val="FF0000"/>
                </a:solidFill>
                <a:latin typeface="Century Gothic" charset="0"/>
              </a:rPr>
              <a:t>[Canceled]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467" y="2092854"/>
            <a:ext cx="7365999" cy="4155546"/>
          </a:xfrm>
        </p:spPr>
        <p:txBody>
          <a:bodyPr/>
          <a:lstStyle/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This will be used to mark attendance for the next section for midterm recovery. Will help participation (but you can participate in other ways as well!)</a:t>
            </a: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These should take at most 15 minutes, if you keep up with your reading.</a:t>
            </a: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Submit with voice recording, email, paper, slideshow, however you want. </a:t>
            </a:r>
            <a:endParaRPr lang="en-US" sz="12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Graded on effort, but use your time wisely. 10 minutes of BS &lt; 10 minutes of </a:t>
            </a:r>
            <a:r>
              <a:rPr lang="en-US" sz="1200" b="1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citing</a:t>
            </a:r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the textbook</a:t>
            </a:r>
          </a:p>
          <a:p>
            <a:r>
              <a:rPr lang="en-US" sz="12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Feel free to make your own questions!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New policy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In-class quizzes graded on effort to mark discussion attendance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Please still be prepared for discussion.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Those who submitted this assignment by Thursday 9/4 will have a free absence from discussion for midterm recovery.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9302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entury Gothic" charset="0"/>
              </a:rPr>
              <a:t>Anuncios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Project 1 due 11:59 PM next Wednesday 9/17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START NOW!!!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Take-home quiz posted 3pm this Wednesday, due 11:59PM tonight 9/11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To see if you are on pace with the course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Reminder: My OH are Tuesdays, Thursdays 4-5 PM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 Soda 411</a:t>
            </a:r>
          </a:p>
          <a:p>
            <a:r>
              <a:rPr lang="en-US" b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Guerrilla Section: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fancy extra section where you work with others passionate people on more practice problems. Saturday 12:30-3pm in Soda 306.</a:t>
            </a:r>
            <a:endParaRPr lang="en-US" b="1" u="sng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solidFill>
                <a:srgbClr val="FEFEFE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Tip of the Day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Come up with simple examples!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What’s the simplest example of a function?</a:t>
            </a:r>
          </a:p>
          <a:p>
            <a:pPr lvl="2"/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square(x):</a:t>
            </a:r>
          </a:p>
          <a:p>
            <a:pPr marL="895350" lvl="3" indent="0">
              <a:buNone/>
            </a:pP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		return x * x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What’s the simplest example of a HOF?</a:t>
            </a:r>
          </a:p>
          <a:p>
            <a:pPr marL="685800" lvl="2" indent="0">
              <a:buNone/>
            </a:pP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foo(x):</a:t>
            </a:r>
          </a:p>
          <a:p>
            <a:pPr marL="895350" lvl="3" indent="0">
              <a:buNone/>
            </a:pP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bar():</a:t>
            </a:r>
          </a:p>
          <a:p>
            <a:pPr marL="1096963" lvl="4" indent="0">
              <a:buNone/>
            </a:pP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r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eturn x</a:t>
            </a:r>
          </a:p>
          <a:p>
            <a:pPr marL="895350" lvl="3" indent="0">
              <a:buNone/>
            </a:pP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return bar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54739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Tip of the Day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Come up with simple examples!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But Dickson, this seems a bit stupid, right?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Well, if you are bored, you must be ready to take on new challenges. Combine with other concepts you’ve learned: e.g. add conditionals, prints, etc. </a:t>
            </a:r>
            <a:endParaRPr lang="en-US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Hey, now you have a working banking system!</a:t>
            </a:r>
          </a:p>
          <a:p>
            <a:pPr marL="685800" lvl="2" indent="0">
              <a:buNone/>
            </a:pP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make_withdraw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(balance):</a:t>
            </a:r>
          </a:p>
          <a:p>
            <a:pPr marL="685800" lvl="2" indent="0">
              <a:buNone/>
            </a:pP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withdraw(amount):</a:t>
            </a:r>
          </a:p>
          <a:p>
            <a:pPr marL="1096963" lvl="4" indent="0">
              <a:buNone/>
            </a:pP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if amount &gt; balance:</a:t>
            </a:r>
          </a:p>
          <a:p>
            <a:pPr marL="1096963" lvl="4" indent="0">
              <a:buNone/>
            </a:pP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print(“Insufficient funds”)</a:t>
            </a:r>
          </a:p>
          <a:p>
            <a:pPr marL="1096963" lvl="4" indent="0">
              <a:buNone/>
            </a:pP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e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lse:</a:t>
            </a:r>
          </a:p>
          <a:p>
            <a:pPr marL="1096963" lvl="4" indent="0">
              <a:buNone/>
            </a:pP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balance -= amount</a:t>
            </a:r>
          </a:p>
          <a:p>
            <a:pPr marL="1096963" lvl="4" indent="0">
              <a:buNone/>
            </a:pP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print(“Here is your ${0}”.format(amount))</a:t>
            </a:r>
          </a:p>
          <a:p>
            <a:pPr marL="895350" lvl="3" indent="0">
              <a:buNone/>
            </a:pP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return withdraw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5960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Avenir Book"/>
                <a:cs typeface="Avenir Book"/>
              </a:rPr>
              <a:t>What are </a:t>
            </a:r>
            <a:r>
              <a:rPr lang="en-US" dirty="0" err="1" smtClean="0">
                <a:latin typeface="Avenir Book"/>
                <a:cs typeface="Avenir Book"/>
              </a:rPr>
              <a:t>boolean</a:t>
            </a:r>
            <a:r>
              <a:rPr lang="en-US" dirty="0" smtClean="0">
                <a:latin typeface="Avenir Book"/>
                <a:cs typeface="Avenir Book"/>
              </a:rPr>
              <a:t> operators???</a:t>
            </a:r>
            <a:endParaRPr lang="en-US" dirty="0">
              <a:latin typeface="Avenir Book"/>
              <a:cs typeface="Avenir Book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Boolean data type vs. numbers:</a:t>
            </a:r>
          </a:p>
          <a:p>
            <a:pPr lvl="1"/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{True, False} (two possible values) vs. (-∞, ∞)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Primarily built-in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Either:</a:t>
            </a:r>
          </a:p>
          <a:p>
            <a:pPr lvl="1"/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Create </a:t>
            </a:r>
            <a:r>
              <a:rPr lang="en-US" sz="2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boolean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contexts (convert all values to </a:t>
            </a:r>
            <a:r>
              <a:rPr lang="en-US" sz="2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booleans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), e.g. and, or, not</a:t>
            </a:r>
          </a:p>
          <a:p>
            <a:pPr marL="1098550" lvl="2" indent="-457200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False values: 0, ‘’, [], {}, False, </a:t>
            </a:r>
          </a:p>
          <a:p>
            <a:pPr marL="1098550" lvl="2" indent="-457200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True values: Anything else</a:t>
            </a:r>
          </a:p>
          <a:p>
            <a:pPr lvl="1"/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Result is a </a:t>
            </a:r>
            <a:r>
              <a:rPr lang="en-US" sz="2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boolean</a:t>
            </a:r>
            <a:endParaRPr lang="en-US" sz="24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1098550" lvl="2" indent="-457200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==, !=, &gt;, &lt;, is, in, …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001234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Avenir Book"/>
                <a:cs typeface="Avenir Book"/>
              </a:rPr>
              <a:t>Pop Quiz – Boolean operators</a:t>
            </a:r>
            <a:endParaRPr lang="en-US" dirty="0">
              <a:latin typeface="Avenir Book"/>
              <a:cs typeface="Avenir Book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Is -1 a False value in a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boolean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context?</a:t>
            </a:r>
          </a:p>
          <a:p>
            <a:pPr lvl="1"/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</a:t>
            </a:r>
          </a:p>
          <a:p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Can you make expressions with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boolean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operators? Give an example.</a:t>
            </a:r>
          </a:p>
          <a:p>
            <a:pPr lvl="1"/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Absolutely! 6 &gt; 5 is a expression. Remember that expressions compute to a value.</a:t>
            </a:r>
          </a:p>
          <a:p>
            <a:pPr lvl="1"/>
            <a:endParaRPr lang="en-US" sz="16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endParaRPr lang="en-US" sz="16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endParaRPr lang="en-US" sz="16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endParaRPr lang="en-US" sz="16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With good names, you can make intuitive expressions!</a:t>
            </a:r>
          </a:p>
          <a:p>
            <a:pPr lvl="2"/>
            <a:r>
              <a:rPr lang="en-US" sz="1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return </a:t>
            </a:r>
            <a:r>
              <a:rPr lang="en-US" sz="1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dickson</a:t>
            </a:r>
            <a:r>
              <a:rPr lang="en-US" sz="1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not in </a:t>
            </a:r>
            <a:r>
              <a:rPr lang="en-US" sz="1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alumni_list</a:t>
            </a:r>
            <a:r>
              <a:rPr lang="en-US" sz="1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and </a:t>
            </a:r>
            <a:r>
              <a:rPr lang="en-US" sz="1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is_student</a:t>
            </a:r>
            <a:r>
              <a:rPr lang="en-US" sz="1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</a:t>
            </a:r>
            <a:r>
              <a:rPr lang="en-US" sz="1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dickson</a:t>
            </a:r>
            <a:r>
              <a:rPr lang="en-US" sz="1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) and </a:t>
            </a:r>
            <a:r>
              <a:rPr lang="en-US" sz="1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dickson.age</a:t>
            </a:r>
            <a:r>
              <a:rPr lang="en-US" sz="1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&gt;= 21</a:t>
            </a:r>
          </a:p>
          <a:p>
            <a:pPr marL="685800" lvl="2" indent="0">
              <a:buNone/>
            </a:pPr>
            <a:endParaRPr lang="en-US" sz="14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5" name="Chevron 4"/>
          <p:cNvSpPr/>
          <p:nvPr/>
        </p:nvSpPr>
        <p:spPr>
          <a:xfrm>
            <a:off x="4054968" y="3628246"/>
            <a:ext cx="822960" cy="822960"/>
          </a:xfrm>
          <a:prstGeom prst="chevron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150037" y="3861133"/>
            <a:ext cx="1809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6 &gt; 5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208648" y="3861133"/>
            <a:ext cx="1809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True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4284340" y="3804875"/>
            <a:ext cx="7731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Eval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3656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Explore Boolean Operators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7519063"/>
              </p:ext>
            </p:extLst>
          </p:nvPr>
        </p:nvGraphicFramePr>
        <p:xfrm>
          <a:off x="696600" y="3003966"/>
          <a:ext cx="2356747" cy="305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268"/>
                <a:gridCol w="833897"/>
                <a:gridCol w="782582"/>
              </a:tblGrid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Exp1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Exp2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RV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3244834"/>
              </p:ext>
            </p:extLst>
          </p:nvPr>
        </p:nvGraphicFramePr>
        <p:xfrm>
          <a:off x="6024937" y="3003965"/>
          <a:ext cx="2356746" cy="2288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8373"/>
                <a:gridCol w="1178373"/>
              </a:tblGrid>
              <a:tr h="762675">
                <a:tc>
                  <a:txBody>
                    <a:bodyPr/>
                    <a:lstStyle/>
                    <a:p>
                      <a:r>
                        <a:rPr lang="en-US" dirty="0" smtClean="0"/>
                        <a:t>Exp1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RV</a:t>
                      </a:r>
                      <a:endParaRPr lang="en-US" dirty="0"/>
                    </a:p>
                  </a:txBody>
                  <a:tcPr/>
                </a:tc>
              </a:tr>
              <a:tr h="762675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  <a:tr h="762675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0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5390108"/>
              </p:ext>
            </p:extLst>
          </p:nvPr>
        </p:nvGraphicFramePr>
        <p:xfrm>
          <a:off x="3363520" y="3003966"/>
          <a:ext cx="2356747" cy="305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268"/>
                <a:gridCol w="833897"/>
                <a:gridCol w="782582"/>
              </a:tblGrid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Exp1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Exp2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RV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99791" y="2539009"/>
            <a:ext cx="2694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_</a:t>
            </a:r>
            <a:r>
              <a:rPr lang="en-US" sz="1600" u="sng" dirty="0" err="1" smtClean="0"/>
              <a:t>subexp</a:t>
            </a:r>
            <a:r>
              <a:rPr lang="en-US" sz="1600" u="sng" dirty="0" smtClean="0"/>
              <a:t> 1</a:t>
            </a:r>
            <a:r>
              <a:rPr lang="en-US" sz="1600" dirty="0" smtClean="0"/>
              <a:t>_ </a:t>
            </a:r>
            <a:r>
              <a:rPr lang="en-US" sz="1600" b="1" dirty="0" smtClean="0">
                <a:solidFill>
                  <a:srgbClr val="FF00FF"/>
                </a:solidFill>
              </a:rPr>
              <a:t>or</a:t>
            </a:r>
            <a:r>
              <a:rPr lang="en-US" sz="1600" dirty="0" smtClean="0">
                <a:solidFill>
                  <a:srgbClr val="FF00FF"/>
                </a:solidFill>
              </a:rPr>
              <a:t> </a:t>
            </a:r>
            <a:r>
              <a:rPr lang="en-US" sz="1600" dirty="0" smtClean="0"/>
              <a:t>_</a:t>
            </a:r>
            <a:r>
              <a:rPr lang="en-US" sz="1600" u="sng" dirty="0" smtClean="0"/>
              <a:t>subexp2</a:t>
            </a:r>
            <a:r>
              <a:rPr lang="en-US" sz="1600" dirty="0" smtClean="0"/>
              <a:t>_</a:t>
            </a:r>
            <a:endParaRPr lang="en-US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3169355" y="2539009"/>
            <a:ext cx="2835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_</a:t>
            </a:r>
            <a:r>
              <a:rPr lang="en-US" sz="1600" u="sng" dirty="0" err="1" smtClean="0"/>
              <a:t>subexp</a:t>
            </a:r>
            <a:r>
              <a:rPr lang="en-US" sz="1600" u="sng" dirty="0" smtClean="0"/>
              <a:t> 1</a:t>
            </a:r>
            <a:r>
              <a:rPr lang="en-US" sz="1600" dirty="0" smtClean="0"/>
              <a:t>_ </a:t>
            </a:r>
            <a:r>
              <a:rPr lang="en-US" sz="1600" b="1" dirty="0" smtClean="0">
                <a:solidFill>
                  <a:srgbClr val="FF00FF"/>
                </a:solidFill>
              </a:rPr>
              <a:t>and</a:t>
            </a:r>
            <a:r>
              <a:rPr lang="en-US" sz="1600" dirty="0" smtClean="0"/>
              <a:t>_</a:t>
            </a:r>
            <a:r>
              <a:rPr lang="en-US" sz="1600" u="sng" dirty="0" smtClean="0"/>
              <a:t>subexp2</a:t>
            </a:r>
            <a:r>
              <a:rPr lang="en-US" sz="1600" dirty="0" smtClean="0"/>
              <a:t>_</a:t>
            </a:r>
            <a:endParaRPr 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6005149" y="2522132"/>
            <a:ext cx="2694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FF00FF"/>
                </a:solidFill>
              </a:rPr>
              <a:t>not</a:t>
            </a:r>
            <a:r>
              <a:rPr lang="en-US" sz="1600" dirty="0" smtClean="0">
                <a:solidFill>
                  <a:srgbClr val="FF00FF"/>
                </a:solidFill>
              </a:rPr>
              <a:t> </a:t>
            </a:r>
            <a:r>
              <a:rPr lang="en-US" sz="1600" dirty="0" smtClean="0"/>
              <a:t>_</a:t>
            </a:r>
            <a:r>
              <a:rPr lang="en-US" sz="1600" u="sng" dirty="0" smtClean="0"/>
              <a:t>subexp1</a:t>
            </a:r>
            <a:r>
              <a:rPr lang="en-US" sz="1600" dirty="0" smtClean="0"/>
              <a:t>_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0595769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2787559"/>
              </p:ext>
            </p:extLst>
          </p:nvPr>
        </p:nvGraphicFramePr>
        <p:xfrm>
          <a:off x="696600" y="3003966"/>
          <a:ext cx="2356747" cy="305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268"/>
                <a:gridCol w="833897"/>
                <a:gridCol w="782582"/>
              </a:tblGrid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Exp1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Exp2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RV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99791" y="2539009"/>
            <a:ext cx="2694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_</a:t>
            </a:r>
            <a:r>
              <a:rPr lang="en-US" sz="1600" u="sng" dirty="0" err="1" smtClean="0"/>
              <a:t>subexp</a:t>
            </a:r>
            <a:r>
              <a:rPr lang="en-US" sz="1600" u="sng" dirty="0" smtClean="0"/>
              <a:t> 1</a:t>
            </a:r>
            <a:r>
              <a:rPr lang="en-US" sz="1600" dirty="0" smtClean="0"/>
              <a:t>_ </a:t>
            </a:r>
            <a:r>
              <a:rPr lang="en-US" sz="1600" b="1" dirty="0" smtClean="0">
                <a:solidFill>
                  <a:srgbClr val="FF00FF"/>
                </a:solidFill>
              </a:rPr>
              <a:t>or</a:t>
            </a:r>
            <a:r>
              <a:rPr lang="en-US" sz="1600" dirty="0" smtClean="0">
                <a:solidFill>
                  <a:srgbClr val="FF00FF"/>
                </a:solidFill>
              </a:rPr>
              <a:t> </a:t>
            </a:r>
            <a:r>
              <a:rPr lang="en-US" sz="1600" dirty="0" smtClean="0"/>
              <a:t>_</a:t>
            </a:r>
            <a:r>
              <a:rPr lang="en-US" sz="1600" u="sng" dirty="0" smtClean="0"/>
              <a:t>subexp2</a:t>
            </a:r>
            <a:r>
              <a:rPr lang="en-US" sz="1600" dirty="0" smtClean="0"/>
              <a:t>_</a:t>
            </a:r>
            <a:endParaRPr lang="en-US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3169355" y="2539009"/>
            <a:ext cx="2835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5 </a:t>
            </a:r>
            <a:r>
              <a:rPr lang="en-US" sz="1600" b="1" dirty="0" smtClean="0">
                <a:solidFill>
                  <a:srgbClr val="FF00FF"/>
                </a:solidFill>
              </a:rPr>
              <a:t>or</a:t>
            </a:r>
            <a:r>
              <a:rPr lang="en-US" sz="1600" dirty="0" smtClean="0"/>
              <a:t> 1 / 0</a:t>
            </a:r>
            <a:endParaRPr lang="en-US" sz="16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1891" y="3040386"/>
            <a:ext cx="2835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FF00FF"/>
                </a:solidFill>
              </a:rPr>
              <a:t>or</a:t>
            </a:r>
            <a:r>
              <a:rPr lang="en-US" sz="1600" dirty="0" smtClean="0"/>
              <a:t> is the operator</a:t>
            </a:r>
            <a:endParaRPr lang="en-US"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3231890" y="3531340"/>
            <a:ext cx="46837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D77C01"/>
                </a:solidFill>
              </a:rPr>
              <a:t>5</a:t>
            </a:r>
            <a:r>
              <a:rPr lang="en-US" sz="1600" dirty="0" smtClean="0">
                <a:solidFill>
                  <a:srgbClr val="D77C01"/>
                </a:solidFill>
              </a:rPr>
              <a:t> </a:t>
            </a:r>
            <a:r>
              <a:rPr lang="en-US" sz="1600" dirty="0" smtClean="0"/>
              <a:t>is the operand -&gt; </a:t>
            </a:r>
            <a:r>
              <a:rPr lang="en-US" sz="1600" b="1" dirty="0" smtClean="0">
                <a:solidFill>
                  <a:srgbClr val="660066"/>
                </a:solidFill>
              </a:rPr>
              <a:t>True</a:t>
            </a:r>
            <a:r>
              <a:rPr lang="en-US" sz="1600" dirty="0" smtClean="0"/>
              <a:t> in </a:t>
            </a:r>
            <a:r>
              <a:rPr lang="en-US" sz="1600" dirty="0"/>
              <a:t>B</a:t>
            </a:r>
            <a:r>
              <a:rPr lang="en-US" sz="1600" dirty="0" smtClean="0"/>
              <a:t>oolean context</a:t>
            </a:r>
            <a:endParaRPr lang="en-US" sz="1600" dirty="0">
              <a:solidFill>
                <a:srgbClr val="D77C0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31891" y="4022294"/>
            <a:ext cx="46837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660066"/>
                </a:solidFill>
              </a:rPr>
              <a:t>True</a:t>
            </a:r>
            <a:r>
              <a:rPr lang="en-US" sz="1600" dirty="0" smtClean="0"/>
              <a:t> </a:t>
            </a:r>
            <a:r>
              <a:rPr lang="en-US" sz="1600" dirty="0" smtClean="0">
                <a:solidFill>
                  <a:srgbClr val="FF00FF"/>
                </a:solidFill>
              </a:rPr>
              <a:t>or </a:t>
            </a:r>
            <a:r>
              <a:rPr lang="en-US" sz="1600" dirty="0" smtClean="0"/>
              <a:t>1 / 0</a:t>
            </a:r>
            <a:endParaRPr lang="en-US" sz="1600" dirty="0">
              <a:solidFill>
                <a:srgbClr val="D77C0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31891" y="4944355"/>
            <a:ext cx="468371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Since True in Exp1 guarantees True RV, the value of the expression </a:t>
            </a:r>
            <a:r>
              <a:rPr lang="en-US" sz="1600" dirty="0" smtClean="0">
                <a:latin typeface="Consolas"/>
                <a:cs typeface="Consolas"/>
              </a:rPr>
              <a:t>5 or 1 / 0 </a:t>
            </a:r>
            <a:r>
              <a:rPr lang="en-US" sz="1600" dirty="0" smtClean="0"/>
              <a:t>is </a:t>
            </a:r>
            <a:r>
              <a:rPr lang="en-US" sz="1600" b="1" dirty="0" smtClean="0">
                <a:solidFill>
                  <a:srgbClr val="660066"/>
                </a:solidFill>
              </a:rPr>
              <a:t>True</a:t>
            </a:r>
            <a:endParaRPr lang="en-US" sz="1600" b="1" dirty="0">
              <a:solidFill>
                <a:srgbClr val="66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45363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[Discuss] Walk through step by step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4210578"/>
              </p:ext>
            </p:extLst>
          </p:nvPr>
        </p:nvGraphicFramePr>
        <p:xfrm>
          <a:off x="696600" y="3003966"/>
          <a:ext cx="2356747" cy="305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268"/>
                <a:gridCol w="833897"/>
                <a:gridCol w="782582"/>
              </a:tblGrid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Exp1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Exp2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RV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  <a:tr h="610140"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99791" y="2539009"/>
            <a:ext cx="3130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_</a:t>
            </a:r>
            <a:r>
              <a:rPr lang="en-US" sz="1600" u="sng" dirty="0" err="1" smtClean="0"/>
              <a:t>subexp</a:t>
            </a:r>
            <a:r>
              <a:rPr lang="en-US" sz="1600" u="sng" dirty="0" smtClean="0"/>
              <a:t> 1</a:t>
            </a:r>
            <a:r>
              <a:rPr lang="en-US" sz="1600" dirty="0" smtClean="0"/>
              <a:t>_ </a:t>
            </a:r>
            <a:r>
              <a:rPr lang="en-US" sz="1600" b="1" dirty="0" smtClean="0">
                <a:solidFill>
                  <a:srgbClr val="FF00FF"/>
                </a:solidFill>
              </a:rPr>
              <a:t>and</a:t>
            </a:r>
            <a:r>
              <a:rPr lang="en-US" sz="1600" dirty="0" smtClean="0"/>
              <a:t>_</a:t>
            </a:r>
            <a:r>
              <a:rPr lang="en-US" sz="1600" u="sng" dirty="0" smtClean="0"/>
              <a:t>subexp2</a:t>
            </a:r>
            <a:r>
              <a:rPr lang="en-US" sz="1600" dirty="0" smtClean="0"/>
              <a:t>_</a:t>
            </a:r>
            <a:endParaRPr lang="en-US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3393593" y="2539009"/>
            <a:ext cx="2835794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a, b = 10, 6</a:t>
            </a:r>
            <a:endParaRPr lang="en-US" sz="1600" dirty="0"/>
          </a:p>
          <a:p>
            <a:r>
              <a:rPr lang="en-US" sz="1600" dirty="0" smtClean="0"/>
              <a:t>a != 0 </a:t>
            </a:r>
            <a:r>
              <a:rPr lang="en-US" sz="1600" b="1" dirty="0" smtClean="0">
                <a:solidFill>
                  <a:srgbClr val="FF00FF"/>
                </a:solidFill>
              </a:rPr>
              <a:t>and</a:t>
            </a:r>
            <a:r>
              <a:rPr lang="en-US" sz="1600" dirty="0" smtClean="0"/>
              <a:t> b &gt; 5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54968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Boolean Takeaways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Now that you know about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boolean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operators, just evaluate the operands!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What’s the difference from the regular call expression procedure?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sometimes do not evaluate all of the operands!!!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71499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Break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41764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smtClean="0">
                <a:latin typeface="Century Gothic" charset="0"/>
              </a:rPr>
              <a:t>Important Q’s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you want to repeat in your loop?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want to keep track of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4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do you want to start/stop for each </a:t>
            </a:r>
            <a:r>
              <a:rPr lang="en-US" sz="24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4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Thinking about these questions </a:t>
            </a:r>
            <a:r>
              <a:rPr lang="en-US" sz="2400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before you code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will save you a lot of time.</a:t>
            </a:r>
          </a:p>
          <a:p>
            <a:pPr marL="366713" lvl="1" indent="0">
              <a:buNone/>
            </a:pPr>
            <a:endParaRPr lang="en-US" sz="24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see that once you answer these questions thoroughly, the code follows directly (watch the colors in the next few examples).</a:t>
            </a:r>
            <a:endParaRPr lang="en-US" sz="24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0039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smtClean="0">
                <a:latin typeface="Century Gothic" charset="0"/>
              </a:rPr>
              <a:t>Important Qs -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1 + 2 + 3 + … + n</a:t>
            </a: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Break this up into n pieces of computation:</a:t>
            </a: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1 # + 2 # + 3 # + 4 # … # + n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you want to repeat in your loop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do you want to start/stop for each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900454"/>
              </p:ext>
            </p:extLst>
          </p:nvPr>
        </p:nvGraphicFramePr>
        <p:xfrm>
          <a:off x="1524000" y="5231895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Start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Stop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total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en-US" dirty="0"/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Return</a:t>
                      </a:r>
                      <a:r>
                        <a:rPr lang="en-US" baseline="0" dirty="0" smtClean="0"/>
                        <a:t> value</a:t>
                      </a:r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current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</a:t>
                      </a:r>
                      <a:endParaRPr lang="en-US" dirty="0"/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203770"/>
              </p:ext>
            </p:extLst>
          </p:nvPr>
        </p:nvGraphicFramePr>
        <p:xfrm>
          <a:off x="705605" y="3788604"/>
          <a:ext cx="7582047" cy="817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total = total + current element (do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something w/ current info</a:t>
                      </a: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)</a:t>
                      </a:r>
                    </a:p>
                  </a:txBody>
                  <a:tcPr>
                    <a:solidFill>
                      <a:srgbClr val="D77C01"/>
                    </a:solidFill>
                  </a:tcPr>
                </a:tc>
              </a:tr>
              <a:tr h="42084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current element = current element + 1 (get to next piece of info)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19671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smtClean="0">
                <a:latin typeface="Century Gothic" charset="0"/>
              </a:rPr>
              <a:t>Important Qs -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3" y="2324100"/>
            <a:ext cx="4477932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you want to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repeat?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do you want to start/stop for each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241647"/>
              </p:ext>
            </p:extLst>
          </p:nvPr>
        </p:nvGraphicFramePr>
        <p:xfrm>
          <a:off x="590141" y="5294122"/>
          <a:ext cx="474679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266"/>
                <a:gridCol w="1582266"/>
                <a:gridCol w="1582266"/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Start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Stop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total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en-US" dirty="0"/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Return</a:t>
                      </a:r>
                      <a:r>
                        <a:rPr lang="en-US" baseline="0" dirty="0" smtClean="0"/>
                        <a:t> value</a:t>
                      </a:r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current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</a:t>
                      </a:r>
                      <a:endParaRPr lang="en-US" dirty="0"/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803466"/>
              </p:ext>
            </p:extLst>
          </p:nvPr>
        </p:nvGraphicFramePr>
        <p:xfrm>
          <a:off x="1333687" y="2718867"/>
          <a:ext cx="5760851" cy="817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851"/>
              </a:tblGrid>
              <a:tr h="33654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total = total + current element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</a:tr>
              <a:tr h="42084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current element = current element + 1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952062" y="3535950"/>
            <a:ext cx="3990801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sum(n):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total, current = 0, 1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while </a:t>
            </a:r>
            <a:r>
              <a:rPr lang="en-US" sz="2000" dirty="0">
                <a:solidFill>
                  <a:srgbClr val="FF00FF"/>
                </a:solidFill>
                <a:latin typeface="Consolas"/>
                <a:cs typeface="Consolas"/>
              </a:rPr>
              <a:t>current &lt;= n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  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total += current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0000"/>
                </a:solidFill>
                <a:latin typeface="Consolas"/>
                <a:cs typeface="Consolas"/>
              </a:rPr>
              <a:t>   current += 1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return </a:t>
            </a:r>
            <a:r>
              <a:rPr lang="en-US" sz="2000" dirty="0" smtClean="0">
                <a:solidFill>
                  <a:srgbClr val="AAEA25"/>
                </a:solidFill>
                <a:latin typeface="Consolas"/>
                <a:cs typeface="Consolas"/>
              </a:rPr>
              <a:t>total</a:t>
            </a:r>
            <a:endParaRPr lang="en-US" sz="2000" dirty="0">
              <a:solidFill>
                <a:srgbClr val="AAEA25"/>
              </a:solidFill>
              <a:latin typeface="Consolas"/>
              <a:cs typeface="Consola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134789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smtClean="0">
                <a:latin typeface="Century Gothic" charset="0"/>
              </a:rPr>
              <a:t>Important Qs -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Factorial: What changes? 1 * 2 * … * n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Break this up into n pieces of computation:</a:t>
            </a: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1 # * 2 # * 3 # * 4 # … # * n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you want to repeat in your loop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do you want to start/stop for each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322066"/>
              </p:ext>
            </p:extLst>
          </p:nvPr>
        </p:nvGraphicFramePr>
        <p:xfrm>
          <a:off x="1524000" y="5231895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Start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Stop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total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Return</a:t>
                      </a:r>
                      <a:r>
                        <a:rPr lang="en-US" baseline="0" dirty="0" smtClean="0"/>
                        <a:t> value</a:t>
                      </a:r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current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</a:t>
                      </a:r>
                      <a:endParaRPr lang="en-US" dirty="0"/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706379"/>
              </p:ext>
            </p:extLst>
          </p:nvPr>
        </p:nvGraphicFramePr>
        <p:xfrm>
          <a:off x="705605" y="3788604"/>
          <a:ext cx="7582047" cy="817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total = total </a:t>
                      </a: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*</a:t>
                      </a: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current element (do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something w/ current info</a:t>
                      </a: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)</a:t>
                      </a:r>
                    </a:p>
                  </a:txBody>
                  <a:tcPr>
                    <a:solidFill>
                      <a:srgbClr val="D77C01"/>
                    </a:solidFill>
                  </a:tcPr>
                </a:tc>
              </a:tr>
              <a:tr h="42084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current element = current element + 1 (get to next piece of info)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735791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smtClean="0">
                <a:latin typeface="Century Gothic" charset="0"/>
              </a:rPr>
              <a:t>Important Qs -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3" y="2324100"/>
            <a:ext cx="4477932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you want to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repeat?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do you want to start/stop for each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633077"/>
              </p:ext>
            </p:extLst>
          </p:nvPr>
        </p:nvGraphicFramePr>
        <p:xfrm>
          <a:off x="590141" y="5294122"/>
          <a:ext cx="474679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266"/>
                <a:gridCol w="1582266"/>
                <a:gridCol w="1582266"/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Start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Stop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total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Return</a:t>
                      </a:r>
                      <a:r>
                        <a:rPr lang="en-US" baseline="0" dirty="0" smtClean="0"/>
                        <a:t> value</a:t>
                      </a:r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current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</a:t>
                      </a:r>
                      <a:endParaRPr lang="en-US" dirty="0"/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110490"/>
              </p:ext>
            </p:extLst>
          </p:nvPr>
        </p:nvGraphicFramePr>
        <p:xfrm>
          <a:off x="1333687" y="2718867"/>
          <a:ext cx="5760851" cy="817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851"/>
              </a:tblGrid>
              <a:tr h="33654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total = total </a:t>
                      </a:r>
                      <a:r>
                        <a:rPr lang="en-US" sz="2000" dirty="0" smtClean="0">
                          <a:solidFill>
                            <a:srgbClr val="FFFFFF"/>
                          </a:solidFill>
                          <a:latin typeface="Avenir Book" charset="0"/>
                          <a:cs typeface="Avenir Book" charset="0"/>
                        </a:rPr>
                        <a:t>*</a:t>
                      </a: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current element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</a:tr>
              <a:tr h="42084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current element = current element + 1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952062" y="3535950"/>
            <a:ext cx="3990801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fact(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n):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total, current = </a:t>
            </a:r>
            <a:r>
              <a:rPr lang="en-US" sz="2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gradFill>
                  <a:gsLst>
                    <a:gs pos="0">
                      <a:srgbClr val="FFFFFF">
                        <a:tint val="40000"/>
                        <a:satMod val="250000"/>
                      </a:srgbClr>
                    </a:gs>
                    <a:gs pos="9000">
                      <a:srgbClr val="FFFFFF">
                        <a:tint val="52000"/>
                        <a:satMod val="300000"/>
                      </a:srgbClr>
                    </a:gs>
                    <a:gs pos="50000">
                      <a:srgbClr val="FFFFFF">
                        <a:shade val="20000"/>
                        <a:satMod val="300000"/>
                      </a:srgbClr>
                    </a:gs>
                    <a:gs pos="79000">
                      <a:srgbClr val="FFFFFF">
                        <a:tint val="52000"/>
                        <a:satMod val="300000"/>
                      </a:srgbClr>
                    </a:gs>
                    <a:gs pos="100000">
                      <a:srgbClr val="FFFFFF">
                        <a:tint val="40000"/>
                        <a:satMod val="250000"/>
                      </a:srgbClr>
                    </a:gs>
                  </a:gsLst>
                  <a:lin ang="5400000"/>
                </a:gradFill>
                <a:latin typeface="Consolas"/>
                <a:cs typeface="Consolas"/>
              </a:rPr>
              <a:t>1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, </a:t>
            </a: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1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while </a:t>
            </a:r>
            <a:r>
              <a:rPr lang="en-US" sz="2000" dirty="0">
                <a:solidFill>
                  <a:srgbClr val="FF00FF"/>
                </a:solidFill>
                <a:latin typeface="Consolas"/>
                <a:cs typeface="Consolas"/>
              </a:rPr>
              <a:t>current &lt;= n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  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total </a:t>
            </a:r>
            <a:r>
              <a:rPr lang="en-US" sz="2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gradFill>
                  <a:gsLst>
                    <a:gs pos="0">
                      <a:srgbClr val="FFFFFF">
                        <a:tint val="40000"/>
                        <a:satMod val="250000"/>
                      </a:srgbClr>
                    </a:gs>
                    <a:gs pos="9000">
                      <a:srgbClr val="FFFFFF">
                        <a:tint val="52000"/>
                        <a:satMod val="300000"/>
                      </a:srgbClr>
                    </a:gs>
                    <a:gs pos="50000">
                      <a:srgbClr val="FFFFFF">
                        <a:shade val="20000"/>
                        <a:satMod val="300000"/>
                      </a:srgbClr>
                    </a:gs>
                    <a:gs pos="79000">
                      <a:srgbClr val="FFFFFF">
                        <a:tint val="52000"/>
                        <a:satMod val="300000"/>
                      </a:srgbClr>
                    </a:gs>
                    <a:gs pos="100000">
                      <a:srgbClr val="FFFFFF">
                        <a:tint val="40000"/>
                        <a:satMod val="250000"/>
                      </a:srgbClr>
                    </a:gs>
                  </a:gsLst>
                  <a:lin ang="5400000"/>
                </a:gradFill>
                <a:latin typeface="Consolas"/>
                <a:cs typeface="Consolas"/>
              </a:rPr>
              <a:t>*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= current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0000"/>
                </a:solidFill>
                <a:latin typeface="Consolas"/>
                <a:cs typeface="Consolas"/>
              </a:rPr>
              <a:t>   current += 1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return </a:t>
            </a:r>
            <a:r>
              <a:rPr lang="en-US" sz="2000" dirty="0" smtClean="0">
                <a:solidFill>
                  <a:srgbClr val="AAEA25"/>
                </a:solidFill>
                <a:latin typeface="Consolas"/>
                <a:cs typeface="Consolas"/>
              </a:rPr>
              <a:t>total</a:t>
            </a:r>
            <a:endParaRPr lang="en-US" sz="2000" dirty="0">
              <a:solidFill>
                <a:srgbClr val="AAEA25"/>
              </a:solidFill>
              <a:latin typeface="Consolas"/>
              <a:cs typeface="Consola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63143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smtClean="0">
                <a:latin typeface="Century Gothic" charset="0"/>
              </a:rPr>
              <a:t>Important Qs -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Take in user input, determine smallest number.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Break this up into n pieces of computation:</a:t>
            </a: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Input, set min # Input, set min if smaller # input, set min if smaller…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you want to repeat in your loop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do you want to start/stop for each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44987"/>
              </p:ext>
            </p:extLst>
          </p:nvPr>
        </p:nvGraphicFramePr>
        <p:xfrm>
          <a:off x="1524000" y="5231895"/>
          <a:ext cx="6096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Start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Stop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buffer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First</a:t>
                      </a:r>
                      <a:r>
                        <a:rPr lang="en-US" b="0" baseline="0" dirty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 input</a:t>
                      </a:r>
                      <a:endParaRPr lang="en-US" b="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Empty</a:t>
                      </a:r>
                      <a:endParaRPr lang="en-US" dirty="0"/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current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None</a:t>
                      </a:r>
                      <a:endParaRPr lang="en-US" dirty="0"/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Return value</a:t>
                      </a:r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095651"/>
              </p:ext>
            </p:extLst>
          </p:nvPr>
        </p:nvGraphicFramePr>
        <p:xfrm>
          <a:off x="705604" y="3788604"/>
          <a:ext cx="6914395" cy="817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4395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Check if current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</a:t>
                      </a:r>
                      <a:r>
                        <a:rPr lang="en-US" sz="2000" baseline="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num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is smaller than our stored minimum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D77C01"/>
                    </a:solidFill>
                  </a:tcPr>
                </a:tc>
              </a:tr>
              <a:tr h="42084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Get the next value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86412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smtClean="0">
                <a:latin typeface="Century Gothic" charset="0"/>
              </a:rPr>
              <a:t>Important Qs -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3" y="2149182"/>
            <a:ext cx="4375298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you want to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repeat?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do you want to start/stop for each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77048" y="3335144"/>
            <a:ext cx="4965816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</a:t>
            </a:r>
            <a:r>
              <a:rPr lang="en-US" sz="2000" dirty="0" err="1" smtClean="0">
                <a:solidFill>
                  <a:srgbClr val="4A6300"/>
                </a:solidFill>
                <a:latin typeface="Consolas"/>
                <a:cs typeface="Consolas"/>
              </a:rPr>
              <a:t>ef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4A6300"/>
                </a:solidFill>
                <a:latin typeface="Consolas"/>
                <a:cs typeface="Consolas"/>
              </a:rPr>
              <a:t>find_min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()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err="1" smtClean="0">
                <a:solidFill>
                  <a:srgbClr val="3366FF"/>
                </a:solidFill>
                <a:latin typeface="Consolas"/>
                <a:cs typeface="Consolas"/>
              </a:rPr>
              <a:t>buf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= input(“&gt;”)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3366FF"/>
                </a:solidFill>
                <a:latin typeface="Consolas"/>
                <a:cs typeface="Consolas"/>
              </a:rPr>
              <a:t>curr_min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= None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while </a:t>
            </a:r>
            <a:r>
              <a:rPr lang="en-US" sz="2000" dirty="0" err="1" smtClean="0">
                <a:solidFill>
                  <a:srgbClr val="FF00FF"/>
                </a:solidFill>
                <a:latin typeface="Consolas"/>
                <a:cs typeface="Consolas"/>
              </a:rPr>
              <a:t>buf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 is not None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  </a:t>
            </a:r>
            <a:r>
              <a:rPr lang="en-US" sz="2000" dirty="0" err="1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new_num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 = </a:t>
            </a:r>
            <a:r>
              <a:rPr lang="en-US" sz="2000" dirty="0" err="1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int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(</a:t>
            </a:r>
            <a:r>
              <a:rPr lang="en-US" sz="2000" dirty="0" err="1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buf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)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	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if </a:t>
            </a:r>
            <a:r>
              <a:rPr lang="en-US" sz="2000" dirty="0" err="1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curr_min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 is None \ 		or </a:t>
            </a:r>
            <a:r>
              <a:rPr lang="en-US" sz="2000" dirty="0" err="1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new_num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 &lt; </a:t>
            </a:r>
            <a:r>
              <a:rPr lang="en-US" sz="2000" dirty="0" err="1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curr_min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	 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curr_min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 = </a:t>
            </a:r>
            <a:r>
              <a:rPr lang="en-US" sz="2000" dirty="0" err="1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new_num</a:t>
            </a:r>
            <a:endParaRPr lang="en-US" sz="2000" dirty="0" smtClean="0">
              <a:solidFill>
                <a:schemeClr val="accent6">
                  <a:lumMod val="75000"/>
                </a:schemeClr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chemeClr val="accent6">
                    <a:lumMod val="75000"/>
                  </a:schemeClr>
                </a:solidFill>
                <a:latin typeface="Consolas"/>
                <a:cs typeface="Consolas"/>
              </a:rPr>
              <a:t>   </a:t>
            </a:r>
            <a:r>
              <a:rPr lang="en-US" sz="2000" dirty="0" err="1" smtClean="0">
                <a:solidFill>
                  <a:srgbClr val="FF0000"/>
                </a:solidFill>
                <a:latin typeface="Consolas"/>
                <a:cs typeface="Consolas"/>
              </a:rPr>
              <a:t>buf</a:t>
            </a:r>
            <a:r>
              <a:rPr lang="en-US" sz="2000" dirty="0" smtClean="0">
                <a:solidFill>
                  <a:srgbClr val="FF0000"/>
                </a:solidFill>
                <a:latin typeface="Consolas"/>
                <a:cs typeface="Consolas"/>
              </a:rPr>
              <a:t> = input(“&gt;”)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return </a:t>
            </a:r>
            <a:r>
              <a:rPr lang="en-US" sz="2000" dirty="0" smtClean="0">
                <a:solidFill>
                  <a:srgbClr val="AAEA25"/>
                </a:solidFill>
                <a:latin typeface="Consolas"/>
                <a:cs typeface="Consolas"/>
              </a:rPr>
              <a:t>total</a:t>
            </a:r>
            <a:endParaRPr lang="en-US" sz="2000" dirty="0">
              <a:solidFill>
                <a:srgbClr val="AAEA25"/>
              </a:solidFill>
              <a:latin typeface="Consolas"/>
              <a:cs typeface="Consolas"/>
            </a:endParaRPr>
          </a:p>
          <a:p>
            <a:endParaRPr lang="en-US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0714970"/>
              </p:ext>
            </p:extLst>
          </p:nvPr>
        </p:nvGraphicFramePr>
        <p:xfrm>
          <a:off x="705604" y="2518061"/>
          <a:ext cx="6914395" cy="817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4395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Check if current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</a:t>
                      </a:r>
                      <a:r>
                        <a:rPr lang="en-US" sz="2000" baseline="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num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is smaller than our stored minimum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D77C01"/>
                    </a:solidFill>
                  </a:tcPr>
                </a:tc>
              </a:tr>
              <a:tr h="42084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Get the next value from user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787072"/>
              </p:ext>
            </p:extLst>
          </p:nvPr>
        </p:nvGraphicFramePr>
        <p:xfrm>
          <a:off x="563936" y="5231895"/>
          <a:ext cx="386213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0473"/>
                <a:gridCol w="1190952"/>
                <a:gridCol w="1700707"/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Start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Stop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buffer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First</a:t>
                      </a:r>
                      <a:r>
                        <a:rPr lang="en-US" b="0" baseline="0" dirty="0" smtClean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 input</a:t>
                      </a:r>
                      <a:endParaRPr lang="en-US" b="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Empty</a:t>
                      </a:r>
                      <a:endParaRPr lang="en-US" dirty="0"/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current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None</a:t>
                      </a:r>
                      <a:endParaRPr lang="en-US" dirty="0"/>
                    </a:p>
                  </a:txBody>
                  <a:tcPr>
                    <a:solidFill>
                      <a:srgbClr val="33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Return value</a:t>
                      </a:r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60577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Takeaways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</a:t>
            </a:r>
            <a:r>
              <a:rPr lang="en-US" sz="18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header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gives you a lot of control!! You can manipulate the computer’s flow based on judicious choice of header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For while loops: may be helpful to </a:t>
            </a:r>
            <a:r>
              <a:rPr lang="en-US" sz="18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keep track of values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so you don’t lose track of where you are/run into an infinite loop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Q: How do you keep track of values???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A: Use names!! E.g. counter = 1. Now, you can update your counter in the loop like counter += 1</a:t>
            </a:r>
            <a:endParaRPr lang="en-US" sz="16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Think about what you are repeating.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Outline: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you want to repeat in your loop?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4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want to keep track of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4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do you want to start/stop for each </a:t>
            </a:r>
            <a:r>
              <a:rPr lang="en-US" sz="24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  <a:endParaRPr lang="en-US" sz="24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5276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Break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41764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Recall that a function has 3 characteristics: </a:t>
            </a:r>
            <a:r>
              <a:rPr lang="en-US" dirty="0" smtClean="0">
                <a:solidFill>
                  <a:srgbClr val="FF6600"/>
                </a:solidFill>
                <a:latin typeface="Avenir Book"/>
                <a:cs typeface="Avenir Book"/>
              </a:rPr>
              <a:t>domain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, </a:t>
            </a:r>
            <a:r>
              <a:rPr lang="en-US" dirty="0" smtClean="0">
                <a:solidFill>
                  <a:srgbClr val="FF00FF"/>
                </a:solidFill>
                <a:latin typeface="Avenir Book"/>
                <a:cs typeface="Avenir Book"/>
              </a:rPr>
              <a:t>range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, and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  <a:latin typeface="Avenir Book"/>
                <a:cs typeface="Avenir Book"/>
              </a:rPr>
              <a:t>behavior</a:t>
            </a:r>
            <a:endParaRPr lang="en-US" dirty="0">
              <a:solidFill>
                <a:schemeClr val="bg2">
                  <a:lumMod val="75000"/>
                </a:schemeClr>
              </a:solidFill>
              <a:latin typeface="Avenir Book"/>
              <a:cs typeface="Avenir Book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Recall from Lab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2 (this is similar but not the same as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make_buzzer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):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“Write a function </a:t>
            </a: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double_maker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that takes in a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one-argument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function </a:t>
            </a: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and returns a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function (double)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that takes in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one argument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 and returns the result of calling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twice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on that argument”</a:t>
            </a:r>
            <a:endParaRPr lang="en-US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[Discuss] What is the domain, range, and behavior of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double_maker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?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What is a best way to draw all that information out visually?</a:t>
            </a:r>
            <a:endParaRPr lang="en-US" dirty="0">
              <a:solidFill>
                <a:srgbClr val="4A6300"/>
              </a:solidFill>
              <a:latin typeface="Avenir Book"/>
              <a:cs typeface="Avenir Book"/>
            </a:endParaRPr>
          </a:p>
          <a:p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87864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“Write a function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double_maker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that takes in a one-argument function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and returns a function (double) that takes in one argument and returns the result of calling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twice on that argument”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  <a:p>
            <a:r>
              <a:rPr lang="en-US" dirty="0" smtClean="0">
                <a:solidFill>
                  <a:srgbClr val="FF6600"/>
                </a:solidFill>
                <a:latin typeface="Avenir Book"/>
                <a:cs typeface="Avenir Book"/>
              </a:rPr>
              <a:t>Domain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: a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one-argument function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func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  <a:latin typeface="Avenir Book"/>
                <a:cs typeface="Avenir Book"/>
              </a:rPr>
              <a:t>Behavior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: define a function that …</a:t>
            </a:r>
          </a:p>
          <a:p>
            <a:r>
              <a:rPr lang="en-US" dirty="0" smtClean="0">
                <a:solidFill>
                  <a:srgbClr val="FF00FF"/>
                </a:solidFill>
                <a:latin typeface="Avenir Book"/>
                <a:cs typeface="Avenir Book"/>
              </a:rPr>
              <a:t>Range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: that defined function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Domain of returned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fn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: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same domain as domain of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func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Behavior: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Call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func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 twice on the input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Range: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The value of that double function call</a:t>
            </a:r>
            <a:endParaRPr lang="en-US" dirty="0">
              <a:solidFill>
                <a:srgbClr val="4A6300"/>
              </a:solidFill>
              <a:latin typeface="Avenir Book"/>
              <a:cs typeface="Avenir Book"/>
            </a:endParaRPr>
          </a:p>
          <a:p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6770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“Write a function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double_maker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that takes in a one-argument function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and returns a function (double) that takes in one argument and returns the result of calling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twice on that argument”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Best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way to visualize: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28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7" name="Left-Right Arrow Callout 6"/>
          <p:cNvSpPr/>
          <p:nvPr/>
        </p:nvSpPr>
        <p:spPr>
          <a:xfrm>
            <a:off x="2132401" y="4725907"/>
            <a:ext cx="3092779" cy="1718211"/>
          </a:xfrm>
          <a:prstGeom prst="leftRightArrowCallout">
            <a:avLst>
              <a:gd name="adj1" fmla="val 25000"/>
              <a:gd name="adj2" fmla="val 25000"/>
              <a:gd name="adj3" fmla="val 25000"/>
              <a:gd name="adj4" fmla="val 59738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Left-Right Arrow Callout 7"/>
          <p:cNvSpPr/>
          <p:nvPr/>
        </p:nvSpPr>
        <p:spPr>
          <a:xfrm>
            <a:off x="5252760" y="4107156"/>
            <a:ext cx="2008558" cy="1216331"/>
          </a:xfrm>
          <a:prstGeom prst="leftRightArrowCallout">
            <a:avLst/>
          </a:prstGeom>
          <a:solidFill>
            <a:srgbClr val="FF0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00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02231" y="4725907"/>
            <a:ext cx="2065498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</a:t>
            </a:r>
            <a:r>
              <a:rPr lang="en-US" dirty="0" err="1" smtClean="0"/>
              <a:t>ouble_maker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Defines a </a:t>
            </a:r>
            <a:r>
              <a:rPr lang="en-US" dirty="0" smtClean="0"/>
              <a:t>function double</a:t>
            </a:r>
            <a:endParaRPr lang="en-US" dirty="0" smtClean="0"/>
          </a:p>
          <a:p>
            <a:r>
              <a:rPr lang="en-US" dirty="0" smtClean="0"/>
              <a:t>(can look at </a:t>
            </a:r>
            <a:r>
              <a:rPr lang="en-US" dirty="0" err="1" smtClean="0"/>
              <a:t>func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808507" y="4453196"/>
            <a:ext cx="20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ouble</a:t>
            </a:r>
            <a:endParaRPr lang="en-US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4775758" y="4107156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Same domain as </a:t>
            </a:r>
          </a:p>
          <a:p>
            <a:r>
              <a:rPr lang="en-US" sz="1400" dirty="0" err="1" smtClean="0">
                <a:solidFill>
                  <a:srgbClr val="3366FF"/>
                </a:solidFill>
              </a:rPr>
              <a:t>func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261318" y="4580926"/>
            <a:ext cx="1409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</a:rPr>
              <a:t>f</a:t>
            </a:r>
            <a:r>
              <a:rPr lang="en-US" sz="1400" dirty="0" err="1" smtClean="0">
                <a:solidFill>
                  <a:srgbClr val="FF0000"/>
                </a:solidFill>
              </a:rPr>
              <a:t>unc</a:t>
            </a:r>
            <a:r>
              <a:rPr lang="en-US" sz="1400" dirty="0" smtClean="0">
                <a:solidFill>
                  <a:srgbClr val="FF0000"/>
                </a:solidFill>
              </a:rPr>
              <a:t>(</a:t>
            </a:r>
            <a:r>
              <a:rPr lang="en-US" sz="1400" dirty="0" err="1" smtClean="0">
                <a:solidFill>
                  <a:srgbClr val="FF0000"/>
                </a:solidFill>
              </a:rPr>
              <a:t>func</a:t>
            </a:r>
            <a:r>
              <a:rPr lang="en-US" sz="1400" dirty="0" smtClean="0">
                <a:solidFill>
                  <a:srgbClr val="FF0000"/>
                </a:solidFill>
              </a:rPr>
              <a:t>(x))</a:t>
            </a:r>
            <a:endParaRPr lang="en-US" sz="1400" dirty="0" smtClean="0">
              <a:solidFill>
                <a:srgbClr val="FF0000"/>
              </a:solidFill>
            </a:endParaRPr>
          </a:p>
        </p:txBody>
      </p:sp>
      <p:sp>
        <p:nvSpPr>
          <p:cNvPr id="14" name="Left-Right Arrow Callout 13"/>
          <p:cNvSpPr/>
          <p:nvPr/>
        </p:nvSpPr>
        <p:spPr>
          <a:xfrm>
            <a:off x="793673" y="3844932"/>
            <a:ext cx="2008558" cy="1216331"/>
          </a:xfrm>
          <a:prstGeom prst="leftRightArrowCallout">
            <a:avLst/>
          </a:prstGeom>
          <a:solidFill>
            <a:srgbClr val="FF66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5546" y="3868421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One parameter</a:t>
            </a:r>
          </a:p>
          <a:p>
            <a:r>
              <a:rPr lang="en-US" sz="1400" dirty="0">
                <a:solidFill>
                  <a:srgbClr val="3366FF"/>
                </a:solidFill>
              </a:rPr>
              <a:t>x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802231" y="3868421"/>
            <a:ext cx="14093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00"/>
                </a:solidFill>
              </a:rPr>
              <a:t>Express output as:</a:t>
            </a:r>
          </a:p>
          <a:p>
            <a:r>
              <a:rPr lang="en-US" sz="1400" dirty="0" err="1" smtClean="0">
                <a:solidFill>
                  <a:srgbClr val="FF0000"/>
                </a:solidFill>
              </a:rPr>
              <a:t>func</a:t>
            </a:r>
            <a:r>
              <a:rPr lang="en-US" sz="1400" dirty="0" smtClean="0">
                <a:solidFill>
                  <a:srgbClr val="FF0000"/>
                </a:solidFill>
              </a:rPr>
              <a:t>(x)</a:t>
            </a:r>
            <a:endParaRPr lang="en-US" sz="1400" dirty="0" smtClean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21799" y="3868420"/>
            <a:ext cx="10874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 smtClean="0"/>
              <a:t>func</a:t>
            </a:r>
            <a:endParaRPr lang="en-US" sz="1400" dirty="0" smtClean="0"/>
          </a:p>
          <a:p>
            <a:pPr algn="ctr"/>
            <a:endParaRPr lang="en-US" sz="1400" dirty="0" smtClean="0"/>
          </a:p>
          <a:p>
            <a:pPr algn="ctr"/>
            <a:r>
              <a:rPr lang="en-US" sz="1400" dirty="0" smtClean="0"/>
              <a:t>??? (unknown behavior)</a:t>
            </a:r>
            <a:endParaRPr lang="en-US" sz="1400" dirty="0" smtClean="0"/>
          </a:p>
        </p:txBody>
      </p:sp>
    </p:spTree>
    <p:extLst>
      <p:ext uri="{BB962C8B-B14F-4D97-AF65-F5344CB8AC3E}">
        <p14:creationId xmlns:p14="http://schemas.microsoft.com/office/powerpoint/2010/main" val="93835309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99210" y="3376367"/>
            <a:ext cx="3393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chemeClr val="bg2">
                    <a:lumMod val="75000"/>
                  </a:schemeClr>
                </a:solidFill>
                <a:latin typeface="Consolas"/>
                <a:cs typeface="Consolas"/>
              </a:rPr>
              <a:t>double_maker</a:t>
            </a:r>
            <a:r>
              <a:rPr lang="en-US" dirty="0" smtClean="0">
                <a:latin typeface="Consolas"/>
                <a:cs typeface="Consolas"/>
              </a:rPr>
              <a:t>(</a:t>
            </a:r>
            <a:r>
              <a:rPr lang="en-US" dirty="0" err="1" smtClean="0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 smtClean="0">
                <a:latin typeface="Consolas"/>
                <a:cs typeface="Consolas"/>
              </a:rPr>
              <a:t>):</a:t>
            </a:r>
          </a:p>
          <a:p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 # body of </a:t>
            </a:r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double_maker</a:t>
            </a:r>
            <a:endParaRPr lang="en-US" dirty="0" smtClean="0">
              <a:solidFill>
                <a:srgbClr val="660066"/>
              </a:solidFill>
              <a:latin typeface="Consolas"/>
              <a:cs typeface="Consolas"/>
            </a:endParaRPr>
          </a:p>
          <a:p>
            <a:r>
              <a:rPr lang="en-US" dirty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return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double</a:t>
            </a:r>
            <a:endParaRPr lang="en-US" dirty="0">
              <a:solidFill>
                <a:srgbClr val="FF00FF"/>
              </a:solidFill>
              <a:latin typeface="Consolas"/>
              <a:cs typeface="Consolas"/>
            </a:endParaRPr>
          </a:p>
        </p:txBody>
      </p:sp>
      <p:sp>
        <p:nvSpPr>
          <p:cNvPr id="14" name="Left-Right Arrow Callout 13"/>
          <p:cNvSpPr/>
          <p:nvPr/>
        </p:nvSpPr>
        <p:spPr>
          <a:xfrm>
            <a:off x="2006431" y="2455288"/>
            <a:ext cx="3092779" cy="1718211"/>
          </a:xfrm>
          <a:prstGeom prst="leftRightArrowCallout">
            <a:avLst>
              <a:gd name="adj1" fmla="val 25000"/>
              <a:gd name="adj2" fmla="val 25000"/>
              <a:gd name="adj3" fmla="val 25000"/>
              <a:gd name="adj4" fmla="val 59738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eft-Right Arrow Callout 14"/>
          <p:cNvSpPr/>
          <p:nvPr/>
        </p:nvSpPr>
        <p:spPr>
          <a:xfrm>
            <a:off x="5126790" y="1836537"/>
            <a:ext cx="2008558" cy="1216331"/>
          </a:xfrm>
          <a:prstGeom prst="leftRightArrowCallout">
            <a:avLst/>
          </a:prstGeom>
          <a:solidFill>
            <a:srgbClr val="FF0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00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76261" y="2455288"/>
            <a:ext cx="2065498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</a:t>
            </a:r>
            <a:r>
              <a:rPr lang="en-US" dirty="0" err="1" smtClean="0"/>
              <a:t>ouble_maker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Defines a </a:t>
            </a:r>
            <a:r>
              <a:rPr lang="en-US" dirty="0" smtClean="0"/>
              <a:t>function double</a:t>
            </a:r>
            <a:endParaRPr lang="en-US" dirty="0" smtClean="0"/>
          </a:p>
          <a:p>
            <a:r>
              <a:rPr lang="en-US" dirty="0" smtClean="0"/>
              <a:t>(can look at </a:t>
            </a:r>
            <a:r>
              <a:rPr lang="en-US" dirty="0" err="1" smtClean="0"/>
              <a:t>func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682537" y="2182577"/>
            <a:ext cx="20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ouble</a:t>
            </a:r>
            <a:endParaRPr lang="en-US" dirty="0" smtClean="0"/>
          </a:p>
        </p:txBody>
      </p:sp>
      <p:sp>
        <p:nvSpPr>
          <p:cNvPr id="18" name="TextBox 17"/>
          <p:cNvSpPr txBox="1"/>
          <p:nvPr/>
        </p:nvSpPr>
        <p:spPr>
          <a:xfrm>
            <a:off x="4649788" y="1836537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Same domain as </a:t>
            </a:r>
          </a:p>
          <a:p>
            <a:r>
              <a:rPr lang="en-US" sz="1400" dirty="0" err="1" smtClean="0">
                <a:solidFill>
                  <a:srgbClr val="3366FF"/>
                </a:solidFill>
              </a:rPr>
              <a:t>func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5348" y="2310307"/>
            <a:ext cx="1409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804000"/>
                </a:solidFill>
              </a:rPr>
              <a:t>f</a:t>
            </a:r>
            <a:r>
              <a:rPr lang="en-US" sz="1400" dirty="0" err="1" smtClean="0">
                <a:solidFill>
                  <a:srgbClr val="804000"/>
                </a:solidFill>
              </a:rPr>
              <a:t>unc</a:t>
            </a:r>
            <a:r>
              <a:rPr lang="en-US" sz="1400" dirty="0" smtClean="0">
                <a:solidFill>
                  <a:srgbClr val="804000"/>
                </a:solidFill>
              </a:rPr>
              <a:t>(</a:t>
            </a:r>
            <a:r>
              <a:rPr lang="en-US" sz="1400" dirty="0" err="1" smtClean="0">
                <a:solidFill>
                  <a:srgbClr val="804000"/>
                </a:solidFill>
              </a:rPr>
              <a:t>func</a:t>
            </a:r>
            <a:r>
              <a:rPr lang="en-US" sz="1400" dirty="0" smtClean="0">
                <a:solidFill>
                  <a:srgbClr val="804000"/>
                </a:solidFill>
              </a:rPr>
              <a:t>(x))</a:t>
            </a:r>
            <a:endParaRPr lang="en-US" sz="1400" dirty="0" smtClean="0">
              <a:solidFill>
                <a:srgbClr val="804000"/>
              </a:solidFill>
            </a:endParaRPr>
          </a:p>
        </p:txBody>
      </p:sp>
      <p:sp>
        <p:nvSpPr>
          <p:cNvPr id="20" name="Left-Right Arrow Callout 19"/>
          <p:cNvSpPr/>
          <p:nvPr/>
        </p:nvSpPr>
        <p:spPr>
          <a:xfrm>
            <a:off x="667703" y="1574313"/>
            <a:ext cx="2008558" cy="1216331"/>
          </a:xfrm>
          <a:prstGeom prst="leftRightArrowCallout">
            <a:avLst/>
          </a:prstGeom>
          <a:solidFill>
            <a:srgbClr val="FF66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6" y="1597802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One parameter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</a:t>
            </a:r>
            <a:endParaRPr lang="en-US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76261" y="1597802"/>
            <a:ext cx="14093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D0D0D"/>
                </a:solidFill>
              </a:rPr>
              <a:t>Express output as:</a:t>
            </a:r>
          </a:p>
          <a:p>
            <a:r>
              <a:rPr lang="en-US" sz="1400" dirty="0" err="1" smtClean="0">
                <a:solidFill>
                  <a:srgbClr val="0D0D0D"/>
                </a:solidFill>
              </a:rPr>
              <a:t>func</a:t>
            </a:r>
            <a:r>
              <a:rPr lang="en-US" sz="1400" dirty="0" smtClean="0">
                <a:solidFill>
                  <a:srgbClr val="0D0D0D"/>
                </a:solidFill>
              </a:rPr>
              <a:t>(x)</a:t>
            </a:r>
            <a:endParaRPr lang="en-US" sz="1400" dirty="0" smtClean="0">
              <a:solidFill>
                <a:srgbClr val="0D0D0D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5829" y="1597801"/>
            <a:ext cx="10874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 smtClean="0"/>
              <a:t>func</a:t>
            </a:r>
            <a:endParaRPr lang="en-US" sz="1400" dirty="0" smtClean="0"/>
          </a:p>
          <a:p>
            <a:pPr algn="ctr"/>
            <a:endParaRPr lang="en-US" sz="1400" dirty="0" smtClean="0"/>
          </a:p>
          <a:p>
            <a:pPr algn="ctr"/>
            <a:r>
              <a:rPr lang="en-US" sz="1400" dirty="0" smtClean="0"/>
              <a:t>??? (unknown behavior)</a:t>
            </a:r>
            <a:endParaRPr lang="en-US" sz="1400" dirty="0" smtClean="0"/>
          </a:p>
        </p:txBody>
      </p:sp>
    </p:spTree>
    <p:extLst>
      <p:ext uri="{BB962C8B-B14F-4D97-AF65-F5344CB8AC3E}">
        <p14:creationId xmlns:p14="http://schemas.microsoft.com/office/powerpoint/2010/main" val="119476625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30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99210" y="3376367"/>
            <a:ext cx="33939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chemeClr val="bg2">
                    <a:lumMod val="75000"/>
                  </a:schemeClr>
                </a:solidFill>
                <a:latin typeface="Consolas"/>
                <a:cs typeface="Consolas"/>
              </a:rPr>
              <a:t>double_maker</a:t>
            </a:r>
            <a:r>
              <a:rPr lang="en-US" dirty="0" smtClean="0">
                <a:latin typeface="Consolas"/>
                <a:cs typeface="Consolas"/>
              </a:rPr>
              <a:t>(</a:t>
            </a:r>
            <a:r>
              <a:rPr lang="en-US" dirty="0" err="1" smtClean="0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 smtClean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>
                <a:solidFill>
                  <a:srgbClr val="FF00FF"/>
                </a:solidFill>
                <a:latin typeface="Consolas"/>
                <a:cs typeface="Consolas"/>
              </a:rPr>
              <a:t>double</a:t>
            </a:r>
            <a:r>
              <a:rPr lang="en-US" dirty="0">
                <a:latin typeface="Consolas"/>
                <a:cs typeface="Consolas"/>
              </a:rPr>
              <a:t>(</a:t>
            </a:r>
            <a:r>
              <a:rPr lang="en-US" dirty="0">
                <a:solidFill>
                  <a:srgbClr val="3366FF"/>
                </a:solidFill>
                <a:latin typeface="Consolas"/>
                <a:cs typeface="Consolas"/>
              </a:rPr>
              <a:t>x</a:t>
            </a:r>
            <a:r>
              <a:rPr lang="en-US" dirty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  # body of double</a:t>
            </a:r>
          </a:p>
          <a:p>
            <a:r>
              <a:rPr lang="en-US" dirty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return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double</a:t>
            </a:r>
            <a:endParaRPr lang="en-US" dirty="0">
              <a:solidFill>
                <a:srgbClr val="FF00FF"/>
              </a:solidFill>
              <a:latin typeface="Consolas"/>
              <a:cs typeface="Consolas"/>
            </a:endParaRPr>
          </a:p>
        </p:txBody>
      </p:sp>
      <p:sp>
        <p:nvSpPr>
          <p:cNvPr id="14" name="Left-Right Arrow Callout 13"/>
          <p:cNvSpPr/>
          <p:nvPr/>
        </p:nvSpPr>
        <p:spPr>
          <a:xfrm>
            <a:off x="2006431" y="2455288"/>
            <a:ext cx="3092779" cy="1718211"/>
          </a:xfrm>
          <a:prstGeom prst="leftRightArrowCallout">
            <a:avLst>
              <a:gd name="adj1" fmla="val 25000"/>
              <a:gd name="adj2" fmla="val 25000"/>
              <a:gd name="adj3" fmla="val 25000"/>
              <a:gd name="adj4" fmla="val 59738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eft-Right Arrow Callout 14"/>
          <p:cNvSpPr/>
          <p:nvPr/>
        </p:nvSpPr>
        <p:spPr>
          <a:xfrm>
            <a:off x="5126790" y="1836537"/>
            <a:ext cx="2008558" cy="1216331"/>
          </a:xfrm>
          <a:prstGeom prst="leftRightArrowCallout">
            <a:avLst/>
          </a:prstGeom>
          <a:solidFill>
            <a:srgbClr val="FF0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00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76261" y="2455288"/>
            <a:ext cx="2065498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</a:t>
            </a:r>
            <a:r>
              <a:rPr lang="en-US" dirty="0" err="1" smtClean="0"/>
              <a:t>ouble_maker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Defines a </a:t>
            </a:r>
            <a:r>
              <a:rPr lang="en-US" dirty="0" smtClean="0"/>
              <a:t>function double</a:t>
            </a:r>
            <a:endParaRPr lang="en-US" dirty="0" smtClean="0"/>
          </a:p>
          <a:p>
            <a:r>
              <a:rPr lang="en-US" dirty="0" smtClean="0"/>
              <a:t>(can look at </a:t>
            </a:r>
            <a:r>
              <a:rPr lang="en-US" dirty="0" err="1" smtClean="0"/>
              <a:t>func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682537" y="2182577"/>
            <a:ext cx="20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ouble</a:t>
            </a:r>
            <a:endParaRPr lang="en-US" dirty="0" smtClean="0"/>
          </a:p>
        </p:txBody>
      </p:sp>
      <p:sp>
        <p:nvSpPr>
          <p:cNvPr id="18" name="TextBox 17"/>
          <p:cNvSpPr txBox="1"/>
          <p:nvPr/>
        </p:nvSpPr>
        <p:spPr>
          <a:xfrm>
            <a:off x="4649788" y="1836537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Same domain as </a:t>
            </a:r>
          </a:p>
          <a:p>
            <a:r>
              <a:rPr lang="en-US" sz="1400" dirty="0" err="1" smtClean="0">
                <a:solidFill>
                  <a:srgbClr val="3366FF"/>
                </a:solidFill>
              </a:rPr>
              <a:t>func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5348" y="2310307"/>
            <a:ext cx="1409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804000"/>
                </a:solidFill>
              </a:rPr>
              <a:t>f</a:t>
            </a:r>
            <a:r>
              <a:rPr lang="en-US" sz="1400" dirty="0" err="1" smtClean="0">
                <a:solidFill>
                  <a:srgbClr val="804000"/>
                </a:solidFill>
              </a:rPr>
              <a:t>unc</a:t>
            </a:r>
            <a:r>
              <a:rPr lang="en-US" sz="1400" dirty="0" smtClean="0">
                <a:solidFill>
                  <a:srgbClr val="804000"/>
                </a:solidFill>
              </a:rPr>
              <a:t>(</a:t>
            </a:r>
            <a:r>
              <a:rPr lang="en-US" sz="1400" dirty="0" err="1" smtClean="0">
                <a:solidFill>
                  <a:srgbClr val="804000"/>
                </a:solidFill>
              </a:rPr>
              <a:t>func</a:t>
            </a:r>
            <a:r>
              <a:rPr lang="en-US" sz="1400" dirty="0" smtClean="0">
                <a:solidFill>
                  <a:srgbClr val="804000"/>
                </a:solidFill>
              </a:rPr>
              <a:t>(x))</a:t>
            </a:r>
            <a:endParaRPr lang="en-US" sz="1400" dirty="0" smtClean="0">
              <a:solidFill>
                <a:srgbClr val="804000"/>
              </a:solidFill>
            </a:endParaRPr>
          </a:p>
        </p:txBody>
      </p:sp>
      <p:sp>
        <p:nvSpPr>
          <p:cNvPr id="20" name="Left-Right Arrow Callout 19"/>
          <p:cNvSpPr/>
          <p:nvPr/>
        </p:nvSpPr>
        <p:spPr>
          <a:xfrm>
            <a:off x="667703" y="1574313"/>
            <a:ext cx="2008558" cy="1216331"/>
          </a:xfrm>
          <a:prstGeom prst="leftRightArrowCallout">
            <a:avLst/>
          </a:prstGeom>
          <a:solidFill>
            <a:srgbClr val="FF66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6" y="1597802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One parameter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</a:t>
            </a:r>
            <a:endParaRPr lang="en-US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76261" y="1597802"/>
            <a:ext cx="14093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D0D0D"/>
                </a:solidFill>
              </a:rPr>
              <a:t>Express output as:</a:t>
            </a:r>
          </a:p>
          <a:p>
            <a:r>
              <a:rPr lang="en-US" sz="1400" dirty="0" err="1" smtClean="0">
                <a:solidFill>
                  <a:srgbClr val="0D0D0D"/>
                </a:solidFill>
              </a:rPr>
              <a:t>func</a:t>
            </a:r>
            <a:r>
              <a:rPr lang="en-US" sz="1400" dirty="0" smtClean="0">
                <a:solidFill>
                  <a:srgbClr val="0D0D0D"/>
                </a:solidFill>
              </a:rPr>
              <a:t>(x)</a:t>
            </a:r>
            <a:endParaRPr lang="en-US" sz="1400" dirty="0" smtClean="0">
              <a:solidFill>
                <a:srgbClr val="0D0D0D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5829" y="1597801"/>
            <a:ext cx="10874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 smtClean="0"/>
              <a:t>func</a:t>
            </a:r>
            <a:endParaRPr lang="en-US" sz="1400" dirty="0" smtClean="0"/>
          </a:p>
          <a:p>
            <a:pPr algn="ctr"/>
            <a:endParaRPr lang="en-US" sz="1400" dirty="0" smtClean="0"/>
          </a:p>
          <a:p>
            <a:pPr algn="ctr"/>
            <a:r>
              <a:rPr lang="en-US" sz="1400" dirty="0" smtClean="0"/>
              <a:t>??? (unknown behavior)</a:t>
            </a:r>
            <a:endParaRPr lang="en-US" sz="1400" dirty="0" smtClean="0"/>
          </a:p>
        </p:txBody>
      </p:sp>
      <p:sp>
        <p:nvSpPr>
          <p:cNvPr id="24" name="TextBox 23"/>
          <p:cNvSpPr txBox="1"/>
          <p:nvPr/>
        </p:nvSpPr>
        <p:spPr>
          <a:xfrm>
            <a:off x="1334235" y="4848864"/>
            <a:ext cx="6413800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Even though getting the domain/range right might not seem to be important, it’s an important step in the right direction. </a:t>
            </a:r>
          </a:p>
          <a:p>
            <a:r>
              <a:rPr lang="en-US" dirty="0" smtClean="0"/>
              <a:t>It’s like aiming your basketball shot. An errant shot has no chance of going in. A straight shot always has more of a chance.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7364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31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99210" y="3376367"/>
            <a:ext cx="33939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chemeClr val="bg2">
                    <a:lumMod val="75000"/>
                  </a:schemeClr>
                </a:solidFill>
                <a:latin typeface="Consolas"/>
                <a:cs typeface="Consolas"/>
              </a:rPr>
              <a:t>double_maker</a:t>
            </a:r>
            <a:r>
              <a:rPr lang="en-US" dirty="0" smtClean="0">
                <a:latin typeface="Consolas"/>
                <a:cs typeface="Consolas"/>
              </a:rPr>
              <a:t>(</a:t>
            </a:r>
            <a:r>
              <a:rPr lang="en-US" dirty="0" err="1" smtClean="0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 smtClean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>
                <a:solidFill>
                  <a:srgbClr val="FF00FF"/>
                </a:solidFill>
                <a:latin typeface="Consolas"/>
                <a:cs typeface="Consolas"/>
              </a:rPr>
              <a:t>double</a:t>
            </a:r>
            <a:r>
              <a:rPr lang="en-US" dirty="0">
                <a:latin typeface="Consolas"/>
                <a:cs typeface="Consolas"/>
              </a:rPr>
              <a:t>(</a:t>
            </a:r>
            <a:r>
              <a:rPr lang="en-US" dirty="0">
                <a:solidFill>
                  <a:srgbClr val="3366FF"/>
                </a:solidFill>
                <a:latin typeface="Consolas"/>
                <a:cs typeface="Consolas"/>
              </a:rPr>
              <a:t>x</a:t>
            </a:r>
            <a:r>
              <a:rPr lang="en-US" dirty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  </a:t>
            </a:r>
            <a:r>
              <a:rPr lang="en-US" dirty="0" smtClean="0">
                <a:solidFill>
                  <a:srgbClr val="804000"/>
                </a:solidFill>
                <a:latin typeface="Consolas"/>
                <a:cs typeface="Consolas"/>
              </a:rPr>
              <a:t>return </a:t>
            </a:r>
            <a:r>
              <a:rPr lang="en-US" dirty="0" err="1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latin typeface="Consolas"/>
                <a:cs typeface="Consolas"/>
              </a:rPr>
              <a:t>(</a:t>
            </a:r>
            <a:r>
              <a:rPr lang="en-US" dirty="0" err="1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latin typeface="Consolas"/>
                <a:cs typeface="Consolas"/>
              </a:rPr>
              <a:t>(</a:t>
            </a:r>
            <a:r>
              <a:rPr lang="en-US" dirty="0">
                <a:solidFill>
                  <a:srgbClr val="3366FF"/>
                </a:solidFill>
                <a:latin typeface="Consolas"/>
                <a:cs typeface="Consolas"/>
              </a:rPr>
              <a:t>x</a:t>
            </a:r>
            <a:r>
              <a:rPr lang="en-US" dirty="0" smtClean="0">
                <a:latin typeface="Consolas"/>
                <a:cs typeface="Consolas"/>
              </a:rPr>
              <a:t>))</a:t>
            </a:r>
          </a:p>
          <a:p>
            <a:r>
              <a:rPr lang="en-US" dirty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return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double</a:t>
            </a:r>
            <a:endParaRPr lang="en-US" dirty="0">
              <a:solidFill>
                <a:srgbClr val="FF00FF"/>
              </a:solidFill>
              <a:latin typeface="Consolas"/>
              <a:cs typeface="Consolas"/>
            </a:endParaRPr>
          </a:p>
        </p:txBody>
      </p:sp>
      <p:sp>
        <p:nvSpPr>
          <p:cNvPr id="14" name="Left-Right Arrow Callout 13"/>
          <p:cNvSpPr/>
          <p:nvPr/>
        </p:nvSpPr>
        <p:spPr>
          <a:xfrm>
            <a:off x="2006431" y="2455288"/>
            <a:ext cx="3092779" cy="1718211"/>
          </a:xfrm>
          <a:prstGeom prst="leftRightArrowCallout">
            <a:avLst>
              <a:gd name="adj1" fmla="val 25000"/>
              <a:gd name="adj2" fmla="val 25000"/>
              <a:gd name="adj3" fmla="val 25000"/>
              <a:gd name="adj4" fmla="val 59738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eft-Right Arrow Callout 14"/>
          <p:cNvSpPr/>
          <p:nvPr/>
        </p:nvSpPr>
        <p:spPr>
          <a:xfrm>
            <a:off x="5126790" y="1836537"/>
            <a:ext cx="2008558" cy="1216331"/>
          </a:xfrm>
          <a:prstGeom prst="leftRightArrowCallout">
            <a:avLst/>
          </a:prstGeom>
          <a:solidFill>
            <a:srgbClr val="FF0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00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76261" y="2455288"/>
            <a:ext cx="2065498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</a:t>
            </a:r>
            <a:r>
              <a:rPr lang="en-US" dirty="0" err="1" smtClean="0"/>
              <a:t>ouble_maker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Defines a </a:t>
            </a:r>
            <a:r>
              <a:rPr lang="en-US" dirty="0" smtClean="0"/>
              <a:t>function double</a:t>
            </a:r>
            <a:endParaRPr lang="en-US" dirty="0" smtClean="0"/>
          </a:p>
          <a:p>
            <a:r>
              <a:rPr lang="en-US" dirty="0" smtClean="0"/>
              <a:t>(can look at </a:t>
            </a:r>
            <a:r>
              <a:rPr lang="en-US" dirty="0" err="1" smtClean="0"/>
              <a:t>func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682537" y="2182577"/>
            <a:ext cx="20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ouble</a:t>
            </a:r>
            <a:endParaRPr lang="en-US" dirty="0" smtClean="0"/>
          </a:p>
        </p:txBody>
      </p:sp>
      <p:sp>
        <p:nvSpPr>
          <p:cNvPr id="18" name="TextBox 17"/>
          <p:cNvSpPr txBox="1"/>
          <p:nvPr/>
        </p:nvSpPr>
        <p:spPr>
          <a:xfrm>
            <a:off x="4649788" y="1836537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Same domain as </a:t>
            </a:r>
          </a:p>
          <a:p>
            <a:r>
              <a:rPr lang="en-US" sz="1400" dirty="0" err="1" smtClean="0">
                <a:solidFill>
                  <a:srgbClr val="3366FF"/>
                </a:solidFill>
              </a:rPr>
              <a:t>func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5348" y="2310307"/>
            <a:ext cx="1409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804000"/>
                </a:solidFill>
              </a:rPr>
              <a:t>f</a:t>
            </a:r>
            <a:r>
              <a:rPr lang="en-US" sz="1400" dirty="0" err="1" smtClean="0">
                <a:solidFill>
                  <a:srgbClr val="804000"/>
                </a:solidFill>
              </a:rPr>
              <a:t>unc</a:t>
            </a:r>
            <a:r>
              <a:rPr lang="en-US" sz="1400" dirty="0" smtClean="0">
                <a:solidFill>
                  <a:srgbClr val="804000"/>
                </a:solidFill>
              </a:rPr>
              <a:t>(</a:t>
            </a:r>
            <a:r>
              <a:rPr lang="en-US" sz="1400" dirty="0" err="1" smtClean="0">
                <a:solidFill>
                  <a:srgbClr val="804000"/>
                </a:solidFill>
              </a:rPr>
              <a:t>func</a:t>
            </a:r>
            <a:r>
              <a:rPr lang="en-US" sz="1400" dirty="0" smtClean="0">
                <a:solidFill>
                  <a:srgbClr val="804000"/>
                </a:solidFill>
              </a:rPr>
              <a:t>(x))</a:t>
            </a:r>
            <a:endParaRPr lang="en-US" sz="1400" dirty="0" smtClean="0">
              <a:solidFill>
                <a:srgbClr val="804000"/>
              </a:solidFill>
            </a:endParaRPr>
          </a:p>
        </p:txBody>
      </p:sp>
      <p:sp>
        <p:nvSpPr>
          <p:cNvPr id="20" name="Left-Right Arrow Callout 19"/>
          <p:cNvSpPr/>
          <p:nvPr/>
        </p:nvSpPr>
        <p:spPr>
          <a:xfrm>
            <a:off x="667703" y="1574313"/>
            <a:ext cx="2008558" cy="1216331"/>
          </a:xfrm>
          <a:prstGeom prst="leftRightArrowCallout">
            <a:avLst/>
          </a:prstGeom>
          <a:solidFill>
            <a:srgbClr val="FF66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6" y="1597802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One parameter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</a:t>
            </a:r>
            <a:endParaRPr lang="en-US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76261" y="1597802"/>
            <a:ext cx="14093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D0D0D"/>
                </a:solidFill>
              </a:rPr>
              <a:t>Express output as:</a:t>
            </a:r>
          </a:p>
          <a:p>
            <a:r>
              <a:rPr lang="en-US" sz="1400" dirty="0" err="1" smtClean="0">
                <a:solidFill>
                  <a:srgbClr val="0D0D0D"/>
                </a:solidFill>
              </a:rPr>
              <a:t>func</a:t>
            </a:r>
            <a:r>
              <a:rPr lang="en-US" sz="1400" dirty="0" smtClean="0">
                <a:solidFill>
                  <a:srgbClr val="0D0D0D"/>
                </a:solidFill>
              </a:rPr>
              <a:t>(x)</a:t>
            </a:r>
            <a:endParaRPr lang="en-US" sz="1400" dirty="0" smtClean="0">
              <a:solidFill>
                <a:srgbClr val="0D0D0D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5829" y="1597801"/>
            <a:ext cx="10874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 smtClean="0"/>
              <a:t>func</a:t>
            </a:r>
            <a:endParaRPr lang="en-US" sz="1400" dirty="0" smtClean="0"/>
          </a:p>
          <a:p>
            <a:pPr algn="ctr"/>
            <a:endParaRPr lang="en-US" sz="1400" dirty="0" smtClean="0"/>
          </a:p>
          <a:p>
            <a:pPr algn="ctr"/>
            <a:r>
              <a:rPr lang="en-US" sz="1400" dirty="0" smtClean="0"/>
              <a:t>??? (unknown behavior)</a:t>
            </a:r>
            <a:endParaRPr lang="en-US" sz="1400" dirty="0" smtClean="0"/>
          </a:p>
        </p:txBody>
      </p:sp>
      <p:sp>
        <p:nvSpPr>
          <p:cNvPr id="24" name="TextBox 23"/>
          <p:cNvSpPr txBox="1"/>
          <p:nvPr/>
        </p:nvSpPr>
        <p:spPr>
          <a:xfrm>
            <a:off x="1334235" y="4720587"/>
            <a:ext cx="6413800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double_maker</a:t>
            </a:r>
            <a:r>
              <a:rPr lang="en-US" dirty="0" smtClean="0"/>
              <a:t> can now make functions that we can customize. It combines the power of argument passing and function definitions!</a:t>
            </a:r>
          </a:p>
          <a:p>
            <a:endParaRPr lang="en-US" dirty="0"/>
          </a:p>
          <a:p>
            <a:r>
              <a:rPr lang="en-US" dirty="0" smtClean="0"/>
              <a:t>Now: try writing call expressions for </a:t>
            </a:r>
            <a:r>
              <a:rPr lang="en-US" dirty="0" err="1" smtClean="0"/>
              <a:t>double_maker</a:t>
            </a:r>
            <a:r>
              <a:rPr lang="en-US" dirty="0" smtClean="0"/>
              <a:t> and its output and draw environment diagrams!</a:t>
            </a:r>
          </a:p>
        </p:txBody>
      </p:sp>
    </p:spTree>
    <p:extLst>
      <p:ext uri="{BB962C8B-B14F-4D97-AF65-F5344CB8AC3E}">
        <p14:creationId xmlns:p14="http://schemas.microsoft.com/office/powerpoint/2010/main" val="230542488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HOF Takeaways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4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 define a function within another function: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take in arguments that your inner function can access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Consequence: your inner functions are customizable!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 take in a function as an argument: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apply any operation to the data you have!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These advantages should not be memorized, but rather appreciated as you go along. Get an intuitive feel for these HOFs.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They are not the solution to everything. We will see other solutions later, like OOP.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32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29572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Break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44347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347246"/>
            <a:ext cx="8263466" cy="1143000"/>
          </a:xfrm>
        </p:spPr>
        <p:txBody>
          <a:bodyPr/>
          <a:lstStyle/>
          <a:p>
            <a:pPr algn="ctr"/>
            <a:r>
              <a:rPr lang="en-US" dirty="0" err="1" smtClean="0">
                <a:latin typeface="Century Gothic" charset="0"/>
              </a:rPr>
              <a:t>Env</a:t>
            </a:r>
            <a:r>
              <a:rPr lang="en-US" dirty="0" smtClean="0">
                <a:latin typeface="Century Gothic" charset="0"/>
              </a:rPr>
              <a:t> Diagram Rules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34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8433" y="1503074"/>
            <a:ext cx="783863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Creating a function using </a:t>
            </a:r>
            <a:r>
              <a:rPr lang="en-US" sz="1600" dirty="0" err="1" smtClean="0"/>
              <a:t>def</a:t>
            </a:r>
            <a:r>
              <a:rPr lang="en-US" sz="1600" dirty="0" smtClean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Draw </a:t>
            </a:r>
            <a:r>
              <a:rPr lang="en-US" sz="1600" dirty="0" err="1" smtClean="0"/>
              <a:t>func</a:t>
            </a:r>
            <a:r>
              <a:rPr lang="en-US" sz="1600" dirty="0" smtClean="0"/>
              <a:t> &lt;name&gt;(&lt;param1&gt;, &lt;param2&gt;, …) [parent=?]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The parent of the function is the current frame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For </a:t>
            </a:r>
            <a:r>
              <a:rPr lang="en-US" sz="1600" dirty="0" err="1" smtClean="0"/>
              <a:t>def</a:t>
            </a:r>
            <a:r>
              <a:rPr lang="en-US" sz="1600" dirty="0" smtClean="0"/>
              <a:t> only: bind this function to the same name in the current frame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r>
              <a:rPr lang="en-US" sz="1600" dirty="0" smtClean="0"/>
              <a:t>Calling user-defined functions: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operator and operands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Create a new frame. Label the frame with the info from the function object &lt;name&gt; [parent=?]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Bind the formal parameters to the arguments (values of operands)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body with new frame as current frame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Return back to frame that called the function</a:t>
            </a:r>
          </a:p>
          <a:p>
            <a:pPr marL="342900" indent="-342900">
              <a:buAutoNum type="arabicPeriod"/>
            </a:pPr>
            <a:endParaRPr lang="en-US" sz="1600" dirty="0"/>
          </a:p>
          <a:p>
            <a:r>
              <a:rPr lang="en-US" sz="1600" dirty="0" smtClean="0"/>
              <a:t>Assignment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RHS 2. Bind name on LHS to value on RHS in current frame</a:t>
            </a:r>
          </a:p>
          <a:p>
            <a:pPr marL="342900" indent="-342900">
              <a:buAutoNum type="arabicPeriod"/>
            </a:pPr>
            <a:endParaRPr lang="en-US" sz="1600" dirty="0"/>
          </a:p>
          <a:p>
            <a:r>
              <a:rPr lang="en-US" sz="1600" dirty="0" smtClean="0"/>
              <a:t>Lookup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Start at current frame. If name is there, great! If not, go to the </a:t>
            </a:r>
            <a:r>
              <a:rPr lang="en-US" sz="1600" b="1" u="sng" dirty="0" smtClean="0"/>
              <a:t>parent</a:t>
            </a:r>
            <a:r>
              <a:rPr lang="en-US" sz="1600" dirty="0" smtClean="0"/>
              <a:t> frame</a:t>
            </a:r>
          </a:p>
        </p:txBody>
      </p:sp>
    </p:spTree>
    <p:extLst>
      <p:ext uri="{BB962C8B-B14F-4D97-AF65-F5344CB8AC3E}">
        <p14:creationId xmlns:p14="http://schemas.microsoft.com/office/powerpoint/2010/main" val="40079489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err="1" smtClean="0">
                <a:latin typeface="Century Gothic" charset="0"/>
              </a:rPr>
              <a:t>Env</a:t>
            </a:r>
            <a:r>
              <a:rPr lang="en-US" dirty="0" smtClean="0">
                <a:latin typeface="Century Gothic" charset="0"/>
              </a:rPr>
              <a:t> Diagram Rules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Don’t follow your intuition, because you have never seen rules like these (unless you programmed bef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ore, kudos!)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Follow these rules until you get the right intuition.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Env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diagrams are fun! They just take time to master. 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Some sacrifice now will be rewarding in the long run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  <a:sym typeface="Wingdings"/>
              </a:rPr>
              <a:t>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  <a:sym typeface="Wingdings"/>
              </a:rPr>
              <a:t>Now let’s look at the rules again.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35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03085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347246"/>
            <a:ext cx="8263466" cy="1143000"/>
          </a:xfrm>
        </p:spPr>
        <p:txBody>
          <a:bodyPr/>
          <a:lstStyle/>
          <a:p>
            <a:pPr algn="ctr"/>
            <a:r>
              <a:rPr lang="en-US" dirty="0" err="1" smtClean="0">
                <a:latin typeface="Century Gothic" charset="0"/>
              </a:rPr>
              <a:t>Env</a:t>
            </a:r>
            <a:r>
              <a:rPr lang="en-US" dirty="0" smtClean="0">
                <a:latin typeface="Century Gothic" charset="0"/>
              </a:rPr>
              <a:t> Diagram Rules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36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8433" y="1503074"/>
            <a:ext cx="783863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Creating a function using </a:t>
            </a:r>
            <a:r>
              <a:rPr lang="en-US" sz="1600" dirty="0" err="1" smtClean="0"/>
              <a:t>def</a:t>
            </a:r>
            <a:r>
              <a:rPr lang="en-US" sz="1600" dirty="0" smtClean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Draw </a:t>
            </a:r>
            <a:r>
              <a:rPr lang="en-US" sz="1600" dirty="0" err="1" smtClean="0"/>
              <a:t>func</a:t>
            </a:r>
            <a:r>
              <a:rPr lang="en-US" sz="1600" dirty="0" smtClean="0"/>
              <a:t> &lt;name&gt;(&lt;param1&gt;, &lt;param2&gt;, …) [parent=?]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The parent of the function is the current frame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For </a:t>
            </a:r>
            <a:r>
              <a:rPr lang="en-US" sz="1600" dirty="0" err="1" smtClean="0"/>
              <a:t>def</a:t>
            </a:r>
            <a:r>
              <a:rPr lang="en-US" sz="1600" dirty="0" smtClean="0"/>
              <a:t> only: bind this function to the same name in the current frame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r>
              <a:rPr lang="en-US" sz="1600" dirty="0" smtClean="0"/>
              <a:t>Calling user-defined functions: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operator and operands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Create a new frame. Label the frame with the info from the function object &lt;name&gt; [parent=?]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Bind the formal parameters to the arguments (values of operands)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body with new frame as current frame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Return back to frame that called the function</a:t>
            </a:r>
          </a:p>
          <a:p>
            <a:pPr marL="342900" indent="-342900">
              <a:buAutoNum type="arabicPeriod"/>
            </a:pPr>
            <a:endParaRPr lang="en-US" sz="1600" dirty="0"/>
          </a:p>
          <a:p>
            <a:r>
              <a:rPr lang="en-US" sz="1600" dirty="0" smtClean="0"/>
              <a:t>Assignment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RHS 2. Bind name on LHS to value on RHS in current frame</a:t>
            </a:r>
          </a:p>
          <a:p>
            <a:pPr marL="342900" indent="-342900">
              <a:buAutoNum type="arabicPeriod"/>
            </a:pPr>
            <a:endParaRPr lang="en-US" sz="1600" dirty="0"/>
          </a:p>
          <a:p>
            <a:r>
              <a:rPr lang="en-US" sz="1600" dirty="0" smtClean="0"/>
              <a:t>Lookup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Start at current frame. If name is there, great! If not, go to the </a:t>
            </a:r>
            <a:r>
              <a:rPr lang="en-US" sz="1600" b="1" u="sng" dirty="0" smtClean="0"/>
              <a:t>parent</a:t>
            </a:r>
            <a:r>
              <a:rPr lang="en-US" sz="1600" dirty="0" smtClean="0"/>
              <a:t> frame</a:t>
            </a:r>
          </a:p>
        </p:txBody>
      </p:sp>
    </p:spTree>
    <p:extLst>
      <p:ext uri="{BB962C8B-B14F-4D97-AF65-F5344CB8AC3E}">
        <p14:creationId xmlns:p14="http://schemas.microsoft.com/office/powerpoint/2010/main" val="56160230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Optional Conceptual Questions (Wednesday 9/10 lecture)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What’s the purpose of drawing arrows to function objects everywhere on the environment diagram? Hint: Consider what happens when you want to rebind names.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we determine the parent of a function object?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Can there be more than one frame referring to the same function object? (e.g. have twice: square [parent=f1]) 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you know if an expression is a call expression? (Should be a very simple question)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is the return statement of a function related to a call expression involving that function?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Why do we bother with frames? What’s the problem with having all the variables and action in the global frame?</a:t>
            </a:r>
          </a:p>
          <a:p>
            <a:pPr marL="527050" indent="-457200">
              <a:buFont typeface="+mj-lt"/>
              <a:buAutoNum type="arabicPeriod"/>
            </a:pP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95540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iscussion0">
  <a:themeElements>
    <a:clrScheme name="Austin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Austin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tin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discussion0.ppt</Template>
  <TotalTime>8310</TotalTime>
  <Words>3269</Words>
  <Application>Microsoft Macintosh PowerPoint</Application>
  <PresentationFormat>On-screen Show (4:3)</PresentationFormat>
  <Paragraphs>591</Paragraphs>
  <Slides>37</Slides>
  <Notes>36</Notes>
  <HiddenSlides>1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discussion0</vt:lpstr>
      <vt:lpstr>Welcome to CS61A Disc 2 Sect. 29/47 :D</vt:lpstr>
      <vt:lpstr>Section Quiz Logistics</vt:lpstr>
      <vt:lpstr>Env. Diagram Review</vt:lpstr>
      <vt:lpstr>Section Quiz</vt:lpstr>
      <vt:lpstr>Section Quiz - Advanced</vt:lpstr>
      <vt:lpstr>Optional Section Homework [Canceled]</vt:lpstr>
      <vt:lpstr>Anuncios</vt:lpstr>
      <vt:lpstr>Tip of the Day</vt:lpstr>
      <vt:lpstr>Tip of the Day</vt:lpstr>
      <vt:lpstr>What are boolean operators???</vt:lpstr>
      <vt:lpstr>Pop Quiz – Boolean operators</vt:lpstr>
      <vt:lpstr>Explore Boolean Operators</vt:lpstr>
      <vt:lpstr>Example</vt:lpstr>
      <vt:lpstr>[Discuss] Walk through step by step</vt:lpstr>
      <vt:lpstr>Boolean Takeaways</vt:lpstr>
      <vt:lpstr>Break</vt:lpstr>
      <vt:lpstr>Iteration Important Q’s</vt:lpstr>
      <vt:lpstr>Iteration Important Qs - Example</vt:lpstr>
      <vt:lpstr>Iteration Important Qs - Example</vt:lpstr>
      <vt:lpstr>Iteration Important Qs - Example</vt:lpstr>
      <vt:lpstr>Iteration Important Qs - Example</vt:lpstr>
      <vt:lpstr>Iteration Important Qs - Example</vt:lpstr>
      <vt:lpstr>Iteration Important Qs - Example</vt:lpstr>
      <vt:lpstr>Iteration Takeaways</vt:lpstr>
      <vt:lpstr>Break</vt:lpstr>
      <vt:lpstr>Characteristics of Functions</vt:lpstr>
      <vt:lpstr>Characteristics of Functions</vt:lpstr>
      <vt:lpstr>Characteristics of Functions</vt:lpstr>
      <vt:lpstr>Characteristics of Functions</vt:lpstr>
      <vt:lpstr>Characteristics of Functions</vt:lpstr>
      <vt:lpstr>Characteristics of Functions</vt:lpstr>
      <vt:lpstr>HOF Takeaways</vt:lpstr>
      <vt:lpstr>Break</vt:lpstr>
      <vt:lpstr>Env Diagram Rules</vt:lpstr>
      <vt:lpstr>Env Diagram Rules</vt:lpstr>
      <vt:lpstr>Env Diagram Rules</vt:lpstr>
      <vt:lpstr>Optional Conceptual Questions (Wednesday 9/10 lecture)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CS61A Section 47 :D</dc:title>
  <dc:creator>Dickson Tsai</dc:creator>
  <cp:lastModifiedBy>Dickson Tsai</cp:lastModifiedBy>
  <cp:revision>93</cp:revision>
  <dcterms:created xsi:type="dcterms:W3CDTF">2014-08-28T16:21:02Z</dcterms:created>
  <dcterms:modified xsi:type="dcterms:W3CDTF">2014-09-13T06:04:06Z</dcterms:modified>
</cp:coreProperties>
</file>