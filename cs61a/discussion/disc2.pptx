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7"/>
  </p:notesMasterIdLst>
  <p:handoutMasterIdLst>
    <p:handoutMasterId r:id="rId28"/>
  </p:handoutMasterIdLst>
  <p:sldIdLst>
    <p:sldId id="256" r:id="rId2"/>
    <p:sldId id="268" r:id="rId3"/>
    <p:sldId id="269" r:id="rId4"/>
    <p:sldId id="271" r:id="rId5"/>
    <p:sldId id="270" r:id="rId6"/>
    <p:sldId id="258" r:id="rId7"/>
    <p:sldId id="257" r:id="rId8"/>
    <p:sldId id="260" r:id="rId9"/>
    <p:sldId id="272" r:id="rId10"/>
    <p:sldId id="265" r:id="rId11"/>
    <p:sldId id="276" r:id="rId12"/>
    <p:sldId id="275" r:id="rId13"/>
    <p:sldId id="278" r:id="rId14"/>
    <p:sldId id="286" r:id="rId15"/>
    <p:sldId id="277" r:id="rId16"/>
    <p:sldId id="284" r:id="rId17"/>
    <p:sldId id="283" r:id="rId18"/>
    <p:sldId id="285" r:id="rId19"/>
    <p:sldId id="262" r:id="rId20"/>
    <p:sldId id="273" r:id="rId21"/>
    <p:sldId id="274" r:id="rId22"/>
    <p:sldId id="280" r:id="rId23"/>
    <p:sldId id="282" r:id="rId24"/>
    <p:sldId id="281" r:id="rId25"/>
    <p:sldId id="279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-256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9/9/14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9/9/14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September 9,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September 9,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Disc 2 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entury Gothic" charset="0"/>
              </a:rPr>
              <a:t>Dickson Tsai</a:t>
            </a:r>
          </a:p>
          <a:p>
            <a:r>
              <a:rPr lang="en-US" dirty="0" smtClean="0">
                <a:latin typeface="Century Gothic" charset="0"/>
                <a:hlinkClick r:id="rId2"/>
              </a:rPr>
              <a:t>dickson.tsai+cs61a@</a:t>
            </a:r>
            <a:r>
              <a:rPr lang="en-US" dirty="0">
                <a:latin typeface="Century Gothic" charset="0"/>
                <a:hlinkClick r:id="rId2"/>
              </a:rPr>
              <a:t>berkeley.edu</a:t>
            </a:r>
            <a:endParaRPr lang="en-US" dirty="0">
              <a:latin typeface="Century Gothic" charset="0"/>
            </a:endParaRPr>
          </a:p>
          <a:p>
            <a:r>
              <a:rPr lang="en-US" dirty="0">
                <a:latin typeface="Century Gothic" charset="0"/>
              </a:rPr>
              <a:t>OH: </a:t>
            </a:r>
            <a:r>
              <a:rPr lang="en-US" dirty="0" err="1">
                <a:latin typeface="Century Gothic" charset="0"/>
              </a:rPr>
              <a:t>Tu</a:t>
            </a:r>
            <a:r>
              <a:rPr lang="en-US" dirty="0">
                <a:latin typeface="Century Gothic" charset="0"/>
              </a:rPr>
              <a:t>, </a:t>
            </a:r>
            <a:r>
              <a:rPr lang="en-US" dirty="0" err="1">
                <a:latin typeface="Century Gothic" charset="0"/>
              </a:rPr>
              <a:t>Th</a:t>
            </a:r>
            <a:r>
              <a:rPr lang="en-US" dirty="0">
                <a:latin typeface="Century Gothic" charset="0"/>
              </a:rPr>
              <a:t>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Expressions, Statements and Functions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Higher order functions 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Recursion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 Logistics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Please take out a piece of paper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Put your name, login (e.g. cs61a-ty), SID, and section number (#47 for 11-12:30 pm, #29 for 6:30-8pm)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 on effort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Before we begin, please answer: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can I do to make your discussion experience better?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Which topics do you feel most/least confident in?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 are bored, you can answer: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Anything interesting: poem, art, code, fun fact, anecdote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669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entury Gothic" charset="0"/>
              </a:rPr>
              <a:t>Env</a:t>
            </a:r>
            <a:r>
              <a:rPr lang="en-US" dirty="0" smtClean="0">
                <a:latin typeface="Century Gothic" charset="0"/>
              </a:rPr>
              <a:t>. Diagram Review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Draw an environment diagram for the following code: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9751" y="2655330"/>
            <a:ext cx="2655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square(x):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return x * x</a:t>
            </a:r>
          </a:p>
          <a:p>
            <a:r>
              <a:rPr lang="en-US" dirty="0" smtClean="0">
                <a:latin typeface="Consolas"/>
                <a:cs typeface="Consolas"/>
              </a:rPr>
              <a:t>square(2)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1975" y="2911884"/>
            <a:ext cx="4903225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Tips: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You should label every parent, even if the parent is the global frame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It may be helpful to keep track of the current environment (a “stack” of frames)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Add to the stack when you create a new frame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Pop from the stack when you return from a frame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3698848"/>
            <a:ext cx="4903225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Rules we need: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 smtClean="0"/>
              <a:t>def</a:t>
            </a:r>
            <a:r>
              <a:rPr lang="en-US" dirty="0" smtClean="0"/>
              <a:t> statement rules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 smtClean="0"/>
              <a:t>Eval</a:t>
            </a:r>
            <a:r>
              <a:rPr lang="en-US" dirty="0" smtClean="0"/>
              <a:t> call expression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err="1" smtClean="0"/>
              <a:t>Eval</a:t>
            </a:r>
            <a:r>
              <a:rPr lang="en-US" dirty="0" smtClean="0"/>
              <a:t> operator, operands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Apply </a:t>
            </a:r>
            <a:r>
              <a:rPr lang="en-US" dirty="0" err="1" smtClean="0"/>
              <a:t>func</a:t>
            </a:r>
            <a:r>
              <a:rPr lang="en-US" dirty="0" smtClean="0"/>
              <a:t> to </a:t>
            </a:r>
            <a:r>
              <a:rPr lang="en-US" dirty="0" err="1" smtClean="0"/>
              <a:t>args</a:t>
            </a:r>
            <a:endParaRPr lang="en-US" dirty="0" smtClean="0"/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Create new frame</a:t>
            </a:r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Bind formals to </a:t>
            </a:r>
            <a:r>
              <a:rPr lang="en-US" dirty="0" err="1" smtClean="0"/>
              <a:t>args</a:t>
            </a:r>
            <a:endParaRPr lang="en-US" dirty="0" smtClean="0"/>
          </a:p>
          <a:p>
            <a:pPr marL="1200150" lvl="2" indent="-285750">
              <a:buFont typeface="Arial"/>
              <a:buChar char="•"/>
            </a:pPr>
            <a:r>
              <a:rPr lang="en-US" dirty="0" smtClean="0"/>
              <a:t>Evaluate body w/ new frame as current frame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Name lookup</a:t>
            </a:r>
          </a:p>
        </p:txBody>
      </p:sp>
    </p:spTree>
    <p:extLst>
      <p:ext uri="{BB962C8B-B14F-4D97-AF65-F5344CB8AC3E}">
        <p14:creationId xmlns:p14="http://schemas.microsoft.com/office/powerpoint/2010/main" val="32504098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Quiz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Draw an environment diagram for the following code: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9751" y="2911884"/>
            <a:ext cx="27967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/>
                <a:cs typeface="Consolas"/>
              </a:rPr>
              <a:t>a = 2</a:t>
            </a:r>
          </a:p>
          <a:p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foo(x=2):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a = 1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return a + x</a:t>
            </a:r>
          </a:p>
          <a:p>
            <a:r>
              <a:rPr lang="en-US" dirty="0" err="1">
                <a:latin typeface="Consolas"/>
                <a:cs typeface="Consolas"/>
              </a:rPr>
              <a:t>d</a:t>
            </a:r>
            <a:r>
              <a:rPr lang="en-US" dirty="0" err="1" smtClean="0">
                <a:latin typeface="Consolas"/>
                <a:cs typeface="Consolas"/>
              </a:rPr>
              <a:t>ef</a:t>
            </a:r>
            <a:r>
              <a:rPr lang="en-US" dirty="0" smtClean="0">
                <a:latin typeface="Consolas"/>
                <a:cs typeface="Consolas"/>
              </a:rPr>
              <a:t> bar(x):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return a + x</a:t>
            </a:r>
          </a:p>
          <a:p>
            <a:r>
              <a:rPr lang="en-US" dirty="0" smtClean="0">
                <a:latin typeface="Consolas"/>
                <a:cs typeface="Consolas"/>
              </a:rPr>
              <a:t>print(foo(), bar(1))</a:t>
            </a:r>
            <a:endParaRPr lang="en-US" dirty="0" smtClean="0">
              <a:latin typeface="Consolas"/>
              <a:cs typeface="Consola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81975" y="2911884"/>
            <a:ext cx="4903225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Tips: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You should label every parent, even if the parent is the global frame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It may be helpful to keep track of the current environment (a “stack” of frames)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Add to the stack when you create a new frame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Pop from the stack when you return from a 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2629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entury Gothic" charset="0"/>
              </a:rPr>
              <a:t>Section </a:t>
            </a:r>
            <a:r>
              <a:rPr lang="en-US" dirty="0" smtClean="0">
                <a:latin typeface="Century Gothic" charset="0"/>
              </a:rPr>
              <a:t>Quiz - Advanced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Draw an environment diagram for the following code: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9751" y="2911884"/>
            <a:ext cx="26556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/>
                <a:cs typeface="Consolas"/>
              </a:rPr>
              <a:t>b = 2</a:t>
            </a:r>
          </a:p>
          <a:p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a(a):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def</a:t>
            </a:r>
            <a:r>
              <a:rPr lang="en-US" dirty="0" smtClean="0">
                <a:latin typeface="Consolas"/>
                <a:cs typeface="Consolas"/>
              </a:rPr>
              <a:t> b(a):</a:t>
            </a:r>
          </a:p>
          <a:p>
            <a:r>
              <a:rPr lang="en-US" dirty="0" smtClean="0">
                <a:latin typeface="Consolas"/>
                <a:cs typeface="Consolas"/>
              </a:rPr>
              <a:t>    print(b)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 return a</a:t>
            </a:r>
          </a:p>
          <a:p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b, a = a, b</a:t>
            </a:r>
          </a:p>
          <a:p>
            <a:r>
              <a:rPr lang="en-US" dirty="0" smtClean="0">
                <a:latin typeface="Consolas"/>
                <a:cs typeface="Consolas"/>
              </a:rPr>
              <a:t>  return a(a)</a:t>
            </a:r>
          </a:p>
          <a:p>
            <a:r>
              <a:rPr lang="en-US" dirty="0">
                <a:latin typeface="Consolas"/>
                <a:cs typeface="Consolas"/>
              </a:rPr>
              <a:t>p</a:t>
            </a:r>
            <a:r>
              <a:rPr lang="en-US" dirty="0" smtClean="0">
                <a:latin typeface="Consolas"/>
                <a:cs typeface="Consolas"/>
              </a:rPr>
              <a:t>rint(a(1)(3))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1975" y="3014505"/>
            <a:ext cx="4903225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Tips: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You should label every parent, even if the parent is the global frame</a:t>
            </a:r>
          </a:p>
          <a:p>
            <a:pPr marL="285750" indent="-285750">
              <a:buFont typeface="Arial"/>
              <a:buChar char="•"/>
            </a:pPr>
            <a:r>
              <a:rPr lang="en-US" dirty="0" smtClean="0"/>
              <a:t>It may be helpful to keep track of the current environment (a “stack” of frames)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Add to the stack when you create a new frame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smtClean="0"/>
              <a:t>Pop from the stack when you return from a 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41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97467" y="739246"/>
            <a:ext cx="7365999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Optional Section Homework </a:t>
            </a:r>
            <a:r>
              <a:rPr lang="en-US" dirty="0" smtClean="0">
                <a:solidFill>
                  <a:srgbClr val="FF0000"/>
                </a:solidFill>
                <a:latin typeface="Century Gothic" charset="0"/>
              </a:rPr>
              <a:t>[Canceled]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467" y="2092854"/>
            <a:ext cx="7365999" cy="4155546"/>
          </a:xfrm>
        </p:spPr>
        <p:txBody>
          <a:bodyPr/>
          <a:lstStyle/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This will be used to mark attendance for the next section for midterm recovery. Will help participation (but you can participate in other ways as well!)</a:t>
            </a:r>
          </a:p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These should take at most 15 minutes, if you keep up with your reading.</a:t>
            </a:r>
          </a:p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Submit with voice recording, email, paper, slideshow, however you want. </a:t>
            </a:r>
            <a:endParaRPr lang="en-US" sz="12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Graded on effort, but use your time wisely. 10 minutes of BS &lt; 10 minutes of </a:t>
            </a:r>
            <a:r>
              <a:rPr lang="en-US" sz="1200" b="1" i="1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citing</a:t>
            </a:r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the textbook</a:t>
            </a:r>
          </a:p>
          <a:p>
            <a:r>
              <a:rPr lang="en-US" sz="12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Feel free to make your own questions!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New policy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In-class quizzes graded on effort to mark discussion attendance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Please still be prepared for discussion.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Those who submitted this assignment by Thursday 9/4 will have a free absence from discussion for midterm recovery.</a:t>
            </a:r>
            <a:endParaRPr lang="en-US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930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entury Gothic" charset="0"/>
              </a:rPr>
              <a:t>Anuncios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Project 1 due 11:59 PM next Wednesday 9/17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START NOW!!!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Take-home quiz posted 3pm this Wednesday, due 11:59PM tonight 9/11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To see if you are on pace with the course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Reminder: My OH are Tuesdays, Thursdays 4-5 PM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Soda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411</a:t>
            </a:r>
          </a:p>
          <a:p>
            <a:r>
              <a:rPr lang="en-US" b="1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Guerrilla Section: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 fancy extra section where you work with others passionate people on more practice problems. Saturday 12:30-3pm in Soda 306.</a:t>
            </a:r>
            <a:endParaRPr lang="en-US" b="1" u="sng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Come up with simple examples!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What’s the simplest example of a function?</a:t>
            </a:r>
          </a:p>
          <a:p>
            <a:pPr lvl="2"/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square(x):</a:t>
            </a:r>
          </a:p>
          <a:p>
            <a:pPr marL="895350" lvl="3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		return x * x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What’s the simplest example of a HOF?</a:t>
            </a:r>
          </a:p>
          <a:p>
            <a:pPr marL="685800" lvl="2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foo(x):</a:t>
            </a:r>
          </a:p>
          <a:p>
            <a:pPr marL="895350" lvl="3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bar():</a:t>
            </a:r>
          </a:p>
          <a:p>
            <a:pPr marL="1096963" lvl="4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r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eturn x</a:t>
            </a:r>
          </a:p>
          <a:p>
            <a:pPr marL="895350" lvl="3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return bar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Come up with simple examples!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But Dickson, this seems a bit stupid, right?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Well, if you are bored, you must be ready to take on new challenges.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Combine with other concepts you’ve learned: e.g.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add conditionals, prints, etc. </a:t>
            </a:r>
            <a:endParaRPr lang="en-US" dirty="0" smtClean="0">
              <a:solidFill>
                <a:srgbClr val="4A6300"/>
              </a:solidFill>
              <a:latin typeface="Consolas"/>
              <a:cs typeface="Consolas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Hey, now you have a working banking system!</a:t>
            </a:r>
          </a:p>
          <a:p>
            <a:pPr marL="685800" lvl="2" indent="0">
              <a:buNone/>
            </a:pP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make_withdraw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(balance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):</a:t>
            </a:r>
          </a:p>
          <a:p>
            <a:pPr marL="685800" lvl="2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def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withdraw(amount):</a:t>
            </a:r>
          </a:p>
          <a:p>
            <a:pPr marL="1096963" lvl="4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if amount &gt; balance:</a:t>
            </a:r>
          </a:p>
          <a:p>
            <a:pPr marL="1096963" lvl="4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print(“Insufficient funds”)</a:t>
            </a:r>
          </a:p>
          <a:p>
            <a:pPr marL="1096963" lvl="4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e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lse:</a:t>
            </a:r>
          </a:p>
          <a:p>
            <a:pPr marL="1096963" lvl="4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balance -= amount</a:t>
            </a:r>
          </a:p>
          <a:p>
            <a:pPr marL="1096963" lvl="4" indent="0">
              <a:buNone/>
            </a:pPr>
            <a:r>
              <a:rPr lang="en-US" dirty="0">
                <a:solidFill>
                  <a:srgbClr val="4A6300"/>
                </a:solidFill>
                <a:latin typeface="Consolas"/>
                <a:cs typeface="Consolas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 print(“Here is your ${0}”.format(amount))</a:t>
            </a:r>
          </a:p>
          <a:p>
            <a:pPr marL="895350" lvl="3" indent="0">
              <a:buNone/>
            </a:pP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return withdraw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59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Avenir Book"/>
                <a:cs typeface="Avenir Book"/>
              </a:rPr>
              <a:t>What are </a:t>
            </a:r>
            <a:r>
              <a:rPr lang="en-US" dirty="0" err="1" smtClean="0">
                <a:latin typeface="Avenir Book"/>
                <a:cs typeface="Avenir Book"/>
              </a:rPr>
              <a:t>boolean</a:t>
            </a:r>
            <a:r>
              <a:rPr lang="en-US" dirty="0" smtClean="0">
                <a:latin typeface="Avenir Book"/>
                <a:cs typeface="Avenir Book"/>
              </a:rPr>
              <a:t> operators???</a:t>
            </a:r>
            <a:endParaRPr lang="en-US" dirty="0">
              <a:latin typeface="Avenir Book"/>
              <a:cs typeface="Avenir Book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Boolean data type vs. numbers:</a:t>
            </a:r>
          </a:p>
          <a:p>
            <a:pPr lvl="1"/>
            <a:r>
              <a:rPr lang="en-US" sz="2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{True, False} (two possible values) vs. (-∞, ∞)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Primarily built-in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Either:</a:t>
            </a:r>
          </a:p>
          <a:p>
            <a:pPr lvl="1"/>
            <a:r>
              <a:rPr lang="en-US" sz="2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Create </a:t>
            </a:r>
            <a:r>
              <a:rPr lang="en-US" sz="24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boolean</a:t>
            </a:r>
            <a:r>
              <a:rPr lang="en-US" sz="2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contexts (convert all values to </a:t>
            </a:r>
            <a:r>
              <a:rPr lang="en-US" sz="24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booleans</a:t>
            </a:r>
            <a:r>
              <a:rPr lang="en-US" sz="2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), e.g. and, or, not</a:t>
            </a:r>
          </a:p>
          <a:p>
            <a:pPr marL="1098550" lvl="2" indent="-457200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False values: 0, ‘’, [], {}, False, </a:t>
            </a:r>
          </a:p>
          <a:p>
            <a:pPr marL="1098550" lvl="2" indent="-457200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True values: Anything else</a:t>
            </a:r>
          </a:p>
          <a:p>
            <a:pPr lvl="1"/>
            <a:r>
              <a:rPr lang="en-US" sz="2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Result is a </a:t>
            </a:r>
            <a:r>
              <a:rPr lang="en-US" sz="24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boolean</a:t>
            </a:r>
            <a:endParaRPr lang="en-US" sz="24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1098550" lvl="2" indent="-457200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E.g. ==, !=, &gt;, &lt;, is, in, …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012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Avenir Book"/>
                <a:cs typeface="Avenir Book"/>
              </a:rPr>
              <a:t>Pop Quiz – Boolean operators</a:t>
            </a:r>
            <a:endParaRPr lang="en-US" dirty="0">
              <a:latin typeface="Avenir Book"/>
              <a:cs typeface="Avenir Book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Is -1 a False value in a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boolean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context?</a:t>
            </a:r>
          </a:p>
          <a:p>
            <a:pPr lvl="1"/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</a:t>
            </a:r>
          </a:p>
          <a:p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Can you make expressions with </a:t>
            </a:r>
            <a:r>
              <a:rPr lang="en-US" sz="18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boolean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operators? Give an example.</a:t>
            </a:r>
          </a:p>
          <a:p>
            <a:pPr lvl="1"/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Absolutely! </a:t>
            </a: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6 &gt; 5 is a expression. Remember that expressions compute to a value.</a:t>
            </a:r>
          </a:p>
          <a:p>
            <a:pPr lvl="1"/>
            <a:endParaRPr lang="en-US" sz="16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endParaRPr lang="en-US" sz="16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endParaRPr lang="en-US" sz="16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endParaRPr lang="en-US" sz="16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With good names, you can make intuitive expressions!</a:t>
            </a:r>
          </a:p>
          <a:p>
            <a:pPr lvl="2"/>
            <a:r>
              <a:rPr lang="en-US" sz="1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return </a:t>
            </a:r>
            <a:r>
              <a:rPr lang="en-US" sz="14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dickson</a:t>
            </a:r>
            <a:r>
              <a:rPr lang="en-US" sz="1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not in </a:t>
            </a:r>
            <a:r>
              <a:rPr lang="en-US" sz="14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alumni_list</a:t>
            </a:r>
            <a:r>
              <a:rPr lang="en-US" sz="1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and </a:t>
            </a:r>
            <a:r>
              <a:rPr lang="en-US" sz="14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is_student</a:t>
            </a:r>
            <a:r>
              <a:rPr lang="en-US" sz="1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(</a:t>
            </a:r>
            <a:r>
              <a:rPr lang="en-US" sz="14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dickson</a:t>
            </a:r>
            <a:r>
              <a:rPr lang="en-US" sz="1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 and </a:t>
            </a:r>
            <a:r>
              <a:rPr lang="en-US" sz="14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dickson.age</a:t>
            </a:r>
            <a:r>
              <a:rPr lang="en-US" sz="1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&gt;= 21</a:t>
            </a:r>
          </a:p>
          <a:p>
            <a:pPr marL="685800" lvl="2" indent="0">
              <a:buNone/>
            </a:pPr>
            <a:endParaRPr lang="en-US" sz="14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5" name="Chevron 4"/>
          <p:cNvSpPr/>
          <p:nvPr/>
        </p:nvSpPr>
        <p:spPr>
          <a:xfrm>
            <a:off x="4054968" y="3628246"/>
            <a:ext cx="822960" cy="822960"/>
          </a:xfrm>
          <a:prstGeom prst="chevron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150037" y="3861133"/>
            <a:ext cx="1809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 &gt; 5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208648" y="3861133"/>
            <a:ext cx="1809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True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84340" y="3804875"/>
            <a:ext cx="773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Eval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3656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Explore Boolean Operators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519063"/>
              </p:ext>
            </p:extLst>
          </p:nvPr>
        </p:nvGraphicFramePr>
        <p:xfrm>
          <a:off x="696600" y="3003966"/>
          <a:ext cx="2356747" cy="305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68"/>
                <a:gridCol w="833897"/>
                <a:gridCol w="782582"/>
              </a:tblGrid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Exp1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3244834"/>
              </p:ext>
            </p:extLst>
          </p:nvPr>
        </p:nvGraphicFramePr>
        <p:xfrm>
          <a:off x="6024937" y="3003965"/>
          <a:ext cx="2356746" cy="228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373"/>
                <a:gridCol w="1178373"/>
              </a:tblGrid>
              <a:tr h="762675">
                <a:tc>
                  <a:txBody>
                    <a:bodyPr/>
                    <a:lstStyle/>
                    <a:p>
                      <a:r>
                        <a:rPr lang="en-US" dirty="0" smtClean="0"/>
                        <a:t>Exp1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</a:tr>
              <a:tr h="762675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762675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5390108"/>
              </p:ext>
            </p:extLst>
          </p:nvPr>
        </p:nvGraphicFramePr>
        <p:xfrm>
          <a:off x="3363520" y="3003966"/>
          <a:ext cx="2356747" cy="305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68"/>
                <a:gridCol w="833897"/>
                <a:gridCol w="782582"/>
              </a:tblGrid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Exp1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9791" y="2539009"/>
            <a:ext cx="269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_</a:t>
            </a:r>
            <a:r>
              <a:rPr lang="en-US" sz="1600" u="sng" dirty="0" err="1" smtClean="0"/>
              <a:t>subexp</a:t>
            </a:r>
            <a:r>
              <a:rPr lang="en-US" sz="1600" u="sng" dirty="0" smtClean="0"/>
              <a:t> 1</a:t>
            </a:r>
            <a:r>
              <a:rPr lang="en-US" sz="1600" dirty="0" smtClean="0"/>
              <a:t>_ </a:t>
            </a:r>
            <a:r>
              <a:rPr lang="en-US" sz="1600" b="1" dirty="0" smtClean="0">
                <a:solidFill>
                  <a:srgbClr val="FF00FF"/>
                </a:solidFill>
              </a:rPr>
              <a:t>or</a:t>
            </a:r>
            <a:r>
              <a:rPr lang="en-US" sz="1600" dirty="0" smtClean="0">
                <a:solidFill>
                  <a:srgbClr val="FF00FF"/>
                </a:solidFill>
              </a:rPr>
              <a:t> </a:t>
            </a:r>
            <a:r>
              <a:rPr lang="en-US" sz="1600" dirty="0" smtClean="0"/>
              <a:t>_</a:t>
            </a:r>
            <a:r>
              <a:rPr lang="en-US" sz="1600" u="sng" dirty="0" smtClean="0"/>
              <a:t>subexp2</a:t>
            </a:r>
            <a:r>
              <a:rPr lang="en-US" sz="1600" dirty="0" smtClean="0"/>
              <a:t>_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169355" y="2539009"/>
            <a:ext cx="2835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_</a:t>
            </a:r>
            <a:r>
              <a:rPr lang="en-US" sz="1600" u="sng" dirty="0" err="1" smtClean="0"/>
              <a:t>subexp</a:t>
            </a:r>
            <a:r>
              <a:rPr lang="en-US" sz="1600" u="sng" dirty="0" smtClean="0"/>
              <a:t> 1</a:t>
            </a:r>
            <a:r>
              <a:rPr lang="en-US" sz="1600" dirty="0" smtClean="0"/>
              <a:t>_ </a:t>
            </a:r>
            <a:r>
              <a:rPr lang="en-US" sz="1600" b="1" dirty="0" smtClean="0">
                <a:solidFill>
                  <a:srgbClr val="FF00FF"/>
                </a:solidFill>
              </a:rPr>
              <a:t>and</a:t>
            </a:r>
            <a:r>
              <a:rPr lang="en-US" sz="1600" dirty="0" smtClean="0"/>
              <a:t>_</a:t>
            </a:r>
            <a:r>
              <a:rPr lang="en-US" sz="1600" u="sng" dirty="0" smtClean="0"/>
              <a:t>subexp2</a:t>
            </a:r>
            <a:r>
              <a:rPr lang="en-US" sz="1600" dirty="0" smtClean="0"/>
              <a:t>_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005149" y="2522132"/>
            <a:ext cx="269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FF"/>
                </a:solidFill>
              </a:rPr>
              <a:t>not</a:t>
            </a:r>
            <a:r>
              <a:rPr lang="en-US" sz="1600" dirty="0" smtClean="0">
                <a:solidFill>
                  <a:srgbClr val="FF00FF"/>
                </a:solidFill>
              </a:rPr>
              <a:t> </a:t>
            </a:r>
            <a:r>
              <a:rPr lang="en-US" sz="1600" dirty="0" smtClean="0"/>
              <a:t>_</a:t>
            </a:r>
            <a:r>
              <a:rPr lang="en-US" sz="1600" u="sng" dirty="0" smtClean="0"/>
              <a:t>subexp1</a:t>
            </a:r>
            <a:r>
              <a:rPr lang="en-US" sz="1600" dirty="0" smtClean="0"/>
              <a:t>_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59576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Example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2787559"/>
              </p:ext>
            </p:extLst>
          </p:nvPr>
        </p:nvGraphicFramePr>
        <p:xfrm>
          <a:off x="696600" y="3003966"/>
          <a:ext cx="2356747" cy="305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68"/>
                <a:gridCol w="833897"/>
                <a:gridCol w="782582"/>
              </a:tblGrid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Exp1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9791" y="2539009"/>
            <a:ext cx="26946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_</a:t>
            </a:r>
            <a:r>
              <a:rPr lang="en-US" sz="1600" u="sng" dirty="0" err="1" smtClean="0"/>
              <a:t>subexp</a:t>
            </a:r>
            <a:r>
              <a:rPr lang="en-US" sz="1600" u="sng" dirty="0" smtClean="0"/>
              <a:t> 1</a:t>
            </a:r>
            <a:r>
              <a:rPr lang="en-US" sz="1600" dirty="0" smtClean="0"/>
              <a:t>_ </a:t>
            </a:r>
            <a:r>
              <a:rPr lang="en-US" sz="1600" b="1" dirty="0" smtClean="0">
                <a:solidFill>
                  <a:srgbClr val="FF00FF"/>
                </a:solidFill>
              </a:rPr>
              <a:t>or</a:t>
            </a:r>
            <a:r>
              <a:rPr lang="en-US" sz="1600" dirty="0" smtClean="0">
                <a:solidFill>
                  <a:srgbClr val="FF00FF"/>
                </a:solidFill>
              </a:rPr>
              <a:t> </a:t>
            </a:r>
            <a:r>
              <a:rPr lang="en-US" sz="1600" dirty="0" smtClean="0"/>
              <a:t>_</a:t>
            </a:r>
            <a:r>
              <a:rPr lang="en-US" sz="1600" u="sng" dirty="0" smtClean="0"/>
              <a:t>subexp2</a:t>
            </a:r>
            <a:r>
              <a:rPr lang="en-US" sz="1600" dirty="0" smtClean="0"/>
              <a:t>_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169355" y="2539009"/>
            <a:ext cx="2835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5 </a:t>
            </a:r>
            <a:r>
              <a:rPr lang="en-US" sz="1600" b="1" dirty="0" smtClean="0">
                <a:solidFill>
                  <a:srgbClr val="FF00FF"/>
                </a:solidFill>
              </a:rPr>
              <a:t>or</a:t>
            </a:r>
            <a:r>
              <a:rPr lang="en-US" sz="1600" dirty="0" smtClean="0"/>
              <a:t> 1 / 0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231891" y="3040386"/>
            <a:ext cx="2835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00FF"/>
                </a:solidFill>
              </a:rPr>
              <a:t>or</a:t>
            </a:r>
            <a:r>
              <a:rPr lang="en-US" sz="1600" dirty="0" smtClean="0"/>
              <a:t> is the operator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3231890" y="3531340"/>
            <a:ext cx="4683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D77C01"/>
                </a:solidFill>
              </a:rPr>
              <a:t>5</a:t>
            </a:r>
            <a:r>
              <a:rPr lang="en-US" sz="1600" dirty="0" smtClean="0">
                <a:solidFill>
                  <a:srgbClr val="D77C01"/>
                </a:solidFill>
              </a:rPr>
              <a:t> </a:t>
            </a:r>
            <a:r>
              <a:rPr lang="en-US" sz="1600" dirty="0" smtClean="0"/>
              <a:t>is the operand -&gt; </a:t>
            </a:r>
            <a:r>
              <a:rPr lang="en-US" sz="1600" b="1" dirty="0" smtClean="0">
                <a:solidFill>
                  <a:srgbClr val="660066"/>
                </a:solidFill>
              </a:rPr>
              <a:t>True</a:t>
            </a:r>
            <a:r>
              <a:rPr lang="en-US" sz="1600" dirty="0" smtClean="0"/>
              <a:t> in </a:t>
            </a:r>
            <a:r>
              <a:rPr lang="en-US" sz="1600" dirty="0"/>
              <a:t>B</a:t>
            </a:r>
            <a:r>
              <a:rPr lang="en-US" sz="1600" dirty="0" smtClean="0"/>
              <a:t>oolean context</a:t>
            </a:r>
            <a:endParaRPr lang="en-US" sz="1600" dirty="0">
              <a:solidFill>
                <a:srgbClr val="D77C0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31891" y="4022294"/>
            <a:ext cx="4683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660066"/>
                </a:solidFill>
              </a:rPr>
              <a:t>True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FF00FF"/>
                </a:solidFill>
              </a:rPr>
              <a:t>or </a:t>
            </a:r>
            <a:r>
              <a:rPr lang="en-US" sz="1600" dirty="0" smtClean="0"/>
              <a:t>1 / 0</a:t>
            </a:r>
            <a:endParaRPr lang="en-US" sz="1600" dirty="0">
              <a:solidFill>
                <a:srgbClr val="D77C0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31891" y="4944355"/>
            <a:ext cx="468371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Since True in Exp1 guarantees True RV, the value of the expression </a:t>
            </a:r>
            <a:r>
              <a:rPr lang="en-US" sz="1600" dirty="0" smtClean="0">
                <a:latin typeface="Consolas"/>
                <a:cs typeface="Consolas"/>
              </a:rPr>
              <a:t>5 or 1 / 0 </a:t>
            </a:r>
            <a:r>
              <a:rPr lang="en-US" sz="1600" dirty="0" smtClean="0"/>
              <a:t>is </a:t>
            </a:r>
            <a:r>
              <a:rPr lang="en-US" sz="1600" b="1" dirty="0" smtClean="0">
                <a:solidFill>
                  <a:srgbClr val="660066"/>
                </a:solidFill>
              </a:rPr>
              <a:t>True</a:t>
            </a:r>
            <a:endParaRPr lang="en-US" sz="1600" b="1" dirty="0">
              <a:solidFill>
                <a:srgbClr val="66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5363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[Discuss] Walk through step by step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>
              <a:solidFill>
                <a:srgbClr val="FEFEFE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4210578"/>
              </p:ext>
            </p:extLst>
          </p:nvPr>
        </p:nvGraphicFramePr>
        <p:xfrm>
          <a:off x="696600" y="3003966"/>
          <a:ext cx="2356747" cy="305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268"/>
                <a:gridCol w="833897"/>
                <a:gridCol w="782582"/>
              </a:tblGrid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Exp1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RV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  <a:tr h="6101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9791" y="2539009"/>
            <a:ext cx="3130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_</a:t>
            </a:r>
            <a:r>
              <a:rPr lang="en-US" sz="1600" u="sng" dirty="0" err="1" smtClean="0"/>
              <a:t>subexp</a:t>
            </a:r>
            <a:r>
              <a:rPr lang="en-US" sz="1600" u="sng" dirty="0" smtClean="0"/>
              <a:t> 1</a:t>
            </a:r>
            <a:r>
              <a:rPr lang="en-US" sz="1600" dirty="0" smtClean="0"/>
              <a:t>_ </a:t>
            </a:r>
            <a:r>
              <a:rPr lang="en-US" sz="1600" b="1" dirty="0" smtClean="0">
                <a:solidFill>
                  <a:srgbClr val="FF00FF"/>
                </a:solidFill>
              </a:rPr>
              <a:t>and</a:t>
            </a:r>
            <a:r>
              <a:rPr lang="en-US" sz="1600" dirty="0" smtClean="0"/>
              <a:t>_</a:t>
            </a:r>
            <a:r>
              <a:rPr lang="en-US" sz="1600" u="sng" dirty="0" smtClean="0"/>
              <a:t>subexp2</a:t>
            </a:r>
            <a:r>
              <a:rPr lang="en-US" sz="1600" dirty="0" smtClean="0"/>
              <a:t>_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393593" y="2539009"/>
            <a:ext cx="283579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a, b = 10, 6</a:t>
            </a:r>
            <a:endParaRPr lang="en-US" sz="1600" dirty="0"/>
          </a:p>
          <a:p>
            <a:r>
              <a:rPr lang="en-US" sz="1600" dirty="0" smtClean="0"/>
              <a:t>a != 0 </a:t>
            </a:r>
            <a:r>
              <a:rPr lang="en-US" sz="1600" b="1" dirty="0" smtClean="0">
                <a:solidFill>
                  <a:srgbClr val="FF00FF"/>
                </a:solidFill>
              </a:rPr>
              <a:t>and</a:t>
            </a:r>
            <a:r>
              <a:rPr lang="en-US" sz="1600" dirty="0" smtClean="0"/>
              <a:t> b &gt; 5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54968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Boolean Takeaways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Now that you know about </a:t>
            </a:r>
            <a:r>
              <a:rPr lang="en-US" sz="20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boolean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operators, just evaluate the operands!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What’s the difference from the regular call expression procedure?</a:t>
            </a:r>
            <a:endParaRPr lang="en-US" sz="2000" dirty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823913" lvl="1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sometimes do not evaluate all of the operands!!!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149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Break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823913" lvl="1" indent="-457200">
              <a:buFont typeface="+mj-lt"/>
              <a:buAutoNum type="arabicPeriod"/>
            </a:pP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176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Iteration Takeaways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</a:t>
            </a:r>
            <a:r>
              <a:rPr lang="en-US" sz="18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header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gives you a lot of control!! You can manipulate the computer’s flow based on judicious choice of header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For while loops: may be helpful to </a:t>
            </a:r>
            <a:r>
              <a:rPr lang="en-US" sz="1800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keep track of values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so you don’t lose track of where you are/run into an infinite loop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Q: How do you keep track of values???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A: Use names!! E.g. counter = 1. Now, you can update your counter in the loop like counter += 1</a:t>
            </a:r>
          </a:p>
          <a:p>
            <a:pPr marL="823913" lvl="1" indent="-457200">
              <a:buFont typeface="+mj-lt"/>
              <a:buAutoNum type="arabicPeriod"/>
            </a:pPr>
            <a:endParaRPr lang="en-US" sz="16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0039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Break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823913" lvl="1" indent="-457200">
              <a:buFont typeface="+mj-lt"/>
              <a:buAutoNum type="arabicPeriod"/>
            </a:pP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176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Characteristics of Functions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Recall that a function has 3 characteristics: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domain, range, and behavior</a:t>
            </a:r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Recall from Lab 2: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“Write a function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make_buzzer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that takes in a number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n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and returns a function that takes in a number range which will print all numbers from 0 (inclusive) to range (exclusive) but print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Buzz!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i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nstead for all numbers divisible by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n”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[Discuss] What is the domain, range, and behavior of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make_buzzer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? What is a best way to draw all that information out visually?</a:t>
            </a:r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786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Characteristics of Functions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“Write a function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make_buzzer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that takes in a number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n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and returns a function that takes in a number range which will print all numbers from 0 (inclusive) to range (exclusive) but print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Buzz!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i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nstead for all numbers divisible by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n”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Domain: a positive integer n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Behavior: define a function that …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Range: that defined function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Domain of returned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fn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: another positive integer k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Behavior: Prints all numbers 0, 1, …, k but prints Buzz! …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Range: None (we don’t have to worry about this)</a:t>
            </a:r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67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Characteristics of Functions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“Write a function </a:t>
            </a:r>
            <a:r>
              <a:rPr lang="en-US" dirty="0" err="1" smtClean="0">
                <a:solidFill>
                  <a:srgbClr val="4A6300"/>
                </a:solidFill>
                <a:latin typeface="Consolas"/>
                <a:cs typeface="Consolas"/>
              </a:rPr>
              <a:t>make_buzzer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that takes in a number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n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and returns a function that takes in a number range which will print all numbers from 0 (inclusive) to range (exclusive) but print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Buzz!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i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nstead for all numbers divisible by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n”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Best way to visualize: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7" name="Left-Right Arrow Callout 6"/>
          <p:cNvSpPr/>
          <p:nvPr/>
        </p:nvSpPr>
        <p:spPr>
          <a:xfrm>
            <a:off x="1294800" y="4448908"/>
            <a:ext cx="3092779" cy="1718211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59738"/>
            </a:avLst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Left-Right Arrow Callout 7"/>
          <p:cNvSpPr/>
          <p:nvPr/>
        </p:nvSpPr>
        <p:spPr>
          <a:xfrm>
            <a:off x="4649788" y="4107156"/>
            <a:ext cx="2008558" cy="1216331"/>
          </a:xfrm>
          <a:prstGeom prst="leftRightArrowCallou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964630" y="4448908"/>
            <a:ext cx="20654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make_buzzer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Defines a function buzz</a:t>
            </a:r>
          </a:p>
          <a:p>
            <a:r>
              <a:rPr lang="en-US" dirty="0" smtClean="0"/>
              <a:t>(can look at n)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199" y="4771898"/>
            <a:ext cx="20654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Positive</a:t>
            </a:r>
          </a:p>
          <a:p>
            <a:r>
              <a:rPr lang="en-US" dirty="0"/>
              <a:t>i</a:t>
            </a:r>
            <a:r>
              <a:rPr lang="en-US" dirty="0" smtClean="0"/>
              <a:t>nteger</a:t>
            </a:r>
          </a:p>
          <a:p>
            <a:r>
              <a:rPr lang="en-US" dirty="0"/>
              <a:t>n</a:t>
            </a:r>
            <a:endParaRPr lang="en-US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5205535" y="4033234"/>
            <a:ext cx="20654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buzz</a:t>
            </a:r>
          </a:p>
          <a:p>
            <a:endParaRPr lang="en-US" dirty="0"/>
          </a:p>
          <a:p>
            <a:r>
              <a:rPr lang="en-US" dirty="0" smtClean="0"/>
              <a:t>Prints all</a:t>
            </a:r>
          </a:p>
          <a:p>
            <a:r>
              <a:rPr lang="en-US" dirty="0" smtClean="0"/>
              <a:t>Numbers</a:t>
            </a:r>
          </a:p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172786" y="4107156"/>
            <a:ext cx="20654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Positive</a:t>
            </a:r>
          </a:p>
          <a:p>
            <a:r>
              <a:rPr lang="en-US" sz="1400" dirty="0" smtClean="0"/>
              <a:t>integer</a:t>
            </a:r>
          </a:p>
          <a:p>
            <a:r>
              <a:rPr lang="en-US" sz="1400" dirty="0" smtClean="0"/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8346" y="4580926"/>
            <a:ext cx="2065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938353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HOF Takeaways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823913" lvl="1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 define a function within another function:</a:t>
            </a:r>
          </a:p>
          <a:p>
            <a:pPr marL="1098550" lvl="2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 take in arguments that your inner function can access</a:t>
            </a:r>
          </a:p>
          <a:p>
            <a:pPr marL="1098550" lvl="2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Consequence: your inner functions are customizable!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If you take in a function as an argument:</a:t>
            </a:r>
          </a:p>
          <a:p>
            <a:pPr marL="1098550" lvl="2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You can apply any operation to the data you have!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These advantages should not be memorized, but rather appreciated as you go along. Get an intuitive feel for these HOFs.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They are not the solution to everything. We will see other solutions later, like OOP.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9572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Break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823913" lvl="1" indent="-457200">
              <a:buFont typeface="+mj-lt"/>
              <a:buAutoNum type="arabicPeriod"/>
            </a:pP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434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347246"/>
            <a:ext cx="8263466" cy="1143000"/>
          </a:xfrm>
        </p:spPr>
        <p:txBody>
          <a:bodyPr/>
          <a:lstStyle/>
          <a:p>
            <a:pPr algn="ctr"/>
            <a:r>
              <a:rPr lang="en-US" dirty="0" err="1" smtClean="0">
                <a:latin typeface="Century Gothic" charset="0"/>
              </a:rPr>
              <a:t>Env</a:t>
            </a:r>
            <a:r>
              <a:rPr lang="en-US" dirty="0" smtClean="0">
                <a:latin typeface="Century Gothic" charset="0"/>
              </a:rPr>
              <a:t> Diagram Rules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>
              <a:solidFill>
                <a:srgbClr val="FEFEF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8433" y="1503074"/>
            <a:ext cx="783863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Creating a function using </a:t>
            </a:r>
            <a:r>
              <a:rPr lang="en-US" sz="1600" dirty="0" err="1" smtClean="0"/>
              <a:t>def</a:t>
            </a:r>
            <a:r>
              <a:rPr lang="en-US" sz="1600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Draw </a:t>
            </a:r>
            <a:r>
              <a:rPr lang="en-US" sz="1600" dirty="0" err="1" smtClean="0"/>
              <a:t>func</a:t>
            </a:r>
            <a:r>
              <a:rPr lang="en-US" sz="1600" dirty="0" smtClean="0"/>
              <a:t> &lt;name&gt;(&lt;param1&gt;, &lt;param2&gt;, …) [parent=?]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The parent of the function is the current frame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For </a:t>
            </a:r>
            <a:r>
              <a:rPr lang="en-US" sz="1600" dirty="0" err="1" smtClean="0"/>
              <a:t>def</a:t>
            </a:r>
            <a:r>
              <a:rPr lang="en-US" sz="1600" dirty="0" smtClean="0"/>
              <a:t> only: bind this function to the same name in the current frame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dirty="0" smtClean="0"/>
              <a:t>Calling user-defined functions: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Evaluate the operator and operands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Create a new frame. Label the frame with the info from the function object &lt;name&gt; [parent=?]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Bind the formal parameters to the arguments (values of operands)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Evaluate the body with new frame as current frame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Return back to frame that called the function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dirty="0" smtClean="0"/>
              <a:t>Assignment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Evaluate the RHS 2. Bind name on LHS to value on RHS in current frame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dirty="0" smtClean="0"/>
              <a:t>Lookup</a:t>
            </a:r>
          </a:p>
          <a:p>
            <a:pPr marL="342900" indent="-342900">
              <a:buAutoNum type="arabicPeriod"/>
            </a:pPr>
            <a:r>
              <a:rPr lang="en-US" sz="1600" dirty="0" smtClean="0"/>
              <a:t>Start at current frame. If name is there, great! If not, go to the </a:t>
            </a:r>
            <a:r>
              <a:rPr lang="en-US" sz="1600" b="1" u="sng" dirty="0" smtClean="0"/>
              <a:t>parent</a:t>
            </a:r>
            <a:r>
              <a:rPr lang="en-US" sz="1600" dirty="0" smtClean="0"/>
              <a:t> frame</a:t>
            </a:r>
          </a:p>
        </p:txBody>
      </p:sp>
    </p:spTree>
    <p:extLst>
      <p:ext uri="{BB962C8B-B14F-4D97-AF65-F5344CB8AC3E}">
        <p14:creationId xmlns:p14="http://schemas.microsoft.com/office/powerpoint/2010/main" val="40079489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</a:t>
            </a:r>
            <a:r>
              <a:rPr lang="en-US" dirty="0" smtClean="0">
                <a:latin typeface="Century Gothic" charset="0"/>
              </a:rPr>
              <a:t>(Wednesday 9/10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What’s the purpose of drawing arrows to function objects everywhere on the environment diagram? Hint: Consider what happens when you want to rebind names.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we determine the parent of a function object?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Can there be more than one frame referring to the same function object? (e.g. have twice: square [parent=f1]) 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 you know if an expression is a call expression? (Shoul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 be a very simple question)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is the return statement of a function related to a call expression involving that function?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do we bother with frames? What’s the problem with having all the variables and action in the global frame?</a:t>
            </a:r>
          </a:p>
          <a:p>
            <a:pPr marL="527050" indent="-457200">
              <a:buFont typeface="+mj-lt"/>
              <a:buAutoNum type="arabicPeriod"/>
            </a:pP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9554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7071</TotalTime>
  <Words>2034</Words>
  <Application>Microsoft Macintosh PowerPoint</Application>
  <PresentationFormat>On-screen Show (4:3)</PresentationFormat>
  <Paragraphs>335</Paragraphs>
  <Slides>25</Slides>
  <Notes>24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discussion0</vt:lpstr>
      <vt:lpstr>Welcome to CS61A Disc 2 Sect. 29/47 :D</vt:lpstr>
      <vt:lpstr>Section Quiz Logistics</vt:lpstr>
      <vt:lpstr>Env. Diagram Review</vt:lpstr>
      <vt:lpstr>Section Quiz</vt:lpstr>
      <vt:lpstr>Section Quiz - Advanced</vt:lpstr>
      <vt:lpstr>Optional Section Homework [Canceled]</vt:lpstr>
      <vt:lpstr>Anuncios</vt:lpstr>
      <vt:lpstr>Tip of the Day</vt:lpstr>
      <vt:lpstr>Tip of the Day</vt:lpstr>
      <vt:lpstr>What are boolean operators???</vt:lpstr>
      <vt:lpstr>Pop Quiz – Boolean operators</vt:lpstr>
      <vt:lpstr>Explore Boolean Operators</vt:lpstr>
      <vt:lpstr>Example</vt:lpstr>
      <vt:lpstr>[Discuss] Walk through step by step</vt:lpstr>
      <vt:lpstr>Boolean Takeaways</vt:lpstr>
      <vt:lpstr>Break</vt:lpstr>
      <vt:lpstr>Iteration Takeaways</vt:lpstr>
      <vt:lpstr>Break</vt:lpstr>
      <vt:lpstr>Characteristics of Functions</vt:lpstr>
      <vt:lpstr>Characteristics of Functions</vt:lpstr>
      <vt:lpstr>Characteristics of Functions</vt:lpstr>
      <vt:lpstr>HOF Takeaways</vt:lpstr>
      <vt:lpstr>Break</vt:lpstr>
      <vt:lpstr>Env Diagram Rules</vt:lpstr>
      <vt:lpstr>Optional Conceptual Questions (Wednesday 9/10 lecture)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71</cp:revision>
  <dcterms:created xsi:type="dcterms:W3CDTF">2014-08-28T16:21:02Z</dcterms:created>
  <dcterms:modified xsi:type="dcterms:W3CDTF">2014-09-11T06:22:25Z</dcterms:modified>
</cp:coreProperties>
</file>