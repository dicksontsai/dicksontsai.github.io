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79" r:id="rId4"/>
    <p:sldId id="259" r:id="rId5"/>
    <p:sldId id="260" r:id="rId6"/>
    <p:sldId id="265" r:id="rId7"/>
    <p:sldId id="278" r:id="rId8"/>
    <p:sldId id="266" r:id="rId9"/>
    <p:sldId id="267" r:id="rId10"/>
    <p:sldId id="268" r:id="rId11"/>
    <p:sldId id="269" r:id="rId12"/>
    <p:sldId id="261" r:id="rId13"/>
    <p:sldId id="270" r:id="rId14"/>
    <p:sldId id="271" r:id="rId15"/>
    <p:sldId id="272" r:id="rId16"/>
    <p:sldId id="264" r:id="rId17"/>
    <p:sldId id="280" r:id="rId18"/>
    <p:sldId id="276" r:id="rId19"/>
    <p:sldId id="277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98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10/15/14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+cs61a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Discussion 7</a:t>
            </a:r>
            <a:br>
              <a:rPr lang="en-US" dirty="0" smtClean="0"/>
            </a:br>
            <a:r>
              <a:rPr lang="en-US" dirty="0" smtClean="0"/>
              <a:t>Inheritance and Interfaces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0"/>
            <a:ext cx="6400800" cy="2536428"/>
          </a:xfrm>
        </p:spPr>
        <p:txBody>
          <a:bodyPr>
            <a:normAutofit/>
          </a:bodyPr>
          <a:lstStyle/>
          <a:p>
            <a:r>
              <a:rPr lang="en-US" dirty="0" smtClean="0"/>
              <a:t>CS61A Sections 29/47</a:t>
            </a:r>
          </a:p>
          <a:p>
            <a:r>
              <a:rPr lang="en-US" dirty="0" smtClean="0"/>
              <a:t>Dickson Tsai</a:t>
            </a:r>
          </a:p>
          <a:p>
            <a:r>
              <a:rPr lang="en-US" dirty="0" smtClean="0">
                <a:hlinkClick r:id="rId2"/>
              </a:rPr>
              <a:t>dickson.tsai+cs61a@berkeley.edu</a:t>
            </a:r>
            <a:endParaRPr lang="en-US" dirty="0" smtClean="0"/>
          </a:p>
          <a:p>
            <a:r>
              <a:rPr lang="en-US" dirty="0" err="1" smtClean="0"/>
              <a:t>dicksontsai.com</a:t>
            </a:r>
            <a:r>
              <a:rPr lang="en-US" dirty="0" smtClean="0"/>
              <a:t>/meet</a:t>
            </a:r>
          </a:p>
          <a:p>
            <a:r>
              <a:rPr lang="en-US" dirty="0" smtClean="0"/>
              <a:t>OH: </a:t>
            </a:r>
            <a:r>
              <a:rPr lang="en-US" dirty="0" err="1" smtClean="0"/>
              <a:t>Tu</a:t>
            </a:r>
            <a:r>
              <a:rPr lang="en-US" dirty="0" smtClean="0"/>
              <a:t>/</a:t>
            </a:r>
            <a:r>
              <a:rPr lang="en-US" dirty="0" err="1" smtClean="0"/>
              <a:t>Th</a:t>
            </a:r>
            <a:r>
              <a:rPr lang="en-US" dirty="0" smtClean="0"/>
              <a:t> 4-5pm 411 Soda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31B6FD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rgbClr val="31B6FD"/>
                </a:solidFill>
              </a:rPr>
              <a:pPr algn="r"/>
              <a:t>1</a:t>
            </a:fld>
            <a:endParaRPr lang="en-US" dirty="0">
              <a:solidFill>
                <a:srgbClr val="31B6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200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Anuncios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2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Project 3 due next Thursday 10/23</a:t>
            </a:r>
            <a:endParaRPr lang="en-US" dirty="0" smtClean="0"/>
          </a:p>
          <a:p>
            <a:r>
              <a:rPr lang="en-US" dirty="0" smtClean="0"/>
              <a:t>CS61A </a:t>
            </a:r>
            <a:r>
              <a:rPr lang="en-US" dirty="0" err="1" smtClean="0"/>
              <a:t>Hackathon</a:t>
            </a:r>
            <a:r>
              <a:rPr lang="en-US" dirty="0" smtClean="0"/>
              <a:t> this weekend. Show your skills, or practice your skills!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Midterm 2 next next Monday 10/27</a:t>
            </a:r>
          </a:p>
          <a:p>
            <a:pPr lvl="1"/>
            <a:r>
              <a:rPr lang="en-US" dirty="0" smtClean="0"/>
              <a:t>Prepare for it now! Play around with the interpreter/write your own programs/master the basics!</a:t>
            </a:r>
          </a:p>
          <a:p>
            <a:pPr lvl="1"/>
            <a:r>
              <a:rPr lang="en-US" dirty="0" smtClean="0"/>
              <a:t>Remember: all programs (simple and complex) follow the same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9018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Prev</a:t>
            </a:r>
            <a:r>
              <a:rPr lang="en-US" dirty="0" smtClean="0"/>
              <a:t> Stop: Mutable Data/Nonlocal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3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mutate lists/dictionaries by accessing them</a:t>
            </a:r>
          </a:p>
          <a:p>
            <a:r>
              <a:rPr lang="en-US" dirty="0" smtClean="0"/>
              <a:t>Can mutate nonlocal frame values by using the `nonlocal` keyword</a:t>
            </a:r>
          </a:p>
          <a:p>
            <a:endParaRPr lang="en-US" dirty="0"/>
          </a:p>
          <a:p>
            <a:r>
              <a:rPr lang="en-US" dirty="0" smtClean="0"/>
              <a:t>But we want to create our own objects!</a:t>
            </a:r>
          </a:p>
          <a:p>
            <a:r>
              <a:rPr lang="en-US" dirty="0"/>
              <a:t>`</a:t>
            </a:r>
            <a:r>
              <a:rPr lang="en-US" dirty="0" smtClean="0"/>
              <a:t>nonlocal` only modifies closest frame with the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77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Current Stop: Inheritance/Interfaces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4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Solution: Syntax for defining own types (classes) and creating objects of those types -&gt; OOP</a:t>
            </a:r>
          </a:p>
          <a:p>
            <a:endParaRPr lang="en-US" dirty="0"/>
          </a:p>
          <a:p>
            <a:r>
              <a:rPr lang="en-US" dirty="0" smtClean="0"/>
              <a:t>Objects have attributes (key-value pairs) much like frames</a:t>
            </a:r>
          </a:p>
          <a:p>
            <a:r>
              <a:rPr lang="en-US" dirty="0" smtClean="0"/>
              <a:t>Focus on defining </a:t>
            </a:r>
            <a:r>
              <a:rPr lang="en-US" b="1" u="sng" dirty="0" smtClean="0"/>
              <a:t>similarities and differences</a:t>
            </a:r>
            <a:r>
              <a:rPr lang="en-US" dirty="0" smtClean="0"/>
              <a:t> via class inheritance and instance/class attribute distinction</a:t>
            </a:r>
          </a:p>
          <a:p>
            <a:r>
              <a:rPr lang="en-US" dirty="0" smtClean="0"/>
              <a:t>Interfaces = type-independent abstraction. Many different classes can match attributes.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759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Next Stop: Trees (v2)/Efficiency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5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Trees: Practice OOP with different types of trees</a:t>
            </a:r>
          </a:p>
          <a:p>
            <a:endParaRPr lang="en-US" dirty="0"/>
          </a:p>
          <a:p>
            <a:r>
              <a:rPr lang="en-US" dirty="0" smtClean="0"/>
              <a:t>Efficiency: Can affect how you want to represent your data/implement your program</a:t>
            </a:r>
          </a:p>
        </p:txBody>
      </p:sp>
    </p:spTree>
    <p:extLst>
      <p:ext uri="{BB962C8B-B14F-4D97-AF65-F5344CB8AC3E}">
        <p14:creationId xmlns:p14="http://schemas.microsoft.com/office/powerpoint/2010/main" val="3393092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Section Quiz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6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Printed out for you. Please turn them in once you are done.</a:t>
            </a:r>
          </a:p>
        </p:txBody>
      </p:sp>
    </p:spTree>
    <p:extLst>
      <p:ext uri="{BB962C8B-B14F-4D97-AF65-F5344CB8AC3E}">
        <p14:creationId xmlns:p14="http://schemas.microsoft.com/office/powerpoint/2010/main" val="284960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Your Feedback from Last Week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7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675467"/>
            <a:ext cx="7408333" cy="399526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Spend more time talking about problems in the back, not just the front</a:t>
            </a:r>
          </a:p>
          <a:p>
            <a:pPr lvl="1"/>
            <a:r>
              <a:rPr lang="en-US" dirty="0" smtClean="0"/>
              <a:t>Will do</a:t>
            </a:r>
          </a:p>
          <a:p>
            <a:r>
              <a:rPr lang="en-US" dirty="0" smtClean="0"/>
              <a:t>Suggest problems for good midterm practice</a:t>
            </a:r>
          </a:p>
          <a:p>
            <a:pPr lvl="1"/>
            <a:r>
              <a:rPr lang="en-US" dirty="0" smtClean="0"/>
              <a:t>Check out cs61a.org/problems</a:t>
            </a:r>
          </a:p>
          <a:p>
            <a:r>
              <a:rPr lang="en-US" dirty="0"/>
              <a:t>R</a:t>
            </a:r>
            <a:r>
              <a:rPr lang="en-US" dirty="0" smtClean="0"/>
              <a:t>eal life applications</a:t>
            </a:r>
          </a:p>
          <a:p>
            <a:r>
              <a:rPr lang="en-US" dirty="0" smtClean="0"/>
              <a:t>Go over process and thinking + group work</a:t>
            </a:r>
          </a:p>
          <a:p>
            <a:r>
              <a:rPr lang="en-US" dirty="0" smtClean="0"/>
              <a:t>Exam level problems</a:t>
            </a:r>
          </a:p>
          <a:p>
            <a:pPr lvl="1"/>
            <a:r>
              <a:rPr lang="en-US" dirty="0" smtClean="0"/>
              <a:t>Should only be attempted when easy content is mastered. Try creating your own questions/solutions.</a:t>
            </a:r>
          </a:p>
        </p:txBody>
      </p:sp>
    </p:spTree>
    <p:extLst>
      <p:ext uri="{BB962C8B-B14F-4D97-AF65-F5344CB8AC3E}">
        <p14:creationId xmlns:p14="http://schemas.microsoft.com/office/powerpoint/2010/main" val="3311190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Section Quiz </a:t>
            </a:r>
            <a:r>
              <a:rPr lang="en-US" dirty="0" smtClean="0">
                <a:solidFill>
                  <a:schemeClr val="accent5"/>
                </a:solidFill>
              </a:rPr>
              <a:t>[Solutions]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8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8" y="2675467"/>
            <a:ext cx="3693904" cy="345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class A: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</a:t>
            </a:r>
            <a:r>
              <a:rPr lang="en-US" dirty="0" err="1">
                <a:solidFill>
                  <a:schemeClr val="accent1"/>
                </a:solidFill>
              </a:rPr>
              <a:t>def</a:t>
            </a:r>
            <a:r>
              <a:rPr lang="en-US" dirty="0">
                <a:solidFill>
                  <a:schemeClr val="accent1"/>
                </a:solidFill>
              </a:rPr>
              <a:t> __</a:t>
            </a:r>
            <a:r>
              <a:rPr lang="en-US" dirty="0" err="1">
                <a:solidFill>
                  <a:schemeClr val="accent1"/>
                </a:solidFill>
              </a:rPr>
              <a:t>init</a:t>
            </a:r>
            <a:r>
              <a:rPr lang="en-US" dirty="0">
                <a:solidFill>
                  <a:schemeClr val="accent1"/>
                </a:solidFill>
              </a:rPr>
              <a:t>__(self, </a:t>
            </a:r>
            <a:r>
              <a:rPr lang="en-US" dirty="0" err="1">
                <a:solidFill>
                  <a:schemeClr val="accent1"/>
                </a:solidFill>
              </a:rPr>
              <a:t>num</a:t>
            </a:r>
            <a:r>
              <a:rPr lang="en-US" dirty="0">
                <a:solidFill>
                  <a:schemeClr val="accent1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candy = </a:t>
            </a:r>
            <a:r>
              <a:rPr lang="en-US" dirty="0" err="1">
                <a:solidFill>
                  <a:schemeClr val="accent1"/>
                </a:solidFill>
              </a:rPr>
              <a:t>num</a:t>
            </a:r>
            <a:r>
              <a:rPr lang="en-US" dirty="0">
                <a:solidFill>
                  <a:schemeClr val="accent1"/>
                </a:solidFill>
              </a:rPr>
              <a:t> *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self.num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num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>
                <a:solidFill>
                  <a:schemeClr val="accent6"/>
                </a:solidFill>
              </a:rPr>
              <a:t>A(3)</a:t>
            </a: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>
                <a:solidFill>
                  <a:schemeClr val="accent4"/>
                </a:solidFill>
              </a:rPr>
              <a:t>A(4)</a:t>
            </a:r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390337"/>
              </p:ext>
            </p:extLst>
          </p:nvPr>
        </p:nvGraphicFramePr>
        <p:xfrm>
          <a:off x="4565972" y="2754316"/>
          <a:ext cx="4120828" cy="10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492"/>
                <a:gridCol w="2979336"/>
              </a:tblGrid>
              <a:tr h="531238"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531238">
                <a:tc>
                  <a:txBody>
                    <a:bodyPr/>
                    <a:lstStyle/>
                    <a:p>
                      <a:r>
                        <a:rPr lang="en-US" dirty="0" smtClean="0"/>
                        <a:t>__</a:t>
                      </a:r>
                      <a:r>
                        <a:rPr lang="en-US" dirty="0" err="1" smtClean="0"/>
                        <a:t>init</a:t>
                      </a:r>
                      <a:r>
                        <a:rPr lang="en-US" dirty="0" smtClean="0"/>
                        <a:t>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-&gt; </a:t>
                      </a:r>
                      <a:r>
                        <a:rPr lang="en-US" dirty="0" err="1" smtClean="0"/>
                        <a:t>func</a:t>
                      </a:r>
                      <a:r>
                        <a:rPr lang="en-US" dirty="0" smtClean="0"/>
                        <a:t> __</a:t>
                      </a:r>
                      <a:r>
                        <a:rPr lang="en-US" dirty="0" err="1" smtClean="0"/>
                        <a:t>init</a:t>
                      </a:r>
                      <a:r>
                        <a:rPr lang="en-US" dirty="0" smtClean="0"/>
                        <a:t>__(self, </a:t>
                      </a:r>
                      <a:r>
                        <a:rPr lang="en-US" dirty="0" err="1" smtClean="0"/>
                        <a:t>num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208299"/>
              </p:ext>
            </p:extLst>
          </p:nvPr>
        </p:nvGraphicFramePr>
        <p:xfrm>
          <a:off x="3882349" y="4354992"/>
          <a:ext cx="1712573" cy="106247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46330"/>
                <a:gridCol w="466243"/>
              </a:tblGrid>
              <a:tr h="531238">
                <a:tc>
                  <a:txBody>
                    <a:bodyPr/>
                    <a:lstStyle/>
                    <a:p>
                      <a:r>
                        <a:rPr lang="en-US" dirty="0" smtClean="0"/>
                        <a:t>instance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53123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278746"/>
              </p:ext>
            </p:extLst>
          </p:nvPr>
        </p:nvGraphicFramePr>
        <p:xfrm>
          <a:off x="6028342" y="4354992"/>
          <a:ext cx="1712573" cy="10624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6330"/>
                <a:gridCol w="466243"/>
              </a:tblGrid>
              <a:tr h="531238">
                <a:tc>
                  <a:txBody>
                    <a:bodyPr/>
                    <a:lstStyle/>
                    <a:p>
                      <a:r>
                        <a:rPr lang="en-US" dirty="0" smtClean="0"/>
                        <a:t>instance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53123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2068" y="2025451"/>
            <a:ext cx="472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Draw all the objects that will be created.</a:t>
            </a:r>
          </a:p>
          <a:p>
            <a:r>
              <a:rPr lang="en-US" dirty="0" smtClean="0"/>
              <a:t>Write out their attributes.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28951" y="5498034"/>
            <a:ext cx="7331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The class will be an object as well! __</a:t>
            </a:r>
            <a:r>
              <a:rPr lang="en-US" dirty="0" err="1" smtClean="0"/>
              <a:t>init</a:t>
            </a:r>
            <a:r>
              <a:rPr lang="en-US" dirty="0" smtClean="0"/>
              <a:t>__ is an attribute of that obj.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candy is not an attribute. It is a local variable that never gets added to the object. </a:t>
            </a:r>
            <a:r>
              <a:rPr lang="en-US" dirty="0" err="1" smtClean="0"/>
              <a:t>self.candy</a:t>
            </a:r>
            <a:r>
              <a:rPr lang="en-US" dirty="0" smtClean="0"/>
              <a:t> would add the candy attribute to the instances.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8249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Section Quiz </a:t>
            </a:r>
            <a:r>
              <a:rPr lang="en-US" dirty="0" smtClean="0">
                <a:solidFill>
                  <a:schemeClr val="accent5"/>
                </a:solidFill>
              </a:rPr>
              <a:t>[Solutions]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9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41160" y="2675466"/>
            <a:ext cx="4324812" cy="38670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&gt;&gt;&gt; class </a:t>
            </a:r>
            <a:r>
              <a:rPr lang="en-US" dirty="0"/>
              <a:t>A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…     depths = [1, print(2)]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… 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num</a:t>
            </a:r>
            <a:r>
              <a:rPr lang="en-US" dirty="0"/>
              <a:t>)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…       </a:t>
            </a:r>
            <a:r>
              <a:rPr lang="en-US" dirty="0" err="1" smtClean="0"/>
              <a:t>self.num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num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1B6FD"/>
                </a:solidFill>
              </a:rPr>
              <a:t>2</a:t>
            </a:r>
          </a:p>
          <a:p>
            <a:pPr marL="0" indent="0">
              <a:buNone/>
            </a:pPr>
            <a:r>
              <a:rPr lang="en-US" dirty="0" smtClean="0"/>
              <a:t>&gt;&gt;&gt; A.__</a:t>
            </a:r>
            <a:r>
              <a:rPr lang="en-US" dirty="0" err="1" smtClean="0"/>
              <a:t>init</a:t>
            </a:r>
            <a:r>
              <a:rPr lang="en-US" dirty="0" smtClean="0"/>
              <a:t>__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1B6FD"/>
                </a:solidFill>
              </a:rPr>
              <a:t>f</a:t>
            </a:r>
            <a:r>
              <a:rPr lang="en-US" dirty="0" smtClean="0">
                <a:solidFill>
                  <a:srgbClr val="31B6FD"/>
                </a:solidFill>
              </a:rPr>
              <a:t>unction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smtClean="0"/>
              <a:t>a = A(3)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31B6FD"/>
                </a:solidFill>
              </a:rPr>
              <a:t>(Nothing gets printed)</a:t>
            </a:r>
            <a:endParaRPr lang="en-US" dirty="0">
              <a:solidFill>
                <a:srgbClr val="31B6FD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31B6FD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368348"/>
              </p:ext>
            </p:extLst>
          </p:nvPr>
        </p:nvGraphicFramePr>
        <p:xfrm>
          <a:off x="4239209" y="1472154"/>
          <a:ext cx="3864656" cy="1106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531"/>
                <a:gridCol w="2794125"/>
              </a:tblGrid>
              <a:tr h="214327"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14327">
                <a:tc>
                  <a:txBody>
                    <a:bodyPr/>
                    <a:lstStyle/>
                    <a:p>
                      <a:r>
                        <a:rPr lang="en-US" dirty="0" smtClean="0"/>
                        <a:t>depths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[1,</a:t>
                      </a:r>
                      <a:r>
                        <a:rPr lang="en-US" baseline="0" dirty="0" smtClean="0"/>
                        <a:t> None]</a:t>
                      </a:r>
                      <a:endParaRPr lang="en-US" dirty="0"/>
                    </a:p>
                  </a:txBody>
                  <a:tcPr/>
                </a:tc>
              </a:tr>
              <a:tr h="375073">
                <a:tc>
                  <a:txBody>
                    <a:bodyPr/>
                    <a:lstStyle/>
                    <a:p>
                      <a:r>
                        <a:rPr lang="en-US" dirty="0" smtClean="0"/>
                        <a:t>__</a:t>
                      </a:r>
                      <a:r>
                        <a:rPr lang="en-US" dirty="0" err="1" smtClean="0"/>
                        <a:t>init</a:t>
                      </a:r>
                      <a:r>
                        <a:rPr lang="en-US" dirty="0" smtClean="0"/>
                        <a:t>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-&gt; </a:t>
                      </a:r>
                      <a:r>
                        <a:rPr lang="en-US" dirty="0" err="1" smtClean="0"/>
                        <a:t>func</a:t>
                      </a:r>
                      <a:r>
                        <a:rPr lang="en-US" dirty="0" smtClean="0"/>
                        <a:t> __</a:t>
                      </a:r>
                      <a:r>
                        <a:rPr lang="en-US" dirty="0" err="1" smtClean="0"/>
                        <a:t>init</a:t>
                      </a:r>
                      <a:r>
                        <a:rPr lang="en-US" dirty="0" smtClean="0"/>
                        <a:t>__(self, </a:t>
                      </a:r>
                      <a:r>
                        <a:rPr lang="en-US" dirty="0" err="1" smtClean="0"/>
                        <a:t>num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326801"/>
              </p:ext>
            </p:extLst>
          </p:nvPr>
        </p:nvGraphicFramePr>
        <p:xfrm>
          <a:off x="2526636" y="4692834"/>
          <a:ext cx="1712573" cy="106247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46330"/>
                <a:gridCol w="466243"/>
              </a:tblGrid>
              <a:tr h="531238">
                <a:tc>
                  <a:txBody>
                    <a:bodyPr/>
                    <a:lstStyle/>
                    <a:p>
                      <a:r>
                        <a:rPr lang="en-US" dirty="0" smtClean="0"/>
                        <a:t>instance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53123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2068" y="2025451"/>
            <a:ext cx="4722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would Python print?</a:t>
            </a:r>
          </a:p>
        </p:txBody>
      </p:sp>
      <p:sp>
        <p:nvSpPr>
          <p:cNvPr id="11" name="Content Placeholder 6"/>
          <p:cNvSpPr txBox="1">
            <a:spLocks/>
          </p:cNvSpPr>
          <p:nvPr/>
        </p:nvSpPr>
        <p:spPr>
          <a:xfrm>
            <a:off x="4565972" y="2675466"/>
            <a:ext cx="4324812" cy="38670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A.num</a:t>
            </a:r>
            <a:r>
              <a:rPr lang="en-US" dirty="0"/>
              <a:t> = 2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a.num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31B6FD"/>
                </a:solidFill>
              </a:rPr>
              <a:t>3</a:t>
            </a:r>
            <a:endParaRPr lang="en-US" dirty="0" smtClean="0"/>
          </a:p>
          <a:p>
            <a:pPr marL="0" indent="0">
              <a:buFont typeface="Symbol" pitchFamily="18" charset="2"/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A.depths</a:t>
            </a:r>
            <a:endParaRPr lang="en-US" dirty="0" smtClean="0"/>
          </a:p>
          <a:p>
            <a:pPr marL="0" indent="0">
              <a:buFont typeface="Symbol" pitchFamily="18" charset="2"/>
              <a:buNone/>
            </a:pPr>
            <a:r>
              <a:rPr lang="en-US" dirty="0" smtClean="0">
                <a:solidFill>
                  <a:srgbClr val="31B6FD"/>
                </a:solidFill>
              </a:rPr>
              <a:t>[1, None]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 smtClean="0"/>
              <a:t>&gt;&gt;&gt; a.__</a:t>
            </a:r>
            <a:r>
              <a:rPr lang="en-US" dirty="0" err="1" smtClean="0"/>
              <a:t>init</a:t>
            </a:r>
            <a:r>
              <a:rPr lang="en-US" dirty="0" smtClean="0"/>
              <a:t>__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 smtClean="0">
                <a:solidFill>
                  <a:srgbClr val="31B6FD"/>
                </a:solidFill>
              </a:rPr>
              <a:t>Bound method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a.depths</a:t>
            </a:r>
            <a:endParaRPr lang="en-US" dirty="0" smtClean="0"/>
          </a:p>
          <a:p>
            <a:pPr marL="0" indent="0">
              <a:buFont typeface="Symbol" pitchFamily="18" charset="2"/>
              <a:buNone/>
            </a:pPr>
            <a:r>
              <a:rPr lang="en-US" dirty="0" smtClean="0">
                <a:solidFill>
                  <a:srgbClr val="31B6FD"/>
                </a:solidFill>
              </a:rPr>
              <a:t>[1, None]</a:t>
            </a:r>
          </a:p>
          <a:p>
            <a:pPr marL="0" indent="0">
              <a:buFont typeface="Symbol" pitchFamily="18" charset="2"/>
              <a:buNone/>
            </a:pPr>
            <a:endParaRPr lang="en-US" dirty="0" smtClean="0">
              <a:solidFill>
                <a:srgbClr val="31B6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164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Section Quiz </a:t>
            </a:r>
            <a:r>
              <a:rPr lang="en-US" dirty="0" smtClean="0">
                <a:solidFill>
                  <a:schemeClr val="accent5"/>
                </a:solidFill>
              </a:rPr>
              <a:t>[Solutions]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10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8" y="2675467"/>
            <a:ext cx="3693904" cy="3450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&gt;&gt;&gt; a = A(3)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(2)</a:t>
            </a:r>
          </a:p>
          <a:p>
            <a:pPr marL="0" indent="0">
              <a:buNone/>
            </a:pPr>
            <a:r>
              <a:rPr lang="en-US" dirty="0" smtClean="0"/>
              <a:t>[3, 3]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(5)</a:t>
            </a:r>
          </a:p>
          <a:p>
            <a:pPr marL="0" indent="0">
              <a:buNone/>
            </a:pPr>
            <a:r>
              <a:rPr lang="en-US" dirty="0" smtClean="0"/>
              <a:t>[3, 3, 3, 3, 3]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A.mul</a:t>
            </a:r>
            <a:r>
              <a:rPr lang="en-US" dirty="0" smtClean="0"/>
              <a:t> = 2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(2)</a:t>
            </a:r>
          </a:p>
          <a:p>
            <a:pPr marL="0" indent="0">
              <a:buNone/>
            </a:pPr>
            <a:r>
              <a:rPr lang="en-US" dirty="0" smtClean="0"/>
              <a:t>[3, 3, 3, 3]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72068" y="2025451"/>
            <a:ext cx="472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class that will pass this </a:t>
            </a:r>
            <a:r>
              <a:rPr lang="en-US" dirty="0" err="1"/>
              <a:t>doctest</a:t>
            </a:r>
            <a:r>
              <a:rPr lang="en-US" dirty="0"/>
              <a:t>: </a:t>
            </a:r>
            <a:r>
              <a:rPr lang="en-US" i="1" dirty="0"/>
              <a:t>Hint: What data should you keep track of &amp; where?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26869" y="2857674"/>
            <a:ext cx="48960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Data to keep track of: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number in the list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number of times run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multiplier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u="sng" dirty="0" smtClean="0"/>
              <a:t>Where should they go?</a:t>
            </a:r>
          </a:p>
          <a:p>
            <a:r>
              <a:rPr lang="en-US" i="1" dirty="0" smtClean="0"/>
              <a:t>Consider: instance attribute, class attribute, etc.</a:t>
            </a:r>
          </a:p>
          <a:p>
            <a:endParaRPr lang="en-US" i="1" dirty="0" smtClean="0"/>
          </a:p>
          <a:p>
            <a:r>
              <a:rPr lang="en-US" dirty="0" smtClean="0"/>
              <a:t>Number in list -&gt; instance attribute</a:t>
            </a:r>
          </a:p>
          <a:p>
            <a:r>
              <a:rPr lang="en-US" dirty="0" smtClean="0"/>
              <a:t>Multiplier -&gt; class attribute</a:t>
            </a:r>
            <a:endParaRPr lang="en-US" dirty="0"/>
          </a:p>
          <a:p>
            <a:r>
              <a:rPr lang="en-US" dirty="0" smtClean="0"/>
              <a:t>Number of times run -&gt; function parameter</a:t>
            </a:r>
          </a:p>
        </p:txBody>
      </p:sp>
    </p:spTree>
    <p:extLst>
      <p:ext uri="{BB962C8B-B14F-4D97-AF65-F5344CB8AC3E}">
        <p14:creationId xmlns:p14="http://schemas.microsoft.com/office/powerpoint/2010/main" val="3436798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Section Quiz </a:t>
            </a:r>
            <a:r>
              <a:rPr lang="en-US" dirty="0" smtClean="0">
                <a:solidFill>
                  <a:schemeClr val="accent5"/>
                </a:solidFill>
              </a:rPr>
              <a:t>[Solutions]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11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8" y="2675467"/>
            <a:ext cx="3693904" cy="3450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&gt;&gt;&gt; a = A(3)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(2)</a:t>
            </a:r>
          </a:p>
          <a:p>
            <a:pPr marL="0" indent="0">
              <a:buNone/>
            </a:pPr>
            <a:r>
              <a:rPr lang="en-US" dirty="0" smtClean="0"/>
              <a:t>[3, 3]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(5)</a:t>
            </a:r>
          </a:p>
          <a:p>
            <a:pPr marL="0" indent="0">
              <a:buNone/>
            </a:pPr>
            <a:r>
              <a:rPr lang="en-US" dirty="0" smtClean="0"/>
              <a:t>[3, 3, 3, 3, 3]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A.mul</a:t>
            </a:r>
            <a:r>
              <a:rPr lang="en-US" dirty="0" smtClean="0"/>
              <a:t> = 2</a:t>
            </a:r>
          </a:p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a.run</a:t>
            </a:r>
            <a:r>
              <a:rPr lang="en-US" dirty="0" smtClean="0"/>
              <a:t>(2)</a:t>
            </a:r>
          </a:p>
          <a:p>
            <a:pPr marL="0" indent="0">
              <a:buNone/>
            </a:pPr>
            <a:r>
              <a:rPr lang="en-US" dirty="0" smtClean="0"/>
              <a:t>[3, 3, 3, 3]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72068" y="2025451"/>
            <a:ext cx="472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class that will pass this </a:t>
            </a:r>
            <a:r>
              <a:rPr lang="en-US" dirty="0" err="1"/>
              <a:t>doctest</a:t>
            </a:r>
            <a:r>
              <a:rPr lang="en-US" dirty="0"/>
              <a:t>: </a:t>
            </a:r>
            <a:r>
              <a:rPr lang="en-US" i="1" dirty="0"/>
              <a:t>Hint: What data should you keep track of &amp; where?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26869" y="2857674"/>
            <a:ext cx="4896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5BD078"/>
                </a:solidFill>
              </a:rPr>
              <a:t>Number in list -&gt; instance attribute</a:t>
            </a:r>
          </a:p>
          <a:p>
            <a:r>
              <a:rPr lang="en-US" dirty="0" smtClean="0">
                <a:solidFill>
                  <a:srgbClr val="31B6FD"/>
                </a:solidFill>
              </a:rPr>
              <a:t>Multiplier -&gt; class attribute</a:t>
            </a:r>
            <a:endParaRPr lang="en-US" dirty="0">
              <a:solidFill>
                <a:srgbClr val="31B6FD"/>
              </a:solidFill>
            </a:endParaRPr>
          </a:p>
          <a:p>
            <a:r>
              <a:rPr lang="en-US" dirty="0" smtClean="0">
                <a:solidFill>
                  <a:srgbClr val="05E0DB"/>
                </a:solidFill>
              </a:rPr>
              <a:t>Number of times run -&gt; function parameter</a:t>
            </a:r>
          </a:p>
        </p:txBody>
      </p:sp>
      <p:sp>
        <p:nvSpPr>
          <p:cNvPr id="8" name="Content Placeholder 6"/>
          <p:cNvSpPr txBox="1">
            <a:spLocks/>
          </p:cNvSpPr>
          <p:nvPr/>
        </p:nvSpPr>
        <p:spPr>
          <a:xfrm>
            <a:off x="3158001" y="3781004"/>
            <a:ext cx="5213208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itchFamily="18" charset="2"/>
              <a:buNone/>
            </a:pPr>
            <a:r>
              <a:rPr lang="en-US" dirty="0" smtClean="0"/>
              <a:t>class A: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mul</a:t>
            </a:r>
            <a:r>
              <a:rPr lang="en-US" dirty="0" smtClean="0">
                <a:solidFill>
                  <a:schemeClr val="accent1"/>
                </a:solidFill>
              </a:rPr>
              <a:t> = 1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def</a:t>
            </a:r>
            <a:r>
              <a:rPr lang="en-US" dirty="0" smtClean="0"/>
              <a:t> __</a:t>
            </a:r>
            <a:r>
              <a:rPr lang="en-US" dirty="0" err="1" smtClean="0"/>
              <a:t>init</a:t>
            </a:r>
            <a:r>
              <a:rPr lang="en-US" dirty="0" smtClean="0"/>
              <a:t>__(self, </a:t>
            </a:r>
            <a:r>
              <a:rPr lang="en-US" dirty="0" err="1" smtClean="0"/>
              <a:t>num</a:t>
            </a:r>
            <a:r>
              <a:rPr lang="en-US" dirty="0" smtClean="0"/>
              <a:t>):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>
                <a:solidFill>
                  <a:schemeClr val="accent3"/>
                </a:solidFill>
              </a:rPr>
              <a:t>self.num</a:t>
            </a:r>
            <a:r>
              <a:rPr lang="en-US" dirty="0" smtClean="0">
                <a:solidFill>
                  <a:schemeClr val="accent3"/>
                </a:solidFill>
              </a:rPr>
              <a:t> = </a:t>
            </a:r>
            <a:r>
              <a:rPr lang="en-US" dirty="0" err="1" smtClean="0">
                <a:solidFill>
                  <a:schemeClr val="accent3"/>
                </a:solidFill>
              </a:rPr>
              <a:t>num</a:t>
            </a:r>
            <a:endParaRPr lang="en-US" dirty="0" smtClean="0">
              <a:solidFill>
                <a:schemeClr val="accent3"/>
              </a:solidFill>
            </a:endParaRPr>
          </a:p>
          <a:p>
            <a:pPr marL="0" indent="0">
              <a:buFont typeface="Symbol" pitchFamily="18" charset="2"/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def</a:t>
            </a:r>
            <a:r>
              <a:rPr lang="en-US" dirty="0" smtClean="0"/>
              <a:t> run(self, </a:t>
            </a:r>
            <a:r>
              <a:rPr lang="en-US" dirty="0" smtClean="0">
                <a:solidFill>
                  <a:schemeClr val="accent6"/>
                </a:solidFill>
              </a:rPr>
              <a:t>times</a:t>
            </a:r>
            <a:r>
              <a:rPr lang="en-US" dirty="0" smtClean="0"/>
              <a:t>):</a:t>
            </a:r>
          </a:p>
          <a:p>
            <a:pPr marL="0" indent="0">
              <a:buFont typeface="Symbol" pitchFamily="18" charset="2"/>
              <a:buNone/>
            </a:pPr>
            <a:r>
              <a:rPr lang="en-US" dirty="0"/>
              <a:t> </a:t>
            </a:r>
            <a:r>
              <a:rPr lang="en-US" dirty="0" smtClean="0"/>
              <a:t>   return [</a:t>
            </a:r>
            <a:r>
              <a:rPr lang="en-US" dirty="0" err="1" smtClean="0"/>
              <a:t>self.num</a:t>
            </a:r>
            <a:r>
              <a:rPr lang="en-US" dirty="0" smtClean="0"/>
              <a:t> for </a:t>
            </a:r>
            <a:r>
              <a:rPr lang="en-US" dirty="0" err="1" smtClean="0"/>
              <a:t>i</a:t>
            </a:r>
            <a:r>
              <a:rPr lang="en-US" dirty="0" smtClean="0"/>
              <a:t> in range(times \ 		* </a:t>
            </a:r>
            <a:r>
              <a:rPr lang="en-US" dirty="0" err="1" smtClean="0"/>
              <a:t>self.mul</a:t>
            </a:r>
            <a:r>
              <a:rPr lang="en-US" dirty="0" smtClean="0"/>
              <a:t>)]</a:t>
            </a:r>
          </a:p>
          <a:p>
            <a:pPr marL="0" indent="0">
              <a:buFont typeface="Symbol" pitchFamily="18" charset="2"/>
              <a:buNone/>
            </a:pPr>
            <a:endParaRPr lang="en-US" dirty="0" smtClean="0"/>
          </a:p>
          <a:p>
            <a:pPr marL="0" indent="0">
              <a:buFont typeface="Symbol" pitchFamily="18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44923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OOP: Initial Attempt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12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3926" y="2693798"/>
            <a:ext cx="5574749" cy="345069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class Dog(object)</a:t>
            </a:r>
            <a:r>
              <a:rPr lang="en-US" sz="1800" dirty="0" smtClean="0"/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</a:t>
            </a:r>
            <a:r>
              <a:rPr lang="en-US" sz="1800" dirty="0" err="1" smtClean="0"/>
              <a:t>def</a:t>
            </a:r>
            <a:r>
              <a:rPr lang="en-US" sz="1800" dirty="0" smtClean="0"/>
              <a:t> </a:t>
            </a:r>
            <a:r>
              <a:rPr lang="en-US" sz="1800" dirty="0"/>
              <a:t>__</a:t>
            </a:r>
            <a:r>
              <a:rPr lang="en-US" sz="1800" dirty="0" err="1"/>
              <a:t>init</a:t>
            </a:r>
            <a:r>
              <a:rPr lang="en-US" sz="1800" dirty="0"/>
              <a:t>__(self, name, owner, color)</a:t>
            </a:r>
            <a:r>
              <a:rPr lang="en-US" sz="1800" dirty="0" smtClean="0"/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err="1" smtClean="0"/>
              <a:t>self.owner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owner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err="1" smtClean="0"/>
              <a:t>self.color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color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</a:t>
            </a:r>
            <a:r>
              <a:rPr lang="en-US" sz="1800" dirty="0" err="1" smtClean="0"/>
              <a:t>def</a:t>
            </a:r>
            <a:r>
              <a:rPr lang="en-US" sz="1800" dirty="0" smtClean="0"/>
              <a:t> </a:t>
            </a:r>
            <a:r>
              <a:rPr lang="en-US" sz="1800" dirty="0"/>
              <a:t>eat(self, thing):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smtClean="0"/>
              <a:t>    print</a:t>
            </a:r>
            <a:r>
              <a:rPr lang="en-US" sz="1800" dirty="0"/>
              <a:t>(</a:t>
            </a:r>
            <a:r>
              <a:rPr lang="en-US" sz="1800" dirty="0" err="1"/>
              <a:t>self.name</a:t>
            </a:r>
            <a:r>
              <a:rPr lang="en-US" sz="1800" dirty="0"/>
              <a:t> + " </a:t>
            </a:r>
            <a:r>
              <a:rPr lang="en-US" sz="1800" dirty="0" smtClean="0"/>
              <a:t>ate " </a:t>
            </a:r>
            <a:r>
              <a:rPr lang="en-US" sz="1800" dirty="0"/>
              <a:t>+ </a:t>
            </a:r>
            <a:r>
              <a:rPr lang="en-US" sz="1800" dirty="0" smtClean="0"/>
              <a:t>thing)</a:t>
            </a: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</a:t>
            </a:r>
            <a:r>
              <a:rPr lang="en-US" sz="1800" dirty="0"/>
              <a:t>talk(self)</a:t>
            </a:r>
            <a:r>
              <a:rPr lang="en-US" sz="1800" dirty="0" smtClean="0"/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return </a:t>
            </a:r>
            <a:r>
              <a:rPr lang="en-US" sz="1800" dirty="0" err="1"/>
              <a:t>self.name</a:t>
            </a:r>
            <a:r>
              <a:rPr lang="en-US" sz="1800" dirty="0"/>
              <a:t> + " says woof!"</a:t>
            </a:r>
          </a:p>
          <a:p>
            <a:pPr marL="301943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4286951" y="2693798"/>
            <a:ext cx="5574749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class Cat(object):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owner, lives):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= 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self.owner</a:t>
            </a:r>
            <a:r>
              <a:rPr lang="en-US" sz="1800" dirty="0" smtClean="0"/>
              <a:t> = owner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self.lives</a:t>
            </a:r>
            <a:r>
              <a:rPr lang="en-US" sz="1800" dirty="0" smtClean="0"/>
              <a:t> = lives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eat(self, thing):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print(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+ " ate " + thing)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talk(self):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return 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+ " says meow!"</a:t>
            </a:r>
          </a:p>
          <a:p>
            <a:pPr marL="301943" lvl="1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/>
          </a:p>
        </p:txBody>
      </p:sp>
      <p:cxnSp>
        <p:nvCxnSpPr>
          <p:cNvPr id="9" name="Straight Arrow Connector 8"/>
          <p:cNvCxnSpPr>
            <a:stCxn id="13" idx="2"/>
          </p:cNvCxnSpPr>
          <p:nvPr/>
        </p:nvCxnSpPr>
        <p:spPr>
          <a:xfrm flipH="1">
            <a:off x="1654191" y="2406463"/>
            <a:ext cx="562178" cy="434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3" idx="2"/>
          </p:cNvCxnSpPr>
          <p:nvPr/>
        </p:nvCxnSpPr>
        <p:spPr>
          <a:xfrm>
            <a:off x="2216369" y="2406463"/>
            <a:ext cx="3247474" cy="434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760132"/>
            <a:ext cx="3518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Inheritance assertion: </a:t>
            </a:r>
          </a:p>
          <a:p>
            <a:r>
              <a:rPr lang="en-US" dirty="0" smtClean="0"/>
              <a:t>Nothing in common.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186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OOP: Inheritance Motivation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13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6" y="2271950"/>
            <a:ext cx="7408333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Inheritance so that you just specify </a:t>
            </a:r>
            <a:r>
              <a:rPr lang="en-US" b="1" u="sng" dirty="0" smtClean="0"/>
              <a:t>similarities and differences</a:t>
            </a:r>
            <a:r>
              <a:rPr lang="en-US" dirty="0" smtClean="0"/>
              <a:t> among </a:t>
            </a:r>
            <a:r>
              <a:rPr lang="en-US" i="1" dirty="0" smtClean="0"/>
              <a:t>hierarchical</a:t>
            </a:r>
            <a:r>
              <a:rPr lang="en-US" dirty="0" smtClean="0"/>
              <a:t> object types</a:t>
            </a:r>
          </a:p>
          <a:p>
            <a:r>
              <a:rPr lang="en-US" dirty="0" smtClean="0"/>
              <a:t>Dog and Cat objects are also Pet instances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1145659" y="3529375"/>
            <a:ext cx="5574749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class Pet(object):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/>
              <a:t> </a:t>
            </a:r>
            <a:r>
              <a:rPr lang="en-US" sz="1800" dirty="0" smtClean="0"/>
              <a:t> sound = “”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= 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self.owner</a:t>
            </a:r>
            <a:r>
              <a:rPr lang="en-US" sz="1800" dirty="0" smtClean="0"/>
              <a:t> = owner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err="1" smtClean="0"/>
              <a:t>def</a:t>
            </a:r>
            <a:r>
              <a:rPr lang="en-US" sz="1800" dirty="0" smtClean="0"/>
              <a:t> eat(self, thing):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print(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+ " ate " + thing)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talk(self):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return </a:t>
            </a:r>
            <a:r>
              <a:rPr lang="en-US" sz="1800" dirty="0" err="1" smtClean="0"/>
              <a:t>self.name</a:t>
            </a:r>
            <a:r>
              <a:rPr lang="en-US" sz="1800" dirty="0" smtClean="0"/>
              <a:t> + " says ” + </a:t>
            </a:r>
            <a:r>
              <a:rPr lang="en-US" sz="1800" dirty="0" err="1" smtClean="0"/>
              <a:t>self.sound</a:t>
            </a:r>
            <a:endParaRPr lang="en-US" sz="1800" dirty="0" smtClean="0"/>
          </a:p>
          <a:p>
            <a:pPr marL="301943" lvl="1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5196498" y="4294867"/>
            <a:ext cx="3083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All pets (including dogs and cats) have owners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All pets eat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All pets talk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48898" y="5647596"/>
            <a:ext cx="3083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example differs slightly from the discussion example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749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OOP: Inheritance Motivation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14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Then, just specify </a:t>
            </a:r>
            <a:r>
              <a:rPr lang="en-US" b="1" u="sng" dirty="0" smtClean="0"/>
              <a:t>differences</a:t>
            </a:r>
            <a:r>
              <a:rPr lang="en-US" dirty="0" smtClean="0"/>
              <a:t> in the subclass.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293500" y="3220039"/>
            <a:ext cx="5574749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class Dog(Pet):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/>
              <a:t> </a:t>
            </a:r>
            <a:r>
              <a:rPr lang="en-US" sz="1800" dirty="0" smtClean="0"/>
              <a:t> sound = ‘woof!’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owner, color):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Pet.__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self.color</a:t>
            </a:r>
            <a:r>
              <a:rPr lang="en-US" sz="1800" dirty="0" smtClean="0"/>
              <a:t> = color</a:t>
            </a:r>
          </a:p>
          <a:p>
            <a:pPr marL="0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293500" y="5335362"/>
            <a:ext cx="3382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Dogs also need to store color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Dog’s eat is same as Pet’s eat, so don’t include at all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Dog’s talk like Pet’s talk. Just change the sound!</a:t>
            </a:r>
            <a:endParaRPr lang="en-US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>
          <a:xfrm>
            <a:off x="4210667" y="3220039"/>
            <a:ext cx="5574749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class Cat(Pet):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/>
              <a:t> </a:t>
            </a:r>
            <a:r>
              <a:rPr lang="en-US" sz="1800" dirty="0" smtClean="0"/>
              <a:t> sound = ‘meow!’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def</a:t>
            </a:r>
            <a:r>
              <a:rPr lang="en-US" sz="1800" dirty="0" smtClean="0"/>
              <a:t> 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owner, lives):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Pet.__</a:t>
            </a:r>
            <a:r>
              <a:rPr lang="en-US" sz="1800" dirty="0" err="1" smtClean="0"/>
              <a:t>init</a:t>
            </a:r>
            <a:r>
              <a:rPr lang="en-US" sz="1800" dirty="0" smtClean="0"/>
              <a:t>__(self, name, owner)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self.lives</a:t>
            </a:r>
            <a:r>
              <a:rPr lang="en-US" sz="1800" dirty="0" smtClean="0"/>
              <a:t> = lives</a:t>
            </a:r>
          </a:p>
          <a:p>
            <a:pPr marL="0" indent="0">
              <a:buFont typeface="Symbol" pitchFamily="18" charset="2"/>
              <a:buNone/>
            </a:pPr>
            <a:endParaRPr lang="en-US" sz="1800" dirty="0" smtClean="0"/>
          </a:p>
          <a:p>
            <a:pPr marL="0" indent="0">
              <a:buFont typeface="Symbol" pitchFamily="18" charset="2"/>
              <a:buNone/>
            </a:pP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4210666" y="5335362"/>
            <a:ext cx="37428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Cats also need to store lives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Cat’s eat is same as Pet’s eat, so don’t include at all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Cat’s talk like Pet’s talk. All cats “meow!”, so add class </a:t>
            </a:r>
            <a:r>
              <a:rPr lang="en-US" dirty="0" err="1" smtClean="0"/>
              <a:t>attr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579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OOP: High Level View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15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17472" y="2675467"/>
            <a:ext cx="8187410" cy="399526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So, </a:t>
            </a:r>
            <a:r>
              <a:rPr lang="en-US" u="sng" dirty="0" smtClean="0"/>
              <a:t>classes</a:t>
            </a:r>
            <a:r>
              <a:rPr lang="en-US" dirty="0" smtClean="0"/>
              <a:t> describe an object (</a:t>
            </a:r>
            <a:r>
              <a:rPr lang="en-US" dirty="0" err="1" smtClean="0"/>
              <a:t>data+behavior</a:t>
            </a:r>
            <a:r>
              <a:rPr lang="en-US" dirty="0" smtClean="0"/>
              <a:t>) generally.</a:t>
            </a:r>
          </a:p>
          <a:p>
            <a:pPr lvl="1"/>
            <a:r>
              <a:rPr lang="en-US" dirty="0" smtClean="0"/>
              <a:t>That way, to construct a specific object, fill in right parameters</a:t>
            </a:r>
          </a:p>
          <a:p>
            <a:pPr lvl="1"/>
            <a:r>
              <a:rPr lang="en-US" dirty="0" smtClean="0"/>
              <a:t>Then, when the class changes, all objects of that class change with it</a:t>
            </a:r>
          </a:p>
          <a:p>
            <a:pPr lvl="1"/>
            <a:endParaRPr lang="en-US" dirty="0"/>
          </a:p>
          <a:p>
            <a:r>
              <a:rPr lang="en-US" dirty="0" smtClean="0"/>
              <a:t>Where have we seen this?</a:t>
            </a:r>
          </a:p>
          <a:p>
            <a:pPr lvl="1"/>
            <a:r>
              <a:rPr lang="en-US" u="sng" dirty="0" smtClean="0"/>
              <a:t>Functions</a:t>
            </a:r>
            <a:r>
              <a:rPr lang="en-US" dirty="0" smtClean="0"/>
              <a:t> describe a computation generally</a:t>
            </a:r>
          </a:p>
          <a:p>
            <a:pPr lvl="1"/>
            <a:r>
              <a:rPr lang="en-US" dirty="0" smtClean="0"/>
              <a:t>Use parameters to carry out specific computation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And </a:t>
            </a:r>
            <a:r>
              <a:rPr lang="en-US" u="sng" dirty="0" smtClean="0"/>
              <a:t>inheritance</a:t>
            </a:r>
            <a:r>
              <a:rPr lang="en-US" dirty="0" smtClean="0"/>
              <a:t> captures similarities/differences between classes, making classes </a:t>
            </a:r>
            <a:r>
              <a:rPr lang="en-US" u="sng" dirty="0" smtClean="0"/>
              <a:t>easier to describe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149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 Reminders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16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154052"/>
            <a:ext cx="7408333" cy="43634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Object Creation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Start with empty instance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 smtClean="0"/>
              <a:t>Initialize</a:t>
            </a:r>
            <a:r>
              <a:rPr lang="en-US" dirty="0" smtClean="0"/>
              <a:t> the empty instance (add initial data to it, e.g. data it must have to even be considered a Person, such as gender)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object can now be </a:t>
            </a:r>
            <a:r>
              <a:rPr lang="en-US" dirty="0" smtClean="0"/>
              <a:t>used</a:t>
            </a:r>
          </a:p>
          <a:p>
            <a:r>
              <a:rPr lang="en-US" dirty="0" smtClean="0"/>
              <a:t>__</a:t>
            </a:r>
            <a:r>
              <a:rPr lang="en-US" dirty="0" err="1" smtClean="0"/>
              <a:t>init</a:t>
            </a:r>
            <a:r>
              <a:rPr lang="en-US" dirty="0" smtClean="0"/>
              <a:t>__ = function meant to </a:t>
            </a:r>
            <a:r>
              <a:rPr lang="en-US" b="1" u="sng" dirty="0" smtClean="0"/>
              <a:t>fill in </a:t>
            </a:r>
            <a:r>
              <a:rPr lang="en-US" dirty="0" smtClean="0"/>
              <a:t>an empty object of class. Does not create the object.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Functions vs. Bound methods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Method = </a:t>
            </a:r>
            <a:r>
              <a:rPr lang="en-US" u="sng" dirty="0" smtClean="0"/>
              <a:t>function</a:t>
            </a:r>
            <a:r>
              <a:rPr lang="en-US" dirty="0" smtClean="0"/>
              <a:t> that belongs to a </a:t>
            </a:r>
            <a:r>
              <a:rPr lang="en-US" u="sng" dirty="0" smtClean="0"/>
              <a:t>class object</a:t>
            </a:r>
            <a:r>
              <a:rPr lang="en-US" dirty="0" smtClean="0"/>
              <a:t> (not instance)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Bound method = </a:t>
            </a:r>
            <a:r>
              <a:rPr lang="en-US" u="sng" dirty="0" smtClean="0"/>
              <a:t>created</a:t>
            </a:r>
            <a:r>
              <a:rPr lang="en-US" dirty="0" smtClean="0"/>
              <a:t> every time a method is </a:t>
            </a:r>
            <a:r>
              <a:rPr lang="en-US" u="sng" dirty="0" smtClean="0"/>
              <a:t>looked up </a:t>
            </a:r>
            <a:r>
              <a:rPr lang="en-US" dirty="0" smtClean="0"/>
              <a:t>from an instance, e.g. </a:t>
            </a:r>
            <a:r>
              <a:rPr lang="en-US" dirty="0" err="1" smtClean="0"/>
              <a:t>fido.eat</a:t>
            </a:r>
            <a:endParaRPr lang="en-US" dirty="0" smtClean="0"/>
          </a:p>
          <a:p>
            <a:pPr lvl="1"/>
            <a:r>
              <a:rPr lang="en-US" dirty="0" smtClean="0"/>
              <a:t>Different from function in that self is already bound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/>
              <a:t>func</a:t>
            </a:r>
            <a:r>
              <a:rPr lang="en-US" dirty="0" smtClean="0"/>
              <a:t> eat(self, thing) </a:t>
            </a:r>
            <a:r>
              <a:rPr lang="en-US" dirty="0" smtClean="0">
                <a:sym typeface="Wingdings"/>
              </a:rPr>
              <a:t> bound method </a:t>
            </a:r>
            <a:r>
              <a:rPr lang="en-US" dirty="0" err="1" smtClean="0">
                <a:sym typeface="Wingdings"/>
              </a:rPr>
              <a:t>fido.eat</a:t>
            </a:r>
            <a:r>
              <a:rPr lang="en-US" dirty="0" smtClean="0">
                <a:sym typeface="Wingdings"/>
              </a:rPr>
              <a:t>(thing)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7173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self keyword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17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154052"/>
            <a:ext cx="7408333" cy="4363450"/>
          </a:xfrm>
        </p:spPr>
        <p:txBody>
          <a:bodyPr>
            <a:normAutofit/>
          </a:bodyPr>
          <a:lstStyle/>
          <a:p>
            <a:r>
              <a:rPr lang="en-US" dirty="0" smtClean="0"/>
              <a:t>Idea: Each method should be able to access the instance of the class easily</a:t>
            </a:r>
          </a:p>
          <a:p>
            <a:pPr lvl="1"/>
            <a:r>
              <a:rPr lang="en-US" dirty="0" smtClean="0"/>
              <a:t>Thus, assume that self will be instance of the class.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u="sng" dirty="0" smtClean="0"/>
              <a:t>Example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class A: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def</a:t>
            </a:r>
            <a:r>
              <a:rPr lang="en-US" dirty="0" smtClean="0"/>
              <a:t> __</a:t>
            </a:r>
            <a:r>
              <a:rPr lang="en-US" dirty="0" err="1" smtClean="0"/>
              <a:t>init</a:t>
            </a:r>
            <a:r>
              <a:rPr lang="en-US" dirty="0" smtClean="0"/>
              <a:t>__(self, </a:t>
            </a:r>
            <a:r>
              <a:rPr lang="en-US" dirty="0" err="1" smtClean="0"/>
              <a:t>num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self.num</a:t>
            </a:r>
            <a:r>
              <a:rPr lang="en-US" dirty="0" smtClean="0"/>
              <a:t> = </a:t>
            </a:r>
            <a:r>
              <a:rPr lang="en-US" dirty="0" err="1" smtClean="0"/>
              <a:t>num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4940774" y="3684508"/>
            <a:ext cx="255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self is assumed to be an instance of A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231550" y="4050902"/>
            <a:ext cx="1709224" cy="691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07317" y="5101074"/>
            <a:ext cx="3573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Any needed info that’s not in the instance/class should be a parameter. Otherwise, just access that info from </a:t>
            </a:r>
            <a:r>
              <a:rPr lang="en-US" b="1" dirty="0" smtClean="0"/>
              <a:t>self</a:t>
            </a:r>
            <a:r>
              <a:rPr lang="en-US" dirty="0" smtClean="0"/>
              <a:t>!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713871" y="5101074"/>
            <a:ext cx="993446" cy="6216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783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Tackling OOP </a:t>
            </a:r>
            <a:br>
              <a:rPr lang="en-US" dirty="0" smtClean="0"/>
            </a:br>
            <a:r>
              <a:rPr lang="en-US" dirty="0" smtClean="0"/>
              <a:t>Implementation Problems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18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240966"/>
            <a:ext cx="7408333" cy="41825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Representation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Really put thought into what data you need to remember and where you should remember it:</a:t>
            </a:r>
          </a:p>
          <a:p>
            <a:pPr lvl="1"/>
            <a:r>
              <a:rPr lang="en-US" dirty="0" smtClean="0"/>
              <a:t>In the class? Each instance? As method local variables?</a:t>
            </a:r>
          </a:p>
          <a:p>
            <a:pPr lvl="1"/>
            <a:r>
              <a:rPr lang="en-US" dirty="0" smtClean="0"/>
              <a:t>Does it make conceptual sense? </a:t>
            </a:r>
          </a:p>
          <a:p>
            <a:pPr lvl="2"/>
            <a:r>
              <a:rPr lang="en-US" dirty="0" smtClean="0"/>
              <a:t>Each human has different height. It doesn’t make sense to put height as a class attribute.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Communication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Remember that objects are meant to communicate with each other</a:t>
            </a:r>
          </a:p>
          <a:p>
            <a:pPr marL="759143" lvl="1" indent="-457200">
              <a:buFont typeface="+mj-lt"/>
              <a:buAutoNum type="alphaLcPeriod"/>
            </a:pPr>
            <a:r>
              <a:rPr lang="en-US" dirty="0" smtClean="0"/>
              <a:t>Which methods are outside objects supposed to invoke?</a:t>
            </a:r>
          </a:p>
          <a:p>
            <a:pPr marL="759143" lvl="1" indent="-457200">
              <a:buFont typeface="+mj-lt"/>
              <a:buAutoNum type="alphaLcPeriod"/>
            </a:pPr>
            <a:r>
              <a:rPr lang="en-US" dirty="0" smtClean="0"/>
              <a:t>Did you separate responsibilities correctly?</a:t>
            </a:r>
          </a:p>
          <a:p>
            <a:pPr marL="1038543" lvl="2" indent="-457200"/>
            <a:r>
              <a:rPr lang="en-US" dirty="0" smtClean="0"/>
              <a:t>E.g. Chess GUI manager should not know chess rules like en passant. That’s for the Chess Referee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70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 Code Tips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19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240966"/>
            <a:ext cx="7408333" cy="41825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When using inheritance, remember to keep in mind </a:t>
            </a:r>
            <a:r>
              <a:rPr lang="en-US" b="1" u="sng" dirty="0" smtClean="0"/>
              <a:t>similarities and differences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If your code is too similar to another part of your program, and you are using inheritance, you probably want to re-evaluate the similarities. </a:t>
            </a:r>
          </a:p>
          <a:p>
            <a:pPr lvl="2"/>
            <a:r>
              <a:rPr lang="en-US" dirty="0" smtClean="0"/>
              <a:t>Chances are, you can refactor your code. </a:t>
            </a:r>
          </a:p>
          <a:p>
            <a:pPr lvl="1"/>
            <a:r>
              <a:rPr lang="en-US" dirty="0" smtClean="0"/>
              <a:t>Remember that you can inherit class attributes. As much as possible, data should not be mixed with computation in inheritance</a:t>
            </a:r>
          </a:p>
          <a:p>
            <a:pPr lvl="2"/>
            <a:r>
              <a:rPr lang="en-US" dirty="0" smtClean="0"/>
              <a:t>Any hard coding you do can probably be saved </a:t>
            </a:r>
            <a:r>
              <a:rPr lang="en-US" smtClean="0"/>
              <a:t>as attributes.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78305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Interfaces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20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2067" y="2675466"/>
            <a:ext cx="7408333" cy="3842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Interface</a:t>
            </a:r>
            <a:r>
              <a:rPr lang="en-US" dirty="0" smtClean="0"/>
              <a:t> – shared set of attributes with specification of attribute’s 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__</a:t>
            </a:r>
            <a:r>
              <a:rPr lang="en-US" b="1" dirty="0" err="1"/>
              <a:t>str</a:t>
            </a:r>
            <a:r>
              <a:rPr lang="en-US" b="1" dirty="0"/>
              <a:t>__</a:t>
            </a:r>
            <a:r>
              <a:rPr lang="en-US" dirty="0"/>
              <a:t> interface</a:t>
            </a:r>
          </a:p>
          <a:p>
            <a:r>
              <a:rPr lang="en-US" dirty="0"/>
              <a:t>Any objects should present their data readably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str</a:t>
            </a:r>
            <a:r>
              <a:rPr lang="en-US" dirty="0"/>
              <a:t>__(self) – human-readable representation</a:t>
            </a:r>
          </a:p>
          <a:p>
            <a:r>
              <a:rPr lang="en-US" u="sng" dirty="0"/>
              <a:t>Any </a:t>
            </a:r>
            <a:r>
              <a:rPr lang="en-US" dirty="0"/>
              <a:t>object that has these attributes can now have non-default output printed using the </a:t>
            </a:r>
            <a:r>
              <a:rPr lang="en-US" b="1" dirty="0"/>
              <a:t>print()</a:t>
            </a:r>
            <a:r>
              <a:rPr lang="en-US" dirty="0"/>
              <a:t> function. </a:t>
            </a:r>
          </a:p>
        </p:txBody>
      </p:sp>
    </p:spTree>
    <p:extLst>
      <p:ext uri="{BB962C8B-B14F-4D97-AF65-F5344CB8AC3E}">
        <p14:creationId xmlns:p14="http://schemas.microsoft.com/office/powerpoint/2010/main" val="2592792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Interfaces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21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6963" y="2675466"/>
            <a:ext cx="8805973" cy="3842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Q: How are interfaces different from inheritance?</a:t>
            </a:r>
          </a:p>
          <a:p>
            <a:pPr>
              <a:buFont typeface="Arial"/>
              <a:buChar char="•"/>
            </a:pPr>
            <a:r>
              <a:rPr lang="en-US" dirty="0" smtClean="0"/>
              <a:t>Different objects can support a certain set of data/behavior but otherwise are unrelated</a:t>
            </a:r>
          </a:p>
          <a:p>
            <a:pPr>
              <a:buFont typeface="Arial"/>
              <a:buChar char="•"/>
            </a:pPr>
            <a:r>
              <a:rPr lang="en-US" dirty="0"/>
              <a:t>C</a:t>
            </a:r>
            <a:r>
              <a:rPr lang="en-US" dirty="0" smtClean="0"/>
              <a:t>an’t specify everything in terms of similarities/differences as in inheritance.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Example: </a:t>
            </a:r>
            <a:r>
              <a:rPr lang="en-US" dirty="0" err="1" smtClean="0"/>
              <a:t>datetimes</a:t>
            </a:r>
            <a:r>
              <a:rPr lang="en-US" dirty="0" smtClean="0"/>
              <a:t> and trees have __</a:t>
            </a:r>
            <a:r>
              <a:rPr lang="en-US" dirty="0" err="1" smtClean="0"/>
              <a:t>str</a:t>
            </a:r>
            <a:r>
              <a:rPr lang="en-US" dirty="0" smtClean="0"/>
              <a:t>__ attribute. Both can be printed specially. Apart from __</a:t>
            </a:r>
            <a:r>
              <a:rPr lang="en-US" dirty="0" err="1" smtClean="0"/>
              <a:t>str</a:t>
            </a:r>
            <a:r>
              <a:rPr lang="en-US" dirty="0" smtClean="0"/>
              <a:t>__ interface, not related.</a:t>
            </a:r>
          </a:p>
        </p:txBody>
      </p:sp>
    </p:spTree>
    <p:extLst>
      <p:ext uri="{BB962C8B-B14F-4D97-AF65-F5344CB8AC3E}">
        <p14:creationId xmlns:p14="http://schemas.microsoft.com/office/powerpoint/2010/main" val="3792217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Interfaces vs. Inheritance </a:t>
            </a:r>
            <a:br>
              <a:rPr lang="en-US" dirty="0" smtClean="0"/>
            </a:br>
            <a:r>
              <a:rPr lang="en-US" dirty="0" smtClean="0"/>
              <a:t>re-explained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2051" y="6301403"/>
            <a:ext cx="143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Slide </a:t>
            </a:r>
            <a:fld id="{AC00B2E4-7EE1-D74C-B092-D603107AD89D}" type="slidenum">
              <a:rPr lang="en-US" smtClean="0">
                <a:solidFill>
                  <a:schemeClr val="accent1"/>
                </a:solidFill>
              </a:rPr>
              <a:pPr algn="r"/>
              <a:t>22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6963" y="2675466"/>
            <a:ext cx="8805973" cy="38420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Advantages:</a:t>
            </a:r>
          </a:p>
          <a:p>
            <a:pPr>
              <a:buFont typeface="Arial"/>
              <a:buChar char="•"/>
            </a:pPr>
            <a:r>
              <a:rPr lang="en-US" dirty="0" smtClean="0"/>
              <a:t>Yet </a:t>
            </a:r>
            <a:r>
              <a:rPr lang="en-US" dirty="0"/>
              <a:t>another form of data abstraction. Don’t care how </a:t>
            </a:r>
            <a:r>
              <a:rPr lang="en-US" dirty="0" smtClean="0"/>
              <a:t>the value of the attributes are implemented</a:t>
            </a:r>
          </a:p>
          <a:p>
            <a:pPr>
              <a:buFont typeface="Arial"/>
              <a:buChar char="•"/>
            </a:pPr>
            <a:r>
              <a:rPr lang="en-US" dirty="0" smtClean="0"/>
              <a:t>Only select a certain part to be shared, other parts kept the same.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Inheritance means everything must be shared or overridden.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Disadvantages:</a:t>
            </a:r>
          </a:p>
          <a:p>
            <a:r>
              <a:rPr lang="en-US" dirty="0" smtClean="0"/>
              <a:t>In Python, no particular syntax for interfaces, so must be documented separately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14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2519</TotalTime>
  <Words>1956</Words>
  <Application>Microsoft Macintosh PowerPoint</Application>
  <PresentationFormat>On-screen Show (4:3)</PresentationFormat>
  <Paragraphs>284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Waveform</vt:lpstr>
      <vt:lpstr>Discussion 7 Inheritance and Interfaces</vt:lpstr>
      <vt:lpstr>Anuncios</vt:lpstr>
      <vt:lpstr>Prev Stop: Mutable Data/Nonlocal</vt:lpstr>
      <vt:lpstr>Current Stop: Inheritance/Interfaces</vt:lpstr>
      <vt:lpstr>Next Stop: Trees (v2)/Efficiency</vt:lpstr>
      <vt:lpstr>Section Quiz</vt:lpstr>
      <vt:lpstr>Your Feedback from Last Week</vt:lpstr>
      <vt:lpstr>Section Quiz [Solutions]</vt:lpstr>
      <vt:lpstr>Section Quiz [Solutions]</vt:lpstr>
      <vt:lpstr>Section Quiz [Solutions]</vt:lpstr>
      <vt:lpstr>Section Quiz [Solutions]</vt:lpstr>
      <vt:lpstr>OOP: Initial Attempt</vt:lpstr>
      <vt:lpstr>OOP: Inheritance Motivation</vt:lpstr>
      <vt:lpstr>OOP: Inheritance Motivation</vt:lpstr>
      <vt:lpstr>OOP: High Level View</vt:lpstr>
      <vt:lpstr>OOP Reminders</vt:lpstr>
      <vt:lpstr>The self keyword</vt:lpstr>
      <vt:lpstr>Tackling OOP  Implementation Problems</vt:lpstr>
      <vt:lpstr>OOP Code Tips</vt:lpstr>
      <vt:lpstr>Interfaces</vt:lpstr>
      <vt:lpstr>Interfaces</vt:lpstr>
      <vt:lpstr>Interfaces vs. Inheritance  re-explained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Discussion 6 Inheritance and Interfaces</dc:title>
  <dc:creator>Dickson Tsai</dc:creator>
  <cp:lastModifiedBy>Dickson Tsai</cp:lastModifiedBy>
  <cp:revision>48</cp:revision>
  <dcterms:created xsi:type="dcterms:W3CDTF">2014-10-15T06:50:06Z</dcterms:created>
  <dcterms:modified xsi:type="dcterms:W3CDTF">2014-10-17T01:18:15Z</dcterms:modified>
</cp:coreProperties>
</file>